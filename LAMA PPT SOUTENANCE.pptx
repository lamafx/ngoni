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296" r:id="rId2"/>
    <p:sldId id="256" r:id="rId3"/>
    <p:sldId id="313" r:id="rId4"/>
    <p:sldId id="314" r:id="rId5"/>
    <p:sldId id="327" r:id="rId6"/>
    <p:sldId id="442" r:id="rId7"/>
    <p:sldId id="459" r:id="rId8"/>
    <p:sldId id="443" r:id="rId9"/>
    <p:sldId id="458" r:id="rId10"/>
    <p:sldId id="461" r:id="rId11"/>
    <p:sldId id="363" r:id="rId12"/>
    <p:sldId id="362" r:id="rId13"/>
    <p:sldId id="365" r:id="rId14"/>
    <p:sldId id="400" r:id="rId15"/>
    <p:sldId id="446" r:id="rId16"/>
    <p:sldId id="444" r:id="rId17"/>
    <p:sldId id="434" r:id="rId18"/>
    <p:sldId id="441" r:id="rId19"/>
    <p:sldId id="383" r:id="rId20"/>
    <p:sldId id="411" r:id="rId21"/>
    <p:sldId id="418" r:id="rId22"/>
    <p:sldId id="416" r:id="rId23"/>
    <p:sldId id="460" r:id="rId24"/>
    <p:sldId id="462" r:id="rId25"/>
    <p:sldId id="46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294A"/>
    <a:srgbClr val="F96A09"/>
    <a:srgbClr val="F26418"/>
    <a:srgbClr val="062042"/>
    <a:srgbClr val="FDF8F4"/>
    <a:srgbClr val="1F1B18"/>
    <a:srgbClr val="6B6560"/>
    <a:srgbClr val="FEF4EC"/>
    <a:srgbClr val="FFFFFF"/>
    <a:srgbClr val="FDF3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D3267B-1AE7-42FE-90DA-B36DFC90BA7B}" v="64" dt="2026-10-23T23:08:23.618"/>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37" autoAdjust="0"/>
    <p:restoredTop sz="93447" autoAdjust="0"/>
  </p:normalViewPr>
  <p:slideViewPr>
    <p:cSldViewPr snapToGrid="0">
      <p:cViewPr>
        <p:scale>
          <a:sx n="50" d="100"/>
          <a:sy n="50" d="100"/>
        </p:scale>
        <p:origin x="1132" y="116"/>
      </p:cViewPr>
      <p:guideLst/>
    </p:cSldViewPr>
  </p:slid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87" d="100"/>
          <a:sy n="87" d="100"/>
        </p:scale>
        <p:origin x="3840"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DJI LAMA KAMAGATE" userId="c94464b104994430" providerId="LiveId" clId="{0170F768-13DC-442E-B4DF-04783CE283D0}"/>
    <pc:docChg chg="undo redo custSel addSld delSld modSld sldOrd">
      <pc:chgData name="LADJI LAMA KAMAGATE" userId="c94464b104994430" providerId="LiveId" clId="{0170F768-13DC-442E-B4DF-04783CE283D0}" dt="2026-10-23T23:12:31.959" v="15696" actId="14100"/>
      <pc:docMkLst>
        <pc:docMk/>
      </pc:docMkLst>
      <pc:sldChg chg="modSp mod">
        <pc:chgData name="LADJI LAMA KAMAGATE" userId="c94464b104994430" providerId="LiveId" clId="{0170F768-13DC-442E-B4DF-04783CE283D0}" dt="2026-10-16T02:39:50.409" v="15534"/>
        <pc:sldMkLst>
          <pc:docMk/>
          <pc:sldMk cId="4091777698" sldId="256"/>
        </pc:sldMkLst>
        <pc:spChg chg="mod">
          <ac:chgData name="LADJI LAMA KAMAGATE" userId="c94464b104994430" providerId="LiveId" clId="{0170F768-13DC-442E-B4DF-04783CE283D0}" dt="2026-10-16T02:39:50.409" v="15534"/>
          <ac:spMkLst>
            <pc:docMk/>
            <pc:sldMk cId="4091777698" sldId="256"/>
            <ac:spMk id="83" creationId="{9BEB0E27-6AAC-CC8E-7375-1F44DEA5AA1B}"/>
          </ac:spMkLst>
        </pc:spChg>
      </pc:sldChg>
      <pc:sldChg chg="addSp delSp modSp add del mod modTransition setBg">
        <pc:chgData name="LADJI LAMA KAMAGATE" userId="c94464b104994430" providerId="LiveId" clId="{0170F768-13DC-442E-B4DF-04783CE283D0}" dt="2026-10-23T15:12:33.965" v="15602" actId="20577"/>
        <pc:sldMkLst>
          <pc:docMk/>
          <pc:sldMk cId="3154442409" sldId="296"/>
        </pc:sldMkLst>
        <pc:spChg chg="mod">
          <ac:chgData name="LADJI LAMA KAMAGATE" userId="c94464b104994430" providerId="LiveId" clId="{0170F768-13DC-442E-B4DF-04783CE283D0}" dt="2026-09-28T16:00:25.705" v="15274" actId="34136"/>
          <ac:spMkLst>
            <pc:docMk/>
            <pc:sldMk cId="3154442409" sldId="296"/>
            <ac:spMk id="6" creationId="{445532EC-F9FD-A6AA-780B-FB1B79BF5AEB}"/>
          </ac:spMkLst>
        </pc:spChg>
        <pc:spChg chg="mod">
          <ac:chgData name="LADJI LAMA KAMAGATE" userId="c94464b104994430" providerId="LiveId" clId="{0170F768-13DC-442E-B4DF-04783CE283D0}" dt="2026-09-28T16:00:25.705" v="15274" actId="34136"/>
          <ac:spMkLst>
            <pc:docMk/>
            <pc:sldMk cId="3154442409" sldId="296"/>
            <ac:spMk id="7" creationId="{77A9D583-A9F4-B7C9-0084-9E170F79086C}"/>
          </ac:spMkLst>
        </pc:spChg>
        <pc:spChg chg="mod">
          <ac:chgData name="LADJI LAMA KAMAGATE" userId="c94464b104994430" providerId="LiveId" clId="{0170F768-13DC-442E-B4DF-04783CE283D0}" dt="2026-09-28T16:00:25.705" v="15274" actId="34136"/>
          <ac:spMkLst>
            <pc:docMk/>
            <pc:sldMk cId="3154442409" sldId="296"/>
            <ac:spMk id="8" creationId="{9DBD381B-85EE-4770-85BA-DC94949F6066}"/>
          </ac:spMkLst>
        </pc:spChg>
        <pc:spChg chg="mod">
          <ac:chgData name="LADJI LAMA KAMAGATE" userId="c94464b104994430" providerId="LiveId" clId="{0170F768-13DC-442E-B4DF-04783CE283D0}" dt="2026-10-21T00:25:57.040" v="15543" actId="20577"/>
          <ac:spMkLst>
            <pc:docMk/>
            <pc:sldMk cId="3154442409" sldId="296"/>
            <ac:spMk id="9" creationId="{0D190C88-C4C3-619E-3A2E-C8341A094FF0}"/>
          </ac:spMkLst>
        </pc:spChg>
        <pc:spChg chg="mod">
          <ac:chgData name="LADJI LAMA KAMAGATE" userId="c94464b104994430" providerId="LiveId" clId="{0170F768-13DC-442E-B4DF-04783CE283D0}" dt="2026-09-28T16:00:25.705" v="15274" actId="34136"/>
          <ac:spMkLst>
            <pc:docMk/>
            <pc:sldMk cId="3154442409" sldId="296"/>
            <ac:spMk id="10" creationId="{2EA4BE43-D2BC-D2AC-B44B-D59A68CC9390}"/>
          </ac:spMkLst>
        </pc:spChg>
        <pc:spChg chg="mod">
          <ac:chgData name="LADJI LAMA KAMAGATE" userId="c94464b104994430" providerId="LiveId" clId="{0170F768-13DC-442E-B4DF-04783CE283D0}" dt="2026-10-23T03:35:50.123" v="15600" actId="20577"/>
          <ac:spMkLst>
            <pc:docMk/>
            <pc:sldMk cId="3154442409" sldId="296"/>
            <ac:spMk id="11" creationId="{016F9F56-0C91-AE47-87B0-B0104AA969E9}"/>
          </ac:spMkLst>
        </pc:spChg>
        <pc:spChg chg="add del mod">
          <ac:chgData name="LADJI LAMA KAMAGATE" userId="c94464b104994430" providerId="LiveId" clId="{0170F768-13DC-442E-B4DF-04783CE283D0}" dt="2026-10-23T15:12:33.965" v="15602" actId="20577"/>
          <ac:spMkLst>
            <pc:docMk/>
            <pc:sldMk cId="3154442409" sldId="296"/>
            <ac:spMk id="12" creationId="{73357697-9D6B-17AA-FFAE-6986F64A7A0B}"/>
          </ac:spMkLst>
        </pc:spChg>
        <pc:spChg chg="mod">
          <ac:chgData name="LADJI LAMA KAMAGATE" userId="c94464b104994430" providerId="LiveId" clId="{0170F768-13DC-442E-B4DF-04783CE283D0}" dt="2026-09-28T16:00:25.705" v="15274" actId="34136"/>
          <ac:spMkLst>
            <pc:docMk/>
            <pc:sldMk cId="3154442409" sldId="296"/>
            <ac:spMk id="20" creationId="{72BD7A19-4C06-19F0-A41B-4C27916A6E0B}"/>
          </ac:spMkLst>
        </pc:spChg>
        <pc:spChg chg="mod">
          <ac:chgData name="LADJI LAMA KAMAGATE" userId="c94464b104994430" providerId="LiveId" clId="{0170F768-13DC-442E-B4DF-04783CE283D0}" dt="2026-10-19T22:52:55.273" v="15537" actId="20577"/>
          <ac:spMkLst>
            <pc:docMk/>
            <pc:sldMk cId="3154442409" sldId="296"/>
            <ac:spMk id="22" creationId="{78FAE792-4A2C-C470-E5C3-606979BF0E00}"/>
          </ac:spMkLst>
        </pc:spChg>
        <pc:spChg chg="mod">
          <ac:chgData name="LADJI LAMA KAMAGATE" userId="c94464b104994430" providerId="LiveId" clId="{0170F768-13DC-442E-B4DF-04783CE283D0}" dt="2026-09-28T16:00:25.705" v="15274" actId="34136"/>
          <ac:spMkLst>
            <pc:docMk/>
            <pc:sldMk cId="3154442409" sldId="296"/>
            <ac:spMk id="23" creationId="{CD61E291-BA60-E1C5-3151-9DDFEE5025FB}"/>
          </ac:spMkLst>
        </pc:spChg>
        <pc:spChg chg="mod">
          <ac:chgData name="LADJI LAMA KAMAGATE" userId="c94464b104994430" providerId="LiveId" clId="{0170F768-13DC-442E-B4DF-04783CE283D0}" dt="2026-09-28T16:00:25.705" v="15274" actId="34136"/>
          <ac:spMkLst>
            <pc:docMk/>
            <pc:sldMk cId="3154442409" sldId="296"/>
            <ac:spMk id="27" creationId="{8851E5C8-842D-AB9A-FDD0-5883AEEAC0FA}"/>
          </ac:spMkLst>
        </pc:spChg>
      </pc:sldChg>
      <pc:sldChg chg="modSp mod">
        <pc:chgData name="LADJI LAMA KAMAGATE" userId="c94464b104994430" providerId="LiveId" clId="{0170F768-13DC-442E-B4DF-04783CE283D0}" dt="2026-10-22T21:13:27.325" v="15551" actId="14100"/>
        <pc:sldMkLst>
          <pc:docMk/>
          <pc:sldMk cId="4124450311" sldId="313"/>
        </pc:sldMkLst>
        <pc:spChg chg="mod">
          <ac:chgData name="LADJI LAMA KAMAGATE" userId="c94464b104994430" providerId="LiveId" clId="{0170F768-13DC-442E-B4DF-04783CE283D0}" dt="2026-10-22T21:13:27.325" v="15551" actId="14100"/>
          <ac:spMkLst>
            <pc:docMk/>
            <pc:sldMk cId="4124450311" sldId="313"/>
            <ac:spMk id="32" creationId="{F5FE3CE1-27AE-E334-2C56-AB13D1F1A24C}"/>
          </ac:spMkLst>
        </pc:spChg>
      </pc:sldChg>
      <pc:sldChg chg="addSp delSp modSp add mod modTransition setBg delAnim modAnim modNotesTx">
        <pc:chgData name="LADJI LAMA KAMAGATE" userId="c94464b104994430" providerId="LiveId" clId="{0170F768-13DC-442E-B4DF-04783CE283D0}" dt="2026-10-22T21:13:48.018" v="15552" actId="478"/>
        <pc:sldMkLst>
          <pc:docMk/>
          <pc:sldMk cId="1875788026" sldId="327"/>
        </pc:sldMkLst>
        <pc:spChg chg="del">
          <ac:chgData name="LADJI LAMA KAMAGATE" userId="c94464b104994430" providerId="LiveId" clId="{0170F768-13DC-442E-B4DF-04783CE283D0}" dt="2026-10-22T21:13:48.018" v="15552" actId="478"/>
          <ac:spMkLst>
            <pc:docMk/>
            <pc:sldMk cId="1875788026" sldId="327"/>
            <ac:spMk id="6" creationId="{628DA5A6-76FB-2D78-4066-ACD33761A85C}"/>
          </ac:spMkLst>
        </pc:spChg>
        <pc:spChg chg="mod">
          <ac:chgData name="LADJI LAMA KAMAGATE" userId="c94464b104994430" providerId="LiveId" clId="{0170F768-13DC-442E-B4DF-04783CE283D0}" dt="2026-09-23T11:55:17.756" v="14390" actId="113"/>
          <ac:spMkLst>
            <pc:docMk/>
            <pc:sldMk cId="1875788026" sldId="327"/>
            <ac:spMk id="28" creationId="{9C913579-736B-40D8-9254-C6E8726FEA70}"/>
          </ac:spMkLst>
        </pc:spChg>
      </pc:sldChg>
      <pc:sldChg chg="addSp delSp modSp mod">
        <pc:chgData name="LADJI LAMA KAMAGATE" userId="c94464b104994430" providerId="LiveId" clId="{0170F768-13DC-442E-B4DF-04783CE283D0}" dt="2026-10-15T03:35:04.294" v="15492" actId="1036"/>
        <pc:sldMkLst>
          <pc:docMk/>
          <pc:sldMk cId="1373734362" sldId="362"/>
        </pc:sldMkLst>
        <pc:picChg chg="add mod ord modCrop">
          <ac:chgData name="LADJI LAMA KAMAGATE" userId="c94464b104994430" providerId="LiveId" clId="{0170F768-13DC-442E-B4DF-04783CE283D0}" dt="2026-10-15T03:35:04.294" v="15492" actId="1036"/>
          <ac:picMkLst>
            <pc:docMk/>
            <pc:sldMk cId="1373734362" sldId="362"/>
            <ac:picMk id="5" creationId="{622DF4DD-9A5A-ADC5-63C1-38534BFE682E}"/>
          </ac:picMkLst>
        </pc:picChg>
      </pc:sldChg>
      <pc:sldChg chg="addSp delSp modSp add mod ord modTransition setBg">
        <pc:chgData name="LADJI LAMA KAMAGATE" userId="c94464b104994430" providerId="LiveId" clId="{0170F768-13DC-442E-B4DF-04783CE283D0}" dt="2026-10-15T13:01:00.420" v="15507" actId="14100"/>
        <pc:sldMkLst>
          <pc:docMk/>
          <pc:sldMk cId="3446560056" sldId="363"/>
        </pc:sldMkLst>
        <pc:picChg chg="add mod ord modCrop">
          <ac:chgData name="LADJI LAMA KAMAGATE" userId="c94464b104994430" providerId="LiveId" clId="{0170F768-13DC-442E-B4DF-04783CE283D0}" dt="2026-10-15T13:01:00.420" v="15507" actId="14100"/>
          <ac:picMkLst>
            <pc:docMk/>
            <pc:sldMk cId="3446560056" sldId="363"/>
            <ac:picMk id="6" creationId="{35DF25D3-A4D8-9573-6034-D17B10B92982}"/>
          </ac:picMkLst>
        </pc:picChg>
      </pc:sldChg>
      <pc:sldChg chg="addSp delSp modSp mod">
        <pc:chgData name="LADJI LAMA KAMAGATE" userId="c94464b104994430" providerId="LiveId" clId="{0170F768-13DC-442E-B4DF-04783CE283D0}" dt="2026-10-15T03:31:58.009" v="15435" actId="1035"/>
        <pc:sldMkLst>
          <pc:docMk/>
          <pc:sldMk cId="1106979835" sldId="365"/>
        </pc:sldMkLst>
        <pc:picChg chg="add mod ord">
          <ac:chgData name="LADJI LAMA KAMAGATE" userId="c94464b104994430" providerId="LiveId" clId="{0170F768-13DC-442E-B4DF-04783CE283D0}" dt="2026-10-15T03:31:58.009" v="15435" actId="1035"/>
          <ac:picMkLst>
            <pc:docMk/>
            <pc:sldMk cId="1106979835" sldId="365"/>
            <ac:picMk id="4" creationId="{57D7C893-EA1C-01C9-37A0-8AE6AEF9E144}"/>
          </ac:picMkLst>
        </pc:picChg>
      </pc:sldChg>
      <pc:sldChg chg="addSp delSp modSp add mod modTransition setBg modNotesTx">
        <pc:chgData name="LADJI LAMA KAMAGATE" userId="c94464b104994430" providerId="LiveId" clId="{0170F768-13DC-442E-B4DF-04783CE283D0}" dt="2026-09-25T11:32:05.081" v="15269" actId="20577"/>
        <pc:sldMkLst>
          <pc:docMk/>
          <pc:sldMk cId="1358510080" sldId="383"/>
        </pc:sldMkLst>
        <pc:spChg chg="mod">
          <ac:chgData name="LADJI LAMA KAMAGATE" userId="c94464b104994430" providerId="LiveId" clId="{0170F768-13DC-442E-B4DF-04783CE283D0}" dt="2026-09-24T11:39:34.642" v="15216" actId="164"/>
          <ac:spMkLst>
            <pc:docMk/>
            <pc:sldMk cId="1358510080" sldId="383"/>
            <ac:spMk id="14" creationId="{96CF32DA-AEF7-4538-A0AF-CCC34BEA5330}"/>
          </ac:spMkLst>
        </pc:spChg>
        <pc:spChg chg="mod">
          <ac:chgData name="LADJI LAMA KAMAGATE" userId="c94464b104994430" providerId="LiveId" clId="{0170F768-13DC-442E-B4DF-04783CE283D0}" dt="2026-09-24T11:39:52.871" v="15219" actId="165"/>
          <ac:spMkLst>
            <pc:docMk/>
            <pc:sldMk cId="1358510080" sldId="383"/>
            <ac:spMk id="18" creationId="{739F572D-D3F5-45A0-BE0B-80B0D0FC1733}"/>
          </ac:spMkLst>
        </pc:spChg>
        <pc:spChg chg="mod">
          <ac:chgData name="LADJI LAMA KAMAGATE" userId="c94464b104994430" providerId="LiveId" clId="{0170F768-13DC-442E-B4DF-04783CE283D0}" dt="2026-09-24T11:39:52.871" v="15219" actId="165"/>
          <ac:spMkLst>
            <pc:docMk/>
            <pc:sldMk cId="1358510080" sldId="383"/>
            <ac:spMk id="22" creationId="{6C6C8F3F-39F6-4579-9BFD-BDFA65148BBE}"/>
          </ac:spMkLst>
        </pc:spChg>
        <pc:spChg chg="mod">
          <ac:chgData name="LADJI LAMA KAMAGATE" userId="c94464b104994430" providerId="LiveId" clId="{0170F768-13DC-442E-B4DF-04783CE283D0}" dt="2026-09-24T11:39:52.871" v="15219" actId="165"/>
          <ac:spMkLst>
            <pc:docMk/>
            <pc:sldMk cId="1358510080" sldId="383"/>
            <ac:spMk id="24" creationId="{A15E5A1D-551D-48BF-A26F-D0877F9A5B9B}"/>
          </ac:spMkLst>
        </pc:spChg>
        <pc:spChg chg="mod">
          <ac:chgData name="LADJI LAMA KAMAGATE" userId="c94464b104994430" providerId="LiveId" clId="{0170F768-13DC-442E-B4DF-04783CE283D0}" dt="2026-09-24T11:39:52.871" v="15219" actId="165"/>
          <ac:spMkLst>
            <pc:docMk/>
            <pc:sldMk cId="1358510080" sldId="383"/>
            <ac:spMk id="26" creationId="{E5FA0341-0AF2-424A-B653-4AEC27B26DD9}"/>
          </ac:spMkLst>
        </pc:spChg>
        <pc:spChg chg="mod topLvl">
          <ac:chgData name="LADJI LAMA KAMAGATE" userId="c94464b104994430" providerId="LiveId" clId="{0170F768-13DC-442E-B4DF-04783CE283D0}" dt="2026-09-24T11:41:50.847" v="15230" actId="207"/>
          <ac:spMkLst>
            <pc:docMk/>
            <pc:sldMk cId="1358510080" sldId="383"/>
            <ac:spMk id="28" creationId="{D8789815-A849-4C5C-B379-1A235482FAA9}"/>
          </ac:spMkLst>
        </pc:spChg>
        <pc:spChg chg="mod topLvl">
          <ac:chgData name="LADJI LAMA KAMAGATE" userId="c94464b104994430" providerId="LiveId" clId="{0170F768-13DC-442E-B4DF-04783CE283D0}" dt="2026-09-24T11:40:58.066" v="15227" actId="207"/>
          <ac:spMkLst>
            <pc:docMk/>
            <pc:sldMk cId="1358510080" sldId="383"/>
            <ac:spMk id="30" creationId="{CD353FB9-693C-4A89-9B2F-779C1F53921F}"/>
          </ac:spMkLst>
        </pc:spChg>
        <pc:spChg chg="mod topLvl">
          <ac:chgData name="LADJI LAMA KAMAGATE" userId="c94464b104994430" providerId="LiveId" clId="{0170F768-13DC-442E-B4DF-04783CE283D0}" dt="2026-09-24T11:41:41.952" v="15229" actId="207"/>
          <ac:spMkLst>
            <pc:docMk/>
            <pc:sldMk cId="1358510080" sldId="383"/>
            <ac:spMk id="31" creationId="{D5038D83-41E4-4199-91E8-3E984ABDB782}"/>
          </ac:spMkLst>
        </pc:spChg>
        <pc:spChg chg="mod topLvl">
          <ac:chgData name="LADJI LAMA KAMAGATE" userId="c94464b104994430" providerId="LiveId" clId="{0170F768-13DC-442E-B4DF-04783CE283D0}" dt="2026-09-24T11:41:36.580" v="15228" actId="207"/>
          <ac:spMkLst>
            <pc:docMk/>
            <pc:sldMk cId="1358510080" sldId="383"/>
            <ac:spMk id="60" creationId="{A232E11D-1FC8-438F-A9FA-C4E8E8E4980D}"/>
          </ac:spMkLst>
        </pc:spChg>
        <pc:spChg chg="mod topLvl">
          <ac:chgData name="LADJI LAMA KAMAGATE" userId="c94464b104994430" providerId="LiveId" clId="{0170F768-13DC-442E-B4DF-04783CE283D0}" dt="2026-09-24T11:39:52.871" v="15219" actId="165"/>
          <ac:spMkLst>
            <pc:docMk/>
            <pc:sldMk cId="1358510080" sldId="383"/>
            <ac:spMk id="66" creationId="{B7026812-6BCB-4BE4-A2E9-A59F92F93023}"/>
          </ac:spMkLst>
        </pc:spChg>
        <pc:grpChg chg="add mod">
          <ac:chgData name="LADJI LAMA KAMAGATE" userId="c94464b104994430" providerId="LiveId" clId="{0170F768-13DC-442E-B4DF-04783CE283D0}" dt="2026-09-24T11:40:58.066" v="15227" actId="207"/>
          <ac:grpSpMkLst>
            <pc:docMk/>
            <pc:sldMk cId="1358510080" sldId="383"/>
            <ac:grpSpMk id="4" creationId="{6B74D721-D4A3-A0B8-E166-EFA23E9C9C1E}"/>
          </ac:grpSpMkLst>
        </pc:grpChg>
      </pc:sldChg>
      <pc:sldChg chg="addSp delSp modSp add mod modTransition setBg modNotesTx">
        <pc:chgData name="LADJI LAMA KAMAGATE" userId="c94464b104994430" providerId="LiveId" clId="{0170F768-13DC-442E-B4DF-04783CE283D0}" dt="2026-10-22T16:22:31.100" v="15545" actId="14100"/>
        <pc:sldMkLst>
          <pc:docMk/>
          <pc:sldMk cId="3283797713" sldId="400"/>
        </pc:sldMkLst>
        <pc:spChg chg="mod">
          <ac:chgData name="LADJI LAMA KAMAGATE" userId="c94464b104994430" providerId="LiveId" clId="{0170F768-13DC-442E-B4DF-04783CE283D0}" dt="2026-10-22T16:22:31.100" v="15545" actId="14100"/>
          <ac:spMkLst>
            <pc:docMk/>
            <pc:sldMk cId="3283797713" sldId="400"/>
            <ac:spMk id="33" creationId="{4EEFFB5F-1BFC-F196-B93D-BA4CA6AD3FD1}"/>
          </ac:spMkLst>
        </pc:spChg>
        <pc:spChg chg="add mod">
          <ac:chgData name="LADJI LAMA KAMAGATE" userId="c94464b104994430" providerId="LiveId" clId="{0170F768-13DC-442E-B4DF-04783CE283D0}" dt="2026-10-16T02:38:17.008" v="15514" actId="20577"/>
          <ac:spMkLst>
            <pc:docMk/>
            <pc:sldMk cId="3283797713" sldId="400"/>
            <ac:spMk id="35" creationId="{C2135FA3-284E-4BEB-CF4F-44EE2FF29F90}"/>
          </ac:spMkLst>
        </pc:spChg>
      </pc:sldChg>
      <pc:sldChg chg="addSp delSp modSp add mod modTransition setBg modNotesTx">
        <pc:chgData name="LADJI LAMA KAMAGATE" userId="c94464b104994430" providerId="LiveId" clId="{0170F768-13DC-442E-B4DF-04783CE283D0}" dt="2026-09-25T11:34:54.916" v="15270" actId="20577"/>
        <pc:sldMkLst>
          <pc:docMk/>
          <pc:sldMk cId="1245080848" sldId="411"/>
        </pc:sldMkLst>
      </pc:sldChg>
      <pc:sldChg chg="delSp modSp add mod modTransition setBg">
        <pc:chgData name="LADJI LAMA KAMAGATE" userId="c94464b104994430" providerId="LiveId" clId="{0170F768-13DC-442E-B4DF-04783CE283D0}" dt="2026-09-23T12:29:26.459" v="15187" actId="478"/>
        <pc:sldMkLst>
          <pc:docMk/>
          <pc:sldMk cId="1038026108" sldId="416"/>
        </pc:sldMkLst>
      </pc:sldChg>
      <pc:sldChg chg="modSp mod">
        <pc:chgData name="LADJI LAMA KAMAGATE" userId="c94464b104994430" providerId="LiveId" clId="{0170F768-13DC-442E-B4DF-04783CE283D0}" dt="2026-10-22T21:17:06.663" v="15564" actId="14100"/>
        <pc:sldMkLst>
          <pc:docMk/>
          <pc:sldMk cId="3776170753" sldId="418"/>
        </pc:sldMkLst>
        <pc:spChg chg="mod">
          <ac:chgData name="LADJI LAMA KAMAGATE" userId="c94464b104994430" providerId="LiveId" clId="{0170F768-13DC-442E-B4DF-04783CE283D0}" dt="2026-10-22T21:17:06.663" v="15564" actId="14100"/>
          <ac:spMkLst>
            <pc:docMk/>
            <pc:sldMk cId="3776170753" sldId="418"/>
            <ac:spMk id="77" creationId="{85E10069-4398-4955-86F3-AF2D625AC5F8}"/>
          </ac:spMkLst>
        </pc:spChg>
      </pc:sldChg>
      <pc:sldChg chg="addSp delSp add del mod delAnim">
        <pc:chgData name="LADJI LAMA KAMAGATE" userId="c94464b104994430" providerId="LiveId" clId="{0170F768-13DC-442E-B4DF-04783CE283D0}" dt="2026-10-23T19:32:51.539" v="15630" actId="47"/>
        <pc:sldMkLst>
          <pc:docMk/>
          <pc:sldMk cId="112843414" sldId="434"/>
        </pc:sldMkLst>
        <pc:spChg chg="del">
          <ac:chgData name="LADJI LAMA KAMAGATE" userId="c94464b104994430" providerId="LiveId" clId="{0170F768-13DC-442E-B4DF-04783CE283D0}" dt="2026-10-22T16:21:32.919" v="15544" actId="478"/>
          <ac:spMkLst>
            <pc:docMk/>
            <pc:sldMk cId="112843414" sldId="434"/>
            <ac:spMk id="2038" creationId="{00000000-0000-0000-0000-000000000000}"/>
          </ac:spMkLst>
        </pc:spChg>
      </pc:sldChg>
      <pc:sldChg chg="addSp delSp modSp add mod delAnim modNotesTx">
        <pc:chgData name="LADJI LAMA KAMAGATE" userId="c94464b104994430" providerId="LiveId" clId="{0170F768-13DC-442E-B4DF-04783CE283D0}" dt="2026-10-23T23:08:33.624" v="15694" actId="1037"/>
        <pc:sldMkLst>
          <pc:docMk/>
          <pc:sldMk cId="2691206242" sldId="441"/>
        </pc:sldMkLst>
        <pc:spChg chg="del">
          <ac:chgData name="LADJI LAMA KAMAGATE" userId="c94464b104994430" providerId="LiveId" clId="{0170F768-13DC-442E-B4DF-04783CE283D0}" dt="2026-10-22T16:23:11.458" v="15546" actId="478"/>
          <ac:spMkLst>
            <pc:docMk/>
            <pc:sldMk cId="2691206242" sldId="441"/>
            <ac:spMk id="36" creationId="{C2E75741-8DE2-4252-B475-52041ED0E988}"/>
          </ac:spMkLst>
        </pc:spChg>
        <pc:spChg chg="mod">
          <ac:chgData name="LADJI LAMA KAMAGATE" userId="c94464b104994430" providerId="LiveId" clId="{0170F768-13DC-442E-B4DF-04783CE283D0}" dt="2026-10-23T22:45:56.546" v="15662" actId="20577"/>
          <ac:spMkLst>
            <pc:docMk/>
            <pc:sldMk cId="2691206242" sldId="441"/>
            <ac:spMk id="46" creationId="{CDD6F9DC-040A-4593-BB0E-5B2A1879887B}"/>
          </ac:spMkLst>
        </pc:spChg>
        <pc:spChg chg="mod">
          <ac:chgData name="LADJI LAMA KAMAGATE" userId="c94464b104994430" providerId="LiveId" clId="{0170F768-13DC-442E-B4DF-04783CE283D0}" dt="2026-10-23T23:08:33.624" v="15694" actId="1037"/>
          <ac:spMkLst>
            <pc:docMk/>
            <pc:sldMk cId="2691206242" sldId="441"/>
            <ac:spMk id="48" creationId="{9EA08B72-EEF0-4A22-A733-8392F1041ED0}"/>
          </ac:spMkLst>
        </pc:spChg>
        <pc:spChg chg="mod">
          <ac:chgData name="LADJI LAMA KAMAGATE" userId="c94464b104994430" providerId="LiveId" clId="{0170F768-13DC-442E-B4DF-04783CE283D0}" dt="2026-10-23T21:55:10.774" v="15636" actId="20577"/>
          <ac:spMkLst>
            <pc:docMk/>
            <pc:sldMk cId="2691206242" sldId="441"/>
            <ac:spMk id="52" creationId="{60738D47-E0F3-42B3-9768-39FAE179E2D0}"/>
          </ac:spMkLst>
        </pc:spChg>
      </pc:sldChg>
      <pc:sldChg chg="addSp delSp modSp mod delAnim modAnim">
        <pc:chgData name="LADJI LAMA KAMAGATE" userId="c94464b104994430" providerId="LiveId" clId="{0170F768-13DC-442E-B4DF-04783CE283D0}" dt="2026-10-23T00:48:36.534" v="15567" actId="1076"/>
        <pc:sldMkLst>
          <pc:docMk/>
          <pc:sldMk cId="3615532645" sldId="444"/>
        </pc:sldMkLst>
        <pc:picChg chg="add del mod">
          <ac:chgData name="LADJI LAMA KAMAGATE" userId="c94464b104994430" providerId="LiveId" clId="{0170F768-13DC-442E-B4DF-04783CE283D0}" dt="2026-10-23T00:48:20.398" v="15565" actId="478"/>
          <ac:picMkLst>
            <pc:docMk/>
            <pc:sldMk cId="3615532645" sldId="444"/>
            <ac:picMk id="3" creationId="{FF746171-9E88-5F0F-11AC-6B5F1AA72F1F}"/>
          </ac:picMkLst>
        </pc:picChg>
        <pc:picChg chg="add mod">
          <ac:chgData name="LADJI LAMA KAMAGATE" userId="c94464b104994430" providerId="LiveId" clId="{0170F768-13DC-442E-B4DF-04783CE283D0}" dt="2026-10-23T00:48:36.534" v="15567" actId="1076"/>
          <ac:picMkLst>
            <pc:docMk/>
            <pc:sldMk cId="3615532645" sldId="444"/>
            <ac:picMk id="4" creationId="{1E90440A-C40F-5E80-BBE4-C67E7DD7061F}"/>
          </ac:picMkLst>
        </pc:picChg>
        <pc:picChg chg="del mod">
          <ac:chgData name="LADJI LAMA KAMAGATE" userId="c94464b104994430" providerId="LiveId" clId="{0170F768-13DC-442E-B4DF-04783CE283D0}" dt="2026-10-22T21:12:25.379" v="15547" actId="478"/>
          <ac:picMkLst>
            <pc:docMk/>
            <pc:sldMk cId="3615532645" sldId="444"/>
            <ac:picMk id="4" creationId="{9D936E27-5BD2-93B3-C415-703B5191D049}"/>
          </ac:picMkLst>
        </pc:picChg>
      </pc:sldChg>
      <pc:sldChg chg="addSp delSp modSp add mod modTransition modAnim modNotesTx">
        <pc:chgData name="LADJI LAMA KAMAGATE" userId="c94464b104994430" providerId="LiveId" clId="{0170F768-13DC-442E-B4DF-04783CE283D0}" dt="2026-10-05T12:17:03.942" v="15396" actId="113"/>
        <pc:sldMkLst>
          <pc:docMk/>
          <pc:sldMk cId="1755258508" sldId="458"/>
        </pc:sldMkLst>
        <pc:spChg chg="add mod">
          <ac:chgData name="LADJI LAMA KAMAGATE" userId="c94464b104994430" providerId="LiveId" clId="{0170F768-13DC-442E-B4DF-04783CE283D0}" dt="2026-10-05T12:15:18.380" v="15393" actId="113"/>
          <ac:spMkLst>
            <pc:docMk/>
            <pc:sldMk cId="1755258508" sldId="458"/>
            <ac:spMk id="26" creationId="{E6B36008-B0D5-EC91-AC40-F4E1A83AEC48}"/>
          </ac:spMkLst>
        </pc:spChg>
        <pc:spChg chg="add mod">
          <ac:chgData name="LADJI LAMA KAMAGATE" userId="c94464b104994430" providerId="LiveId" clId="{0170F768-13DC-442E-B4DF-04783CE283D0}" dt="2026-10-05T12:17:03.942" v="15396" actId="113"/>
          <ac:spMkLst>
            <pc:docMk/>
            <pc:sldMk cId="1755258508" sldId="458"/>
            <ac:spMk id="37" creationId="{ACE0C0D4-8075-FBDE-1195-2A696D32BCB9}"/>
          </ac:spMkLst>
        </pc:spChg>
        <pc:picChg chg="add mod">
          <ac:chgData name="LADJI LAMA KAMAGATE" userId="c94464b104994430" providerId="LiveId" clId="{0170F768-13DC-442E-B4DF-04783CE283D0}" dt="2026-10-05T12:12:03.760" v="15338" actId="1076"/>
          <ac:picMkLst>
            <pc:docMk/>
            <pc:sldMk cId="1755258508" sldId="458"/>
            <ac:picMk id="9" creationId="{40414174-34FD-5965-91C6-A873C52713EF}"/>
          </ac:picMkLst>
        </pc:picChg>
        <pc:picChg chg="add mod">
          <ac:chgData name="LADJI LAMA KAMAGATE" userId="c94464b104994430" providerId="LiveId" clId="{0170F768-13DC-442E-B4DF-04783CE283D0}" dt="2026-10-05T12:12:53.946" v="15343" actId="1076"/>
          <ac:picMkLst>
            <pc:docMk/>
            <pc:sldMk cId="1755258508" sldId="458"/>
            <ac:picMk id="12" creationId="{5B1372F9-F453-71C2-CB94-9643AC757E5D}"/>
          </ac:picMkLst>
        </pc:picChg>
        <pc:picChg chg="add mod">
          <ac:chgData name="LADJI LAMA KAMAGATE" userId="c94464b104994430" providerId="LiveId" clId="{0170F768-13DC-442E-B4DF-04783CE283D0}" dt="2026-10-05T12:07:08.701" v="15294" actId="1076"/>
          <ac:picMkLst>
            <pc:docMk/>
            <pc:sldMk cId="1755258508" sldId="458"/>
            <ac:picMk id="18" creationId="{37F33801-26F7-C099-9063-B5FA89A7269C}"/>
          </ac:picMkLst>
        </pc:picChg>
      </pc:sldChg>
      <pc:sldChg chg="modSp mod">
        <pc:chgData name="LADJI LAMA KAMAGATE" userId="c94464b104994430" providerId="LiveId" clId="{0170F768-13DC-442E-B4DF-04783CE283D0}" dt="2026-10-23T15:18:12.848" v="15608" actId="20577"/>
        <pc:sldMkLst>
          <pc:docMk/>
          <pc:sldMk cId="4232290738" sldId="460"/>
        </pc:sldMkLst>
        <pc:spChg chg="mod">
          <ac:chgData name="LADJI LAMA KAMAGATE" userId="c94464b104994430" providerId="LiveId" clId="{0170F768-13DC-442E-B4DF-04783CE283D0}" dt="2026-10-23T15:18:12.848" v="15608" actId="20577"/>
          <ac:spMkLst>
            <pc:docMk/>
            <pc:sldMk cId="4232290738" sldId="460"/>
            <ac:spMk id="11" creationId="{EEE137FB-F9BD-4AE4-319D-F73D7F6236BC}"/>
          </ac:spMkLst>
        </pc:spChg>
        <pc:spChg chg="mod">
          <ac:chgData name="LADJI LAMA KAMAGATE" userId="c94464b104994430" providerId="LiveId" clId="{0170F768-13DC-442E-B4DF-04783CE283D0}" dt="2026-10-23T15:12:44.173" v="15604" actId="20577"/>
          <ac:spMkLst>
            <pc:docMk/>
            <pc:sldMk cId="4232290738" sldId="460"/>
            <ac:spMk id="12" creationId="{96F377CD-DB1C-1035-1384-63125EA706C3}"/>
          </ac:spMkLst>
        </pc:spChg>
        <pc:spChg chg="mod">
          <ac:chgData name="LADJI LAMA KAMAGATE" userId="c94464b104994430" providerId="LiveId" clId="{0170F768-13DC-442E-B4DF-04783CE283D0}" dt="2026-10-19T22:53:03.622" v="15539" actId="20577"/>
          <ac:spMkLst>
            <pc:docMk/>
            <pc:sldMk cId="4232290738" sldId="460"/>
            <ac:spMk id="22" creationId="{6206F6BA-7F4D-B970-D54E-1AD377CF6762}"/>
          </ac:spMkLst>
        </pc:spChg>
      </pc:sldChg>
      <pc:sldChg chg="addSp delSp modSp add mod">
        <pc:chgData name="LADJI LAMA KAMAGATE" userId="c94464b104994430" providerId="LiveId" clId="{0170F768-13DC-442E-B4DF-04783CE283D0}" dt="2026-10-23T16:32:27.681" v="15628" actId="1037"/>
        <pc:sldMkLst>
          <pc:docMk/>
          <pc:sldMk cId="780557107" sldId="461"/>
        </pc:sldMkLst>
        <pc:spChg chg="mod">
          <ac:chgData name="LADJI LAMA KAMAGATE" userId="c94464b104994430" providerId="LiveId" clId="{0170F768-13DC-442E-B4DF-04783CE283D0}" dt="2026-10-23T16:32:27.681" v="15628" actId="1037"/>
          <ac:spMkLst>
            <pc:docMk/>
            <pc:sldMk cId="780557107" sldId="461"/>
            <ac:spMk id="3019" creationId="{00000000-0000-0000-0000-000000000000}"/>
          </ac:spMkLst>
        </pc:spChg>
      </pc:sldChg>
      <pc:sldChg chg="addSp delSp modSp add mod delAnim">
        <pc:chgData name="LADJI LAMA KAMAGATE" userId="c94464b104994430" providerId="LiveId" clId="{0170F768-13DC-442E-B4DF-04783CE283D0}" dt="2026-10-23T23:12:31.959" v="15696" actId="14100"/>
        <pc:sldMkLst>
          <pc:docMk/>
          <pc:sldMk cId="1976503492" sldId="463"/>
        </pc:sldMkLst>
        <pc:spChg chg="del">
          <ac:chgData name="LADJI LAMA KAMAGATE" userId="c94464b104994430" providerId="LiveId" clId="{0170F768-13DC-442E-B4DF-04783CE283D0}" dt="2026-10-23T22:35:05.999" v="15639" actId="478"/>
          <ac:spMkLst>
            <pc:docMk/>
            <pc:sldMk cId="1976503492" sldId="463"/>
            <ac:spMk id="4002" creationId="{8FB50DA7-9787-1D85-BB09-ECF613E15DE3}"/>
          </ac:spMkLst>
        </pc:spChg>
        <pc:spChg chg="del">
          <ac:chgData name="LADJI LAMA KAMAGATE" userId="c94464b104994430" providerId="LiveId" clId="{0170F768-13DC-442E-B4DF-04783CE283D0}" dt="2026-10-23T22:35:16.659" v="15641" actId="478"/>
          <ac:spMkLst>
            <pc:docMk/>
            <pc:sldMk cId="1976503492" sldId="463"/>
            <ac:spMk id="4004" creationId="{069A604F-8A5E-21EF-8837-CB155130D590}"/>
          </ac:spMkLst>
        </pc:spChg>
        <pc:spChg chg="del">
          <ac:chgData name="LADJI LAMA KAMAGATE" userId="c94464b104994430" providerId="LiveId" clId="{0170F768-13DC-442E-B4DF-04783CE283D0}" dt="2026-10-23T22:35:16.659" v="15641" actId="478"/>
          <ac:spMkLst>
            <pc:docMk/>
            <pc:sldMk cId="1976503492" sldId="463"/>
            <ac:spMk id="4005" creationId="{7FC49FD4-5F75-3A46-B2E6-673F9E50A02E}"/>
          </ac:spMkLst>
        </pc:spChg>
        <pc:spChg chg="del">
          <ac:chgData name="LADJI LAMA KAMAGATE" userId="c94464b104994430" providerId="LiveId" clId="{0170F768-13DC-442E-B4DF-04783CE283D0}" dt="2026-10-23T22:35:16.659" v="15641" actId="478"/>
          <ac:spMkLst>
            <pc:docMk/>
            <pc:sldMk cId="1976503492" sldId="463"/>
            <ac:spMk id="4006" creationId="{2DF5369E-C9A4-E77E-FDE5-3D98969B44DE}"/>
          </ac:spMkLst>
        </pc:spChg>
        <pc:spChg chg="del">
          <ac:chgData name="LADJI LAMA KAMAGATE" userId="c94464b104994430" providerId="LiveId" clId="{0170F768-13DC-442E-B4DF-04783CE283D0}" dt="2026-10-23T22:35:16.659" v="15641" actId="478"/>
          <ac:spMkLst>
            <pc:docMk/>
            <pc:sldMk cId="1976503492" sldId="463"/>
            <ac:spMk id="4007" creationId="{07871D81-6550-B38D-972B-742390970DF8}"/>
          </ac:spMkLst>
        </pc:spChg>
        <pc:spChg chg="del">
          <ac:chgData name="LADJI LAMA KAMAGATE" userId="c94464b104994430" providerId="LiveId" clId="{0170F768-13DC-442E-B4DF-04783CE283D0}" dt="2026-10-23T22:35:16.659" v="15641" actId="478"/>
          <ac:spMkLst>
            <pc:docMk/>
            <pc:sldMk cId="1976503492" sldId="463"/>
            <ac:spMk id="4009" creationId="{7FA690B2-A394-5DF1-245C-BF1CEB728237}"/>
          </ac:spMkLst>
        </pc:spChg>
        <pc:spChg chg="del">
          <ac:chgData name="LADJI LAMA KAMAGATE" userId="c94464b104994430" providerId="LiveId" clId="{0170F768-13DC-442E-B4DF-04783CE283D0}" dt="2026-10-23T22:35:16.659" v="15641" actId="478"/>
          <ac:spMkLst>
            <pc:docMk/>
            <pc:sldMk cId="1976503492" sldId="463"/>
            <ac:spMk id="4010" creationId="{C560A93F-8E1F-79FD-EEEE-B1BB0D1104B3}"/>
          </ac:spMkLst>
        </pc:spChg>
        <pc:spChg chg="del">
          <ac:chgData name="LADJI LAMA KAMAGATE" userId="c94464b104994430" providerId="LiveId" clId="{0170F768-13DC-442E-B4DF-04783CE283D0}" dt="2026-10-23T22:35:16.659" v="15641" actId="478"/>
          <ac:spMkLst>
            <pc:docMk/>
            <pc:sldMk cId="1976503492" sldId="463"/>
            <ac:spMk id="4011" creationId="{7A926BDA-DA88-AB74-FBC4-B9DE7C27746A}"/>
          </ac:spMkLst>
        </pc:spChg>
        <pc:spChg chg="del">
          <ac:chgData name="LADJI LAMA KAMAGATE" userId="c94464b104994430" providerId="LiveId" clId="{0170F768-13DC-442E-B4DF-04783CE283D0}" dt="2026-10-23T22:35:16.659" v="15641" actId="478"/>
          <ac:spMkLst>
            <pc:docMk/>
            <pc:sldMk cId="1976503492" sldId="463"/>
            <ac:spMk id="4012" creationId="{F0610F75-AADE-D0AE-1334-29FE674A6649}"/>
          </ac:spMkLst>
        </pc:spChg>
        <pc:spChg chg="del">
          <ac:chgData name="LADJI LAMA KAMAGATE" userId="c94464b104994430" providerId="LiveId" clId="{0170F768-13DC-442E-B4DF-04783CE283D0}" dt="2026-10-23T22:35:16.659" v="15641" actId="478"/>
          <ac:spMkLst>
            <pc:docMk/>
            <pc:sldMk cId="1976503492" sldId="463"/>
            <ac:spMk id="4013" creationId="{39E47534-9B9D-5247-D38C-76E93F807EE7}"/>
          </ac:spMkLst>
        </pc:spChg>
        <pc:spChg chg="del">
          <ac:chgData name="LADJI LAMA KAMAGATE" userId="c94464b104994430" providerId="LiveId" clId="{0170F768-13DC-442E-B4DF-04783CE283D0}" dt="2026-10-23T22:35:09.694" v="15640" actId="478"/>
          <ac:spMkLst>
            <pc:docMk/>
            <pc:sldMk cId="1976503492" sldId="463"/>
            <ac:spMk id="4014" creationId="{F32CE410-FB64-8CFA-DA45-5DA0C4021E06}"/>
          </ac:spMkLst>
        </pc:spChg>
        <pc:spChg chg="del">
          <ac:chgData name="LADJI LAMA KAMAGATE" userId="c94464b104994430" providerId="LiveId" clId="{0170F768-13DC-442E-B4DF-04783CE283D0}" dt="2026-10-23T22:35:16.659" v="15641" actId="478"/>
          <ac:spMkLst>
            <pc:docMk/>
            <pc:sldMk cId="1976503492" sldId="463"/>
            <ac:spMk id="4015" creationId="{F59FAD3A-061F-8B72-29F6-479EC7F1AA99}"/>
          </ac:spMkLst>
        </pc:spChg>
        <pc:graphicFrameChg chg="modGraphic">
          <ac:chgData name="LADJI LAMA KAMAGATE" userId="c94464b104994430" providerId="LiveId" clId="{0170F768-13DC-442E-B4DF-04783CE283D0}" dt="2026-10-23T22:34:55.892" v="15638" actId="20577"/>
          <ac:graphicFrameMkLst>
            <pc:docMk/>
            <pc:sldMk cId="1976503492" sldId="463"/>
            <ac:graphicFrameMk id="4003" creationId="{A5E782D4-CDBD-B7B7-6E83-FB4F989C993B}"/>
          </ac:graphicFrameMkLst>
        </pc:graphicFrameChg>
        <pc:picChg chg="add del mod">
          <ac:chgData name="LADJI LAMA KAMAGATE" userId="c94464b104994430" providerId="LiveId" clId="{0170F768-13DC-442E-B4DF-04783CE283D0}" dt="2026-10-23T22:43:42.179" v="15651" actId="478"/>
          <ac:picMkLst>
            <pc:docMk/>
            <pc:sldMk cId="1976503492" sldId="463"/>
            <ac:picMk id="5" creationId="{9436D26F-33A5-CBFD-6EEF-CACAF2387882}"/>
          </ac:picMkLst>
        </pc:picChg>
        <pc:picChg chg="add mod ord">
          <ac:chgData name="LADJI LAMA KAMAGATE" userId="c94464b104994430" providerId="LiveId" clId="{0170F768-13DC-442E-B4DF-04783CE283D0}" dt="2026-10-23T23:12:31.959" v="15696" actId="14100"/>
          <ac:picMkLst>
            <pc:docMk/>
            <pc:sldMk cId="1976503492" sldId="463"/>
            <ac:picMk id="7" creationId="{86965DF1-3A95-31C4-69F4-F02CFC9EB3C2}"/>
          </ac:picMkLst>
        </pc:picChg>
      </pc:sldChg>
      <pc:sldChg chg="add del">
        <pc:chgData name="LADJI LAMA KAMAGATE" userId="c94464b104994430" providerId="LiveId" clId="{0170F768-13DC-442E-B4DF-04783CE283D0}" dt="2026-10-23T22:35:20.612" v="15643"/>
        <pc:sldMkLst>
          <pc:docMk/>
          <pc:sldMk cId="1882174237" sldId="46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5C16CD-D076-4123-840C-881067D6BCD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7EF17E-5599-4448-B064-F3D932F2E25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880871-A491-4E0D-B27E-69CC2687082F}" type="datetimeFigureOut">
              <a:rPr lang="en-US" smtClean="0"/>
              <a:t>10/23/2026</a:t>
            </a:fld>
            <a:endParaRPr lang="en-US"/>
          </a:p>
        </p:txBody>
      </p:sp>
      <p:sp>
        <p:nvSpPr>
          <p:cNvPr id="4" name="Footer Placeholder 3">
            <a:extLst>
              <a:ext uri="{FF2B5EF4-FFF2-40B4-BE49-F238E27FC236}">
                <a16:creationId xmlns:a16="http://schemas.microsoft.com/office/drawing/2014/main" id="{A35E292B-F90A-4BB4-8259-A954B9D724F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9A54D03-DC40-44A3-A997-D5ED224D45F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676EB5-0E83-42B6-87AF-DA4BD19E8791}" type="slidenum">
              <a:rPr lang="en-US" smtClean="0"/>
              <a:t>‹N°›</a:t>
            </a:fld>
            <a:endParaRPr lang="en-US"/>
          </a:p>
        </p:txBody>
      </p:sp>
    </p:spTree>
    <p:extLst>
      <p:ext uri="{BB962C8B-B14F-4D97-AF65-F5344CB8AC3E}">
        <p14:creationId xmlns:p14="http://schemas.microsoft.com/office/powerpoint/2010/main" val="9961685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E4448D-D2E5-4818-A785-0E72AC7E5DFA}" type="datetimeFigureOut">
              <a:rPr lang="fr-FR" smtClean="0"/>
              <a:t>23/10/2026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099BE3-CECD-4971-AF4D-70F316C34F1E}" type="slidenum">
              <a:rPr lang="fr-FR" smtClean="0"/>
              <a:t>‹N°›</a:t>
            </a:fld>
            <a:endParaRPr lang="fr-FR"/>
          </a:p>
        </p:txBody>
      </p:sp>
    </p:spTree>
    <p:extLst>
      <p:ext uri="{BB962C8B-B14F-4D97-AF65-F5344CB8AC3E}">
        <p14:creationId xmlns:p14="http://schemas.microsoft.com/office/powerpoint/2010/main" val="180811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0099BE3-CECD-4971-AF4D-70F316C34F1E}" type="slidenum">
              <a:rPr lang="fr-FR" smtClean="0"/>
              <a:t>1</a:t>
            </a:fld>
            <a:endParaRPr lang="fr-FR"/>
          </a:p>
        </p:txBody>
      </p:sp>
    </p:spTree>
    <p:extLst>
      <p:ext uri="{BB962C8B-B14F-4D97-AF65-F5344CB8AC3E}">
        <p14:creationId xmlns:p14="http://schemas.microsoft.com/office/powerpoint/2010/main" val="977798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 Pour commencer, nous allons situer brièvement le cadre dans lequel ce projet a été réalisé, à travers une présentation de notre structure d’accueil. »</a:t>
            </a:r>
          </a:p>
          <a:p>
            <a:r>
              <a:rPr lang="fr-FR" dirty="0"/>
              <a:t>« NGONI Group est une startup créée en 2025 par M. Adama Kante, dont la mission est de gérer et sécuriser sa plateforme numérique .</a:t>
            </a:r>
          </a:p>
          <a:p>
            <a:r>
              <a:rPr lang="fr-FR" dirty="0"/>
              <a:t>Nous avons réalisé ce projet au sein de l’équipe de </a:t>
            </a:r>
            <a:r>
              <a:rPr lang="fr-FR" dirty="0" err="1"/>
              <a:t>dévéloppement</a:t>
            </a:r>
            <a:r>
              <a:rPr lang="fr-FR" dirty="0"/>
              <a:t> logiciel, dans le cadre de notre travail sur l’automatisation du support client . »</a:t>
            </a:r>
          </a:p>
        </p:txBody>
      </p:sp>
      <p:sp>
        <p:nvSpPr>
          <p:cNvPr id="4" name="Espace réservé du numéro de diapositive 3"/>
          <p:cNvSpPr>
            <a:spLocks noGrp="1"/>
          </p:cNvSpPr>
          <p:nvPr>
            <p:ph type="sldNum" sz="quarter" idx="5"/>
          </p:nvPr>
        </p:nvSpPr>
        <p:spPr/>
        <p:txBody>
          <a:bodyPr/>
          <a:lstStyle/>
          <a:p>
            <a:fld id="{80099BE3-CECD-4971-AF4D-70F316C34F1E}" type="slidenum">
              <a:rPr lang="fr-FR" smtClean="0"/>
              <a:t>3</a:t>
            </a:fld>
            <a:endParaRPr lang="fr-FR"/>
          </a:p>
        </p:txBody>
      </p:sp>
    </p:spTree>
    <p:extLst>
      <p:ext uri="{BB962C8B-B14F-4D97-AF65-F5344CB8AC3E}">
        <p14:creationId xmlns:p14="http://schemas.microsoft.com/office/powerpoint/2010/main" val="2816864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comprendre l’origine de notre projet, intéressons-nous à la situation du support client.</a:t>
            </a:r>
          </a:p>
          <a:p>
            <a:r>
              <a:rPr lang="fr-FR" dirty="0"/>
              <a:t>Le réseau social NGONI a été officiellement lancé le </a:t>
            </a:r>
            <a:r>
              <a:rPr lang="fr-FR" b="1" dirty="0"/>
              <a:t>4 juillet dernier</a:t>
            </a:r>
            <a:r>
              <a:rPr lang="fr-FR" dirty="0"/>
              <a:t>. En moins de deux mois d’exploitation, la plateforme a déjà enregistré plus de </a:t>
            </a:r>
            <a:r>
              <a:rPr lang="fr-FR" b="1" dirty="0"/>
              <a:t>33 000 utilisateurs</a:t>
            </a:r>
            <a:r>
              <a:rPr lang="fr-FR" dirty="0"/>
              <a:t> et </a:t>
            </a:r>
            <a:r>
              <a:rPr lang="fr-FR" b="1" dirty="0"/>
              <a:t>2 041 demandes d’assistance</a:t>
            </a:r>
            <a:r>
              <a:rPr lang="fr-FR" dirty="0"/>
              <a:t>.</a:t>
            </a:r>
          </a:p>
          <a:p>
            <a:r>
              <a:rPr lang="fr-FR" dirty="0"/>
              <a:t>C’est le volume de demandes auquel le support doit faire face.</a:t>
            </a:r>
          </a:p>
          <a:p>
            <a:r>
              <a:rPr lang="fr-FR" dirty="0"/>
              <a:t>Or, à ce jour, leur traitement repose entièrement sur une prise en charge manuelle via le backoffice. Et à l’égard de cette recrudescence du nombre de demandes, il devient donc visible l’indisponibilité continue du support source de délai de réponse.</a:t>
            </a:r>
          </a:p>
          <a:p>
            <a:endParaRPr lang="fr-FR" dirty="0"/>
          </a:p>
        </p:txBody>
      </p:sp>
      <p:sp>
        <p:nvSpPr>
          <p:cNvPr id="4" name="Espace réservé du numéro de diapositive 3"/>
          <p:cNvSpPr>
            <a:spLocks noGrp="1"/>
          </p:cNvSpPr>
          <p:nvPr>
            <p:ph type="sldNum" sz="quarter" idx="5"/>
          </p:nvPr>
        </p:nvSpPr>
        <p:spPr/>
        <p:txBody>
          <a:bodyPr/>
          <a:lstStyle/>
          <a:p>
            <a:fld id="{80099BE3-CECD-4971-AF4D-70F316C34F1E}" type="slidenum">
              <a:rPr lang="fr-FR" smtClean="0"/>
              <a:t>5</a:t>
            </a:fld>
            <a:endParaRPr lang="fr-FR"/>
          </a:p>
        </p:txBody>
      </p:sp>
    </p:spTree>
    <p:extLst>
      <p:ext uri="{BB962C8B-B14F-4D97-AF65-F5344CB8AC3E}">
        <p14:creationId xmlns:p14="http://schemas.microsoft.com/office/powerpoint/2010/main" val="23526361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Face à ces besoins, notamment l’optimisation des temps de réponse, la disponibilité continue du support et l’automatisation du traitement des requêtes, une question centrale s’est alors dégagée : comment concevoir et développer un agent conversationnel intelligent pour automatiser le support client de la plateforme NGONI ?</a:t>
            </a:r>
            <a:endParaRPr lang="fr-FR" b="1" dirty="0"/>
          </a:p>
        </p:txBody>
      </p:sp>
      <p:sp>
        <p:nvSpPr>
          <p:cNvPr id="4" name="Espace réservé du numéro de diapositive 3"/>
          <p:cNvSpPr>
            <a:spLocks noGrp="1"/>
          </p:cNvSpPr>
          <p:nvPr>
            <p:ph type="sldNum" sz="quarter" idx="5"/>
          </p:nvPr>
        </p:nvSpPr>
        <p:spPr/>
        <p:txBody>
          <a:bodyPr/>
          <a:lstStyle/>
          <a:p>
            <a:fld id="{80099BE3-CECD-4971-AF4D-70F316C34F1E}" type="slidenum">
              <a:rPr lang="fr-FR" smtClean="0"/>
              <a:t>6</a:t>
            </a:fld>
            <a:endParaRPr lang="fr-FR"/>
          </a:p>
        </p:txBody>
      </p:sp>
    </p:spTree>
    <p:extLst>
      <p:ext uri="{BB962C8B-B14F-4D97-AF65-F5344CB8AC3E}">
        <p14:creationId xmlns:p14="http://schemas.microsoft.com/office/powerpoint/2010/main" val="3892748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CE485-DA15-F2BB-0E0F-E918802BFD7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AD9285C-4B50-95FE-A303-76A49F0104A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2FDA24E-D815-B007-EF6A-D0116F7580E6}"/>
              </a:ext>
            </a:extLst>
          </p:cNvPr>
          <p:cNvSpPr>
            <a:spLocks noGrp="1"/>
          </p:cNvSpPr>
          <p:nvPr>
            <p:ph type="body" idx="1"/>
          </p:nvPr>
        </p:nvSpPr>
        <p:spPr/>
        <p:txBody>
          <a:bodyPr/>
          <a:lstStyle/>
          <a:p>
            <a:r>
              <a:rPr lang="fr-FR" dirty="0"/>
              <a:t>Pour répondre à cette question, notre objectif général a été d’automatiser la prise en charge des requêtes du support client.</a:t>
            </a:r>
            <a:endParaRPr lang="fr-FR" b="1" dirty="0"/>
          </a:p>
        </p:txBody>
      </p:sp>
      <p:sp>
        <p:nvSpPr>
          <p:cNvPr id="4" name="Espace réservé du numéro de diapositive 3">
            <a:extLst>
              <a:ext uri="{FF2B5EF4-FFF2-40B4-BE49-F238E27FC236}">
                <a16:creationId xmlns:a16="http://schemas.microsoft.com/office/drawing/2014/main" id="{453AEA3F-02F2-C572-6A17-0D7528D1889C}"/>
              </a:ext>
            </a:extLst>
          </p:cNvPr>
          <p:cNvSpPr>
            <a:spLocks noGrp="1"/>
          </p:cNvSpPr>
          <p:nvPr>
            <p:ph type="sldNum" sz="quarter" idx="5"/>
          </p:nvPr>
        </p:nvSpPr>
        <p:spPr/>
        <p:txBody>
          <a:bodyPr/>
          <a:lstStyle/>
          <a:p>
            <a:fld id="{80099BE3-CECD-4971-AF4D-70F316C34F1E}" type="slidenum">
              <a:rPr lang="fr-FR" smtClean="0"/>
              <a:t>7</a:t>
            </a:fld>
            <a:endParaRPr lang="fr-FR"/>
          </a:p>
        </p:txBody>
      </p:sp>
    </p:spTree>
    <p:extLst>
      <p:ext uri="{BB962C8B-B14F-4D97-AF65-F5344CB8AC3E}">
        <p14:creationId xmlns:p14="http://schemas.microsoft.com/office/powerpoint/2010/main" val="3765606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concrétiser cet objectif, nous avons structuré notre démarche autour de plusieurs axes. Il s’agissait d’abord de comprendre précisément les besoins du support et de définir les capacités attendues de l’agent. Nous avons ensuite travaillé sur les données nécessaires à sa compréhension, avant de concevoir et d’entraîner son module </a:t>
            </a:r>
            <a:r>
              <a:rPr lang="fr-FR" dirty="0" err="1"/>
              <a:t>NLU</a:t>
            </a:r>
            <a:r>
              <a:rPr lang="fr-FR" dirty="0"/>
              <a:t>. Une fois développé, celui-ci a été intégré à l’architecture de NGONI afin de pouvoir interagir avec les différents services de la plateforme. Enfin, nous avons évalué la solution selon des critères à la fois fonctionnels et techniques, notamment sa capacité de compréhension, la qualité de ses réponses et son temps de réponse.</a:t>
            </a:r>
          </a:p>
          <a:p>
            <a:endParaRPr lang="fr-FR" dirty="0"/>
          </a:p>
          <a:p>
            <a:r>
              <a:rPr lang="fr-FR" dirty="0"/>
              <a:t>Cette démarche nous a permis de passer de l’expression du besoin à la conception d’une architecture capable de répondre à ces différents objectifs.</a:t>
            </a:r>
          </a:p>
        </p:txBody>
      </p:sp>
      <p:sp>
        <p:nvSpPr>
          <p:cNvPr id="4" name="Espace réservé du numéro de diapositive 3"/>
          <p:cNvSpPr>
            <a:spLocks noGrp="1"/>
          </p:cNvSpPr>
          <p:nvPr>
            <p:ph type="sldNum" sz="quarter" idx="5"/>
          </p:nvPr>
        </p:nvSpPr>
        <p:spPr/>
        <p:txBody>
          <a:bodyPr/>
          <a:lstStyle/>
          <a:p>
            <a:fld id="{80099BE3-CECD-4971-AF4D-70F316C34F1E}" type="slidenum">
              <a:rPr lang="fr-FR" smtClean="0"/>
              <a:t>8</a:t>
            </a:fld>
            <a:endParaRPr lang="fr-FR"/>
          </a:p>
        </p:txBody>
      </p:sp>
    </p:spTree>
    <p:extLst>
      <p:ext uri="{BB962C8B-B14F-4D97-AF65-F5344CB8AC3E}">
        <p14:creationId xmlns:p14="http://schemas.microsoft.com/office/powerpoint/2010/main" val="3559095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conduire la réalisation de cette solution, nous avons adopté une approche Agile basée sur Scrum pour organiser le développement. Nous nous sommes appuyés sur le processus unifié pour structurer les activités d’analyse et de conception, tandis qu’</a:t>
            </a:r>
            <a:r>
              <a:rPr lang="fr-FR" dirty="0" err="1"/>
              <a:t>UML</a:t>
            </a:r>
            <a:r>
              <a:rPr lang="fr-FR" dirty="0"/>
              <a:t> a été utilisé comme langage de modélisation pour représenter les besoins, la structure et le comportement du système.</a:t>
            </a:r>
          </a:p>
        </p:txBody>
      </p:sp>
      <p:sp>
        <p:nvSpPr>
          <p:cNvPr id="4" name="Espace réservé du numéro de diapositive 3"/>
          <p:cNvSpPr>
            <a:spLocks noGrp="1"/>
          </p:cNvSpPr>
          <p:nvPr>
            <p:ph type="sldNum" sz="quarter" idx="5"/>
          </p:nvPr>
        </p:nvSpPr>
        <p:spPr/>
        <p:txBody>
          <a:bodyPr/>
          <a:lstStyle/>
          <a:p>
            <a:fld id="{80099BE3-CECD-4971-AF4D-70F316C34F1E}" type="slidenum">
              <a:rPr lang="fr-FR" smtClean="0"/>
              <a:t>9</a:t>
            </a:fld>
            <a:endParaRPr lang="fr-FR"/>
          </a:p>
        </p:txBody>
      </p:sp>
    </p:spTree>
    <p:extLst>
      <p:ext uri="{BB962C8B-B14F-4D97-AF65-F5344CB8AC3E}">
        <p14:creationId xmlns:p14="http://schemas.microsoft.com/office/powerpoint/2010/main" val="1935862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AF71A-4654-B868-4E66-6FB53C4E557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A941D12-D1F4-3147-F69A-32FBA4E162E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08ED770-0C26-A563-EBCA-0507A3DB625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82337F87-98CC-A973-6612-0742E359E3D6}"/>
              </a:ext>
            </a:extLst>
          </p:cNvPr>
          <p:cNvSpPr>
            <a:spLocks noGrp="1"/>
          </p:cNvSpPr>
          <p:nvPr>
            <p:ph type="sldNum" sz="quarter" idx="5"/>
          </p:nvPr>
        </p:nvSpPr>
        <p:spPr/>
        <p:txBody>
          <a:bodyPr/>
          <a:lstStyle/>
          <a:p>
            <a:fld id="{80099BE3-CECD-4971-AF4D-70F316C34F1E}" type="slidenum">
              <a:rPr lang="fr-FR" smtClean="0"/>
              <a:t>10</a:t>
            </a:fld>
            <a:endParaRPr lang="fr-FR"/>
          </a:p>
        </p:txBody>
      </p:sp>
    </p:spTree>
    <p:extLst>
      <p:ext uri="{BB962C8B-B14F-4D97-AF65-F5344CB8AC3E}">
        <p14:creationId xmlns:p14="http://schemas.microsoft.com/office/powerpoint/2010/main" val="31109168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0099BE3-CECD-4971-AF4D-70F316C34F1E}" type="slidenum">
              <a:rPr lang="fr-FR" smtClean="0"/>
              <a:t>14</a:t>
            </a:fld>
            <a:endParaRPr lang="fr-FR"/>
          </a:p>
        </p:txBody>
      </p:sp>
    </p:spTree>
    <p:extLst>
      <p:ext uri="{BB962C8B-B14F-4D97-AF65-F5344CB8AC3E}">
        <p14:creationId xmlns:p14="http://schemas.microsoft.com/office/powerpoint/2010/main" val="18877079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Après avoir présenté l'architecture et les choix qui ont guidé la conception de notre solution, nous allons maintenant voir son fonctionnement en situation réelle, à travers le parcours d'un utilisateur, de l'interaction avec l'agent jusqu'à l'intervention humaine lorsque cela est nécessaire. </a:t>
            </a:r>
          </a:p>
        </p:txBody>
      </p:sp>
      <p:sp>
        <p:nvSpPr>
          <p:cNvPr id="4" name="Espace réservé du numéro de diapositive 3"/>
          <p:cNvSpPr>
            <a:spLocks noGrp="1"/>
          </p:cNvSpPr>
          <p:nvPr>
            <p:ph type="sldNum" sz="quarter" idx="5"/>
          </p:nvPr>
        </p:nvSpPr>
        <p:spPr/>
        <p:txBody>
          <a:bodyPr/>
          <a:lstStyle/>
          <a:p>
            <a:fld id="{80099BE3-CECD-4971-AF4D-70F316C34F1E}" type="slidenum">
              <a:rPr lang="fr-FR" smtClean="0"/>
              <a:t>15</a:t>
            </a:fld>
            <a:endParaRPr lang="fr-FR"/>
          </a:p>
        </p:txBody>
      </p:sp>
    </p:spTree>
    <p:extLst>
      <p:ext uri="{BB962C8B-B14F-4D97-AF65-F5344CB8AC3E}">
        <p14:creationId xmlns:p14="http://schemas.microsoft.com/office/powerpoint/2010/main" val="2245400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Sur le plan de la sécurité et de la conformité, nous avons travaillé sur deux niveaux. D'abord, la sécurité externe, avec HTTPS pour chiffrer les échanges, </a:t>
            </a:r>
            <a:r>
              <a:rPr lang="fr-FR" dirty="0" err="1"/>
              <a:t>Cloudflare</a:t>
            </a:r>
            <a:r>
              <a:rPr lang="fr-FR" dirty="0"/>
              <a:t> et son </a:t>
            </a:r>
            <a:r>
              <a:rPr lang="fr-FR" dirty="0" err="1"/>
              <a:t>WAF</a:t>
            </a:r>
            <a:r>
              <a:rPr lang="fr-FR" dirty="0"/>
              <a:t> pour filtrer les requêtes, puis Kong API Gateway pour l'authentification, le contrôle d'accès et le routage. Ensuite, la sécurité interne repose sur l'authentification entre </a:t>
            </a:r>
            <a:r>
              <a:rPr lang="fr-FR" dirty="0" err="1"/>
              <a:t>microservices</a:t>
            </a:r>
            <a:r>
              <a:rPr lang="fr-FR" dirty="0"/>
              <a:t> grâce à un secret interne, stocké dans les variables d'environnement. Enfin, notre approche </a:t>
            </a:r>
            <a:r>
              <a:rPr lang="fr-FR" dirty="0" err="1"/>
              <a:t>NLP</a:t>
            </a:r>
            <a:r>
              <a:rPr lang="fr-FR" dirty="0"/>
              <a:t> déterministe limite fortement les risques liés aux attaques par prompt injection. L'ensemble s'inscrit dans le respect de la loi ivoirienne n° 2013-450 relative à la protection des données à caractère personnel. </a:t>
            </a:r>
          </a:p>
        </p:txBody>
      </p:sp>
      <p:sp>
        <p:nvSpPr>
          <p:cNvPr id="4" name="Espace réservé du numéro de diapositive 3"/>
          <p:cNvSpPr>
            <a:spLocks noGrp="1"/>
          </p:cNvSpPr>
          <p:nvPr>
            <p:ph type="sldNum" sz="quarter" idx="5"/>
          </p:nvPr>
        </p:nvSpPr>
        <p:spPr/>
        <p:txBody>
          <a:bodyPr/>
          <a:lstStyle/>
          <a:p>
            <a:fld id="{80099BE3-CECD-4971-AF4D-70F316C34F1E}" type="slidenum">
              <a:rPr lang="fr-FR" smtClean="0"/>
              <a:t>17</a:t>
            </a:fld>
            <a:endParaRPr lang="fr-FR"/>
          </a:p>
        </p:txBody>
      </p:sp>
    </p:spTree>
    <p:extLst>
      <p:ext uri="{BB962C8B-B14F-4D97-AF65-F5344CB8AC3E}">
        <p14:creationId xmlns:p14="http://schemas.microsoft.com/office/powerpoint/2010/main" val="21270522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Après la sécurité, nous passons à la validation de l’efficacité de la solution.</a:t>
            </a:r>
          </a:p>
          <a:p>
            <a:r>
              <a:rPr lang="fr-FR" dirty="0"/>
              <a:t>Nous avons d’abord évalué la capacité du modèle à identifier correctement les demandes des utilisateurs. Sur </a:t>
            </a:r>
            <a:r>
              <a:rPr lang="fr-FR" b="1" dirty="0"/>
              <a:t>2 041 requêtes réelles, indépendantes de l’entraînement</a:t>
            </a:r>
            <a:r>
              <a:rPr lang="fr-FR" dirty="0"/>
              <a:t>, le modèle obtient une </a:t>
            </a:r>
            <a:r>
              <a:rPr lang="fr-FR" b="1" dirty="0" err="1"/>
              <a:t>accuracy</a:t>
            </a:r>
            <a:r>
              <a:rPr lang="fr-FR" b="1" dirty="0"/>
              <a:t> de 91,65 %</a:t>
            </a:r>
            <a:r>
              <a:rPr lang="fr-FR" dirty="0"/>
              <a:t> et un </a:t>
            </a:r>
            <a:r>
              <a:rPr lang="fr-FR" b="1" dirty="0"/>
              <a:t>Macro F1 de 90,72 %</a:t>
            </a:r>
            <a:r>
              <a:rPr lang="fr-FR" dirty="0"/>
              <a:t>, soit environ </a:t>
            </a:r>
            <a:r>
              <a:rPr lang="fr-FR" b="1" dirty="0"/>
              <a:t>9 requêtes sur 10 correctement classées</a:t>
            </a:r>
            <a:r>
              <a:rPr lang="fr-FR" dirty="0"/>
              <a:t>. Ces résultats montrent une bonne capacité du modèle à comprendre les demandes formulées par les utilisateurs.</a:t>
            </a:r>
          </a:p>
        </p:txBody>
      </p:sp>
      <p:sp>
        <p:nvSpPr>
          <p:cNvPr id="4" name="Espace réservé du numéro de diapositive 3"/>
          <p:cNvSpPr>
            <a:spLocks noGrp="1"/>
          </p:cNvSpPr>
          <p:nvPr>
            <p:ph type="sldNum" sz="quarter" idx="5"/>
          </p:nvPr>
        </p:nvSpPr>
        <p:spPr/>
        <p:txBody>
          <a:bodyPr/>
          <a:lstStyle/>
          <a:p>
            <a:fld id="{80099BE3-CECD-4971-AF4D-70F316C34F1E}" type="slidenum">
              <a:rPr lang="fr-FR" smtClean="0"/>
              <a:t>18</a:t>
            </a:fld>
            <a:endParaRPr lang="fr-FR"/>
          </a:p>
        </p:txBody>
      </p:sp>
    </p:spTree>
    <p:extLst>
      <p:ext uri="{BB962C8B-B14F-4D97-AF65-F5344CB8AC3E}">
        <p14:creationId xmlns:p14="http://schemas.microsoft.com/office/powerpoint/2010/main" val="30562479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Cette compréhension doit ensuite se traduire par une résolution effective des demandes.</a:t>
            </a:r>
          </a:p>
          <a:p>
            <a:r>
              <a:rPr lang="fr-FR" dirty="0"/>
              <a:t>Sur les mêmes 2 041 requêtes, </a:t>
            </a:r>
            <a:r>
              <a:rPr lang="fr-FR" b="1" dirty="0"/>
              <a:t>1 830 ont été correctement classées</a:t>
            </a:r>
            <a:r>
              <a:rPr lang="fr-FR" dirty="0"/>
              <a:t>, tandis que </a:t>
            </a:r>
            <a:r>
              <a:rPr lang="fr-FR" b="1" dirty="0"/>
              <a:t>44 ont été récupérées par le mécanisme de </a:t>
            </a:r>
            <a:r>
              <a:rPr lang="fr-FR" b="1" dirty="0" err="1"/>
              <a:t>fallback</a:t>
            </a:r>
            <a:r>
              <a:rPr lang="fr-FR" dirty="0"/>
              <a:t>. Ainsi, </a:t>
            </a:r>
            <a:r>
              <a:rPr lang="fr-FR" b="1" dirty="0"/>
              <a:t>1 874 demandes, soit 91,81 %</a:t>
            </a:r>
            <a:r>
              <a:rPr lang="fr-FR" dirty="0"/>
              <a:t>, ont été résolues sans intervention humaine, contre </a:t>
            </a:r>
            <a:r>
              <a:rPr lang="fr-FR" b="1" dirty="0"/>
              <a:t>167 demandes non résolues</a:t>
            </a:r>
            <a:r>
              <a:rPr lang="fr-FR" dirty="0"/>
              <a:t>.</a:t>
            </a:r>
          </a:p>
        </p:txBody>
      </p:sp>
      <p:sp>
        <p:nvSpPr>
          <p:cNvPr id="4" name="Espace réservé du numéro de diapositive 3"/>
          <p:cNvSpPr>
            <a:spLocks noGrp="1"/>
          </p:cNvSpPr>
          <p:nvPr>
            <p:ph type="sldNum" sz="quarter" idx="5"/>
          </p:nvPr>
        </p:nvSpPr>
        <p:spPr/>
        <p:txBody>
          <a:bodyPr/>
          <a:lstStyle/>
          <a:p>
            <a:fld id="{80099BE3-CECD-4971-AF4D-70F316C34F1E}" type="slidenum">
              <a:rPr lang="fr-FR" smtClean="0"/>
              <a:t>19</a:t>
            </a:fld>
            <a:endParaRPr lang="fr-FR"/>
          </a:p>
        </p:txBody>
      </p:sp>
    </p:spTree>
    <p:extLst>
      <p:ext uri="{BB962C8B-B14F-4D97-AF65-F5344CB8AC3E}">
        <p14:creationId xmlns:p14="http://schemas.microsoft.com/office/powerpoint/2010/main" val="27238958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b="1" dirty="0"/>
              <a:t>Notre solution présente toutefois certaines limites. Les performances peuvent notamment diminuer face aux requêtes ambiguës ou inédites, tandis que la couverture linguistique reste encore limitée. De plus, la validation a été réalisée dans un environnement de </a:t>
            </a:r>
            <a:r>
              <a:rPr lang="fr-FR" b="1" dirty="0" err="1"/>
              <a:t>staging</a:t>
            </a:r>
            <a:r>
              <a:rPr lang="fr-FR" b="1" dirty="0"/>
              <a:t>.</a:t>
            </a:r>
          </a:p>
          <a:p>
            <a:endParaRPr lang="fr-FR" dirty="0"/>
          </a:p>
          <a:p>
            <a:r>
              <a:rPr lang="fr-FR" b="1" dirty="0"/>
              <a:t>Pour y répondre, nous envisageons d’enrichir le corpus avec davantage de formulations et de cas d’usage, d’étendre la couverture multilingue et d’intégrer progressivement un </a:t>
            </a:r>
            <a:r>
              <a:rPr lang="fr-FR" b="1" dirty="0" err="1"/>
              <a:t>LLM</a:t>
            </a:r>
            <a:r>
              <a:rPr lang="fr-FR" b="1" dirty="0"/>
              <a:t> associé au protocole MCP afin de mieux traiter les requêtes complexes. Enfin, l’objectif est d’intégrer la solution directement à la plateforme Ngoni.</a:t>
            </a:r>
            <a:endParaRPr lang="fr-FR" dirty="0"/>
          </a:p>
          <a:p>
            <a:endParaRPr lang="fr-FR" dirty="0"/>
          </a:p>
        </p:txBody>
      </p:sp>
      <p:sp>
        <p:nvSpPr>
          <p:cNvPr id="4" name="Espace réservé du numéro de diapositive 3"/>
          <p:cNvSpPr>
            <a:spLocks noGrp="1"/>
          </p:cNvSpPr>
          <p:nvPr>
            <p:ph type="sldNum" sz="quarter" idx="5"/>
          </p:nvPr>
        </p:nvSpPr>
        <p:spPr/>
        <p:txBody>
          <a:bodyPr/>
          <a:lstStyle/>
          <a:p>
            <a:fld id="{80099BE3-CECD-4971-AF4D-70F316C34F1E}" type="slidenum">
              <a:rPr lang="fr-FR" smtClean="0"/>
              <a:t>20</a:t>
            </a:fld>
            <a:endParaRPr lang="fr-FR"/>
          </a:p>
        </p:txBody>
      </p:sp>
    </p:spTree>
    <p:extLst>
      <p:ext uri="{BB962C8B-B14F-4D97-AF65-F5344CB8AC3E}">
        <p14:creationId xmlns:p14="http://schemas.microsoft.com/office/powerpoint/2010/main" val="9430538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Au départ, notre problématique était de répondre efficacement à un volume de 2 041 demandes d’assistance. Pour y répondre, nous avons conçu NGONI, un agent conversationnel intelligent capable de comprendre et de traiter automatiquement les demandes des utilisateurs. Les résultats montrent que 91,81 % des demandes ont été résolues sans intervention humaine. Autrement dit, près de neuf demandes sur dix sont désormais traitées automatiquement, démontrant ainsi l’apport de notre solution dans l’automatisation du support client.</a:t>
            </a:r>
          </a:p>
          <a:p>
            <a:endParaRPr lang="fr-FR" dirty="0"/>
          </a:p>
        </p:txBody>
      </p:sp>
      <p:sp>
        <p:nvSpPr>
          <p:cNvPr id="4" name="Espace réservé du numéro de diapositive 3"/>
          <p:cNvSpPr>
            <a:spLocks noGrp="1"/>
          </p:cNvSpPr>
          <p:nvPr>
            <p:ph type="sldNum" sz="quarter" idx="5"/>
          </p:nvPr>
        </p:nvSpPr>
        <p:spPr/>
        <p:txBody>
          <a:bodyPr/>
          <a:lstStyle/>
          <a:p>
            <a:fld id="{80099BE3-CECD-4971-AF4D-70F316C34F1E}" type="slidenum">
              <a:rPr lang="fr-FR" smtClean="0"/>
              <a:t>21</a:t>
            </a:fld>
            <a:endParaRPr lang="fr-FR"/>
          </a:p>
        </p:txBody>
      </p:sp>
    </p:spTree>
    <p:extLst>
      <p:ext uri="{BB962C8B-B14F-4D97-AF65-F5344CB8AC3E}">
        <p14:creationId xmlns:p14="http://schemas.microsoft.com/office/powerpoint/2010/main" val="5157143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Chers membres du jury, nous vous remercions pour votre attention et restons à votre disposition pour vos remarques, vos observations et vos questions.</a:t>
            </a:r>
          </a:p>
          <a:p>
            <a:endParaRPr lang="fr-FR" dirty="0"/>
          </a:p>
        </p:txBody>
      </p:sp>
      <p:sp>
        <p:nvSpPr>
          <p:cNvPr id="4" name="Espace réservé du numéro de diapositive 3"/>
          <p:cNvSpPr>
            <a:spLocks noGrp="1"/>
          </p:cNvSpPr>
          <p:nvPr>
            <p:ph type="sldNum" sz="quarter" idx="5"/>
          </p:nvPr>
        </p:nvSpPr>
        <p:spPr/>
        <p:txBody>
          <a:bodyPr/>
          <a:lstStyle/>
          <a:p>
            <a:fld id="{80099BE3-CECD-4971-AF4D-70F316C34F1E}" type="slidenum">
              <a:rPr lang="fr-FR" smtClean="0"/>
              <a:t>22</a:t>
            </a:fld>
            <a:endParaRPr lang="fr-FR"/>
          </a:p>
        </p:txBody>
      </p:sp>
    </p:spTree>
    <p:extLst>
      <p:ext uri="{BB962C8B-B14F-4D97-AF65-F5344CB8AC3E}">
        <p14:creationId xmlns:p14="http://schemas.microsoft.com/office/powerpoint/2010/main" val="12474346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CBBCF-0C48-D008-F882-59E5E1CF6F6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41BE049-4F79-8817-6036-25E7274CED1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4CE8A67-939C-98E0-D218-40F152C9BF93}"/>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AF747AF5-CAC5-7EBB-4111-6C706532DAD6}"/>
              </a:ext>
            </a:extLst>
          </p:cNvPr>
          <p:cNvSpPr>
            <a:spLocks noGrp="1"/>
          </p:cNvSpPr>
          <p:nvPr>
            <p:ph type="sldNum" sz="quarter" idx="5"/>
          </p:nvPr>
        </p:nvSpPr>
        <p:spPr/>
        <p:txBody>
          <a:bodyPr/>
          <a:lstStyle/>
          <a:p>
            <a:fld id="{80099BE3-CECD-4971-AF4D-70F316C34F1E}" type="slidenum">
              <a:rPr lang="fr-FR" smtClean="0"/>
              <a:t>23</a:t>
            </a:fld>
            <a:endParaRPr lang="fr-FR"/>
          </a:p>
        </p:txBody>
      </p:sp>
    </p:spTree>
    <p:extLst>
      <p:ext uri="{BB962C8B-B14F-4D97-AF65-F5344CB8AC3E}">
        <p14:creationId xmlns:p14="http://schemas.microsoft.com/office/powerpoint/2010/main" val="4134380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CEC06-F3B8-4E2C-8B0F-6E15C4B215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000B03-2564-4425-BA16-870D3EA283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D8FBF5-D5EA-4600-B59B-54DC238F02CB}"/>
              </a:ext>
            </a:extLst>
          </p:cNvPr>
          <p:cNvSpPr>
            <a:spLocks noGrp="1"/>
          </p:cNvSpPr>
          <p:nvPr>
            <p:ph type="dt" sz="half" idx="10"/>
          </p:nvPr>
        </p:nvSpPr>
        <p:spPr/>
        <p:txBody>
          <a:bodyPr/>
          <a:lstStyle/>
          <a:p>
            <a:fld id="{4791294E-E5A8-4AC0-BC36-C2BA5440625C}" type="datetimeFigureOut">
              <a:rPr lang="en-US" smtClean="0"/>
              <a:t>10/23/2026</a:t>
            </a:fld>
            <a:endParaRPr lang="en-US"/>
          </a:p>
        </p:txBody>
      </p:sp>
      <p:sp>
        <p:nvSpPr>
          <p:cNvPr id="5" name="Footer Placeholder 4">
            <a:extLst>
              <a:ext uri="{FF2B5EF4-FFF2-40B4-BE49-F238E27FC236}">
                <a16:creationId xmlns:a16="http://schemas.microsoft.com/office/drawing/2014/main" id="{0ABF6611-B9C7-468A-840A-8D4C0A9BB2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7871E0-1F8A-49E6-9539-65AE184BBD5C}"/>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3720193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E7DC1-8F11-48D6-A3A2-3252D48540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5BFE87-CE00-42FE-B480-C829ECDAF3A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B840DE-B859-48E9-BE07-084D52C37B2F}"/>
              </a:ext>
            </a:extLst>
          </p:cNvPr>
          <p:cNvSpPr>
            <a:spLocks noGrp="1"/>
          </p:cNvSpPr>
          <p:nvPr>
            <p:ph type="dt" sz="half" idx="10"/>
          </p:nvPr>
        </p:nvSpPr>
        <p:spPr/>
        <p:txBody>
          <a:bodyPr/>
          <a:lstStyle/>
          <a:p>
            <a:fld id="{4791294E-E5A8-4AC0-BC36-C2BA5440625C}" type="datetimeFigureOut">
              <a:rPr lang="en-US" smtClean="0"/>
              <a:t>10/23/2026</a:t>
            </a:fld>
            <a:endParaRPr lang="en-US"/>
          </a:p>
        </p:txBody>
      </p:sp>
      <p:sp>
        <p:nvSpPr>
          <p:cNvPr id="5" name="Footer Placeholder 4">
            <a:extLst>
              <a:ext uri="{FF2B5EF4-FFF2-40B4-BE49-F238E27FC236}">
                <a16:creationId xmlns:a16="http://schemas.microsoft.com/office/drawing/2014/main" id="{8706D3B7-FC82-4346-8E1C-1FA81D03CB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C65B3-632A-4C2D-B0B0-067CA1915FCD}"/>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2833099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1660-6677-46E5-8D05-3840691C4C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5B5E8E-8A1B-4972-A53D-5AF0BC23608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DE0AF27-02ED-46C8-BC37-3BD80F2965D2}"/>
              </a:ext>
            </a:extLst>
          </p:cNvPr>
          <p:cNvSpPr>
            <a:spLocks noGrp="1"/>
          </p:cNvSpPr>
          <p:nvPr>
            <p:ph type="dt" sz="half" idx="10"/>
          </p:nvPr>
        </p:nvSpPr>
        <p:spPr/>
        <p:txBody>
          <a:bodyPr/>
          <a:lstStyle/>
          <a:p>
            <a:fld id="{4791294E-E5A8-4AC0-BC36-C2BA5440625C}" type="datetimeFigureOut">
              <a:rPr lang="en-US" smtClean="0"/>
              <a:t>10/23/2026</a:t>
            </a:fld>
            <a:endParaRPr lang="en-US"/>
          </a:p>
        </p:txBody>
      </p:sp>
      <p:sp>
        <p:nvSpPr>
          <p:cNvPr id="5" name="Footer Placeholder 4">
            <a:extLst>
              <a:ext uri="{FF2B5EF4-FFF2-40B4-BE49-F238E27FC236}">
                <a16:creationId xmlns:a16="http://schemas.microsoft.com/office/drawing/2014/main" id="{09AAB325-7389-4A68-986F-39EB4BE405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81CDA2-18B1-4CF9-93FB-68013DA9DC70}"/>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3196307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A090A-BD90-48D4-9136-DEA6B09DEE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B1C3C9-0E62-4003-B26A-9504F8FDA88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7E72CC-6C57-47E3-87A6-B0C0EC510C0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551DFF-879F-452E-AF31-A17F02590B44}"/>
              </a:ext>
            </a:extLst>
          </p:cNvPr>
          <p:cNvSpPr>
            <a:spLocks noGrp="1"/>
          </p:cNvSpPr>
          <p:nvPr>
            <p:ph type="dt" sz="half" idx="10"/>
          </p:nvPr>
        </p:nvSpPr>
        <p:spPr/>
        <p:txBody>
          <a:bodyPr/>
          <a:lstStyle/>
          <a:p>
            <a:fld id="{4791294E-E5A8-4AC0-BC36-C2BA5440625C}" type="datetimeFigureOut">
              <a:rPr lang="en-US" smtClean="0"/>
              <a:t>10/23/2026</a:t>
            </a:fld>
            <a:endParaRPr lang="en-US"/>
          </a:p>
        </p:txBody>
      </p:sp>
      <p:sp>
        <p:nvSpPr>
          <p:cNvPr id="6" name="Footer Placeholder 5">
            <a:extLst>
              <a:ext uri="{FF2B5EF4-FFF2-40B4-BE49-F238E27FC236}">
                <a16:creationId xmlns:a16="http://schemas.microsoft.com/office/drawing/2014/main" id="{847DA84C-A37D-4CD6-BCC7-F7C3B5C85C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EEF04B-3413-43B3-83AA-E6E303FF1E70}"/>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2990956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5F3B8-4BAC-4F18-B6E2-6963868B17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EFE6BB-5140-4F48-B8FD-6D66A962EF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DA7C1CC-94E3-4E0F-A19F-BEC42FC457F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694BDC-9A07-49FC-BE01-80C7ED7E8C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2CB0BEE-F64D-409D-B96F-DBF20DA79A3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7BC85C-F34C-40A1-88FD-62985A4F706F}"/>
              </a:ext>
            </a:extLst>
          </p:cNvPr>
          <p:cNvSpPr>
            <a:spLocks noGrp="1"/>
          </p:cNvSpPr>
          <p:nvPr>
            <p:ph type="dt" sz="half" idx="10"/>
          </p:nvPr>
        </p:nvSpPr>
        <p:spPr/>
        <p:txBody>
          <a:bodyPr/>
          <a:lstStyle/>
          <a:p>
            <a:fld id="{4791294E-E5A8-4AC0-BC36-C2BA5440625C}" type="datetimeFigureOut">
              <a:rPr lang="en-US" smtClean="0"/>
              <a:t>10/23/2026</a:t>
            </a:fld>
            <a:endParaRPr lang="en-US"/>
          </a:p>
        </p:txBody>
      </p:sp>
      <p:sp>
        <p:nvSpPr>
          <p:cNvPr id="8" name="Footer Placeholder 7">
            <a:extLst>
              <a:ext uri="{FF2B5EF4-FFF2-40B4-BE49-F238E27FC236}">
                <a16:creationId xmlns:a16="http://schemas.microsoft.com/office/drawing/2014/main" id="{AE7C68DC-DA55-4AF6-BA8A-D80E4D187C4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E54A23-90C4-42DD-8424-9A2A67B789EB}"/>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675829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2FB77-9AA9-459D-8447-3C446E7CF2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0E7C839-FAE4-47F3-B364-6F1BE115EAED}"/>
              </a:ext>
            </a:extLst>
          </p:cNvPr>
          <p:cNvSpPr>
            <a:spLocks noGrp="1"/>
          </p:cNvSpPr>
          <p:nvPr>
            <p:ph type="dt" sz="half" idx="10"/>
          </p:nvPr>
        </p:nvSpPr>
        <p:spPr/>
        <p:txBody>
          <a:bodyPr/>
          <a:lstStyle/>
          <a:p>
            <a:fld id="{4791294E-E5A8-4AC0-BC36-C2BA5440625C}" type="datetimeFigureOut">
              <a:rPr lang="en-US" smtClean="0"/>
              <a:t>10/23/2026</a:t>
            </a:fld>
            <a:endParaRPr lang="en-US"/>
          </a:p>
        </p:txBody>
      </p:sp>
      <p:sp>
        <p:nvSpPr>
          <p:cNvPr id="4" name="Footer Placeholder 3">
            <a:extLst>
              <a:ext uri="{FF2B5EF4-FFF2-40B4-BE49-F238E27FC236}">
                <a16:creationId xmlns:a16="http://schemas.microsoft.com/office/drawing/2014/main" id="{3044C169-1E38-48CA-806F-B10FC74840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EBD49A-B8FB-47E6-A413-E863D0BE7047}"/>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500295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B2F12A-6BCE-4716-A14B-01185B116DBF}"/>
              </a:ext>
            </a:extLst>
          </p:cNvPr>
          <p:cNvSpPr>
            <a:spLocks noGrp="1"/>
          </p:cNvSpPr>
          <p:nvPr>
            <p:ph type="dt" sz="half" idx="10"/>
          </p:nvPr>
        </p:nvSpPr>
        <p:spPr/>
        <p:txBody>
          <a:bodyPr/>
          <a:lstStyle/>
          <a:p>
            <a:fld id="{4791294E-E5A8-4AC0-BC36-C2BA5440625C}" type="datetimeFigureOut">
              <a:rPr lang="en-US" smtClean="0"/>
              <a:t>10/23/2026</a:t>
            </a:fld>
            <a:endParaRPr lang="en-US"/>
          </a:p>
        </p:txBody>
      </p:sp>
      <p:sp>
        <p:nvSpPr>
          <p:cNvPr id="3" name="Footer Placeholder 2">
            <a:extLst>
              <a:ext uri="{FF2B5EF4-FFF2-40B4-BE49-F238E27FC236}">
                <a16:creationId xmlns:a16="http://schemas.microsoft.com/office/drawing/2014/main" id="{0E7F0D77-FB58-42AD-B0D7-1EC3AEF9E3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08B63E-130B-4A65-A949-57AD253E751A}"/>
              </a:ext>
            </a:extLst>
          </p:cNvPr>
          <p:cNvSpPr>
            <a:spLocks noGrp="1"/>
          </p:cNvSpPr>
          <p:nvPr>
            <p:ph type="sldNum" sz="quarter" idx="12"/>
          </p:nvPr>
        </p:nvSpPr>
        <p:spPr/>
        <p:txBody>
          <a:bodyPr/>
          <a:lstStyle/>
          <a:p>
            <a:fld id="{02383E7E-9DFE-4A1E-AEC2-D2E19E891C2C}" type="slidenum">
              <a:rPr lang="en-US" smtClean="0"/>
              <a:t>‹N°›</a:t>
            </a:fld>
            <a:endParaRPr lang="en-US"/>
          </a:p>
        </p:txBody>
      </p:sp>
      <p:sp>
        <p:nvSpPr>
          <p:cNvPr id="6" name="Picture Placeholder 5">
            <a:extLst>
              <a:ext uri="{FF2B5EF4-FFF2-40B4-BE49-F238E27FC236}">
                <a16:creationId xmlns:a16="http://schemas.microsoft.com/office/drawing/2014/main" id="{14D8D99B-236D-46C1-B8CC-F73A90F10BB5}"/>
              </a:ext>
            </a:extLst>
          </p:cNvPr>
          <p:cNvSpPr>
            <a:spLocks noGrp="1"/>
          </p:cNvSpPr>
          <p:nvPr>
            <p:ph type="pic" sz="quarter" idx="13" hasCustomPrompt="1"/>
          </p:nvPr>
        </p:nvSpPr>
        <p:spPr>
          <a:xfrm>
            <a:off x="291632" y="703263"/>
            <a:ext cx="1970710" cy="1973498"/>
          </a:xfrm>
          <a:prstGeom prst="roundRect">
            <a:avLst/>
          </a:prstGeom>
          <a:solidFill>
            <a:schemeClr val="accent1"/>
          </a:solidFill>
          <a:ln>
            <a:noFill/>
          </a:ln>
        </p:spPr>
        <p:txBody>
          <a:bodyPr anchor="ctr">
            <a:normAutofit/>
          </a:bodyPr>
          <a:lstStyle>
            <a:lvl1pPr marL="0" indent="0" algn="ctr">
              <a:buNone/>
              <a:defRPr sz="1400" b="1">
                <a:solidFill>
                  <a:schemeClr val="bg1"/>
                </a:solidFill>
              </a:defRPr>
            </a:lvl1pPr>
          </a:lstStyle>
          <a:p>
            <a:r>
              <a:rPr lang="en-US" dirty="0"/>
              <a:t>Add Your Pic Here</a:t>
            </a:r>
          </a:p>
        </p:txBody>
      </p:sp>
      <p:sp>
        <p:nvSpPr>
          <p:cNvPr id="9" name="Picture Placeholder 5">
            <a:extLst>
              <a:ext uri="{FF2B5EF4-FFF2-40B4-BE49-F238E27FC236}">
                <a16:creationId xmlns:a16="http://schemas.microsoft.com/office/drawing/2014/main" id="{71B9D871-D158-4635-8CD4-C3E09150D08A}"/>
              </a:ext>
            </a:extLst>
          </p:cNvPr>
          <p:cNvSpPr>
            <a:spLocks noGrp="1"/>
          </p:cNvSpPr>
          <p:nvPr>
            <p:ph type="pic" sz="quarter" idx="14" hasCustomPrompt="1"/>
          </p:nvPr>
        </p:nvSpPr>
        <p:spPr>
          <a:xfrm>
            <a:off x="2681746" y="703263"/>
            <a:ext cx="1970710" cy="1973498"/>
          </a:xfrm>
          <a:prstGeom prst="roundRect">
            <a:avLst/>
          </a:prstGeom>
          <a:solidFill>
            <a:schemeClr val="accent1"/>
          </a:solidFill>
          <a:ln>
            <a:noFill/>
          </a:ln>
        </p:spPr>
        <p:txBody>
          <a:bodyPr anchor="ctr">
            <a:normAutofit/>
          </a:bodyPr>
          <a:lstStyle>
            <a:lvl1pPr marL="0" indent="0" algn="ctr">
              <a:buNone/>
              <a:defRPr sz="1400" b="1">
                <a:solidFill>
                  <a:schemeClr val="bg1"/>
                </a:solidFill>
              </a:defRPr>
            </a:lvl1pPr>
          </a:lstStyle>
          <a:p>
            <a:r>
              <a:rPr lang="en-US" dirty="0"/>
              <a:t>Add Your Pic Here</a:t>
            </a:r>
          </a:p>
        </p:txBody>
      </p:sp>
      <p:sp>
        <p:nvSpPr>
          <p:cNvPr id="10" name="Picture Placeholder 5">
            <a:extLst>
              <a:ext uri="{FF2B5EF4-FFF2-40B4-BE49-F238E27FC236}">
                <a16:creationId xmlns:a16="http://schemas.microsoft.com/office/drawing/2014/main" id="{5BD24C01-3F9A-4DF6-B721-6943F82B3154}"/>
              </a:ext>
            </a:extLst>
          </p:cNvPr>
          <p:cNvSpPr>
            <a:spLocks noGrp="1"/>
          </p:cNvSpPr>
          <p:nvPr>
            <p:ph type="pic" sz="quarter" idx="15" hasCustomPrompt="1"/>
          </p:nvPr>
        </p:nvSpPr>
        <p:spPr>
          <a:xfrm>
            <a:off x="4990380" y="703263"/>
            <a:ext cx="1970710" cy="1973498"/>
          </a:xfrm>
          <a:prstGeom prst="roundRect">
            <a:avLst/>
          </a:prstGeom>
          <a:solidFill>
            <a:schemeClr val="accent1"/>
          </a:solidFill>
          <a:ln>
            <a:noFill/>
          </a:ln>
        </p:spPr>
        <p:txBody>
          <a:bodyPr anchor="ctr">
            <a:normAutofit/>
          </a:bodyPr>
          <a:lstStyle>
            <a:lvl1pPr marL="0" indent="0" algn="ctr">
              <a:buNone/>
              <a:defRPr sz="1400" b="1">
                <a:solidFill>
                  <a:schemeClr val="bg1"/>
                </a:solidFill>
              </a:defRPr>
            </a:lvl1pPr>
          </a:lstStyle>
          <a:p>
            <a:r>
              <a:rPr lang="en-US" dirty="0"/>
              <a:t>Add Your Pic Here</a:t>
            </a:r>
          </a:p>
        </p:txBody>
      </p:sp>
      <p:sp>
        <p:nvSpPr>
          <p:cNvPr id="11" name="Picture Placeholder 5">
            <a:extLst>
              <a:ext uri="{FF2B5EF4-FFF2-40B4-BE49-F238E27FC236}">
                <a16:creationId xmlns:a16="http://schemas.microsoft.com/office/drawing/2014/main" id="{E7167516-F082-4E72-A2F4-4A00553C6A83}"/>
              </a:ext>
            </a:extLst>
          </p:cNvPr>
          <p:cNvSpPr>
            <a:spLocks noGrp="1"/>
          </p:cNvSpPr>
          <p:nvPr>
            <p:ph type="pic" sz="quarter" idx="16" hasCustomPrompt="1"/>
          </p:nvPr>
        </p:nvSpPr>
        <p:spPr>
          <a:xfrm>
            <a:off x="7643045" y="703263"/>
            <a:ext cx="1970710" cy="1973498"/>
          </a:xfrm>
          <a:prstGeom prst="roundRect">
            <a:avLst/>
          </a:prstGeom>
          <a:solidFill>
            <a:schemeClr val="accent1"/>
          </a:solidFill>
          <a:ln>
            <a:noFill/>
          </a:ln>
        </p:spPr>
        <p:txBody>
          <a:bodyPr anchor="ctr">
            <a:normAutofit/>
          </a:bodyPr>
          <a:lstStyle>
            <a:lvl1pPr marL="0" indent="0" algn="ctr">
              <a:buNone/>
              <a:defRPr sz="1400" b="1">
                <a:solidFill>
                  <a:schemeClr val="bg1"/>
                </a:solidFill>
              </a:defRPr>
            </a:lvl1pPr>
          </a:lstStyle>
          <a:p>
            <a:r>
              <a:rPr lang="en-US" dirty="0"/>
              <a:t>Add Your Pic Here</a:t>
            </a:r>
          </a:p>
        </p:txBody>
      </p:sp>
      <p:sp>
        <p:nvSpPr>
          <p:cNvPr id="12" name="Picture Placeholder 5">
            <a:extLst>
              <a:ext uri="{FF2B5EF4-FFF2-40B4-BE49-F238E27FC236}">
                <a16:creationId xmlns:a16="http://schemas.microsoft.com/office/drawing/2014/main" id="{B7F1A3A0-91F1-43E9-ADFD-96C76FBB40BD}"/>
              </a:ext>
            </a:extLst>
          </p:cNvPr>
          <p:cNvSpPr>
            <a:spLocks noGrp="1"/>
          </p:cNvSpPr>
          <p:nvPr>
            <p:ph type="pic" sz="quarter" idx="17" hasCustomPrompt="1"/>
          </p:nvPr>
        </p:nvSpPr>
        <p:spPr>
          <a:xfrm>
            <a:off x="10032749" y="703263"/>
            <a:ext cx="1970710" cy="1973498"/>
          </a:xfrm>
          <a:prstGeom prst="roundRect">
            <a:avLst/>
          </a:prstGeom>
          <a:solidFill>
            <a:schemeClr val="accent1"/>
          </a:solidFill>
          <a:ln>
            <a:noFill/>
          </a:ln>
        </p:spPr>
        <p:txBody>
          <a:bodyPr anchor="ctr">
            <a:normAutofit/>
          </a:bodyPr>
          <a:lstStyle>
            <a:lvl1pPr marL="0" indent="0" algn="ctr">
              <a:buNone/>
              <a:defRPr sz="1400" b="1">
                <a:solidFill>
                  <a:schemeClr val="bg1"/>
                </a:solidFill>
              </a:defRPr>
            </a:lvl1pPr>
          </a:lstStyle>
          <a:p>
            <a:r>
              <a:rPr lang="en-US" dirty="0"/>
              <a:t>Add Your Pic Here</a:t>
            </a:r>
          </a:p>
        </p:txBody>
      </p:sp>
      <p:sp>
        <p:nvSpPr>
          <p:cNvPr id="13" name="Picture Placeholder 5">
            <a:extLst>
              <a:ext uri="{FF2B5EF4-FFF2-40B4-BE49-F238E27FC236}">
                <a16:creationId xmlns:a16="http://schemas.microsoft.com/office/drawing/2014/main" id="{73078B10-D96E-450F-BDAE-D96E911C2CA3}"/>
              </a:ext>
            </a:extLst>
          </p:cNvPr>
          <p:cNvSpPr>
            <a:spLocks noGrp="1"/>
          </p:cNvSpPr>
          <p:nvPr>
            <p:ph type="pic" sz="quarter" idx="18" hasCustomPrompt="1"/>
          </p:nvPr>
        </p:nvSpPr>
        <p:spPr>
          <a:xfrm>
            <a:off x="291632" y="2966629"/>
            <a:ext cx="1970710" cy="1973498"/>
          </a:xfrm>
          <a:prstGeom prst="roundRect">
            <a:avLst/>
          </a:prstGeom>
          <a:solidFill>
            <a:schemeClr val="accent1"/>
          </a:solidFill>
          <a:ln>
            <a:noFill/>
          </a:ln>
        </p:spPr>
        <p:txBody>
          <a:bodyPr anchor="ctr">
            <a:normAutofit/>
          </a:bodyPr>
          <a:lstStyle>
            <a:lvl1pPr marL="0" indent="0" algn="ctr">
              <a:buNone/>
              <a:defRPr sz="1400" b="1">
                <a:solidFill>
                  <a:schemeClr val="bg1"/>
                </a:solidFill>
              </a:defRPr>
            </a:lvl1pPr>
          </a:lstStyle>
          <a:p>
            <a:r>
              <a:rPr lang="en-US" dirty="0"/>
              <a:t>Add Your Pic Here</a:t>
            </a:r>
          </a:p>
        </p:txBody>
      </p:sp>
    </p:spTree>
    <p:extLst>
      <p:ext uri="{BB962C8B-B14F-4D97-AF65-F5344CB8AC3E}">
        <p14:creationId xmlns:p14="http://schemas.microsoft.com/office/powerpoint/2010/main" val="832161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F4C7C-B380-4067-BD97-E5D7EF784B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80E0AE-E5B9-4127-8E1F-93A7082B0E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952295-F7AA-48AC-B92E-F10FD2DC06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82BC37D-F2B8-45B5-8893-C63E8646AF87}"/>
              </a:ext>
            </a:extLst>
          </p:cNvPr>
          <p:cNvSpPr>
            <a:spLocks noGrp="1"/>
          </p:cNvSpPr>
          <p:nvPr>
            <p:ph type="dt" sz="half" idx="10"/>
          </p:nvPr>
        </p:nvSpPr>
        <p:spPr/>
        <p:txBody>
          <a:bodyPr/>
          <a:lstStyle/>
          <a:p>
            <a:fld id="{4791294E-E5A8-4AC0-BC36-C2BA5440625C}" type="datetimeFigureOut">
              <a:rPr lang="en-US" smtClean="0"/>
              <a:t>10/23/2026</a:t>
            </a:fld>
            <a:endParaRPr lang="en-US"/>
          </a:p>
        </p:txBody>
      </p:sp>
      <p:sp>
        <p:nvSpPr>
          <p:cNvPr id="6" name="Footer Placeholder 5">
            <a:extLst>
              <a:ext uri="{FF2B5EF4-FFF2-40B4-BE49-F238E27FC236}">
                <a16:creationId xmlns:a16="http://schemas.microsoft.com/office/drawing/2014/main" id="{8F55578D-3A5B-4AF5-AE0C-15E1890D53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CC7AD4-C715-4A4D-B82C-8D513D495614}"/>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1667035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90AF68B-0660-4858-814B-940C4E66634B}"/>
              </a:ext>
            </a:extLst>
          </p:cNvPr>
          <p:cNvSpPr>
            <a:spLocks noGrp="1"/>
          </p:cNvSpPr>
          <p:nvPr>
            <p:ph type="pic" idx="1"/>
          </p:nvPr>
        </p:nvSpPr>
        <p:spPr>
          <a:xfrm>
            <a:off x="3192463" y="730250"/>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5" name="Date Placeholder 4">
            <a:extLst>
              <a:ext uri="{FF2B5EF4-FFF2-40B4-BE49-F238E27FC236}">
                <a16:creationId xmlns:a16="http://schemas.microsoft.com/office/drawing/2014/main" id="{47B610E6-F570-4537-BAD5-9DDD739B570F}"/>
              </a:ext>
            </a:extLst>
          </p:cNvPr>
          <p:cNvSpPr>
            <a:spLocks noGrp="1"/>
          </p:cNvSpPr>
          <p:nvPr>
            <p:ph type="dt" sz="half" idx="10"/>
          </p:nvPr>
        </p:nvSpPr>
        <p:spPr/>
        <p:txBody>
          <a:bodyPr/>
          <a:lstStyle/>
          <a:p>
            <a:fld id="{4791294E-E5A8-4AC0-BC36-C2BA5440625C}" type="datetimeFigureOut">
              <a:rPr lang="en-US" smtClean="0"/>
              <a:t>10/23/2026</a:t>
            </a:fld>
            <a:endParaRPr lang="en-US"/>
          </a:p>
        </p:txBody>
      </p:sp>
      <p:sp>
        <p:nvSpPr>
          <p:cNvPr id="6" name="Footer Placeholder 5">
            <a:extLst>
              <a:ext uri="{FF2B5EF4-FFF2-40B4-BE49-F238E27FC236}">
                <a16:creationId xmlns:a16="http://schemas.microsoft.com/office/drawing/2014/main" id="{4749A2FD-081E-4523-B2E6-F9A0463064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804314-AFBC-4922-BE73-F80D33AB14CD}"/>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1551839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C6800-023A-43EF-A7EB-1EC254D8BC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905B04-597F-465E-851E-2661EAEAC5A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28D492-F277-449C-811D-047EFA5A71DC}"/>
              </a:ext>
            </a:extLst>
          </p:cNvPr>
          <p:cNvSpPr>
            <a:spLocks noGrp="1"/>
          </p:cNvSpPr>
          <p:nvPr>
            <p:ph type="dt" sz="half" idx="10"/>
          </p:nvPr>
        </p:nvSpPr>
        <p:spPr/>
        <p:txBody>
          <a:bodyPr/>
          <a:lstStyle/>
          <a:p>
            <a:fld id="{4791294E-E5A8-4AC0-BC36-C2BA5440625C}" type="datetimeFigureOut">
              <a:rPr lang="en-US" smtClean="0"/>
              <a:t>10/23/2026</a:t>
            </a:fld>
            <a:endParaRPr lang="en-US"/>
          </a:p>
        </p:txBody>
      </p:sp>
      <p:sp>
        <p:nvSpPr>
          <p:cNvPr id="5" name="Footer Placeholder 4">
            <a:extLst>
              <a:ext uri="{FF2B5EF4-FFF2-40B4-BE49-F238E27FC236}">
                <a16:creationId xmlns:a16="http://schemas.microsoft.com/office/drawing/2014/main" id="{0D6E342B-75A7-4B70-9C03-0CE04872B4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EDC5F0-D402-4200-A3DF-41341D675409}"/>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620775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1C786B-89FF-4B70-B413-CF9F4FE6EE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118D656-4DCF-4FCD-987B-3766B43B060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1A09D1-F7EE-49FF-847F-2BA5B9D4AA39}"/>
              </a:ext>
            </a:extLst>
          </p:cNvPr>
          <p:cNvSpPr>
            <a:spLocks noGrp="1"/>
          </p:cNvSpPr>
          <p:nvPr>
            <p:ph type="dt" sz="half" idx="10"/>
          </p:nvPr>
        </p:nvSpPr>
        <p:spPr/>
        <p:txBody>
          <a:bodyPr/>
          <a:lstStyle/>
          <a:p>
            <a:fld id="{4791294E-E5A8-4AC0-BC36-C2BA5440625C}" type="datetimeFigureOut">
              <a:rPr lang="en-US" smtClean="0"/>
              <a:t>10/23/2026</a:t>
            </a:fld>
            <a:endParaRPr lang="en-US"/>
          </a:p>
        </p:txBody>
      </p:sp>
      <p:sp>
        <p:nvSpPr>
          <p:cNvPr id="5" name="Footer Placeholder 4">
            <a:extLst>
              <a:ext uri="{FF2B5EF4-FFF2-40B4-BE49-F238E27FC236}">
                <a16:creationId xmlns:a16="http://schemas.microsoft.com/office/drawing/2014/main" id="{E64B355D-B132-4F33-AB04-61E1A14890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7A51A3-7091-48CF-B98C-03AF74F90CB3}"/>
              </a:ext>
            </a:extLst>
          </p:cNvPr>
          <p:cNvSpPr>
            <a:spLocks noGrp="1"/>
          </p:cNvSpPr>
          <p:nvPr>
            <p:ph type="sldNum" sz="quarter" idx="12"/>
          </p:nvPr>
        </p:nvSpPr>
        <p:spPr/>
        <p:txBody>
          <a:bodyPr/>
          <a:lstStyle/>
          <a:p>
            <a:fld id="{02383E7E-9DFE-4A1E-AEC2-D2E19E891C2C}" type="slidenum">
              <a:rPr lang="en-US" smtClean="0"/>
              <a:t>‹N°›</a:t>
            </a:fld>
            <a:endParaRPr lang="en-US"/>
          </a:p>
        </p:txBody>
      </p:sp>
    </p:spTree>
    <p:extLst>
      <p:ext uri="{BB962C8B-B14F-4D97-AF65-F5344CB8AC3E}">
        <p14:creationId xmlns:p14="http://schemas.microsoft.com/office/powerpoint/2010/main" val="1248433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1_Blank">
    <p:spTree>
      <p:nvGrpSpPr>
        <p:cNvPr id="1" name="Shape 87"/>
        <p:cNvGrpSpPr/>
        <p:nvPr/>
      </p:nvGrpSpPr>
      <p:grpSpPr>
        <a:xfrm>
          <a:off x="0" y="0"/>
          <a:ext cx="0" cy="0"/>
          <a:chOff x="0" y="0"/>
          <a:chExt cx="0" cy="0"/>
        </a:xfrm>
      </p:grpSpPr>
    </p:spTree>
    <p:extLst>
      <p:ext uri="{BB962C8B-B14F-4D97-AF65-F5344CB8AC3E}">
        <p14:creationId xmlns:p14="http://schemas.microsoft.com/office/powerpoint/2010/main" val="3487726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0579B4-3455-48EB-BC42-53EACC0734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DBE214-C24F-4958-8779-3412B41965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5BA94E-504A-40A5-A791-F646936AD6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91294E-E5A8-4AC0-BC36-C2BA5440625C}" type="datetimeFigureOut">
              <a:rPr lang="en-US" smtClean="0"/>
              <a:t>10/23/2026</a:t>
            </a:fld>
            <a:endParaRPr lang="en-US"/>
          </a:p>
        </p:txBody>
      </p:sp>
      <p:sp>
        <p:nvSpPr>
          <p:cNvPr id="5" name="Footer Placeholder 4">
            <a:extLst>
              <a:ext uri="{FF2B5EF4-FFF2-40B4-BE49-F238E27FC236}">
                <a16:creationId xmlns:a16="http://schemas.microsoft.com/office/drawing/2014/main" id="{C1F20237-BE98-4F01-A3D8-22364C89EF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B19E9C7-15FC-4792-826E-056C89E48C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383E7E-9DFE-4A1E-AEC2-D2E19E891C2C}" type="slidenum">
              <a:rPr lang="en-US" smtClean="0"/>
              <a:t>‹N°›</a:t>
            </a:fld>
            <a:endParaRPr lang="en-US"/>
          </a:p>
        </p:txBody>
      </p:sp>
    </p:spTree>
    <p:extLst>
      <p:ext uri="{BB962C8B-B14F-4D97-AF65-F5344CB8AC3E}">
        <p14:creationId xmlns:p14="http://schemas.microsoft.com/office/powerpoint/2010/main" val="1023636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sv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sv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sv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sv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svg"/><Relationship Id="rId7" Type="http://schemas.openxmlformats.org/officeDocument/2006/relationships/image" Target="../media/image38.sv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7.svg"/><Relationship Id="rId5" Type="http://schemas.openxmlformats.org/officeDocument/2006/relationships/image" Target="../media/image36.svg"/><Relationship Id="rId4" Type="http://schemas.openxmlformats.org/officeDocument/2006/relationships/image" Target="../media/image35.svg"/></Relationships>
</file>

<file path=ppt/slides/_rels/slide18.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41.svg"/></Relationships>
</file>

<file path=ppt/slides/_rels/slide19.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77A9D583-A9F4-B7C9-0084-9E170F79086C}"/>
              </a:ext>
            </a:extLst>
          </p:cNvPr>
          <p:cNvSpPr txBox="1">
            <a:spLocks/>
          </p:cNvSpPr>
          <p:nvPr/>
        </p:nvSpPr>
        <p:spPr>
          <a:xfrm>
            <a:off x="402215" y="396686"/>
            <a:ext cx="3740126" cy="584775"/>
          </a:xfrm>
          <a:prstGeom prst="rect">
            <a:avLst/>
          </a:prstGeom>
          <a:solidFill>
            <a:schemeClr val="bg1"/>
          </a:solidFill>
        </p:spPr>
        <p:txBody>
          <a:bodyPr wrap="none" rtlCol="0">
            <a:spAutoFit/>
          </a:bodyPr>
          <a:lstStyle/>
          <a:p>
            <a:pPr algn="ctr"/>
            <a:r>
              <a:rPr lang="fr-FR" sz="1600" dirty="0">
                <a:latin typeface="Times New Roman" panose="02020603050405020304" pitchFamily="18" charset="0"/>
                <a:cs typeface="Times New Roman" panose="02020603050405020304" pitchFamily="18" charset="0"/>
              </a:rPr>
              <a:t>Ministère de la Transition Numérique et de</a:t>
            </a:r>
          </a:p>
          <a:p>
            <a:pPr algn="ctr"/>
            <a:r>
              <a:rPr lang="fr-FR" sz="1600" dirty="0">
                <a:latin typeface="Times New Roman" panose="02020603050405020304" pitchFamily="18" charset="0"/>
                <a:cs typeface="Times New Roman" panose="02020603050405020304" pitchFamily="18" charset="0"/>
              </a:rPr>
              <a:t> l’Innovation Technologique</a:t>
            </a:r>
          </a:p>
        </p:txBody>
      </p:sp>
      <p:sp>
        <p:nvSpPr>
          <p:cNvPr id="8" name="ZoneTexte 7">
            <a:extLst>
              <a:ext uri="{FF2B5EF4-FFF2-40B4-BE49-F238E27FC236}">
                <a16:creationId xmlns:a16="http://schemas.microsoft.com/office/drawing/2014/main" id="{9DBD381B-85EE-4770-85BA-DC94949F6066}"/>
              </a:ext>
            </a:extLst>
          </p:cNvPr>
          <p:cNvSpPr txBox="1">
            <a:spLocks/>
          </p:cNvSpPr>
          <p:nvPr/>
        </p:nvSpPr>
        <p:spPr>
          <a:xfrm>
            <a:off x="8301690" y="531235"/>
            <a:ext cx="2856135" cy="338554"/>
          </a:xfrm>
          <a:prstGeom prst="rect">
            <a:avLst/>
          </a:prstGeom>
          <a:solidFill>
            <a:schemeClr val="bg1"/>
          </a:solidFill>
        </p:spPr>
        <p:txBody>
          <a:bodyPr wrap="square" rtlCol="0">
            <a:spAutoFit/>
          </a:bodyPr>
          <a:lstStyle/>
          <a:p>
            <a:pPr algn="just"/>
            <a:r>
              <a:rPr lang="fr-FR" sz="1600" dirty="0">
                <a:latin typeface="Times New Roman" panose="02020603050405020304" pitchFamily="18" charset="0"/>
                <a:cs typeface="Times New Roman" panose="02020603050405020304" pitchFamily="18" charset="0"/>
              </a:rPr>
              <a:t>Année académique : 2025-2026</a:t>
            </a:r>
          </a:p>
        </p:txBody>
      </p:sp>
      <p:sp>
        <p:nvSpPr>
          <p:cNvPr id="9" name="ZoneTexte 8">
            <a:extLst>
              <a:ext uri="{FF2B5EF4-FFF2-40B4-BE49-F238E27FC236}">
                <a16:creationId xmlns:a16="http://schemas.microsoft.com/office/drawing/2014/main" id="{0D190C88-C4C3-619E-3A2E-C8341A094FF0}"/>
              </a:ext>
            </a:extLst>
          </p:cNvPr>
          <p:cNvSpPr txBox="1">
            <a:spLocks/>
          </p:cNvSpPr>
          <p:nvPr/>
        </p:nvSpPr>
        <p:spPr>
          <a:xfrm>
            <a:off x="1231253" y="1955384"/>
            <a:ext cx="9729484" cy="584775"/>
          </a:xfrm>
          <a:prstGeom prst="rect">
            <a:avLst/>
          </a:prstGeom>
          <a:solidFill>
            <a:schemeClr val="bg1"/>
          </a:solidFill>
        </p:spPr>
        <p:txBody>
          <a:bodyPr wrap="square" rtlCol="0">
            <a:spAutoFit/>
          </a:bodyPr>
          <a:lstStyle/>
          <a:p>
            <a:pPr algn="ctr"/>
            <a:r>
              <a:rPr lang="fr-FR" sz="1600" dirty="0">
                <a:ln w="0"/>
                <a:latin typeface="Times New Roman" panose="02020603050405020304" pitchFamily="18" charset="0"/>
                <a:cs typeface="Times New Roman" panose="02020603050405020304" pitchFamily="18" charset="0"/>
              </a:rPr>
              <a:t>SOUTENANCE DU PROJET DE FIN D’</a:t>
            </a:r>
            <a:r>
              <a:rPr lang="fr-FR" sz="1600" dirty="0">
                <a:latin typeface="Times New Roman" panose="02020603050405020304" pitchFamily="18" charset="0"/>
                <a:cs typeface="Times New Roman" panose="02020603050405020304" pitchFamily="18" charset="0"/>
              </a:rPr>
              <a:t>É</a:t>
            </a:r>
            <a:r>
              <a:rPr lang="fr-FR" sz="1600" dirty="0">
                <a:ln w="0"/>
                <a:latin typeface="Times New Roman" panose="02020603050405020304" pitchFamily="18" charset="0"/>
                <a:cs typeface="Times New Roman" panose="02020603050405020304" pitchFamily="18" charset="0"/>
              </a:rPr>
              <a:t>TUDES POUR L’OBTENTION DE LA LICENCE EN</a:t>
            </a:r>
          </a:p>
          <a:p>
            <a:pPr algn="ctr"/>
            <a:r>
              <a:rPr lang="fr-FR" sz="1600" dirty="0">
                <a:ln w="0"/>
                <a:latin typeface="Times New Roman" panose="02020603050405020304" pitchFamily="18" charset="0"/>
                <a:cs typeface="Times New Roman" panose="02020603050405020304" pitchFamily="18" charset="0"/>
              </a:rPr>
              <a:t>SYSTÈMES RÉSEAUX INFORMATIQUES ET TÉLÉCOMMUNICATIONS (SRIT)</a:t>
            </a:r>
            <a:endParaRPr lang="fr-FR" sz="2400" dirty="0">
              <a:ln w="0"/>
              <a:latin typeface="Times New Roman" panose="02020603050405020304" pitchFamily="18" charset="0"/>
              <a:cs typeface="Times New Roman" panose="02020603050405020304" pitchFamily="18" charset="0"/>
            </a:endParaRPr>
          </a:p>
        </p:txBody>
      </p:sp>
      <p:sp>
        <p:nvSpPr>
          <p:cNvPr id="10" name="ZoneTexte 9">
            <a:extLst>
              <a:ext uri="{FF2B5EF4-FFF2-40B4-BE49-F238E27FC236}">
                <a16:creationId xmlns:a16="http://schemas.microsoft.com/office/drawing/2014/main" id="{2EA4BE43-D2BC-D2AC-B44B-D59A68CC9390}"/>
              </a:ext>
            </a:extLst>
          </p:cNvPr>
          <p:cNvSpPr txBox="1">
            <a:spLocks/>
          </p:cNvSpPr>
          <p:nvPr/>
        </p:nvSpPr>
        <p:spPr>
          <a:xfrm>
            <a:off x="4849124" y="3980527"/>
            <a:ext cx="2493761" cy="584775"/>
          </a:xfrm>
          <a:prstGeom prst="rect">
            <a:avLst/>
          </a:prstGeom>
          <a:solidFill>
            <a:schemeClr val="bg1"/>
          </a:solidFill>
        </p:spPr>
        <p:txBody>
          <a:bodyPr wrap="none" rtlCol="0">
            <a:spAutoFit/>
          </a:bodyPr>
          <a:lstStyle/>
          <a:p>
            <a:pPr algn="ctr"/>
            <a:r>
              <a:rPr lang="fr-FR" sz="1600" i="1" dirty="0">
                <a:latin typeface="Times New Roman" panose="02020603050405020304" pitchFamily="18" charset="0"/>
                <a:cs typeface="Times New Roman" panose="02020603050405020304" pitchFamily="18" charset="0"/>
              </a:rPr>
              <a:t>Présenté par :</a:t>
            </a:r>
          </a:p>
          <a:p>
            <a:pPr algn="ctr"/>
            <a:r>
              <a:rPr lang="fr-FR" sz="1600" b="1" dirty="0">
                <a:latin typeface="Times New Roman" panose="02020603050405020304" pitchFamily="18" charset="0"/>
                <a:cs typeface="Times New Roman" panose="02020603050405020304" pitchFamily="18" charset="0"/>
              </a:rPr>
              <a:t>Ladji Lama KAMAGATE</a:t>
            </a:r>
          </a:p>
        </p:txBody>
      </p:sp>
      <p:sp>
        <p:nvSpPr>
          <p:cNvPr id="11" name="ZoneTexte 10">
            <a:extLst>
              <a:ext uri="{FF2B5EF4-FFF2-40B4-BE49-F238E27FC236}">
                <a16:creationId xmlns:a16="http://schemas.microsoft.com/office/drawing/2014/main" id="{016F9F56-0C91-AE47-87B0-B0104AA969E9}"/>
              </a:ext>
            </a:extLst>
          </p:cNvPr>
          <p:cNvSpPr txBox="1">
            <a:spLocks/>
          </p:cNvSpPr>
          <p:nvPr/>
        </p:nvSpPr>
        <p:spPr>
          <a:xfrm>
            <a:off x="1034165" y="2622159"/>
            <a:ext cx="10123660" cy="1323632"/>
          </a:xfrm>
          <a:prstGeom prst="rect">
            <a:avLst/>
          </a:prstGeom>
          <a:solidFill>
            <a:srgbClr val="FEF4EC"/>
          </a:solidFill>
          <a:ln w="19050">
            <a:noFill/>
          </a:ln>
        </p:spPr>
        <p:txBody>
          <a:bodyPr wrap="square" rtlCol="0">
            <a:spAutoFit/>
          </a:bodyPr>
          <a:lstStyle/>
          <a:p>
            <a:pPr algn="ctr"/>
            <a:r>
              <a:rPr lang="fr-FR" sz="2667" b="1" dirty="0">
                <a:solidFill>
                  <a:srgbClr val="1F1B18"/>
                </a:solidFill>
                <a:latin typeface="Times New Roman" panose="02020603050405020304" pitchFamily="18" charset="0"/>
                <a:cs typeface="Times New Roman" panose="02020603050405020304" pitchFamily="18" charset="0"/>
              </a:rPr>
              <a:t>CONCEPTION ET DÉVELOPPEMENT D’UN AGENT  CONVERSATIONNEL INTELLIGENT BASÉ SUR LE </a:t>
            </a:r>
            <a:r>
              <a:rPr lang="fr-FR" sz="2667" b="1" dirty="0" err="1">
                <a:solidFill>
                  <a:srgbClr val="1F1B18"/>
                </a:solidFill>
                <a:latin typeface="Times New Roman" panose="02020603050405020304" pitchFamily="18" charset="0"/>
                <a:cs typeface="Times New Roman" panose="02020603050405020304" pitchFamily="18" charset="0"/>
              </a:rPr>
              <a:t>NLP</a:t>
            </a:r>
            <a:r>
              <a:rPr lang="fr-FR" sz="2667" b="1" dirty="0">
                <a:solidFill>
                  <a:srgbClr val="1F1B18"/>
                </a:solidFill>
                <a:latin typeface="Times New Roman" panose="02020603050405020304" pitchFamily="18" charset="0"/>
                <a:cs typeface="Times New Roman" panose="02020603050405020304" pitchFamily="18" charset="0"/>
              </a:rPr>
              <a:t> POUR L’AUTOMATISATION DU SUPPORT CLIENT : CAS DE NGONI</a:t>
            </a:r>
          </a:p>
        </p:txBody>
      </p:sp>
      <p:sp>
        <p:nvSpPr>
          <p:cNvPr id="12" name="ZoneTexte 11">
            <a:extLst>
              <a:ext uri="{FF2B5EF4-FFF2-40B4-BE49-F238E27FC236}">
                <a16:creationId xmlns:a16="http://schemas.microsoft.com/office/drawing/2014/main" id="{73357697-9D6B-17AA-FFAE-6986F64A7A0B}"/>
              </a:ext>
            </a:extLst>
          </p:cNvPr>
          <p:cNvSpPr txBox="1">
            <a:spLocks/>
          </p:cNvSpPr>
          <p:nvPr/>
        </p:nvSpPr>
        <p:spPr>
          <a:xfrm>
            <a:off x="8045504" y="5294748"/>
            <a:ext cx="3393879" cy="846386"/>
          </a:xfrm>
          <a:prstGeom prst="rect">
            <a:avLst/>
          </a:prstGeom>
          <a:noFill/>
        </p:spPr>
        <p:txBody>
          <a:bodyPr wrap="none" rtlCol="0">
            <a:spAutoFit/>
          </a:bodyPr>
          <a:lstStyle/>
          <a:p>
            <a:pPr algn="r"/>
            <a:r>
              <a:rPr lang="fr-FR" b="1" dirty="0">
                <a:solidFill>
                  <a:schemeClr val="accent1">
                    <a:lumMod val="90000"/>
                    <a:lumOff val="10000"/>
                  </a:schemeClr>
                </a:solidFill>
                <a:latin typeface="Times New Roman" panose="02020603050405020304" pitchFamily="18" charset="0"/>
                <a:cs typeface="Times New Roman" panose="02020603050405020304" pitchFamily="18" charset="0"/>
              </a:rPr>
              <a:t> MAÎTRE DE STAGE  </a:t>
            </a:r>
          </a:p>
          <a:p>
            <a:pPr algn="r"/>
            <a:r>
              <a:rPr lang="fr-FR" sz="1500" b="1" dirty="0">
                <a:solidFill>
                  <a:srgbClr val="1F1B18"/>
                </a:solidFill>
                <a:latin typeface="Times New Roman" panose="02020603050405020304" pitchFamily="18" charset="0"/>
                <a:cs typeface="Times New Roman" panose="02020603050405020304" pitchFamily="18" charset="0"/>
              </a:rPr>
              <a:t>M. DADI </a:t>
            </a:r>
            <a:r>
              <a:rPr lang="fr-FR" sz="1500" b="1" dirty="0" err="1">
                <a:solidFill>
                  <a:srgbClr val="1F1B18"/>
                </a:solidFill>
                <a:latin typeface="Times New Roman" panose="02020603050405020304" pitchFamily="18" charset="0"/>
                <a:cs typeface="Times New Roman" panose="02020603050405020304" pitchFamily="18" charset="0"/>
              </a:rPr>
              <a:t>DABELY</a:t>
            </a:r>
            <a:r>
              <a:rPr lang="fr-FR" sz="1500" b="1" dirty="0">
                <a:solidFill>
                  <a:srgbClr val="1F1B18"/>
                </a:solidFill>
                <a:latin typeface="Times New Roman" panose="02020603050405020304" pitchFamily="18" charset="0"/>
                <a:cs typeface="Times New Roman" panose="02020603050405020304" pitchFamily="18" charset="0"/>
              </a:rPr>
              <a:t>  </a:t>
            </a:r>
          </a:p>
          <a:p>
            <a:pPr algn="r"/>
            <a:r>
              <a:rPr lang="fr-FR" sz="1600" dirty="0">
                <a:latin typeface="Times New Roman" panose="02020603050405020304" pitchFamily="18" charset="0"/>
                <a:cs typeface="Times New Roman" panose="02020603050405020304" pitchFamily="18" charset="0"/>
              </a:rPr>
              <a:t>Responsable technique web et mobile  </a:t>
            </a:r>
            <a:endParaRPr lang="fr-FR" sz="1600" b="1" dirty="0">
              <a:solidFill>
                <a:srgbClr val="0070C0"/>
              </a:solidFill>
              <a:latin typeface="Times New Roman" panose="02020603050405020304" pitchFamily="18" charset="0"/>
              <a:cs typeface="Times New Roman" panose="02020603050405020304" pitchFamily="18" charset="0"/>
            </a:endParaRPr>
          </a:p>
        </p:txBody>
      </p:sp>
      <p:sp>
        <p:nvSpPr>
          <p:cNvPr id="13" name="ZoneTexte 12">
            <a:extLst>
              <a:ext uri="{FF2B5EF4-FFF2-40B4-BE49-F238E27FC236}">
                <a16:creationId xmlns:a16="http://schemas.microsoft.com/office/drawing/2014/main" id="{74799995-2322-EB50-CA1E-7EFD53E7D94B}"/>
              </a:ext>
            </a:extLst>
          </p:cNvPr>
          <p:cNvSpPr txBox="1">
            <a:spLocks/>
          </p:cNvSpPr>
          <p:nvPr/>
        </p:nvSpPr>
        <p:spPr>
          <a:xfrm>
            <a:off x="752617" y="5401287"/>
            <a:ext cx="3444276" cy="846386"/>
          </a:xfrm>
          <a:prstGeom prst="rect">
            <a:avLst/>
          </a:prstGeom>
          <a:noFill/>
        </p:spPr>
        <p:txBody>
          <a:bodyPr wrap="none" rtlCol="0">
            <a:spAutoFit/>
          </a:bodyPr>
          <a:lstStyle/>
          <a:p>
            <a:r>
              <a:rPr lang="fr-FR" b="1" dirty="0">
                <a:solidFill>
                  <a:schemeClr val="accent1">
                    <a:lumMod val="90000"/>
                    <a:lumOff val="10000"/>
                  </a:schemeClr>
                </a:solidFill>
                <a:latin typeface="Times New Roman" panose="02020603050405020304" pitchFamily="18" charset="0"/>
                <a:cs typeface="Times New Roman" panose="02020603050405020304" pitchFamily="18" charset="0"/>
              </a:rPr>
              <a:t>  ENCADRANT ACADÉMIQUE</a:t>
            </a:r>
          </a:p>
          <a:p>
            <a:r>
              <a:rPr lang="fr-FR" sz="1600" b="1" dirty="0">
                <a:latin typeface="Times New Roman" panose="02020603050405020304" pitchFamily="18" charset="0"/>
                <a:cs typeface="Times New Roman" panose="02020603050405020304" pitchFamily="18" charset="0"/>
              </a:rPr>
              <a:t>  </a:t>
            </a:r>
            <a:r>
              <a:rPr lang="fr-FR" sz="1500" b="1" dirty="0">
                <a:latin typeface="Times New Roman" panose="02020603050405020304" pitchFamily="18" charset="0"/>
                <a:cs typeface="Times New Roman" panose="02020603050405020304" pitchFamily="18" charset="0"/>
              </a:rPr>
              <a:t>Dr </a:t>
            </a:r>
            <a:r>
              <a:rPr lang="fr-FR" sz="1500" b="1" dirty="0">
                <a:solidFill>
                  <a:srgbClr val="1F1B18"/>
                </a:solidFill>
                <a:latin typeface="Times New Roman" panose="02020603050405020304" pitchFamily="18" charset="0"/>
                <a:cs typeface="Times New Roman" panose="02020603050405020304" pitchFamily="18" charset="0"/>
              </a:rPr>
              <a:t>KONÉ MAMADOU IBRAHIMA</a:t>
            </a:r>
          </a:p>
          <a:p>
            <a:r>
              <a:rPr lang="fr-FR" sz="1500" i="1" dirty="0">
                <a:latin typeface="Times New Roman" panose="02020603050405020304" pitchFamily="18" charset="0"/>
                <a:cs typeface="Times New Roman" panose="02020603050405020304" pitchFamily="18" charset="0"/>
              </a:rPr>
              <a:t>  </a:t>
            </a:r>
            <a:r>
              <a:rPr lang="fr-FR" sz="1500" dirty="0">
                <a:latin typeface="Times New Roman" panose="02020603050405020304" pitchFamily="18" charset="0"/>
                <a:cs typeface="Times New Roman" panose="02020603050405020304" pitchFamily="18" charset="0"/>
              </a:rPr>
              <a:t>Enseignant-chercheur</a:t>
            </a:r>
            <a:r>
              <a:rPr lang="fr-FR" sz="1500" i="1" dirty="0">
                <a:latin typeface="Times New Roman" panose="02020603050405020304" pitchFamily="18" charset="0"/>
                <a:cs typeface="Times New Roman" panose="02020603050405020304" pitchFamily="18" charset="0"/>
              </a:rPr>
              <a:t> </a:t>
            </a:r>
          </a:p>
        </p:txBody>
      </p:sp>
      <p:pic>
        <p:nvPicPr>
          <p:cNvPr id="19" name="Image 18" descr="Une image contenant texte, Police, logo, Graphique&#10;&#10;Le contenu généré par l’IA peut être incorrect.">
            <a:extLst>
              <a:ext uri="{FF2B5EF4-FFF2-40B4-BE49-F238E27FC236}">
                <a16:creationId xmlns:a16="http://schemas.microsoft.com/office/drawing/2014/main" id="{463DAE0D-0E95-8EA7-5893-A9DE632ED4F6}"/>
              </a:ext>
            </a:extLst>
          </p:cNvPr>
          <p:cNvPicPr>
            <a:picLocks noChangeAspect="1"/>
          </p:cNvPicPr>
          <p:nvPr/>
        </p:nvPicPr>
        <p:blipFill>
          <a:blip r:embed="rId3"/>
          <a:srcRect t="19978" b="12472"/>
          <a:stretch>
            <a:fillRect/>
          </a:stretch>
        </p:blipFill>
        <p:spPr>
          <a:xfrm>
            <a:off x="725613" y="1067631"/>
            <a:ext cx="2881308" cy="780007"/>
          </a:xfrm>
          <a:prstGeom prst="rect">
            <a:avLst/>
          </a:prstGeom>
        </p:spPr>
      </p:pic>
      <p:sp>
        <p:nvSpPr>
          <p:cNvPr id="22" name="ZoneTexte 21">
            <a:extLst>
              <a:ext uri="{FF2B5EF4-FFF2-40B4-BE49-F238E27FC236}">
                <a16:creationId xmlns:a16="http://schemas.microsoft.com/office/drawing/2014/main" id="{78FAE792-4A2C-C470-E5C3-606979BF0E00}"/>
              </a:ext>
            </a:extLst>
          </p:cNvPr>
          <p:cNvSpPr txBox="1">
            <a:spLocks/>
          </p:cNvSpPr>
          <p:nvPr/>
        </p:nvSpPr>
        <p:spPr>
          <a:xfrm>
            <a:off x="4544219" y="4675505"/>
            <a:ext cx="3106428" cy="584775"/>
          </a:xfrm>
          <a:prstGeom prst="rect">
            <a:avLst/>
          </a:prstGeom>
          <a:solidFill>
            <a:schemeClr val="bg1"/>
          </a:solidFill>
        </p:spPr>
        <p:txBody>
          <a:bodyPr wrap="none" rtlCol="0">
            <a:spAutoFit/>
          </a:bodyPr>
          <a:lstStyle/>
          <a:p>
            <a:pPr algn="ctr"/>
            <a:r>
              <a:rPr lang="fr-FR" sz="1600" i="1" dirty="0">
                <a:latin typeface="Times New Roman" panose="02020603050405020304" pitchFamily="18" charset="0"/>
                <a:cs typeface="Times New Roman" panose="02020603050405020304" pitchFamily="18" charset="0"/>
              </a:rPr>
              <a:t>Période de stage : </a:t>
            </a:r>
          </a:p>
          <a:p>
            <a:pPr algn="ctr"/>
            <a:r>
              <a:rPr lang="fr-FR" sz="1600" b="1" dirty="0">
                <a:latin typeface="Times New Roman" panose="02020603050405020304" pitchFamily="18" charset="0"/>
                <a:cs typeface="Times New Roman" panose="02020603050405020304" pitchFamily="18" charset="0"/>
              </a:rPr>
              <a:t>Du 08 juin au 08 septembre 2026 </a:t>
            </a:r>
          </a:p>
        </p:txBody>
      </p:sp>
      <p:cxnSp>
        <p:nvCxnSpPr>
          <p:cNvPr id="4" name="Straight Connector 3">
            <a:extLst>
              <a:ext uri="{FF2B5EF4-FFF2-40B4-BE49-F238E27FC236}">
                <a16:creationId xmlns:a16="http://schemas.microsoft.com/office/drawing/2014/main" id="{000D046A-41C9-054D-B3DE-8F233AFC7B8C}"/>
              </a:ext>
            </a:extLst>
          </p:cNvPr>
          <p:cNvCxnSpPr>
            <a:cxnSpLocks/>
          </p:cNvCxnSpPr>
          <p:nvPr/>
        </p:nvCxnSpPr>
        <p:spPr>
          <a:xfrm>
            <a:off x="1333500" y="1010303"/>
            <a:ext cx="1727200" cy="0"/>
          </a:xfrm>
          <a:prstGeom prst="line">
            <a:avLst/>
          </a:prstGeom>
          <a:ln>
            <a:solidFill>
              <a:srgbClr val="F26418"/>
            </a:solidFill>
          </a:ln>
        </p:spPr>
        <p:style>
          <a:lnRef idx="3">
            <a:schemeClr val="accent2"/>
          </a:lnRef>
          <a:fillRef idx="0">
            <a:schemeClr val="accent2"/>
          </a:fillRef>
          <a:effectRef idx="2">
            <a:schemeClr val="accent2"/>
          </a:effectRef>
          <a:fontRef idx="minor">
            <a:schemeClr val="tx1"/>
          </a:fontRef>
        </p:style>
      </p:cxnSp>
      <p:pic>
        <p:nvPicPr>
          <p:cNvPr id="3" name="Image 2">
            <a:extLst>
              <a:ext uri="{FF2B5EF4-FFF2-40B4-BE49-F238E27FC236}">
                <a16:creationId xmlns:a16="http://schemas.microsoft.com/office/drawing/2014/main" id="{4E00E37C-B1FE-6AA3-073F-253A279D2F93}"/>
              </a:ext>
            </a:extLst>
          </p:cNvPr>
          <p:cNvPicPr>
            <a:picLocks noChangeAspect="1"/>
          </p:cNvPicPr>
          <p:nvPr/>
        </p:nvPicPr>
        <p:blipFill>
          <a:blip r:embed="rId4"/>
          <a:stretch>
            <a:fillRect/>
          </a:stretch>
        </p:blipFill>
        <p:spPr>
          <a:xfrm>
            <a:off x="7844991" y="887094"/>
            <a:ext cx="3528734" cy="1033679"/>
          </a:xfrm>
          <a:prstGeom prst="rect">
            <a:avLst/>
          </a:prstGeom>
        </p:spPr>
      </p:pic>
      <p:sp>
        <p:nvSpPr>
          <p:cNvPr id="6" name="Rectangle 5">
            <a:extLst>
              <a:ext uri="{FF2B5EF4-FFF2-40B4-BE49-F238E27FC236}">
                <a16:creationId xmlns:a16="http://schemas.microsoft.com/office/drawing/2014/main" id="{445532EC-F9FD-A6AA-780B-FB1B79BF5AEB}"/>
              </a:ext>
            </a:extLst>
          </p:cNvPr>
          <p:cNvSpPr>
            <a:spLocks/>
          </p:cNvSpPr>
          <p:nvPr/>
        </p:nvSpPr>
        <p:spPr>
          <a:xfrm>
            <a:off x="297712" y="255181"/>
            <a:ext cx="11663916" cy="6223324"/>
          </a:xfrm>
          <a:prstGeom prst="rect">
            <a:avLst/>
          </a:prstGeom>
          <a:noFill/>
          <a:ln>
            <a:solidFill>
              <a:srgbClr val="6B65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0" name="Rectangle 19">
            <a:extLst>
              <a:ext uri="{FF2B5EF4-FFF2-40B4-BE49-F238E27FC236}">
                <a16:creationId xmlns:a16="http://schemas.microsoft.com/office/drawing/2014/main" id="{72BD7A19-4C06-19F0-A41B-4C27916A6E0B}"/>
              </a:ext>
            </a:extLst>
          </p:cNvPr>
          <p:cNvSpPr>
            <a:spLocks/>
          </p:cNvSpPr>
          <p:nvPr/>
        </p:nvSpPr>
        <p:spPr>
          <a:xfrm>
            <a:off x="1034165" y="2622159"/>
            <a:ext cx="85023" cy="1323632"/>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22">
            <a:extLst>
              <a:ext uri="{FF2B5EF4-FFF2-40B4-BE49-F238E27FC236}">
                <a16:creationId xmlns:a16="http://schemas.microsoft.com/office/drawing/2014/main" id="{CD61E291-BA60-E1C5-3151-9DDFEE5025FB}"/>
              </a:ext>
            </a:extLst>
          </p:cNvPr>
          <p:cNvSpPr>
            <a:spLocks/>
          </p:cNvSpPr>
          <p:nvPr/>
        </p:nvSpPr>
        <p:spPr>
          <a:xfrm>
            <a:off x="739914" y="5438775"/>
            <a:ext cx="72886" cy="703263"/>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26">
            <a:extLst>
              <a:ext uri="{FF2B5EF4-FFF2-40B4-BE49-F238E27FC236}">
                <a16:creationId xmlns:a16="http://schemas.microsoft.com/office/drawing/2014/main" id="{8851E5C8-842D-AB9A-FDD0-5883AEEAC0FA}"/>
              </a:ext>
            </a:extLst>
          </p:cNvPr>
          <p:cNvSpPr>
            <a:spLocks/>
          </p:cNvSpPr>
          <p:nvPr/>
        </p:nvSpPr>
        <p:spPr>
          <a:xfrm>
            <a:off x="11382809" y="5381692"/>
            <a:ext cx="72886" cy="703263"/>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154442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5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5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50"/>
                                        <p:tgtEl>
                                          <p:spTgt spid="3"/>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50"/>
                                        <p:tgtEl>
                                          <p:spTgt spid="4"/>
                                        </p:tgtEl>
                                      </p:cBhvr>
                                    </p:animEffect>
                                  </p:childTnLst>
                                </p:cTn>
                              </p:par>
                              <p:par>
                                <p:cTn id="17" presetID="42" presetClass="entr" presetSubtype="0" fill="hold" grpId="0" nodeType="withEffect">
                                  <p:stCondLst>
                                    <p:cond delay="14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50"/>
                                        <p:tgtEl>
                                          <p:spTgt spid="9"/>
                                        </p:tgtEl>
                                      </p:cBhvr>
                                    </p:animEffect>
                                    <p:anim calcmode="lin" valueType="num">
                                      <p:cBhvr>
                                        <p:cTn id="20" dur="450" fill="hold"/>
                                        <p:tgtEl>
                                          <p:spTgt spid="9"/>
                                        </p:tgtEl>
                                        <p:attrNameLst>
                                          <p:attrName>ppt_x</p:attrName>
                                        </p:attrNameLst>
                                      </p:cBhvr>
                                      <p:tavLst>
                                        <p:tav tm="0">
                                          <p:val>
                                            <p:strVal val="#ppt_x"/>
                                          </p:val>
                                        </p:tav>
                                        <p:tav tm="100000">
                                          <p:val>
                                            <p:strVal val="#ppt_x"/>
                                          </p:val>
                                        </p:tav>
                                      </p:tavLst>
                                    </p:anim>
                                    <p:anim calcmode="lin" valueType="num">
                                      <p:cBhvr>
                                        <p:cTn id="21" dur="450" fill="hold"/>
                                        <p:tgtEl>
                                          <p:spTgt spid="9"/>
                                        </p:tgtEl>
                                        <p:attrNameLst>
                                          <p:attrName>ppt_y</p:attrName>
                                        </p:attrNameLst>
                                      </p:cBhvr>
                                      <p:tavLst>
                                        <p:tav tm="0">
                                          <p:val>
                                            <p:strVal val="#ppt_y+.03"/>
                                          </p:val>
                                        </p:tav>
                                        <p:tav tm="100000">
                                          <p:val>
                                            <p:strVal val="#ppt_y"/>
                                          </p:val>
                                        </p:tav>
                                      </p:tavLst>
                                    </p:anim>
                                  </p:childTnLst>
                                </p:cTn>
                              </p:par>
                              <p:par>
                                <p:cTn id="22" presetID="42" presetClass="entr" presetSubtype="0" fill="hold" grpId="0" nodeType="withEffect">
                                  <p:stCondLst>
                                    <p:cond delay="28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50"/>
                                        <p:tgtEl>
                                          <p:spTgt spid="11"/>
                                        </p:tgtEl>
                                      </p:cBhvr>
                                    </p:animEffect>
                                    <p:anim calcmode="lin" valueType="num">
                                      <p:cBhvr>
                                        <p:cTn id="25" dur="450" fill="hold"/>
                                        <p:tgtEl>
                                          <p:spTgt spid="11"/>
                                        </p:tgtEl>
                                        <p:attrNameLst>
                                          <p:attrName>ppt_x</p:attrName>
                                        </p:attrNameLst>
                                      </p:cBhvr>
                                      <p:tavLst>
                                        <p:tav tm="0">
                                          <p:val>
                                            <p:strVal val="#ppt_x"/>
                                          </p:val>
                                        </p:tav>
                                        <p:tav tm="100000">
                                          <p:val>
                                            <p:strVal val="#ppt_x"/>
                                          </p:val>
                                        </p:tav>
                                      </p:tavLst>
                                    </p:anim>
                                    <p:anim calcmode="lin" valueType="num">
                                      <p:cBhvr>
                                        <p:cTn id="26" dur="450" fill="hold"/>
                                        <p:tgtEl>
                                          <p:spTgt spid="11"/>
                                        </p:tgtEl>
                                        <p:attrNameLst>
                                          <p:attrName>ppt_y</p:attrName>
                                        </p:attrNameLst>
                                      </p:cBhvr>
                                      <p:tavLst>
                                        <p:tav tm="0">
                                          <p:val>
                                            <p:strVal val="#ppt_y+.03"/>
                                          </p:val>
                                        </p:tav>
                                        <p:tav tm="100000">
                                          <p:val>
                                            <p:strVal val="#ppt_y"/>
                                          </p:val>
                                        </p:tav>
                                      </p:tavLst>
                                    </p:anim>
                                  </p:childTnLst>
                                </p:cTn>
                              </p:par>
                              <p:par>
                                <p:cTn id="27" presetID="42" presetClass="entr" presetSubtype="0" fill="hold" grpId="0" nodeType="withEffect">
                                  <p:stCondLst>
                                    <p:cond delay="28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450"/>
                                        <p:tgtEl>
                                          <p:spTgt spid="20"/>
                                        </p:tgtEl>
                                      </p:cBhvr>
                                    </p:animEffect>
                                    <p:anim calcmode="lin" valueType="num">
                                      <p:cBhvr>
                                        <p:cTn id="30" dur="450" fill="hold"/>
                                        <p:tgtEl>
                                          <p:spTgt spid="20"/>
                                        </p:tgtEl>
                                        <p:attrNameLst>
                                          <p:attrName>ppt_x</p:attrName>
                                        </p:attrNameLst>
                                      </p:cBhvr>
                                      <p:tavLst>
                                        <p:tav tm="0">
                                          <p:val>
                                            <p:strVal val="#ppt_x"/>
                                          </p:val>
                                        </p:tav>
                                        <p:tav tm="100000">
                                          <p:val>
                                            <p:strVal val="#ppt_x"/>
                                          </p:val>
                                        </p:tav>
                                      </p:tavLst>
                                    </p:anim>
                                    <p:anim calcmode="lin" valueType="num">
                                      <p:cBhvr>
                                        <p:cTn id="31" dur="450" fill="hold"/>
                                        <p:tgtEl>
                                          <p:spTgt spid="20"/>
                                        </p:tgtEl>
                                        <p:attrNameLst>
                                          <p:attrName>ppt_y</p:attrName>
                                        </p:attrNameLst>
                                      </p:cBhvr>
                                      <p:tavLst>
                                        <p:tav tm="0">
                                          <p:val>
                                            <p:strVal val="#ppt_y+.03"/>
                                          </p:val>
                                        </p:tav>
                                        <p:tav tm="100000">
                                          <p:val>
                                            <p:strVal val="#ppt_y"/>
                                          </p:val>
                                        </p:tav>
                                      </p:tavLst>
                                    </p:anim>
                                  </p:childTnLst>
                                </p:cTn>
                              </p:par>
                              <p:par>
                                <p:cTn id="32" presetID="42" presetClass="entr" presetSubtype="0" fill="hold" grpId="0" nodeType="withEffect">
                                  <p:stCondLst>
                                    <p:cond delay="42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450"/>
                                        <p:tgtEl>
                                          <p:spTgt spid="10"/>
                                        </p:tgtEl>
                                      </p:cBhvr>
                                    </p:animEffect>
                                    <p:anim calcmode="lin" valueType="num">
                                      <p:cBhvr>
                                        <p:cTn id="35" dur="450" fill="hold"/>
                                        <p:tgtEl>
                                          <p:spTgt spid="10"/>
                                        </p:tgtEl>
                                        <p:attrNameLst>
                                          <p:attrName>ppt_x</p:attrName>
                                        </p:attrNameLst>
                                      </p:cBhvr>
                                      <p:tavLst>
                                        <p:tav tm="0">
                                          <p:val>
                                            <p:strVal val="#ppt_x"/>
                                          </p:val>
                                        </p:tav>
                                        <p:tav tm="100000">
                                          <p:val>
                                            <p:strVal val="#ppt_x"/>
                                          </p:val>
                                        </p:tav>
                                      </p:tavLst>
                                    </p:anim>
                                    <p:anim calcmode="lin" valueType="num">
                                      <p:cBhvr>
                                        <p:cTn id="36" dur="450" fill="hold"/>
                                        <p:tgtEl>
                                          <p:spTgt spid="10"/>
                                        </p:tgtEl>
                                        <p:attrNameLst>
                                          <p:attrName>ppt_y</p:attrName>
                                        </p:attrNameLst>
                                      </p:cBhvr>
                                      <p:tavLst>
                                        <p:tav tm="0">
                                          <p:val>
                                            <p:strVal val="#ppt_y+.03"/>
                                          </p:val>
                                        </p:tav>
                                        <p:tav tm="100000">
                                          <p:val>
                                            <p:strVal val="#ppt_y"/>
                                          </p:val>
                                        </p:tav>
                                      </p:tavLst>
                                    </p:anim>
                                  </p:childTnLst>
                                </p:cTn>
                              </p:par>
                              <p:par>
                                <p:cTn id="37" presetID="42" presetClass="entr" presetSubtype="0" fill="hold" grpId="0" nodeType="withEffect">
                                  <p:stCondLst>
                                    <p:cond delay="42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50"/>
                                        <p:tgtEl>
                                          <p:spTgt spid="22"/>
                                        </p:tgtEl>
                                      </p:cBhvr>
                                    </p:animEffect>
                                    <p:anim calcmode="lin" valueType="num">
                                      <p:cBhvr>
                                        <p:cTn id="40" dur="450" fill="hold"/>
                                        <p:tgtEl>
                                          <p:spTgt spid="22"/>
                                        </p:tgtEl>
                                        <p:attrNameLst>
                                          <p:attrName>ppt_x</p:attrName>
                                        </p:attrNameLst>
                                      </p:cBhvr>
                                      <p:tavLst>
                                        <p:tav tm="0">
                                          <p:val>
                                            <p:strVal val="#ppt_x"/>
                                          </p:val>
                                        </p:tav>
                                        <p:tav tm="100000">
                                          <p:val>
                                            <p:strVal val="#ppt_x"/>
                                          </p:val>
                                        </p:tav>
                                      </p:tavLst>
                                    </p:anim>
                                    <p:anim calcmode="lin" valueType="num">
                                      <p:cBhvr>
                                        <p:cTn id="41" dur="450" fill="hold"/>
                                        <p:tgtEl>
                                          <p:spTgt spid="22"/>
                                        </p:tgtEl>
                                        <p:attrNameLst>
                                          <p:attrName>ppt_y</p:attrName>
                                        </p:attrNameLst>
                                      </p:cBhvr>
                                      <p:tavLst>
                                        <p:tav tm="0">
                                          <p:val>
                                            <p:strVal val="#ppt_y+.03"/>
                                          </p:val>
                                        </p:tav>
                                        <p:tav tm="100000">
                                          <p:val>
                                            <p:strVal val="#ppt_y"/>
                                          </p:val>
                                        </p:tav>
                                      </p:tavLst>
                                    </p:anim>
                                  </p:childTnLst>
                                </p:cTn>
                              </p:par>
                              <p:par>
                                <p:cTn id="42" presetID="42" presetClass="entr" presetSubtype="0" fill="hold" grpId="0" nodeType="withEffect">
                                  <p:stCondLst>
                                    <p:cond delay="56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450"/>
                                        <p:tgtEl>
                                          <p:spTgt spid="13"/>
                                        </p:tgtEl>
                                      </p:cBhvr>
                                    </p:animEffect>
                                    <p:anim calcmode="lin" valueType="num">
                                      <p:cBhvr>
                                        <p:cTn id="45" dur="450" fill="hold"/>
                                        <p:tgtEl>
                                          <p:spTgt spid="13"/>
                                        </p:tgtEl>
                                        <p:attrNameLst>
                                          <p:attrName>ppt_x</p:attrName>
                                        </p:attrNameLst>
                                      </p:cBhvr>
                                      <p:tavLst>
                                        <p:tav tm="0">
                                          <p:val>
                                            <p:strVal val="#ppt_x"/>
                                          </p:val>
                                        </p:tav>
                                        <p:tav tm="100000">
                                          <p:val>
                                            <p:strVal val="#ppt_x"/>
                                          </p:val>
                                        </p:tav>
                                      </p:tavLst>
                                    </p:anim>
                                    <p:anim calcmode="lin" valueType="num">
                                      <p:cBhvr>
                                        <p:cTn id="46" dur="450" fill="hold"/>
                                        <p:tgtEl>
                                          <p:spTgt spid="13"/>
                                        </p:tgtEl>
                                        <p:attrNameLst>
                                          <p:attrName>ppt_y</p:attrName>
                                        </p:attrNameLst>
                                      </p:cBhvr>
                                      <p:tavLst>
                                        <p:tav tm="0">
                                          <p:val>
                                            <p:strVal val="#ppt_y+.03"/>
                                          </p:val>
                                        </p:tav>
                                        <p:tav tm="100000">
                                          <p:val>
                                            <p:strVal val="#ppt_y"/>
                                          </p:val>
                                        </p:tav>
                                      </p:tavLst>
                                    </p:anim>
                                  </p:childTnLst>
                                </p:cTn>
                              </p:par>
                              <p:par>
                                <p:cTn id="47" presetID="42" presetClass="entr" presetSubtype="0" fill="hold" grpId="0" nodeType="withEffect">
                                  <p:stCondLst>
                                    <p:cond delay="56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450"/>
                                        <p:tgtEl>
                                          <p:spTgt spid="23"/>
                                        </p:tgtEl>
                                      </p:cBhvr>
                                    </p:animEffect>
                                    <p:anim calcmode="lin" valueType="num">
                                      <p:cBhvr>
                                        <p:cTn id="50" dur="450" fill="hold"/>
                                        <p:tgtEl>
                                          <p:spTgt spid="23"/>
                                        </p:tgtEl>
                                        <p:attrNameLst>
                                          <p:attrName>ppt_x</p:attrName>
                                        </p:attrNameLst>
                                      </p:cBhvr>
                                      <p:tavLst>
                                        <p:tav tm="0">
                                          <p:val>
                                            <p:strVal val="#ppt_x"/>
                                          </p:val>
                                        </p:tav>
                                        <p:tav tm="100000">
                                          <p:val>
                                            <p:strVal val="#ppt_x"/>
                                          </p:val>
                                        </p:tav>
                                      </p:tavLst>
                                    </p:anim>
                                    <p:anim calcmode="lin" valueType="num">
                                      <p:cBhvr>
                                        <p:cTn id="51" dur="450" fill="hold"/>
                                        <p:tgtEl>
                                          <p:spTgt spid="23"/>
                                        </p:tgtEl>
                                        <p:attrNameLst>
                                          <p:attrName>ppt_y</p:attrName>
                                        </p:attrNameLst>
                                      </p:cBhvr>
                                      <p:tavLst>
                                        <p:tav tm="0">
                                          <p:val>
                                            <p:strVal val="#ppt_y+.03"/>
                                          </p:val>
                                        </p:tav>
                                        <p:tav tm="100000">
                                          <p:val>
                                            <p:strVal val="#ppt_y"/>
                                          </p:val>
                                        </p:tav>
                                      </p:tavLst>
                                    </p:anim>
                                  </p:childTnLst>
                                </p:cTn>
                              </p:par>
                              <p:par>
                                <p:cTn id="52" presetID="42" presetClass="entr" presetSubtype="0" fill="hold" grpId="0" nodeType="withEffect">
                                  <p:stCondLst>
                                    <p:cond delay="56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450"/>
                                        <p:tgtEl>
                                          <p:spTgt spid="12"/>
                                        </p:tgtEl>
                                      </p:cBhvr>
                                    </p:animEffect>
                                    <p:anim calcmode="lin" valueType="num">
                                      <p:cBhvr>
                                        <p:cTn id="55" dur="450" fill="hold"/>
                                        <p:tgtEl>
                                          <p:spTgt spid="12"/>
                                        </p:tgtEl>
                                        <p:attrNameLst>
                                          <p:attrName>ppt_x</p:attrName>
                                        </p:attrNameLst>
                                      </p:cBhvr>
                                      <p:tavLst>
                                        <p:tav tm="0">
                                          <p:val>
                                            <p:strVal val="#ppt_x"/>
                                          </p:val>
                                        </p:tav>
                                        <p:tav tm="100000">
                                          <p:val>
                                            <p:strVal val="#ppt_x"/>
                                          </p:val>
                                        </p:tav>
                                      </p:tavLst>
                                    </p:anim>
                                    <p:anim calcmode="lin" valueType="num">
                                      <p:cBhvr>
                                        <p:cTn id="56" dur="450" fill="hold"/>
                                        <p:tgtEl>
                                          <p:spTgt spid="12"/>
                                        </p:tgtEl>
                                        <p:attrNameLst>
                                          <p:attrName>ppt_y</p:attrName>
                                        </p:attrNameLst>
                                      </p:cBhvr>
                                      <p:tavLst>
                                        <p:tav tm="0">
                                          <p:val>
                                            <p:strVal val="#ppt_y+.03"/>
                                          </p:val>
                                        </p:tav>
                                        <p:tav tm="100000">
                                          <p:val>
                                            <p:strVal val="#ppt_y"/>
                                          </p:val>
                                        </p:tav>
                                      </p:tavLst>
                                    </p:anim>
                                  </p:childTnLst>
                                </p:cTn>
                              </p:par>
                              <p:par>
                                <p:cTn id="57" presetID="42" presetClass="entr" presetSubtype="0" fill="hold" grpId="0" nodeType="withEffect">
                                  <p:stCondLst>
                                    <p:cond delay="56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50"/>
                                        <p:tgtEl>
                                          <p:spTgt spid="27"/>
                                        </p:tgtEl>
                                      </p:cBhvr>
                                    </p:animEffect>
                                    <p:anim calcmode="lin" valueType="num">
                                      <p:cBhvr>
                                        <p:cTn id="60" dur="450" fill="hold"/>
                                        <p:tgtEl>
                                          <p:spTgt spid="27"/>
                                        </p:tgtEl>
                                        <p:attrNameLst>
                                          <p:attrName>ppt_x</p:attrName>
                                        </p:attrNameLst>
                                      </p:cBhvr>
                                      <p:tavLst>
                                        <p:tav tm="0">
                                          <p:val>
                                            <p:strVal val="#ppt_x"/>
                                          </p:val>
                                        </p:tav>
                                        <p:tav tm="100000">
                                          <p:val>
                                            <p:strVal val="#ppt_x"/>
                                          </p:val>
                                        </p:tav>
                                      </p:tavLst>
                                    </p:anim>
                                    <p:anim calcmode="lin" valueType="num">
                                      <p:cBhvr>
                                        <p:cTn id="61" dur="450" fill="hold"/>
                                        <p:tgtEl>
                                          <p:spTgt spid="27"/>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1" grpId="0" animBg="1"/>
      <p:bldP spid="12" grpId="0" animBg="1"/>
      <p:bldP spid="13" grpId="0" animBg="1"/>
      <p:bldP spid="22" grpId="0" animBg="1"/>
      <p:bldP spid="20" grpId="0" animBg="1"/>
      <p:bldP spid="23" grpId="0" animBg="1"/>
      <p:bldP spid="2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95F7E7BF-9A85-A57A-83B3-C109E614BA31}"/>
              </a:ext>
            </a:extLst>
          </p:cNvPr>
          <p:cNvSpPr txBox="1">
            <a:spLocks noGrp="1" noRot="1" noMove="1" noResize="1" noEditPoints="1" noAdjustHandles="1" noChangeArrowheads="1" noChangeShapeType="1"/>
          </p:cNvSpPr>
          <p:nvPr/>
        </p:nvSpPr>
        <p:spPr>
          <a:xfrm>
            <a:off x="1574408" y="949010"/>
            <a:ext cx="9304600" cy="830997"/>
          </a:xfrm>
          <a:prstGeom prst="rect">
            <a:avLst/>
          </a:prstGeom>
          <a:noFill/>
        </p:spPr>
        <p:txBody>
          <a:bodyPr wrap="square" rtlCol="0">
            <a:spAutoFit/>
          </a:bodyPr>
          <a:lstStyle/>
          <a:p>
            <a:r>
              <a:rPr lang="fr-FR" sz="4800" b="1" dirty="0">
                <a:latin typeface="Georgia Bold"/>
                <a:cs typeface="Times New Roman" panose="02020603050405020304" pitchFamily="18" charset="0"/>
              </a:rPr>
              <a:t>PLAN DE PR</a:t>
            </a:r>
            <a:r>
              <a:rPr lang="fr-FR" sz="4800" b="1" dirty="0">
                <a:solidFill>
                  <a:srgbClr val="1F1B18"/>
                </a:solidFill>
                <a:latin typeface="Georgia Bold"/>
                <a:cs typeface="Times New Roman" panose="02020603050405020304" pitchFamily="18" charset="0"/>
              </a:rPr>
              <a:t>É</a:t>
            </a:r>
            <a:r>
              <a:rPr lang="fr-FR" sz="4800" b="1" dirty="0">
                <a:latin typeface="Georgia Bold"/>
                <a:cs typeface="Times New Roman" panose="02020603050405020304" pitchFamily="18" charset="0"/>
              </a:rPr>
              <a:t>SENTATION</a:t>
            </a:r>
          </a:p>
        </p:txBody>
      </p:sp>
      <p:cxnSp>
        <p:nvCxnSpPr>
          <p:cNvPr id="19" name="Straight Connector 3">
            <a:extLst>
              <a:ext uri="{FF2B5EF4-FFF2-40B4-BE49-F238E27FC236}">
                <a16:creationId xmlns:a16="http://schemas.microsoft.com/office/drawing/2014/main" id="{0AB57C3B-F3CA-71D6-2D6B-03D192F148D2}"/>
              </a:ext>
            </a:extLst>
          </p:cNvPr>
          <p:cNvCxnSpPr>
            <a:cxnSpLocks noGrp="1" noRot="1" noMove="1" noResize="1" noEditPoints="1" noAdjustHandles="1" noChangeArrowheads="1" noChangeShapeType="1"/>
          </p:cNvCxnSpPr>
          <p:nvPr/>
        </p:nvCxnSpPr>
        <p:spPr>
          <a:xfrm>
            <a:off x="4406225" y="1841264"/>
            <a:ext cx="1358965" cy="9500"/>
          </a:xfrm>
          <a:prstGeom prst="line">
            <a:avLst/>
          </a:prstGeom>
          <a:ln>
            <a:solidFill>
              <a:srgbClr val="F26418"/>
            </a:solidFill>
          </a:ln>
        </p:spPr>
        <p:style>
          <a:lnRef idx="3">
            <a:schemeClr val="accent2"/>
          </a:lnRef>
          <a:fillRef idx="0">
            <a:schemeClr val="accent2"/>
          </a:fillRef>
          <a:effectRef idx="2">
            <a:schemeClr val="accent2"/>
          </a:effectRef>
          <a:fontRef idx="minor">
            <a:schemeClr val="tx1"/>
          </a:fontRef>
        </p:style>
      </p:cxnSp>
      <p:sp>
        <p:nvSpPr>
          <p:cNvPr id="23" name="Ellipse 22">
            <a:extLst>
              <a:ext uri="{FF2B5EF4-FFF2-40B4-BE49-F238E27FC236}">
                <a16:creationId xmlns:a16="http://schemas.microsoft.com/office/drawing/2014/main" id="{4ECB84E3-2AE4-0963-4583-78C4860DC02E}"/>
              </a:ext>
            </a:extLst>
          </p:cNvPr>
          <p:cNvSpPr>
            <a:spLocks noGrp="1" noRot="1" noMove="1" noResize="1" noEditPoints="1" noAdjustHandles="1" noChangeArrowheads="1" noChangeShapeType="1"/>
          </p:cNvSpPr>
          <p:nvPr/>
        </p:nvSpPr>
        <p:spPr>
          <a:xfrm>
            <a:off x="5857342" y="1781159"/>
            <a:ext cx="134405" cy="137691"/>
          </a:xfrm>
          <a:prstGeom prst="ellipse">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F96A09"/>
              </a:solidFill>
            </a:endParaRPr>
          </a:p>
        </p:txBody>
      </p:sp>
      <p:sp>
        <p:nvSpPr>
          <p:cNvPr id="69" name="Ellipse 68">
            <a:extLst>
              <a:ext uri="{FF2B5EF4-FFF2-40B4-BE49-F238E27FC236}">
                <a16:creationId xmlns:a16="http://schemas.microsoft.com/office/drawing/2014/main" id="{AF8E7044-A0AD-35F2-7215-AFCB7EB0C771}"/>
              </a:ext>
            </a:extLst>
          </p:cNvPr>
          <p:cNvSpPr>
            <a:spLocks noGrp="1" noRot="1" noMove="1" noResize="1" noEditPoints="1" noAdjustHandles="1" noChangeArrowheads="1" noChangeShapeType="1"/>
          </p:cNvSpPr>
          <p:nvPr/>
        </p:nvSpPr>
        <p:spPr>
          <a:xfrm>
            <a:off x="6042025" y="1780009"/>
            <a:ext cx="134405" cy="137691"/>
          </a:xfrm>
          <a:prstGeom prst="ellipse">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rgbClr val="F96A09"/>
              </a:solidFill>
            </a:endParaRPr>
          </a:p>
        </p:txBody>
      </p:sp>
      <p:sp>
        <p:nvSpPr>
          <p:cNvPr id="71" name="Ellipse 70">
            <a:extLst>
              <a:ext uri="{FF2B5EF4-FFF2-40B4-BE49-F238E27FC236}">
                <a16:creationId xmlns:a16="http://schemas.microsoft.com/office/drawing/2014/main" id="{72B484E3-A598-F32D-3D8C-0507227303D2}"/>
              </a:ext>
            </a:extLst>
          </p:cNvPr>
          <p:cNvSpPr>
            <a:spLocks noGrp="1" noRot="1" noMove="1" noResize="1" noEditPoints="1" noAdjustHandles="1" noChangeArrowheads="1" noChangeShapeType="1"/>
          </p:cNvSpPr>
          <p:nvPr/>
        </p:nvSpPr>
        <p:spPr>
          <a:xfrm>
            <a:off x="6226708" y="1780009"/>
            <a:ext cx="134405" cy="137691"/>
          </a:xfrm>
          <a:prstGeom prst="ellipse">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rgbClr val="F96A09"/>
              </a:solidFill>
            </a:endParaRPr>
          </a:p>
        </p:txBody>
      </p:sp>
      <p:cxnSp>
        <p:nvCxnSpPr>
          <p:cNvPr id="73" name="Straight Connector 3">
            <a:extLst>
              <a:ext uri="{FF2B5EF4-FFF2-40B4-BE49-F238E27FC236}">
                <a16:creationId xmlns:a16="http://schemas.microsoft.com/office/drawing/2014/main" id="{8439FADD-3384-8C70-F2B9-F1766446455A}"/>
              </a:ext>
            </a:extLst>
          </p:cNvPr>
          <p:cNvCxnSpPr>
            <a:cxnSpLocks noGrp="1" noRot="1" noMove="1" noResize="1" noEditPoints="1" noAdjustHandles="1" noChangeArrowheads="1" noChangeShapeType="1"/>
          </p:cNvCxnSpPr>
          <p:nvPr/>
        </p:nvCxnSpPr>
        <p:spPr>
          <a:xfrm>
            <a:off x="6451087" y="1852105"/>
            <a:ext cx="1358965" cy="9500"/>
          </a:xfrm>
          <a:prstGeom prst="line">
            <a:avLst/>
          </a:prstGeom>
          <a:ln>
            <a:solidFill>
              <a:srgbClr val="F26418"/>
            </a:solidFill>
          </a:ln>
        </p:spPr>
        <p:style>
          <a:lnRef idx="3">
            <a:schemeClr val="accent2"/>
          </a:lnRef>
          <a:fillRef idx="0">
            <a:schemeClr val="accent2"/>
          </a:fillRef>
          <a:effectRef idx="2">
            <a:schemeClr val="accent2"/>
          </a:effectRef>
          <a:fontRef idx="minor">
            <a:schemeClr val="tx1"/>
          </a:fontRef>
        </p:style>
      </p:cxnSp>
      <p:grpSp>
        <p:nvGrpSpPr>
          <p:cNvPr id="17" name="Groupe 16">
            <a:extLst>
              <a:ext uri="{FF2B5EF4-FFF2-40B4-BE49-F238E27FC236}">
                <a16:creationId xmlns:a16="http://schemas.microsoft.com/office/drawing/2014/main" id="{F4725B85-149A-40D6-B3FF-33BD6D62B4A1}"/>
              </a:ext>
            </a:extLst>
          </p:cNvPr>
          <p:cNvGrpSpPr/>
          <p:nvPr/>
        </p:nvGrpSpPr>
        <p:grpSpPr>
          <a:xfrm>
            <a:off x="904349" y="2513062"/>
            <a:ext cx="5137676" cy="716968"/>
            <a:chOff x="904349" y="2513062"/>
            <a:chExt cx="5137676" cy="716968"/>
          </a:xfrm>
        </p:grpSpPr>
        <p:sp>
          <p:nvSpPr>
            <p:cNvPr id="32" name="Rectangle 31">
              <a:extLst>
                <a:ext uri="{FF2B5EF4-FFF2-40B4-BE49-F238E27FC236}">
                  <a16:creationId xmlns:a16="http://schemas.microsoft.com/office/drawing/2014/main" id="{63E9B4A2-FA00-17EF-7871-4A21870BB2D5}"/>
                </a:ext>
              </a:extLst>
            </p:cNvPr>
            <p:cNvSpPr>
              <a:spLocks/>
            </p:cNvSpPr>
            <p:nvPr/>
          </p:nvSpPr>
          <p:spPr>
            <a:xfrm>
              <a:off x="904349" y="2518833"/>
              <a:ext cx="4994275" cy="711197"/>
            </a:xfrm>
            <a:prstGeom prst="rect">
              <a:avLst/>
            </a:prstGeom>
            <a:solidFill>
              <a:srgbClr val="FEF4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6000" dirty="0">
                  <a:solidFill>
                    <a:srgbClr val="F96A09"/>
                  </a:solidFill>
                  <a:latin typeface="Times New Roman" panose="02020603050405020304" pitchFamily="18" charset="0"/>
                  <a:cs typeface="Times New Roman" panose="02020603050405020304" pitchFamily="18" charset="0"/>
                </a:rPr>
                <a:t>01</a:t>
              </a:r>
            </a:p>
          </p:txBody>
        </p:sp>
        <p:sp>
          <p:nvSpPr>
            <p:cNvPr id="57" name="Rectangle 56">
              <a:extLst>
                <a:ext uri="{FF2B5EF4-FFF2-40B4-BE49-F238E27FC236}">
                  <a16:creationId xmlns:a16="http://schemas.microsoft.com/office/drawing/2014/main" id="{4C0198A6-115E-986B-1464-186E51D6C8D8}"/>
                </a:ext>
              </a:extLst>
            </p:cNvPr>
            <p:cNvSpPr>
              <a:spLocks/>
            </p:cNvSpPr>
            <p:nvPr/>
          </p:nvSpPr>
          <p:spPr>
            <a:xfrm>
              <a:off x="1854198" y="2518831"/>
              <a:ext cx="45719" cy="711197"/>
            </a:xfrm>
            <a:prstGeom prst="rect">
              <a:avLst/>
            </a:prstGeom>
            <a:solidFill>
              <a:srgbClr val="F96A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6000">
                <a:solidFill>
                  <a:srgbClr val="F96A09"/>
                </a:solidFill>
                <a:latin typeface="Times New Roman" panose="02020603050405020304" pitchFamily="18" charset="0"/>
                <a:cs typeface="Times New Roman" panose="02020603050405020304" pitchFamily="18" charset="0"/>
              </a:endParaRPr>
            </a:p>
          </p:txBody>
        </p:sp>
        <p:sp>
          <p:nvSpPr>
            <p:cNvPr id="75" name="ZoneTexte 74">
              <a:extLst>
                <a:ext uri="{FF2B5EF4-FFF2-40B4-BE49-F238E27FC236}">
                  <a16:creationId xmlns:a16="http://schemas.microsoft.com/office/drawing/2014/main" id="{0C48E0B9-42DB-10E1-C4A5-3928FFE5459D}"/>
                </a:ext>
              </a:extLst>
            </p:cNvPr>
            <p:cNvSpPr txBox="1">
              <a:spLocks/>
            </p:cNvSpPr>
            <p:nvPr/>
          </p:nvSpPr>
          <p:spPr>
            <a:xfrm>
              <a:off x="2043319" y="2513062"/>
              <a:ext cx="3998706" cy="707886"/>
            </a:xfrm>
            <a:prstGeom prst="rect">
              <a:avLst/>
            </a:prstGeom>
            <a:noFill/>
          </p:spPr>
          <p:txBody>
            <a:bodyPr wrap="square" rtlCol="0">
              <a:spAutoFit/>
            </a:bodyPr>
            <a:lstStyle/>
            <a:p>
              <a:r>
                <a:rPr lang="fr-FR" sz="2000" b="1" dirty="0">
                  <a:latin typeface="Times New Roman" panose="02020603050405020304" pitchFamily="18" charset="0"/>
                  <a:cs typeface="Times New Roman" panose="02020603050405020304" pitchFamily="18" charset="0"/>
                </a:rPr>
                <a:t>PRÉSENTATION DE LA STRUCTURE D’ACCUEIL</a:t>
              </a:r>
            </a:p>
          </p:txBody>
        </p:sp>
      </p:grpSp>
      <p:grpSp>
        <p:nvGrpSpPr>
          <p:cNvPr id="13" name="Groupe 12">
            <a:extLst>
              <a:ext uri="{FF2B5EF4-FFF2-40B4-BE49-F238E27FC236}">
                <a16:creationId xmlns:a16="http://schemas.microsoft.com/office/drawing/2014/main" id="{EB0F9FD4-10A9-17D7-C4FB-46DF3EDA9D8B}"/>
              </a:ext>
            </a:extLst>
          </p:cNvPr>
          <p:cNvGrpSpPr/>
          <p:nvPr/>
        </p:nvGrpSpPr>
        <p:grpSpPr>
          <a:xfrm>
            <a:off x="904348" y="4390499"/>
            <a:ext cx="4994275" cy="711199"/>
            <a:chOff x="904348" y="4390499"/>
            <a:chExt cx="4994275" cy="711199"/>
          </a:xfrm>
        </p:grpSpPr>
        <p:sp>
          <p:nvSpPr>
            <p:cNvPr id="36" name="Rectangle 35">
              <a:extLst>
                <a:ext uri="{FF2B5EF4-FFF2-40B4-BE49-F238E27FC236}">
                  <a16:creationId xmlns:a16="http://schemas.microsoft.com/office/drawing/2014/main" id="{0AC3701C-6515-E588-CC5D-3933B7D138C2}"/>
                </a:ext>
              </a:extLst>
            </p:cNvPr>
            <p:cNvSpPr>
              <a:spLocks/>
            </p:cNvSpPr>
            <p:nvPr/>
          </p:nvSpPr>
          <p:spPr>
            <a:xfrm>
              <a:off x="904348" y="4390501"/>
              <a:ext cx="4994275" cy="711197"/>
            </a:xfrm>
            <a:prstGeom prst="rect">
              <a:avLst/>
            </a:prstGeom>
            <a:solidFill>
              <a:srgbClr val="FEF4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6000" dirty="0">
                  <a:solidFill>
                    <a:srgbClr val="F96A09"/>
                  </a:solidFill>
                  <a:latin typeface="Times New Roman" panose="02020603050405020304" pitchFamily="18" charset="0"/>
                  <a:cs typeface="Times New Roman" panose="02020603050405020304" pitchFamily="18" charset="0"/>
                </a:rPr>
                <a:t>03</a:t>
              </a:r>
            </a:p>
          </p:txBody>
        </p:sp>
        <p:sp>
          <p:nvSpPr>
            <p:cNvPr id="61" name="Rectangle 60">
              <a:extLst>
                <a:ext uri="{FF2B5EF4-FFF2-40B4-BE49-F238E27FC236}">
                  <a16:creationId xmlns:a16="http://schemas.microsoft.com/office/drawing/2014/main" id="{4B18ECA7-A689-8D30-76B5-034BFCC078E0}"/>
                </a:ext>
              </a:extLst>
            </p:cNvPr>
            <p:cNvSpPr>
              <a:spLocks/>
            </p:cNvSpPr>
            <p:nvPr/>
          </p:nvSpPr>
          <p:spPr>
            <a:xfrm>
              <a:off x="1854198" y="4390499"/>
              <a:ext cx="45719" cy="711197"/>
            </a:xfrm>
            <a:prstGeom prst="rect">
              <a:avLst/>
            </a:prstGeom>
            <a:solidFill>
              <a:srgbClr val="F96A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6000">
                <a:solidFill>
                  <a:srgbClr val="F96A09"/>
                </a:solidFill>
                <a:latin typeface="Times New Roman" panose="02020603050405020304" pitchFamily="18" charset="0"/>
                <a:cs typeface="Times New Roman" panose="02020603050405020304" pitchFamily="18" charset="0"/>
              </a:endParaRPr>
            </a:p>
          </p:txBody>
        </p:sp>
        <p:sp>
          <p:nvSpPr>
            <p:cNvPr id="83" name="ZoneTexte 82">
              <a:extLst>
                <a:ext uri="{FF2B5EF4-FFF2-40B4-BE49-F238E27FC236}">
                  <a16:creationId xmlns:a16="http://schemas.microsoft.com/office/drawing/2014/main" id="{9BEB0E27-6AAC-CC8E-7375-1F44DEA5AA1B}"/>
                </a:ext>
              </a:extLst>
            </p:cNvPr>
            <p:cNvSpPr txBox="1">
              <a:spLocks/>
            </p:cNvSpPr>
            <p:nvPr/>
          </p:nvSpPr>
          <p:spPr>
            <a:xfrm>
              <a:off x="1945638" y="4433694"/>
              <a:ext cx="3717293" cy="400110"/>
            </a:xfrm>
            <a:prstGeom prst="rect">
              <a:avLst/>
            </a:prstGeom>
            <a:noFill/>
          </p:spPr>
          <p:txBody>
            <a:bodyPr wrap="square" rtlCol="0">
              <a:spAutoFit/>
            </a:bodyPr>
            <a:lstStyle/>
            <a:p>
              <a:r>
                <a:rPr lang="fr-FR" sz="2000" b="1" dirty="0">
                  <a:latin typeface="Times New Roman" panose="02020603050405020304" pitchFamily="18" charset="0"/>
                  <a:cs typeface="Times New Roman" panose="02020603050405020304" pitchFamily="18" charset="0"/>
                </a:rPr>
                <a:t>ÉTUDE CONCEPTUELLE</a:t>
              </a:r>
            </a:p>
          </p:txBody>
        </p:sp>
      </p:grpSp>
      <p:grpSp>
        <p:nvGrpSpPr>
          <p:cNvPr id="15" name="Groupe 14">
            <a:extLst>
              <a:ext uri="{FF2B5EF4-FFF2-40B4-BE49-F238E27FC236}">
                <a16:creationId xmlns:a16="http://schemas.microsoft.com/office/drawing/2014/main" id="{256A9B2B-B992-2680-BD4B-4A72CDF0B7CC}"/>
              </a:ext>
            </a:extLst>
          </p:cNvPr>
          <p:cNvGrpSpPr/>
          <p:nvPr/>
        </p:nvGrpSpPr>
        <p:grpSpPr>
          <a:xfrm>
            <a:off x="6390762" y="3454665"/>
            <a:ext cx="5534521" cy="711197"/>
            <a:chOff x="6390762" y="3454665"/>
            <a:chExt cx="5534521" cy="711197"/>
          </a:xfrm>
        </p:grpSpPr>
        <p:sp>
          <p:nvSpPr>
            <p:cNvPr id="54" name="Rectangle 53">
              <a:extLst>
                <a:ext uri="{FF2B5EF4-FFF2-40B4-BE49-F238E27FC236}">
                  <a16:creationId xmlns:a16="http://schemas.microsoft.com/office/drawing/2014/main" id="{4DDB9061-FDC4-7CEA-2CA9-CAA66B31FA50}"/>
                </a:ext>
              </a:extLst>
            </p:cNvPr>
            <p:cNvSpPr>
              <a:spLocks/>
            </p:cNvSpPr>
            <p:nvPr/>
          </p:nvSpPr>
          <p:spPr>
            <a:xfrm>
              <a:off x="6390762" y="3454665"/>
              <a:ext cx="4994275" cy="711197"/>
            </a:xfrm>
            <a:prstGeom prst="rect">
              <a:avLst/>
            </a:prstGeom>
            <a:solidFill>
              <a:srgbClr val="FEF4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6000" dirty="0">
                  <a:solidFill>
                    <a:srgbClr val="F96A09"/>
                  </a:solidFill>
                  <a:latin typeface="Times New Roman" panose="02020603050405020304" pitchFamily="18" charset="0"/>
                  <a:cs typeface="Times New Roman" panose="02020603050405020304" pitchFamily="18" charset="0"/>
                </a:rPr>
                <a:t>05</a:t>
              </a:r>
            </a:p>
          </p:txBody>
        </p:sp>
        <p:sp>
          <p:nvSpPr>
            <p:cNvPr id="65" name="Rectangle 64">
              <a:extLst>
                <a:ext uri="{FF2B5EF4-FFF2-40B4-BE49-F238E27FC236}">
                  <a16:creationId xmlns:a16="http://schemas.microsoft.com/office/drawing/2014/main" id="{895855F1-8CB7-89DD-8EB7-0F6E5CB09D84}"/>
                </a:ext>
              </a:extLst>
            </p:cNvPr>
            <p:cNvSpPr>
              <a:spLocks/>
            </p:cNvSpPr>
            <p:nvPr/>
          </p:nvSpPr>
          <p:spPr>
            <a:xfrm>
              <a:off x="7399863" y="3454665"/>
              <a:ext cx="45719" cy="711197"/>
            </a:xfrm>
            <a:prstGeom prst="rect">
              <a:avLst/>
            </a:prstGeom>
            <a:solidFill>
              <a:srgbClr val="F96A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6000">
                <a:solidFill>
                  <a:srgbClr val="F96A09"/>
                </a:solidFill>
                <a:latin typeface="Times New Roman" panose="02020603050405020304" pitchFamily="18" charset="0"/>
                <a:cs typeface="Times New Roman" panose="02020603050405020304" pitchFamily="18" charset="0"/>
              </a:endParaRPr>
            </a:p>
          </p:txBody>
        </p:sp>
        <p:sp>
          <p:nvSpPr>
            <p:cNvPr id="91" name="ZoneTexte 90">
              <a:extLst>
                <a:ext uri="{FF2B5EF4-FFF2-40B4-BE49-F238E27FC236}">
                  <a16:creationId xmlns:a16="http://schemas.microsoft.com/office/drawing/2014/main" id="{E658BF66-BCE7-8B33-8F2A-681EEA6FDA7B}"/>
                </a:ext>
              </a:extLst>
            </p:cNvPr>
            <p:cNvSpPr txBox="1">
              <a:spLocks/>
            </p:cNvSpPr>
            <p:nvPr/>
          </p:nvSpPr>
          <p:spPr>
            <a:xfrm>
              <a:off x="7467237" y="3629050"/>
              <a:ext cx="4458046" cy="400110"/>
            </a:xfrm>
            <a:prstGeom prst="rect">
              <a:avLst/>
            </a:prstGeom>
            <a:noFill/>
          </p:spPr>
          <p:txBody>
            <a:bodyPr wrap="square" rtlCol="0">
              <a:spAutoFit/>
            </a:bodyPr>
            <a:lstStyle/>
            <a:p>
              <a:r>
                <a:rPr lang="fr-FR" sz="2000" b="1" dirty="0">
                  <a:latin typeface="Times New Roman" panose="02020603050405020304" pitchFamily="18" charset="0"/>
                  <a:cs typeface="Times New Roman" panose="02020603050405020304" pitchFamily="18" charset="0"/>
                </a:rPr>
                <a:t>RÉSULTATS ET VALIDATION</a:t>
              </a:r>
            </a:p>
          </p:txBody>
        </p:sp>
      </p:grpSp>
      <p:grpSp>
        <p:nvGrpSpPr>
          <p:cNvPr id="16" name="Groupe 15">
            <a:extLst>
              <a:ext uri="{FF2B5EF4-FFF2-40B4-BE49-F238E27FC236}">
                <a16:creationId xmlns:a16="http://schemas.microsoft.com/office/drawing/2014/main" id="{7D16AD4E-512A-A995-756F-81042767033D}"/>
              </a:ext>
            </a:extLst>
          </p:cNvPr>
          <p:cNvGrpSpPr/>
          <p:nvPr/>
        </p:nvGrpSpPr>
        <p:grpSpPr>
          <a:xfrm>
            <a:off x="6390761" y="4390498"/>
            <a:ext cx="5534522" cy="711198"/>
            <a:chOff x="6390761" y="4390498"/>
            <a:chExt cx="5534522" cy="711198"/>
          </a:xfrm>
        </p:grpSpPr>
        <p:sp>
          <p:nvSpPr>
            <p:cNvPr id="56" name="Rectangle 55">
              <a:extLst>
                <a:ext uri="{FF2B5EF4-FFF2-40B4-BE49-F238E27FC236}">
                  <a16:creationId xmlns:a16="http://schemas.microsoft.com/office/drawing/2014/main" id="{9EE78DAC-2D2D-98F8-15A8-2E471CA94887}"/>
                </a:ext>
              </a:extLst>
            </p:cNvPr>
            <p:cNvSpPr>
              <a:spLocks/>
            </p:cNvSpPr>
            <p:nvPr/>
          </p:nvSpPr>
          <p:spPr>
            <a:xfrm>
              <a:off x="6390761" y="4390499"/>
              <a:ext cx="4994275" cy="711197"/>
            </a:xfrm>
            <a:prstGeom prst="rect">
              <a:avLst/>
            </a:prstGeom>
            <a:solidFill>
              <a:srgbClr val="FEF4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6000" dirty="0">
                  <a:solidFill>
                    <a:srgbClr val="F96A09"/>
                  </a:solidFill>
                  <a:latin typeface="Times New Roman" panose="02020603050405020304" pitchFamily="18" charset="0"/>
                  <a:cs typeface="Times New Roman" panose="02020603050405020304" pitchFamily="18" charset="0"/>
                </a:rPr>
                <a:t>06</a:t>
              </a:r>
            </a:p>
          </p:txBody>
        </p:sp>
        <p:sp>
          <p:nvSpPr>
            <p:cNvPr id="67" name="Rectangle 66">
              <a:extLst>
                <a:ext uri="{FF2B5EF4-FFF2-40B4-BE49-F238E27FC236}">
                  <a16:creationId xmlns:a16="http://schemas.microsoft.com/office/drawing/2014/main" id="{B4A06868-8E7B-5912-4C73-B41443A8CE44}"/>
                </a:ext>
              </a:extLst>
            </p:cNvPr>
            <p:cNvSpPr>
              <a:spLocks/>
            </p:cNvSpPr>
            <p:nvPr/>
          </p:nvSpPr>
          <p:spPr>
            <a:xfrm>
              <a:off x="7399862" y="4390498"/>
              <a:ext cx="45719" cy="711197"/>
            </a:xfrm>
            <a:prstGeom prst="rect">
              <a:avLst/>
            </a:prstGeom>
            <a:solidFill>
              <a:srgbClr val="F96A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6000">
                <a:solidFill>
                  <a:srgbClr val="F96A09"/>
                </a:solidFill>
                <a:latin typeface="Times New Roman" panose="02020603050405020304" pitchFamily="18" charset="0"/>
                <a:cs typeface="Times New Roman" panose="02020603050405020304" pitchFamily="18" charset="0"/>
              </a:endParaRPr>
            </a:p>
          </p:txBody>
        </p:sp>
        <p:sp>
          <p:nvSpPr>
            <p:cNvPr id="93" name="ZoneTexte 92">
              <a:extLst>
                <a:ext uri="{FF2B5EF4-FFF2-40B4-BE49-F238E27FC236}">
                  <a16:creationId xmlns:a16="http://schemas.microsoft.com/office/drawing/2014/main" id="{06AEF3B1-6892-6DA4-5CD5-44E103DAA6C7}"/>
                </a:ext>
              </a:extLst>
            </p:cNvPr>
            <p:cNvSpPr txBox="1">
              <a:spLocks/>
            </p:cNvSpPr>
            <p:nvPr/>
          </p:nvSpPr>
          <p:spPr>
            <a:xfrm>
              <a:off x="7467237" y="4553484"/>
              <a:ext cx="4458046" cy="400110"/>
            </a:xfrm>
            <a:prstGeom prst="rect">
              <a:avLst/>
            </a:prstGeom>
            <a:noFill/>
          </p:spPr>
          <p:txBody>
            <a:bodyPr wrap="square" rtlCol="0">
              <a:spAutoFit/>
            </a:bodyPr>
            <a:lstStyle/>
            <a:p>
              <a:r>
                <a:rPr lang="fr-FR" sz="2000" b="1" dirty="0">
                  <a:latin typeface="Times New Roman" panose="02020603050405020304" pitchFamily="18" charset="0"/>
                  <a:cs typeface="Times New Roman" panose="02020603050405020304" pitchFamily="18" charset="0"/>
                </a:rPr>
                <a:t>LIMITES ET PERSPECTIVES</a:t>
              </a:r>
            </a:p>
          </p:txBody>
        </p:sp>
      </p:grpSp>
      <p:grpSp>
        <p:nvGrpSpPr>
          <p:cNvPr id="14" name="Groupe 13">
            <a:extLst>
              <a:ext uri="{FF2B5EF4-FFF2-40B4-BE49-F238E27FC236}">
                <a16:creationId xmlns:a16="http://schemas.microsoft.com/office/drawing/2014/main" id="{CC05C1B7-B7AC-13F8-CF1F-2685B06FD9DD}"/>
              </a:ext>
            </a:extLst>
          </p:cNvPr>
          <p:cNvGrpSpPr/>
          <p:nvPr/>
        </p:nvGrpSpPr>
        <p:grpSpPr>
          <a:xfrm>
            <a:off x="6390762" y="2518830"/>
            <a:ext cx="5534521" cy="772884"/>
            <a:chOff x="6390762" y="2518830"/>
            <a:chExt cx="5534521" cy="772884"/>
          </a:xfrm>
        </p:grpSpPr>
        <p:sp>
          <p:nvSpPr>
            <p:cNvPr id="52" name="Rectangle 51">
              <a:extLst>
                <a:ext uri="{FF2B5EF4-FFF2-40B4-BE49-F238E27FC236}">
                  <a16:creationId xmlns:a16="http://schemas.microsoft.com/office/drawing/2014/main" id="{CF37964B-B313-7B0E-3D2A-9B3FB039AEA6}"/>
                </a:ext>
              </a:extLst>
            </p:cNvPr>
            <p:cNvSpPr>
              <a:spLocks/>
            </p:cNvSpPr>
            <p:nvPr/>
          </p:nvSpPr>
          <p:spPr>
            <a:xfrm>
              <a:off x="6390762" y="2518831"/>
              <a:ext cx="4994275" cy="711197"/>
            </a:xfrm>
            <a:prstGeom prst="rect">
              <a:avLst/>
            </a:prstGeom>
            <a:solidFill>
              <a:srgbClr val="FEF4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6000" dirty="0">
                  <a:solidFill>
                    <a:srgbClr val="F96A09"/>
                  </a:solidFill>
                  <a:latin typeface="Times New Roman" panose="02020603050405020304" pitchFamily="18" charset="0"/>
                  <a:cs typeface="Times New Roman" panose="02020603050405020304" pitchFamily="18" charset="0"/>
                </a:rPr>
                <a:t>04</a:t>
              </a:r>
            </a:p>
          </p:txBody>
        </p:sp>
        <p:sp>
          <p:nvSpPr>
            <p:cNvPr id="63" name="Rectangle 62">
              <a:extLst>
                <a:ext uri="{FF2B5EF4-FFF2-40B4-BE49-F238E27FC236}">
                  <a16:creationId xmlns:a16="http://schemas.microsoft.com/office/drawing/2014/main" id="{A251B366-B08A-BE05-A7B0-0564ED1A1F52}"/>
                </a:ext>
              </a:extLst>
            </p:cNvPr>
            <p:cNvSpPr>
              <a:spLocks/>
            </p:cNvSpPr>
            <p:nvPr/>
          </p:nvSpPr>
          <p:spPr>
            <a:xfrm>
              <a:off x="7399864" y="2518830"/>
              <a:ext cx="45719" cy="711197"/>
            </a:xfrm>
            <a:prstGeom prst="rect">
              <a:avLst/>
            </a:prstGeom>
            <a:solidFill>
              <a:srgbClr val="F96A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6000">
                <a:solidFill>
                  <a:srgbClr val="F96A09"/>
                </a:solidFill>
                <a:latin typeface="Times New Roman" panose="02020603050405020304" pitchFamily="18" charset="0"/>
                <a:cs typeface="Times New Roman" panose="02020603050405020304" pitchFamily="18" charset="0"/>
              </a:endParaRPr>
            </a:p>
          </p:txBody>
        </p:sp>
        <p:sp>
          <p:nvSpPr>
            <p:cNvPr id="97" name="ZoneTexte 96">
              <a:extLst>
                <a:ext uri="{FF2B5EF4-FFF2-40B4-BE49-F238E27FC236}">
                  <a16:creationId xmlns:a16="http://schemas.microsoft.com/office/drawing/2014/main" id="{FB204D43-7BB0-DE71-E1D9-2314DE620DDA}"/>
                </a:ext>
              </a:extLst>
            </p:cNvPr>
            <p:cNvSpPr txBox="1">
              <a:spLocks/>
            </p:cNvSpPr>
            <p:nvPr/>
          </p:nvSpPr>
          <p:spPr>
            <a:xfrm>
              <a:off x="7467237" y="2583828"/>
              <a:ext cx="4458046" cy="707886"/>
            </a:xfrm>
            <a:prstGeom prst="rect">
              <a:avLst/>
            </a:prstGeom>
            <a:noFill/>
          </p:spPr>
          <p:txBody>
            <a:bodyPr wrap="square" rtlCol="0">
              <a:spAutoFit/>
            </a:bodyPr>
            <a:lstStyle/>
            <a:p>
              <a:r>
                <a:rPr lang="fr-FR" sz="2000" b="1" dirty="0">
                  <a:latin typeface="Times New Roman" panose="02020603050405020304" pitchFamily="18" charset="0"/>
                  <a:cs typeface="Times New Roman" panose="02020603050405020304" pitchFamily="18" charset="0"/>
                </a:rPr>
                <a:t>PRÉSENTATION DE </a:t>
              </a:r>
            </a:p>
            <a:p>
              <a:r>
                <a:rPr lang="fr-FR" sz="2000" b="1" dirty="0">
                  <a:latin typeface="Times New Roman" panose="02020603050405020304" pitchFamily="18" charset="0"/>
                  <a:cs typeface="Times New Roman" panose="02020603050405020304" pitchFamily="18" charset="0"/>
                </a:rPr>
                <a:t>LA SOLUTION</a:t>
              </a:r>
            </a:p>
          </p:txBody>
        </p:sp>
      </p:grpSp>
      <p:grpSp>
        <p:nvGrpSpPr>
          <p:cNvPr id="29" name="Groupe 28">
            <a:extLst>
              <a:ext uri="{FF2B5EF4-FFF2-40B4-BE49-F238E27FC236}">
                <a16:creationId xmlns:a16="http://schemas.microsoft.com/office/drawing/2014/main" id="{13F407F6-BBB6-AD46-7639-7D28742E6C46}"/>
              </a:ext>
            </a:extLst>
          </p:cNvPr>
          <p:cNvGrpSpPr/>
          <p:nvPr/>
        </p:nvGrpSpPr>
        <p:grpSpPr>
          <a:xfrm>
            <a:off x="896402" y="3451781"/>
            <a:ext cx="5137676" cy="716968"/>
            <a:chOff x="904349" y="2513062"/>
            <a:chExt cx="5137676" cy="716968"/>
          </a:xfrm>
        </p:grpSpPr>
        <p:sp>
          <p:nvSpPr>
            <p:cNvPr id="30" name="Rectangle 29">
              <a:extLst>
                <a:ext uri="{FF2B5EF4-FFF2-40B4-BE49-F238E27FC236}">
                  <a16:creationId xmlns:a16="http://schemas.microsoft.com/office/drawing/2014/main" id="{88D1CC6F-8C57-F312-8F79-10001421A7D2}"/>
                </a:ext>
              </a:extLst>
            </p:cNvPr>
            <p:cNvSpPr>
              <a:spLocks/>
            </p:cNvSpPr>
            <p:nvPr/>
          </p:nvSpPr>
          <p:spPr>
            <a:xfrm>
              <a:off x="904349" y="2518833"/>
              <a:ext cx="4994275" cy="711197"/>
            </a:xfrm>
            <a:prstGeom prst="rect">
              <a:avLst/>
            </a:prstGeom>
            <a:solidFill>
              <a:srgbClr val="FEF4E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6000" dirty="0">
                  <a:solidFill>
                    <a:srgbClr val="F96A09"/>
                  </a:solidFill>
                  <a:latin typeface="Times New Roman" panose="02020603050405020304" pitchFamily="18" charset="0"/>
                  <a:cs typeface="Times New Roman" panose="02020603050405020304" pitchFamily="18" charset="0"/>
                </a:rPr>
                <a:t>02</a:t>
              </a:r>
            </a:p>
          </p:txBody>
        </p:sp>
        <p:sp>
          <p:nvSpPr>
            <p:cNvPr id="31" name="Rectangle 30">
              <a:extLst>
                <a:ext uri="{FF2B5EF4-FFF2-40B4-BE49-F238E27FC236}">
                  <a16:creationId xmlns:a16="http://schemas.microsoft.com/office/drawing/2014/main" id="{B6CBD5F4-F210-9705-8DFE-E2506AFB1A55}"/>
                </a:ext>
              </a:extLst>
            </p:cNvPr>
            <p:cNvSpPr>
              <a:spLocks/>
            </p:cNvSpPr>
            <p:nvPr/>
          </p:nvSpPr>
          <p:spPr>
            <a:xfrm>
              <a:off x="1854198" y="2518831"/>
              <a:ext cx="45719" cy="711197"/>
            </a:xfrm>
            <a:prstGeom prst="rect">
              <a:avLst/>
            </a:prstGeom>
            <a:solidFill>
              <a:srgbClr val="F96A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fr-FR" sz="6000">
                <a:solidFill>
                  <a:srgbClr val="F96A09"/>
                </a:solidFill>
                <a:latin typeface="Times New Roman" panose="02020603050405020304" pitchFamily="18" charset="0"/>
                <a:cs typeface="Times New Roman" panose="02020603050405020304" pitchFamily="18" charset="0"/>
              </a:endParaRPr>
            </a:p>
          </p:txBody>
        </p:sp>
        <p:sp>
          <p:nvSpPr>
            <p:cNvPr id="33" name="ZoneTexte 32">
              <a:extLst>
                <a:ext uri="{FF2B5EF4-FFF2-40B4-BE49-F238E27FC236}">
                  <a16:creationId xmlns:a16="http://schemas.microsoft.com/office/drawing/2014/main" id="{88C2404C-B4CE-65E3-FBB6-0F90A76EBC83}"/>
                </a:ext>
              </a:extLst>
            </p:cNvPr>
            <p:cNvSpPr txBox="1">
              <a:spLocks/>
            </p:cNvSpPr>
            <p:nvPr/>
          </p:nvSpPr>
          <p:spPr>
            <a:xfrm>
              <a:off x="2043319" y="2513062"/>
              <a:ext cx="3998706" cy="707886"/>
            </a:xfrm>
            <a:prstGeom prst="rect">
              <a:avLst/>
            </a:prstGeom>
            <a:noFill/>
          </p:spPr>
          <p:txBody>
            <a:bodyPr wrap="square" rtlCol="0">
              <a:spAutoFit/>
            </a:bodyPr>
            <a:lstStyle/>
            <a:p>
              <a:r>
                <a:rPr lang="fr-FR" sz="2000" b="1" dirty="0">
                  <a:latin typeface="Times New Roman" panose="02020603050405020304" pitchFamily="18" charset="0"/>
                  <a:cs typeface="Times New Roman" panose="02020603050405020304" pitchFamily="18" charset="0"/>
                </a:rPr>
                <a:t>CONTEXTE ET PROBLÉMATIQUE</a:t>
              </a:r>
            </a:p>
          </p:txBody>
        </p:sp>
      </p:grpSp>
    </p:spTree>
    <p:extLst>
      <p:ext uri="{BB962C8B-B14F-4D97-AF65-F5344CB8AC3E}">
        <p14:creationId xmlns:p14="http://schemas.microsoft.com/office/powerpoint/2010/main" val="4091777698"/>
      </p:ext>
    </p:extLst>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5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450"/>
                                        <p:tgtEl>
                                          <p:spTgt spid="2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9"/>
                                        </p:tgtEl>
                                        <p:attrNameLst>
                                          <p:attrName>style.visibility</p:attrName>
                                        </p:attrNameLst>
                                      </p:cBhvr>
                                      <p:to>
                                        <p:strVal val="visible"/>
                                      </p:to>
                                    </p:set>
                                    <p:animEffect transition="in" filter="fade">
                                      <p:cBhvr>
                                        <p:cTn id="16" dur="450"/>
                                        <p:tgtEl>
                                          <p:spTgt spid="6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450"/>
                                        <p:tgtEl>
                                          <p:spTgt spid="71"/>
                                        </p:tgtEl>
                                      </p:cBhvr>
                                    </p:animEffect>
                                  </p:childTnLst>
                                </p:cTn>
                              </p:par>
                              <p:par>
                                <p:cTn id="20" presetID="10" presetClass="entr" presetSubtype="0" fill="hold" nodeType="withEffect">
                                  <p:stCondLst>
                                    <p:cond delay="0"/>
                                  </p:stCondLst>
                                  <p:childTnLst>
                                    <p:set>
                                      <p:cBhvr>
                                        <p:cTn id="21" dur="1" fill="hold">
                                          <p:stCondLst>
                                            <p:cond delay="0"/>
                                          </p:stCondLst>
                                        </p:cTn>
                                        <p:tgtEl>
                                          <p:spTgt spid="73"/>
                                        </p:tgtEl>
                                        <p:attrNameLst>
                                          <p:attrName>style.visibility</p:attrName>
                                        </p:attrNameLst>
                                      </p:cBhvr>
                                      <p:to>
                                        <p:strVal val="visible"/>
                                      </p:to>
                                    </p:set>
                                    <p:animEffect transition="in" filter="fade">
                                      <p:cBhvr>
                                        <p:cTn id="22" dur="450"/>
                                        <p:tgtEl>
                                          <p:spTgt spid="73"/>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anim calcmode="lin" valueType="num">
                                      <p:cBhvr>
                                        <p:cTn id="28" dur="500" fill="hold"/>
                                        <p:tgtEl>
                                          <p:spTgt spid="17"/>
                                        </p:tgtEl>
                                        <p:attrNameLst>
                                          <p:attrName>ppt_x</p:attrName>
                                        </p:attrNameLst>
                                      </p:cBhvr>
                                      <p:tavLst>
                                        <p:tav tm="0">
                                          <p:val>
                                            <p:strVal val="#ppt_x-.035"/>
                                          </p:val>
                                        </p:tav>
                                        <p:tav tm="100000">
                                          <p:val>
                                            <p:strVal val="#ppt_x"/>
                                          </p:val>
                                        </p:tav>
                                      </p:tavLst>
                                    </p:anim>
                                    <p:anim calcmode="lin" valueType="num">
                                      <p:cBhvr>
                                        <p:cTn id="29"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500"/>
                                        <p:tgtEl>
                                          <p:spTgt spid="29"/>
                                        </p:tgtEl>
                                      </p:cBhvr>
                                    </p:animEffect>
                                    <p:anim calcmode="lin" valueType="num">
                                      <p:cBhvr>
                                        <p:cTn id="35" dur="500" fill="hold"/>
                                        <p:tgtEl>
                                          <p:spTgt spid="29"/>
                                        </p:tgtEl>
                                        <p:attrNameLst>
                                          <p:attrName>ppt_x</p:attrName>
                                        </p:attrNameLst>
                                      </p:cBhvr>
                                      <p:tavLst>
                                        <p:tav tm="0">
                                          <p:val>
                                            <p:strVal val="#ppt_x-.035"/>
                                          </p:val>
                                        </p:tav>
                                        <p:tav tm="100000">
                                          <p:val>
                                            <p:strVal val="#ppt_x"/>
                                          </p:val>
                                        </p:tav>
                                      </p:tavLst>
                                    </p:anim>
                                    <p:anim calcmode="lin" valueType="num">
                                      <p:cBhvr>
                                        <p:cTn id="36"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anim calcmode="lin" valueType="num">
                                      <p:cBhvr>
                                        <p:cTn id="42" dur="500" fill="hold"/>
                                        <p:tgtEl>
                                          <p:spTgt spid="13"/>
                                        </p:tgtEl>
                                        <p:attrNameLst>
                                          <p:attrName>ppt_x</p:attrName>
                                        </p:attrNameLst>
                                      </p:cBhvr>
                                      <p:tavLst>
                                        <p:tav tm="0">
                                          <p:val>
                                            <p:strVal val="#ppt_x-.035"/>
                                          </p:val>
                                        </p:tav>
                                        <p:tav tm="100000">
                                          <p:val>
                                            <p:strVal val="#ppt_x"/>
                                          </p:val>
                                        </p:tav>
                                      </p:tavLst>
                                    </p:anim>
                                    <p:anim calcmode="lin" valueType="num">
                                      <p:cBhvr>
                                        <p:cTn id="43"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500"/>
                                        <p:tgtEl>
                                          <p:spTgt spid="14"/>
                                        </p:tgtEl>
                                      </p:cBhvr>
                                    </p:animEffect>
                                    <p:anim calcmode="lin" valueType="num">
                                      <p:cBhvr>
                                        <p:cTn id="49" dur="500" fill="hold"/>
                                        <p:tgtEl>
                                          <p:spTgt spid="14"/>
                                        </p:tgtEl>
                                        <p:attrNameLst>
                                          <p:attrName>ppt_x</p:attrName>
                                        </p:attrNameLst>
                                      </p:cBhvr>
                                      <p:tavLst>
                                        <p:tav tm="0">
                                          <p:val>
                                            <p:strVal val="#ppt_x+.035"/>
                                          </p:val>
                                        </p:tav>
                                        <p:tav tm="100000">
                                          <p:val>
                                            <p:strVal val="#ppt_x"/>
                                          </p:val>
                                        </p:tav>
                                      </p:tavLst>
                                    </p:anim>
                                    <p:anim calcmode="lin" valueType="num">
                                      <p:cBhvr>
                                        <p:cTn id="5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anim calcmode="lin" valueType="num">
                                      <p:cBhvr>
                                        <p:cTn id="56" dur="500" fill="hold"/>
                                        <p:tgtEl>
                                          <p:spTgt spid="15"/>
                                        </p:tgtEl>
                                        <p:attrNameLst>
                                          <p:attrName>ppt_x</p:attrName>
                                        </p:attrNameLst>
                                      </p:cBhvr>
                                      <p:tavLst>
                                        <p:tav tm="0">
                                          <p:val>
                                            <p:strVal val="#ppt_x+.035"/>
                                          </p:val>
                                        </p:tav>
                                        <p:tav tm="100000">
                                          <p:val>
                                            <p:strVal val="#ppt_x"/>
                                          </p:val>
                                        </p:tav>
                                      </p:tavLst>
                                    </p:anim>
                                    <p:anim calcmode="lin" valueType="num">
                                      <p:cBhvr>
                                        <p:cTn id="57"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500"/>
                                        <p:tgtEl>
                                          <p:spTgt spid="16"/>
                                        </p:tgtEl>
                                      </p:cBhvr>
                                    </p:animEffect>
                                    <p:anim calcmode="lin" valueType="num">
                                      <p:cBhvr>
                                        <p:cTn id="63" dur="500" fill="hold"/>
                                        <p:tgtEl>
                                          <p:spTgt spid="16"/>
                                        </p:tgtEl>
                                        <p:attrNameLst>
                                          <p:attrName>ppt_x</p:attrName>
                                        </p:attrNameLst>
                                      </p:cBhvr>
                                      <p:tavLst>
                                        <p:tav tm="0">
                                          <p:val>
                                            <p:strVal val="#ppt_x+.035"/>
                                          </p:val>
                                        </p:tav>
                                        <p:tav tm="100000">
                                          <p:val>
                                            <p:strVal val="#ppt_x"/>
                                          </p:val>
                                        </p:tav>
                                      </p:tavLst>
                                    </p:anim>
                                    <p:anim calcmode="lin" valueType="num">
                                      <p:cBhvr>
                                        <p:cTn id="64"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3" grpId="0" animBg="1"/>
      <p:bldP spid="69" grpId="0" animBg="1"/>
      <p:bldP spid="7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B399AE-4A9A-80A7-B9E4-17A7442A820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8C38E94-AFBF-4A4D-1FD6-5F78076D7F6A}"/>
              </a:ext>
            </a:extLst>
          </p:cNvPr>
          <p:cNvSpPr>
            <a:spLocks noGrp="1" noRot="1" noMove="1" noResize="1" noEditPoints="1" noAdjustHandles="1" noChangeArrowheads="1" noChangeShapeType="1"/>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5743CF1-A4B2-0E48-F679-3963951A8EB3}"/>
              </a:ext>
            </a:extLst>
          </p:cNvPr>
          <p:cNvSpPr>
            <a:spLocks noGrp="1" noRot="1" noMove="1" noResize="1" noEditPoints="1" noAdjustHandles="1" noChangeArrowheads="1" noChangeShapeType="1"/>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F10576EF-75B7-31A3-A8CF-FE539B4347D9}"/>
              </a:ext>
            </a:extLst>
          </p:cNvPr>
          <p:cNvSpPr>
            <a:spLocks/>
          </p:cNvSpPr>
          <p:nvPr/>
        </p:nvSpPr>
        <p:spPr>
          <a:xfrm>
            <a:off x="1435099" y="205023"/>
            <a:ext cx="246063" cy="253765"/>
          </a:xfrm>
          <a:prstGeom prst="ellipse">
            <a:avLst/>
          </a:prstGeom>
          <a:noFill/>
          <a:ln>
            <a:solidFill>
              <a:srgbClr val="F96A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F96A09"/>
                </a:solidFill>
              </a:rPr>
              <a:t>1</a:t>
            </a:r>
          </a:p>
        </p:txBody>
      </p:sp>
      <p:sp>
        <p:nvSpPr>
          <p:cNvPr id="39" name="Ellipse 38">
            <a:extLst>
              <a:ext uri="{FF2B5EF4-FFF2-40B4-BE49-F238E27FC236}">
                <a16:creationId xmlns:a16="http://schemas.microsoft.com/office/drawing/2014/main" id="{01C361B4-E29F-6989-DF3B-0FAE61462164}"/>
              </a:ext>
            </a:extLst>
          </p:cNvPr>
          <p:cNvSpPr>
            <a:spLocks/>
          </p:cNvSpPr>
          <p:nvPr/>
        </p:nvSpPr>
        <p:spPr>
          <a:xfrm>
            <a:off x="3276885"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2</a:t>
            </a:r>
          </a:p>
        </p:txBody>
      </p:sp>
      <p:sp>
        <p:nvSpPr>
          <p:cNvPr id="41" name="Ellipse 40">
            <a:extLst>
              <a:ext uri="{FF2B5EF4-FFF2-40B4-BE49-F238E27FC236}">
                <a16:creationId xmlns:a16="http://schemas.microsoft.com/office/drawing/2014/main" id="{D6EF23F3-B1BF-3D24-620C-33E471CE7B8B}"/>
              </a:ext>
            </a:extLst>
          </p:cNvPr>
          <p:cNvSpPr>
            <a:spLocks/>
          </p:cNvSpPr>
          <p:nvPr/>
        </p:nvSpPr>
        <p:spPr>
          <a:xfrm>
            <a:off x="5118671"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3</a:t>
            </a:r>
          </a:p>
        </p:txBody>
      </p:sp>
      <p:sp>
        <p:nvSpPr>
          <p:cNvPr id="43" name="Ellipse 42">
            <a:extLst>
              <a:ext uri="{FF2B5EF4-FFF2-40B4-BE49-F238E27FC236}">
                <a16:creationId xmlns:a16="http://schemas.microsoft.com/office/drawing/2014/main" id="{0C158C60-6714-D9A3-8634-C81298B342AE}"/>
              </a:ext>
            </a:extLst>
          </p:cNvPr>
          <p:cNvSpPr>
            <a:spLocks/>
          </p:cNvSpPr>
          <p:nvPr/>
        </p:nvSpPr>
        <p:spPr>
          <a:xfrm>
            <a:off x="696045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4</a:t>
            </a:r>
          </a:p>
        </p:txBody>
      </p:sp>
      <p:sp>
        <p:nvSpPr>
          <p:cNvPr id="45" name="Ellipse 44">
            <a:extLst>
              <a:ext uri="{FF2B5EF4-FFF2-40B4-BE49-F238E27FC236}">
                <a16:creationId xmlns:a16="http://schemas.microsoft.com/office/drawing/2014/main" id="{4CA52398-D966-C20A-966A-B4BE6FE87A99}"/>
              </a:ext>
            </a:extLst>
          </p:cNvPr>
          <p:cNvSpPr>
            <a:spLocks/>
          </p:cNvSpPr>
          <p:nvPr/>
        </p:nvSpPr>
        <p:spPr>
          <a:xfrm>
            <a:off x="8802243"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5</a:t>
            </a:r>
          </a:p>
        </p:txBody>
      </p:sp>
      <p:sp>
        <p:nvSpPr>
          <p:cNvPr id="47" name="Ellipse 46">
            <a:extLst>
              <a:ext uri="{FF2B5EF4-FFF2-40B4-BE49-F238E27FC236}">
                <a16:creationId xmlns:a16="http://schemas.microsoft.com/office/drawing/2014/main" id="{368F75FE-320C-E93F-AD78-B78BE2F2B6A6}"/>
              </a:ext>
            </a:extLst>
          </p:cNvPr>
          <p:cNvSpPr>
            <a:spLocks/>
          </p:cNvSpPr>
          <p:nvPr/>
        </p:nvSpPr>
        <p:spPr>
          <a:xfrm>
            <a:off x="1064402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6</a:t>
            </a:r>
          </a:p>
        </p:txBody>
      </p:sp>
      <p:cxnSp>
        <p:nvCxnSpPr>
          <p:cNvPr id="49" name="Connecteur droit 48">
            <a:extLst>
              <a:ext uri="{FF2B5EF4-FFF2-40B4-BE49-F238E27FC236}">
                <a16:creationId xmlns:a16="http://schemas.microsoft.com/office/drawing/2014/main" id="{D32BC76C-4C9E-2789-044C-81E2AB73A7F6}"/>
              </a:ext>
            </a:extLst>
          </p:cNvPr>
          <p:cNvCxnSpPr>
            <a:cxnSpLocks/>
            <a:endCxn id="25" idx="2"/>
          </p:cNvCxnSpPr>
          <p:nvPr/>
        </p:nvCxnSpPr>
        <p:spPr>
          <a:xfrm flipV="1">
            <a:off x="387416" y="331905"/>
            <a:ext cx="104768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1" name="Connecteur droit 50">
            <a:extLst>
              <a:ext uri="{FF2B5EF4-FFF2-40B4-BE49-F238E27FC236}">
                <a16:creationId xmlns:a16="http://schemas.microsoft.com/office/drawing/2014/main" id="{3F6DFDEF-CDC9-60C4-4003-5F10F94C232A}"/>
              </a:ext>
            </a:extLst>
          </p:cNvPr>
          <p:cNvCxnSpPr>
            <a:cxnSpLocks/>
            <a:stCxn id="25" idx="6"/>
            <a:endCxn id="39" idx="2"/>
          </p:cNvCxnSpPr>
          <p:nvPr/>
        </p:nvCxnSpPr>
        <p:spPr>
          <a:xfrm flipV="1">
            <a:off x="1681162"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3" name="Connecteur droit 52">
            <a:extLst>
              <a:ext uri="{FF2B5EF4-FFF2-40B4-BE49-F238E27FC236}">
                <a16:creationId xmlns:a16="http://schemas.microsoft.com/office/drawing/2014/main" id="{8DA5C2A7-4D9C-9E82-8BBE-73D3990C0DCE}"/>
              </a:ext>
            </a:extLst>
          </p:cNvPr>
          <p:cNvCxnSpPr>
            <a:cxnSpLocks/>
            <a:stCxn id="39" idx="6"/>
            <a:endCxn id="41" idx="2"/>
          </p:cNvCxnSpPr>
          <p:nvPr/>
        </p:nvCxnSpPr>
        <p:spPr>
          <a:xfrm>
            <a:off x="3522948"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Connecteur droit 54">
            <a:extLst>
              <a:ext uri="{FF2B5EF4-FFF2-40B4-BE49-F238E27FC236}">
                <a16:creationId xmlns:a16="http://schemas.microsoft.com/office/drawing/2014/main" id="{7F288A99-D31B-218D-A853-F8C1C7392A40}"/>
              </a:ext>
            </a:extLst>
          </p:cNvPr>
          <p:cNvCxnSpPr>
            <a:cxnSpLocks/>
            <a:stCxn id="41" idx="6"/>
            <a:endCxn id="43" idx="2"/>
          </p:cNvCxnSpPr>
          <p:nvPr/>
        </p:nvCxnSpPr>
        <p:spPr>
          <a:xfrm>
            <a:off x="5364734"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336DCA25-3B7E-17B9-B808-DE9D5FD6081C}"/>
              </a:ext>
            </a:extLst>
          </p:cNvPr>
          <p:cNvCxnSpPr>
            <a:cxnSpLocks/>
            <a:stCxn id="43" idx="6"/>
            <a:endCxn id="45" idx="2"/>
          </p:cNvCxnSpPr>
          <p:nvPr/>
        </p:nvCxnSpPr>
        <p:spPr>
          <a:xfrm>
            <a:off x="7206520"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E893F053-B99D-0247-3D49-25E2B5EA1BEA}"/>
              </a:ext>
            </a:extLst>
          </p:cNvPr>
          <p:cNvCxnSpPr>
            <a:cxnSpLocks/>
            <a:stCxn id="45" idx="6"/>
            <a:endCxn id="47" idx="2"/>
          </p:cNvCxnSpPr>
          <p:nvPr/>
        </p:nvCxnSpPr>
        <p:spPr>
          <a:xfrm flipV="1">
            <a:off x="9048306" y="331905"/>
            <a:ext cx="15957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DE27B9B2-C03F-844E-CE6E-D92D5CCB36D7}"/>
              </a:ext>
            </a:extLst>
          </p:cNvPr>
          <p:cNvCxnSpPr>
            <a:cxnSpLocks noGrp="1" noRot="1" noMove="1" noResize="1" noEditPoints="1" noAdjustHandles="1" noChangeArrowheads="1" noChangeShapeType="1"/>
            <a:stCxn id="47" idx="6"/>
          </p:cNvCxnSpPr>
          <p:nvPr/>
        </p:nvCxnSpPr>
        <p:spPr>
          <a:xfrm>
            <a:off x="10890090" y="331905"/>
            <a:ext cx="1301910" cy="0"/>
          </a:xfrm>
          <a:prstGeom prst="line">
            <a:avLst/>
          </a:prstGeom>
        </p:spPr>
        <p:style>
          <a:lnRef idx="1">
            <a:schemeClr val="accent1"/>
          </a:lnRef>
          <a:fillRef idx="0">
            <a:schemeClr val="accent1"/>
          </a:fillRef>
          <a:effectRef idx="0">
            <a:schemeClr val="accent1"/>
          </a:effectRef>
          <a:fontRef idx="minor">
            <a:schemeClr val="tx1"/>
          </a:fontRef>
        </p:style>
      </p:cxnSp>
      <p:sp>
        <p:nvSpPr>
          <p:cNvPr id="71" name="ZoneTexte 70">
            <a:extLst>
              <a:ext uri="{FF2B5EF4-FFF2-40B4-BE49-F238E27FC236}">
                <a16:creationId xmlns:a16="http://schemas.microsoft.com/office/drawing/2014/main" id="{EBF4A1F7-80B0-57D5-ADB8-733D5E20984A}"/>
              </a:ext>
            </a:extLst>
          </p:cNvPr>
          <p:cNvSpPr txBox="1">
            <a:spLocks/>
          </p:cNvSpPr>
          <p:nvPr/>
        </p:nvSpPr>
        <p:spPr>
          <a:xfrm>
            <a:off x="624823" y="479710"/>
            <a:ext cx="1965977" cy="769441"/>
          </a:xfrm>
          <a:prstGeom prst="rect">
            <a:avLst/>
          </a:prstGeom>
          <a:noFill/>
        </p:spPr>
        <p:txBody>
          <a:bodyPr wrap="square" rtlCol="0">
            <a:spAutoFit/>
          </a:bodyPr>
          <a:lstStyle/>
          <a:p>
            <a:r>
              <a:rPr lang="fr-FR" sz="1100" b="1" dirty="0">
                <a:solidFill>
                  <a:srgbClr val="F96A09"/>
                </a:solidFill>
                <a:latin typeface="Montserrat"/>
                <a:cs typeface="Montserrat"/>
              </a:rPr>
              <a:t>PRÉSENTATION DE </a:t>
            </a:r>
          </a:p>
          <a:p>
            <a:r>
              <a:rPr lang="fr-FR" sz="1100" b="1" dirty="0">
                <a:solidFill>
                  <a:srgbClr val="F96A09"/>
                </a:solidFill>
                <a:latin typeface="Montserrat"/>
                <a:cs typeface="Montserrat"/>
              </a:rPr>
              <a:t>LA</a:t>
            </a:r>
            <a:r>
              <a:rPr lang="fr-FR" sz="1100" b="1" dirty="0">
                <a:solidFill>
                  <a:srgbClr val="F96A09"/>
                </a:solidFill>
                <a:latin typeface="Montserrat"/>
              </a:rPr>
              <a:t> </a:t>
            </a:r>
            <a:r>
              <a:rPr lang="fr-FR" sz="1100" b="1" dirty="0">
                <a:solidFill>
                  <a:srgbClr val="F96A09"/>
                </a:solidFill>
                <a:latin typeface="Montserrat"/>
                <a:cs typeface="Montserrat"/>
              </a:rPr>
              <a:t>STRUCTURE D’ACCUEIL</a:t>
            </a:r>
          </a:p>
          <a:p>
            <a:endParaRPr lang="fr-FR" sz="1100" dirty="0">
              <a:solidFill>
                <a:srgbClr val="F96A09"/>
              </a:solidFill>
            </a:endParaRPr>
          </a:p>
        </p:txBody>
      </p:sp>
      <p:sp>
        <p:nvSpPr>
          <p:cNvPr id="73" name="ZoneTexte 72">
            <a:extLst>
              <a:ext uri="{FF2B5EF4-FFF2-40B4-BE49-F238E27FC236}">
                <a16:creationId xmlns:a16="http://schemas.microsoft.com/office/drawing/2014/main" id="{119851AD-8D70-10E6-B56F-A6AE932621FC}"/>
              </a:ext>
            </a:extLst>
          </p:cNvPr>
          <p:cNvSpPr txBox="1">
            <a:spLocks/>
          </p:cNvSpPr>
          <p:nvPr/>
        </p:nvSpPr>
        <p:spPr>
          <a:xfrm>
            <a:off x="2643588" y="417161"/>
            <a:ext cx="1481708" cy="430887"/>
          </a:xfrm>
          <a:prstGeom prst="rect">
            <a:avLst/>
          </a:prstGeom>
          <a:noFill/>
        </p:spPr>
        <p:txBody>
          <a:bodyPr wrap="square" rtlCol="0">
            <a:spAutoFit/>
          </a:bodyPr>
          <a:lstStyle/>
          <a:p>
            <a:r>
              <a:rPr lang="fr-FR" sz="1100" b="1" dirty="0">
                <a:latin typeface="Montserrat"/>
                <a:cs typeface="Montserrat"/>
              </a:rPr>
              <a:t>CONTEXTE ET </a:t>
            </a:r>
          </a:p>
          <a:p>
            <a:r>
              <a:rPr lang="fr-FR" sz="1100" b="1" dirty="0">
                <a:latin typeface="Montserrat"/>
                <a:cs typeface="Montserrat"/>
              </a:rPr>
              <a:t>PROBLÉMATIQUE</a:t>
            </a:r>
          </a:p>
        </p:txBody>
      </p:sp>
      <p:sp>
        <p:nvSpPr>
          <p:cNvPr id="75" name="ZoneTexte 74">
            <a:extLst>
              <a:ext uri="{FF2B5EF4-FFF2-40B4-BE49-F238E27FC236}">
                <a16:creationId xmlns:a16="http://schemas.microsoft.com/office/drawing/2014/main" id="{4CA59155-CCCD-EF85-F75C-3FF141F36B6F}"/>
              </a:ext>
            </a:extLst>
          </p:cNvPr>
          <p:cNvSpPr txBox="1">
            <a:spLocks/>
          </p:cNvSpPr>
          <p:nvPr/>
        </p:nvSpPr>
        <p:spPr>
          <a:xfrm>
            <a:off x="4178084" y="501799"/>
            <a:ext cx="1921727" cy="261610"/>
          </a:xfrm>
          <a:prstGeom prst="rect">
            <a:avLst/>
          </a:prstGeom>
          <a:noFill/>
        </p:spPr>
        <p:txBody>
          <a:bodyPr wrap="square" rtlCol="0">
            <a:spAutoFit/>
          </a:bodyPr>
          <a:lstStyle/>
          <a:p>
            <a:r>
              <a:rPr lang="fr-FR" sz="1100" b="1" dirty="0">
                <a:latin typeface="Montserrat"/>
                <a:cs typeface="Montserrat"/>
              </a:rPr>
              <a:t>ÉTUDE CONCEPTUELLE</a:t>
            </a:r>
          </a:p>
        </p:txBody>
      </p:sp>
      <p:sp>
        <p:nvSpPr>
          <p:cNvPr id="77" name="ZoneTexte 76">
            <a:extLst>
              <a:ext uri="{FF2B5EF4-FFF2-40B4-BE49-F238E27FC236}">
                <a16:creationId xmlns:a16="http://schemas.microsoft.com/office/drawing/2014/main" id="{09312A1B-7490-0CBD-D819-EF338FB687E2}"/>
              </a:ext>
            </a:extLst>
          </p:cNvPr>
          <p:cNvSpPr txBox="1">
            <a:spLocks/>
          </p:cNvSpPr>
          <p:nvPr/>
        </p:nvSpPr>
        <p:spPr>
          <a:xfrm>
            <a:off x="6152599" y="425597"/>
            <a:ext cx="1595723" cy="430887"/>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 SOLUTION</a:t>
            </a:r>
          </a:p>
        </p:txBody>
      </p:sp>
      <p:sp>
        <p:nvSpPr>
          <p:cNvPr id="79" name="ZoneTexte 78">
            <a:extLst>
              <a:ext uri="{FF2B5EF4-FFF2-40B4-BE49-F238E27FC236}">
                <a16:creationId xmlns:a16="http://schemas.microsoft.com/office/drawing/2014/main" id="{97D2438C-8BD9-53A4-4848-E89ED238AABF}"/>
              </a:ext>
            </a:extLst>
          </p:cNvPr>
          <p:cNvSpPr txBox="1">
            <a:spLocks/>
          </p:cNvSpPr>
          <p:nvPr/>
        </p:nvSpPr>
        <p:spPr>
          <a:xfrm>
            <a:off x="7801110" y="458786"/>
            <a:ext cx="1860500" cy="430887"/>
          </a:xfrm>
          <a:prstGeom prst="rect">
            <a:avLst/>
          </a:prstGeom>
          <a:noFill/>
        </p:spPr>
        <p:txBody>
          <a:bodyPr wrap="square" rtlCol="0">
            <a:spAutoFit/>
          </a:bodyPr>
          <a:lstStyle/>
          <a:p>
            <a:r>
              <a:rPr lang="fr-FR" sz="1100" b="1" dirty="0">
                <a:latin typeface="Montserrat"/>
                <a:cs typeface="Montserrat"/>
              </a:rPr>
              <a:t>RÉSULTATS ET VALIDATION</a:t>
            </a:r>
          </a:p>
        </p:txBody>
      </p:sp>
      <p:sp>
        <p:nvSpPr>
          <p:cNvPr id="81" name="ZoneTexte 80">
            <a:extLst>
              <a:ext uri="{FF2B5EF4-FFF2-40B4-BE49-F238E27FC236}">
                <a16:creationId xmlns:a16="http://schemas.microsoft.com/office/drawing/2014/main" id="{97EA0B06-1F00-C3DA-B479-6B85DB7CBD53}"/>
              </a:ext>
            </a:extLst>
          </p:cNvPr>
          <p:cNvSpPr txBox="1">
            <a:spLocks/>
          </p:cNvSpPr>
          <p:nvPr/>
        </p:nvSpPr>
        <p:spPr>
          <a:xfrm>
            <a:off x="9716922" y="479710"/>
            <a:ext cx="2346335" cy="261610"/>
          </a:xfrm>
          <a:prstGeom prst="rect">
            <a:avLst/>
          </a:prstGeom>
          <a:noFill/>
        </p:spPr>
        <p:txBody>
          <a:bodyPr wrap="square" rtlCol="0">
            <a:spAutoFit/>
          </a:bodyPr>
          <a:lstStyle/>
          <a:p>
            <a:r>
              <a:rPr lang="fr-FR" sz="1100" b="1" dirty="0">
                <a:latin typeface="Montserrat"/>
                <a:cs typeface="Montserrat"/>
              </a:rPr>
              <a:t>LIMITES ET PERSPECTIVES</a:t>
            </a:r>
          </a:p>
        </p:txBody>
      </p:sp>
      <p:pic>
        <p:nvPicPr>
          <p:cNvPr id="9" name="Image 8">
            <a:extLst>
              <a:ext uri="{FF2B5EF4-FFF2-40B4-BE49-F238E27FC236}">
                <a16:creationId xmlns:a16="http://schemas.microsoft.com/office/drawing/2014/main" id="{2B4AD52F-77DC-1B16-ED10-D9ACDFEC4E2B}"/>
              </a:ext>
            </a:extLst>
          </p:cNvPr>
          <p:cNvPicPr>
            <a:picLocks/>
          </p:cNvPicPr>
          <p:nvPr/>
        </p:nvPicPr>
        <p:blipFill>
          <a:blip r:embed="rId3"/>
          <a:stretch>
            <a:fillRect/>
          </a:stretch>
        </p:blipFill>
        <p:spPr>
          <a:xfrm>
            <a:off x="8661994" y="1003659"/>
            <a:ext cx="3686075" cy="1338748"/>
          </a:xfrm>
          <a:prstGeom prst="rect">
            <a:avLst/>
          </a:prstGeom>
        </p:spPr>
      </p:pic>
      <p:sp>
        <p:nvSpPr>
          <p:cNvPr id="27" name="Rectangle : coins arrondis 26">
            <a:extLst>
              <a:ext uri="{FF2B5EF4-FFF2-40B4-BE49-F238E27FC236}">
                <a16:creationId xmlns:a16="http://schemas.microsoft.com/office/drawing/2014/main" id="{4B1A0DD3-3388-ADAF-3817-77BD0C37A8DA}"/>
              </a:ext>
            </a:extLst>
          </p:cNvPr>
          <p:cNvSpPr>
            <a:spLocks/>
          </p:cNvSpPr>
          <p:nvPr/>
        </p:nvSpPr>
        <p:spPr>
          <a:xfrm>
            <a:off x="7289800" y="2954020"/>
            <a:ext cx="4140200" cy="2184400"/>
          </a:xfrm>
          <a:prstGeom prst="roundRect">
            <a:avLst/>
          </a:prstGeom>
          <a:solidFill>
            <a:srgbClr val="EDF0F5"/>
          </a:solidFill>
          <a:ln>
            <a:noFill/>
          </a:ln>
          <a:effectLst>
            <a:outerShdw blurRad="101600" dist="25400" dir="5400000" algn="t" rotWithShape="0">
              <a:srgbClr val="16294A">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 name="ZoneTexte 4">
            <a:extLst>
              <a:ext uri="{FF2B5EF4-FFF2-40B4-BE49-F238E27FC236}">
                <a16:creationId xmlns:a16="http://schemas.microsoft.com/office/drawing/2014/main" id="{37CAF3AC-FFE7-82AA-4782-9451806ABB6A}"/>
              </a:ext>
            </a:extLst>
          </p:cNvPr>
          <p:cNvSpPr txBox="1">
            <a:spLocks/>
          </p:cNvSpPr>
          <p:nvPr/>
        </p:nvSpPr>
        <p:spPr>
          <a:xfrm>
            <a:off x="627116" y="899612"/>
            <a:ext cx="1376915" cy="1446550"/>
          </a:xfrm>
          <a:prstGeom prst="rect">
            <a:avLst/>
          </a:prstGeom>
          <a:noFill/>
        </p:spPr>
        <p:txBody>
          <a:bodyPr wrap="square" rtlCol="0">
            <a:spAutoFit/>
          </a:bodyPr>
          <a:lstStyle/>
          <a:p>
            <a:r>
              <a:rPr lang="fr-FR" sz="8600" dirty="0">
                <a:solidFill>
                  <a:srgbClr val="F96A09"/>
                </a:solidFill>
                <a:latin typeface="Times New Roman" panose="02020603050405020304" pitchFamily="18" charset="0"/>
                <a:cs typeface="Times New Roman" panose="02020603050405020304" pitchFamily="18" charset="0"/>
              </a:rPr>
              <a:t>01</a:t>
            </a:r>
          </a:p>
        </p:txBody>
      </p:sp>
      <p:cxnSp>
        <p:nvCxnSpPr>
          <p:cNvPr id="11" name="Connecteur droit 10">
            <a:extLst>
              <a:ext uri="{FF2B5EF4-FFF2-40B4-BE49-F238E27FC236}">
                <a16:creationId xmlns:a16="http://schemas.microsoft.com/office/drawing/2014/main" id="{B0FFB252-3FD3-9576-43DD-9E4EFB9E6C1C}"/>
              </a:ext>
            </a:extLst>
          </p:cNvPr>
          <p:cNvCxnSpPr>
            <a:cxnSpLocks/>
          </p:cNvCxnSpPr>
          <p:nvPr/>
        </p:nvCxnSpPr>
        <p:spPr>
          <a:xfrm>
            <a:off x="2007270" y="960120"/>
            <a:ext cx="0" cy="1117600"/>
          </a:xfrm>
          <a:prstGeom prst="line">
            <a:avLst/>
          </a:prstGeom>
          <a:ln w="28575">
            <a:solidFill>
              <a:srgbClr val="F96A09"/>
            </a:solidFill>
          </a:ln>
        </p:spPr>
        <p:style>
          <a:lnRef idx="1">
            <a:schemeClr val="accent1"/>
          </a:lnRef>
          <a:fillRef idx="0">
            <a:schemeClr val="accent1"/>
          </a:fillRef>
          <a:effectRef idx="0">
            <a:schemeClr val="accent1"/>
          </a:effectRef>
          <a:fontRef idx="minor">
            <a:schemeClr val="tx1"/>
          </a:fontRef>
        </p:style>
      </p:cxnSp>
      <p:sp>
        <p:nvSpPr>
          <p:cNvPr id="3" name="ZoneTexte 2">
            <a:extLst>
              <a:ext uri="{FF2B5EF4-FFF2-40B4-BE49-F238E27FC236}">
                <a16:creationId xmlns:a16="http://schemas.microsoft.com/office/drawing/2014/main" id="{E754CB26-C754-3584-25CC-4D034150B610}"/>
              </a:ext>
            </a:extLst>
          </p:cNvPr>
          <p:cNvSpPr txBox="1">
            <a:spLocks/>
          </p:cNvSpPr>
          <p:nvPr/>
        </p:nvSpPr>
        <p:spPr>
          <a:xfrm>
            <a:off x="2116519" y="1104068"/>
            <a:ext cx="5923416" cy="1077218"/>
          </a:xfrm>
          <a:prstGeom prst="rect">
            <a:avLst/>
          </a:prstGeom>
          <a:noFill/>
        </p:spPr>
        <p:txBody>
          <a:bodyPr wrap="none" rtlCol="0">
            <a:spAutoFit/>
          </a:bodyPr>
          <a:lstStyle/>
          <a:p>
            <a:r>
              <a:rPr lang="fr-FR" sz="3200" b="1" dirty="0">
                <a:solidFill>
                  <a:srgbClr val="1F1B18"/>
                </a:solidFill>
                <a:latin typeface="Montserrat"/>
              </a:rPr>
              <a:t>PRÉSENTATION DE</a:t>
            </a:r>
            <a:r>
              <a:rPr lang="fr-FR" sz="3200" b="1" dirty="0">
                <a:latin typeface="Montserrat"/>
              </a:rPr>
              <a:t> </a:t>
            </a:r>
          </a:p>
          <a:p>
            <a:r>
              <a:rPr lang="fr-FR" sz="3200" b="1" dirty="0">
                <a:solidFill>
                  <a:srgbClr val="F96A09"/>
                </a:solidFill>
                <a:latin typeface="Montserrat"/>
              </a:rPr>
              <a:t>LA STRUCTURE D’ACCUEIL</a:t>
            </a:r>
          </a:p>
        </p:txBody>
      </p:sp>
      <p:sp>
        <p:nvSpPr>
          <p:cNvPr id="10" name="ZoneTexte 9">
            <a:extLst>
              <a:ext uri="{FF2B5EF4-FFF2-40B4-BE49-F238E27FC236}">
                <a16:creationId xmlns:a16="http://schemas.microsoft.com/office/drawing/2014/main" id="{5C6F2433-82FD-C19D-84DF-D8C5271C1AEA}"/>
              </a:ext>
            </a:extLst>
          </p:cNvPr>
          <p:cNvSpPr txBox="1">
            <a:spLocks/>
          </p:cNvSpPr>
          <p:nvPr/>
        </p:nvSpPr>
        <p:spPr>
          <a:xfrm>
            <a:off x="7670800" y="4058920"/>
            <a:ext cx="3390672" cy="625812"/>
          </a:xfrm>
          <a:prstGeom prst="rect">
            <a:avLst/>
          </a:prstGeom>
          <a:noFill/>
        </p:spPr>
        <p:txBody>
          <a:bodyPr wrap="none" rtlCol="0">
            <a:spAutoFit/>
          </a:bodyPr>
          <a:lstStyle/>
          <a:p>
            <a:pPr algn="l">
              <a:spcBef>
                <a:spcPts val="1100"/>
              </a:spcBef>
              <a:buNone/>
              <a:tabLst>
                <a:tab pos="3175000" algn="r"/>
              </a:tabLst>
            </a:pPr>
            <a:r>
              <a:rPr lang="fr-FR" sz="1400" spc="100" dirty="0">
                <a:solidFill>
                  <a:srgbClr val="8A8580"/>
                </a:solidFill>
                <a:latin typeface="Montserrat"/>
              </a:rPr>
              <a:t>CRÉÉE EN</a:t>
            </a:r>
            <a:r>
              <a:rPr lang="fr-FR" sz="1400" dirty="0">
                <a:solidFill>
                  <a:srgbClr val="8A8580"/>
                </a:solidFill>
                <a:latin typeface="Montserrat"/>
              </a:rPr>
              <a:t>	</a:t>
            </a:r>
            <a:r>
              <a:rPr lang="fr-FR" sz="1400" b="1" dirty="0">
                <a:solidFill>
                  <a:srgbClr val="F96A09"/>
                </a:solidFill>
                <a:latin typeface="Montserrat"/>
              </a:rPr>
              <a:t>2025</a:t>
            </a:r>
          </a:p>
          <a:p>
            <a:pPr algn="l">
              <a:spcBef>
                <a:spcPts val="800"/>
              </a:spcBef>
              <a:buNone/>
              <a:tabLst>
                <a:tab pos="3175000" algn="r"/>
              </a:tabLst>
            </a:pPr>
            <a:r>
              <a:rPr lang="fr-FR" sz="1400" spc="100" dirty="0">
                <a:solidFill>
                  <a:srgbClr val="8A8580"/>
                </a:solidFill>
                <a:latin typeface="Montserrat"/>
              </a:rPr>
              <a:t>FONDATEUR</a:t>
            </a:r>
            <a:r>
              <a:rPr lang="fr-FR" sz="1400" dirty="0">
                <a:solidFill>
                  <a:srgbClr val="8A8580"/>
                </a:solidFill>
                <a:latin typeface="Montserrat"/>
              </a:rPr>
              <a:t>	</a:t>
            </a:r>
            <a:r>
              <a:rPr lang="fr-FR" sz="1400" b="1" dirty="0">
                <a:solidFill>
                  <a:srgbClr val="16294A"/>
                </a:solidFill>
                <a:latin typeface="Montserrat"/>
              </a:rPr>
              <a:t>M. Adama KANTÉ</a:t>
            </a:r>
          </a:p>
        </p:txBody>
      </p:sp>
      <p:sp>
        <p:nvSpPr>
          <p:cNvPr id="13" name="ZoneTexte 12">
            <a:extLst>
              <a:ext uri="{FF2B5EF4-FFF2-40B4-BE49-F238E27FC236}">
                <a16:creationId xmlns:a16="http://schemas.microsoft.com/office/drawing/2014/main" id="{03E1B4B1-A22D-CB37-290C-66ADA01F8B2C}"/>
              </a:ext>
            </a:extLst>
          </p:cNvPr>
          <p:cNvSpPr txBox="1">
            <a:spLocks/>
          </p:cNvSpPr>
          <p:nvPr/>
        </p:nvSpPr>
        <p:spPr>
          <a:xfrm>
            <a:off x="1320800" y="3093720"/>
            <a:ext cx="4191000" cy="400110"/>
          </a:xfrm>
          <a:prstGeom prst="rect">
            <a:avLst/>
          </a:prstGeom>
          <a:noFill/>
        </p:spPr>
        <p:txBody>
          <a:bodyPr wrap="square">
            <a:spAutoFit/>
          </a:bodyPr>
          <a:lstStyle/>
          <a:p>
            <a:pPr algn="l">
              <a:lnSpc>
                <a:spcPct val="100000"/>
              </a:lnSpc>
              <a:spcBef>
                <a:spcPct val="0"/>
              </a:spcBef>
              <a:buNone/>
            </a:pPr>
            <a:r>
              <a:rPr lang="fr-FR" sz="2000" b="1" spc="200" dirty="0">
                <a:solidFill>
                  <a:srgbClr val="16294A"/>
                </a:solidFill>
                <a:latin typeface="Montserrat"/>
              </a:rPr>
              <a:t>MISSION PRINCIPALE</a:t>
            </a:r>
          </a:p>
        </p:txBody>
      </p:sp>
      <p:sp>
        <p:nvSpPr>
          <p:cNvPr id="15" name="ZoneTexte 14">
            <a:extLst>
              <a:ext uri="{FF2B5EF4-FFF2-40B4-BE49-F238E27FC236}">
                <a16:creationId xmlns:a16="http://schemas.microsoft.com/office/drawing/2014/main" id="{DCED0395-0BFA-F604-A1B4-17627E71CD9F}"/>
              </a:ext>
            </a:extLst>
          </p:cNvPr>
          <p:cNvSpPr txBox="1">
            <a:spLocks/>
          </p:cNvSpPr>
          <p:nvPr/>
        </p:nvSpPr>
        <p:spPr>
          <a:xfrm>
            <a:off x="1320800" y="3754120"/>
            <a:ext cx="5174815" cy="1345240"/>
          </a:xfrm>
          <a:prstGeom prst="rect">
            <a:avLst/>
          </a:prstGeom>
          <a:noFill/>
        </p:spPr>
        <p:txBody>
          <a:bodyPr wrap="none" rtlCol="0">
            <a:spAutoFit/>
          </a:bodyPr>
          <a:lstStyle/>
          <a:p>
            <a:pPr algn="just">
              <a:lnSpc>
                <a:spcPts val="2500"/>
              </a:lnSpc>
              <a:spcBef>
                <a:spcPct val="0"/>
              </a:spcBef>
              <a:buNone/>
            </a:pPr>
            <a:r>
              <a:rPr lang="fr-FR" sz="1600" dirty="0">
                <a:solidFill>
                  <a:srgbClr val="3A3A3A"/>
                </a:solidFill>
                <a:latin typeface="Montserrat"/>
              </a:rPr>
              <a:t>NGONI assure le </a:t>
            </a:r>
            <a:r>
              <a:rPr lang="fr-FR" sz="1600" b="1" dirty="0">
                <a:solidFill>
                  <a:srgbClr val="F96A09"/>
                </a:solidFill>
                <a:latin typeface="Montserrat"/>
              </a:rPr>
              <a:t>développement</a:t>
            </a:r>
            <a:r>
              <a:rPr lang="fr-FR" sz="1600" dirty="0">
                <a:solidFill>
                  <a:srgbClr val="3A3A3A"/>
                </a:solidFill>
                <a:latin typeface="Montserrat"/>
              </a:rPr>
              <a:t>, la </a:t>
            </a:r>
            <a:r>
              <a:rPr lang="fr-FR" sz="1600" b="1" dirty="0">
                <a:solidFill>
                  <a:srgbClr val="F96A09"/>
                </a:solidFill>
                <a:latin typeface="Montserrat"/>
              </a:rPr>
              <a:t>gestion</a:t>
            </a:r>
          </a:p>
          <a:p>
            <a:pPr algn="just">
              <a:lnSpc>
                <a:spcPts val="2500"/>
              </a:lnSpc>
              <a:spcBef>
                <a:spcPct val="0"/>
              </a:spcBef>
              <a:buNone/>
            </a:pPr>
            <a:r>
              <a:rPr lang="fr-FR" sz="1600" dirty="0">
                <a:solidFill>
                  <a:srgbClr val="3A3A3A"/>
                </a:solidFill>
                <a:latin typeface="Montserrat"/>
              </a:rPr>
              <a:t>et la </a:t>
            </a:r>
            <a:r>
              <a:rPr lang="fr-FR" sz="1600" b="1" dirty="0">
                <a:solidFill>
                  <a:srgbClr val="F96A09"/>
                </a:solidFill>
                <a:latin typeface="Montserrat"/>
              </a:rPr>
              <a:t>sécurisation</a:t>
            </a:r>
            <a:r>
              <a:rPr lang="fr-FR" sz="1600" dirty="0">
                <a:solidFill>
                  <a:srgbClr val="3A3A3A"/>
                </a:solidFill>
                <a:latin typeface="Montserrat"/>
              </a:rPr>
              <a:t> de sa plateforme numérique</a:t>
            </a:r>
          </a:p>
          <a:p>
            <a:pPr algn="just">
              <a:lnSpc>
                <a:spcPts val="2500"/>
              </a:lnSpc>
              <a:spcBef>
                <a:spcPct val="0"/>
              </a:spcBef>
              <a:buNone/>
            </a:pPr>
            <a:r>
              <a:rPr lang="fr-FR" sz="1600" dirty="0">
                <a:solidFill>
                  <a:srgbClr val="3A3A3A"/>
                </a:solidFill>
                <a:latin typeface="Montserrat"/>
              </a:rPr>
              <a:t>afin de garantir une expérience utilisateur fluide,</a:t>
            </a:r>
          </a:p>
          <a:p>
            <a:pPr algn="just">
              <a:lnSpc>
                <a:spcPts val="2500"/>
              </a:lnSpc>
              <a:spcBef>
                <a:spcPct val="0"/>
              </a:spcBef>
              <a:buNone/>
            </a:pPr>
            <a:r>
              <a:rPr lang="fr-FR" sz="1600" dirty="0">
                <a:solidFill>
                  <a:srgbClr val="3A3A3A"/>
                </a:solidFill>
                <a:latin typeface="Montserrat"/>
              </a:rPr>
              <a:t>interactive et fiable.</a:t>
            </a:r>
          </a:p>
        </p:txBody>
      </p:sp>
      <p:cxnSp>
        <p:nvCxnSpPr>
          <p:cNvPr id="19" name="Connecteur droit 18">
            <a:extLst>
              <a:ext uri="{FF2B5EF4-FFF2-40B4-BE49-F238E27FC236}">
                <a16:creationId xmlns:a16="http://schemas.microsoft.com/office/drawing/2014/main" id="{24AFC79D-7E78-71F0-93F9-50751D8CFF21}"/>
              </a:ext>
            </a:extLst>
          </p:cNvPr>
          <p:cNvCxnSpPr>
            <a:cxnSpLocks/>
          </p:cNvCxnSpPr>
          <p:nvPr/>
        </p:nvCxnSpPr>
        <p:spPr>
          <a:xfrm>
            <a:off x="1003300" y="2344420"/>
            <a:ext cx="10388600"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31E5DB7F-0454-CB58-8E58-0D9A26A04D43}"/>
              </a:ext>
            </a:extLst>
          </p:cNvPr>
          <p:cNvSpPr>
            <a:spLocks/>
          </p:cNvSpPr>
          <p:nvPr/>
        </p:nvSpPr>
        <p:spPr>
          <a:xfrm>
            <a:off x="1028700" y="3068320"/>
            <a:ext cx="50800" cy="1905000"/>
          </a:xfrm>
          <a:prstGeom prst="rect">
            <a:avLst/>
          </a:prstGeom>
          <a:solidFill>
            <a:srgbClr val="F96A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25">
            <a:extLst>
              <a:ext uri="{FF2B5EF4-FFF2-40B4-BE49-F238E27FC236}">
                <a16:creationId xmlns:a16="http://schemas.microsoft.com/office/drawing/2014/main" id="{E29052F4-B816-977C-07C6-113583959C94}"/>
              </a:ext>
            </a:extLst>
          </p:cNvPr>
          <p:cNvSpPr>
            <a:spLocks/>
          </p:cNvSpPr>
          <p:nvPr/>
        </p:nvSpPr>
        <p:spPr>
          <a:xfrm rot="5400000">
            <a:off x="2628900" y="2217420"/>
            <a:ext cx="50800" cy="2667000"/>
          </a:xfrm>
          <a:prstGeom prst="rect">
            <a:avLst/>
          </a:prstGeom>
          <a:solidFill>
            <a:srgbClr val="F96A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Rectangle 28">
            <a:extLst>
              <a:ext uri="{FF2B5EF4-FFF2-40B4-BE49-F238E27FC236}">
                <a16:creationId xmlns:a16="http://schemas.microsoft.com/office/drawing/2014/main" id="{1841940E-D6C8-A5AF-AEC7-04126BA1C2FA}"/>
              </a:ext>
            </a:extLst>
          </p:cNvPr>
          <p:cNvSpPr>
            <a:spLocks/>
          </p:cNvSpPr>
          <p:nvPr/>
        </p:nvSpPr>
        <p:spPr>
          <a:xfrm>
            <a:off x="7670800" y="3423920"/>
            <a:ext cx="508000" cy="63500"/>
          </a:xfrm>
          <a:prstGeom prst="rect">
            <a:avLst/>
          </a:prstGeom>
          <a:solidFill>
            <a:srgbClr val="F96A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ZoneTexte 31">
            <a:extLst>
              <a:ext uri="{FF2B5EF4-FFF2-40B4-BE49-F238E27FC236}">
                <a16:creationId xmlns:a16="http://schemas.microsoft.com/office/drawing/2014/main" id="{F5FE3CE1-27AE-E334-2C56-AB13D1F1A24C}"/>
              </a:ext>
            </a:extLst>
          </p:cNvPr>
          <p:cNvSpPr txBox="1"/>
          <p:nvPr/>
        </p:nvSpPr>
        <p:spPr>
          <a:xfrm>
            <a:off x="7671321" y="3589020"/>
            <a:ext cx="3284545" cy="369332"/>
          </a:xfrm>
          <a:prstGeom prst="rect">
            <a:avLst/>
          </a:prstGeom>
          <a:noFill/>
        </p:spPr>
        <p:txBody>
          <a:bodyPr wrap="square" rtlCol="0">
            <a:spAutoFit/>
          </a:bodyPr>
          <a:lstStyle/>
          <a:p>
            <a:r>
              <a:rPr lang="fr-FR" b="1" spc="60" dirty="0">
                <a:solidFill>
                  <a:srgbClr val="16294A"/>
                </a:solidFill>
                <a:latin typeface="Montserrat"/>
              </a:rPr>
              <a:t>NGONI GROUP Start-up</a:t>
            </a:r>
          </a:p>
        </p:txBody>
      </p:sp>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45F13E20-B4C6-47A7-A622-7261653C4906}" type="slidenum">
              <a:rPr lang="fr-FR" sz="1600" b="1" dirty="0">
                <a:solidFill>
                  <a:srgbClr val="FFFFFF"/>
                </a:solidFill>
                <a:latin typeface="Montserrat"/>
              </a:rPr>
              <a:t>3</a:t>
            </a:fld>
            <a:endParaRPr lang="fr-FR" sz="1600" b="1" dirty="0">
              <a:solidFill>
                <a:srgbClr val="FFFFFF"/>
              </a:solidFill>
              <a:latin typeface="Montserrat"/>
            </a:endParaRPr>
          </a:p>
        </p:txBody>
      </p:sp>
    </p:spTree>
    <p:extLst>
      <p:ext uri="{BB962C8B-B14F-4D97-AF65-F5344CB8AC3E}">
        <p14:creationId xmlns:p14="http://schemas.microsoft.com/office/powerpoint/2010/main" val="4124450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anim calcmode="lin" valueType="num">
                                      <p:cBhvr>
                                        <p:cTn id="8" dur="450" fill="hold"/>
                                        <p:tgtEl>
                                          <p:spTgt spid="5"/>
                                        </p:tgtEl>
                                        <p:attrNameLst>
                                          <p:attrName>ppt_x</p:attrName>
                                        </p:attrNameLst>
                                      </p:cBhvr>
                                      <p:tavLst>
                                        <p:tav tm="0">
                                          <p:val>
                                            <p:strVal val="#ppt_x"/>
                                          </p:val>
                                        </p:tav>
                                        <p:tav tm="100000">
                                          <p:val>
                                            <p:strVal val="#ppt_x"/>
                                          </p:val>
                                        </p:tav>
                                      </p:tavLst>
                                    </p:anim>
                                    <p:anim calcmode="lin" valueType="num">
                                      <p:cBhvr>
                                        <p:cTn id="9" dur="450" fill="hold"/>
                                        <p:tgtEl>
                                          <p:spTgt spid="5"/>
                                        </p:tgtEl>
                                        <p:attrNameLst>
                                          <p:attrName>ppt_y</p:attrName>
                                        </p:attrNameLst>
                                      </p:cBhvr>
                                      <p:tavLst>
                                        <p:tav tm="0">
                                          <p:val>
                                            <p:strVal val="#ppt_y+.03"/>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anim calcmode="lin" valueType="num">
                                      <p:cBhvr>
                                        <p:cTn id="13" dur="450" fill="hold"/>
                                        <p:tgtEl>
                                          <p:spTgt spid="11"/>
                                        </p:tgtEl>
                                        <p:attrNameLst>
                                          <p:attrName>ppt_x</p:attrName>
                                        </p:attrNameLst>
                                      </p:cBhvr>
                                      <p:tavLst>
                                        <p:tav tm="0">
                                          <p:val>
                                            <p:strVal val="#ppt_x"/>
                                          </p:val>
                                        </p:tav>
                                        <p:tav tm="100000">
                                          <p:val>
                                            <p:strVal val="#ppt_x"/>
                                          </p:val>
                                        </p:tav>
                                      </p:tavLst>
                                    </p:anim>
                                    <p:anim calcmode="lin" valueType="num">
                                      <p:cBhvr>
                                        <p:cTn id="14" dur="450" fill="hold"/>
                                        <p:tgtEl>
                                          <p:spTgt spid="11"/>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450"/>
                                        <p:tgtEl>
                                          <p:spTgt spid="3"/>
                                        </p:tgtEl>
                                      </p:cBhvr>
                                    </p:animEffect>
                                    <p:anim calcmode="lin" valueType="num">
                                      <p:cBhvr>
                                        <p:cTn id="18" dur="450" fill="hold"/>
                                        <p:tgtEl>
                                          <p:spTgt spid="3"/>
                                        </p:tgtEl>
                                        <p:attrNameLst>
                                          <p:attrName>ppt_x</p:attrName>
                                        </p:attrNameLst>
                                      </p:cBhvr>
                                      <p:tavLst>
                                        <p:tav tm="0">
                                          <p:val>
                                            <p:strVal val="#ppt_x"/>
                                          </p:val>
                                        </p:tav>
                                        <p:tav tm="100000">
                                          <p:val>
                                            <p:strVal val="#ppt_x"/>
                                          </p:val>
                                        </p:tav>
                                      </p:tavLst>
                                    </p:anim>
                                    <p:anim calcmode="lin" valueType="num">
                                      <p:cBhvr>
                                        <p:cTn id="19" dur="450" fill="hold"/>
                                        <p:tgtEl>
                                          <p:spTgt spid="3"/>
                                        </p:tgtEl>
                                        <p:attrNameLst>
                                          <p:attrName>ppt_y</p:attrName>
                                        </p:attrNameLst>
                                      </p:cBhvr>
                                      <p:tavLst>
                                        <p:tav tm="0">
                                          <p:val>
                                            <p:strVal val="#ppt_y+.03"/>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50"/>
                                        <p:tgtEl>
                                          <p:spTgt spid="19"/>
                                        </p:tgtEl>
                                      </p:cBhvr>
                                    </p:animEffect>
                                    <p:anim calcmode="lin" valueType="num">
                                      <p:cBhvr>
                                        <p:cTn id="23" dur="450" fill="hold"/>
                                        <p:tgtEl>
                                          <p:spTgt spid="19"/>
                                        </p:tgtEl>
                                        <p:attrNameLst>
                                          <p:attrName>ppt_x</p:attrName>
                                        </p:attrNameLst>
                                      </p:cBhvr>
                                      <p:tavLst>
                                        <p:tav tm="0">
                                          <p:val>
                                            <p:strVal val="#ppt_x"/>
                                          </p:val>
                                        </p:tav>
                                        <p:tav tm="100000">
                                          <p:val>
                                            <p:strVal val="#ppt_x"/>
                                          </p:val>
                                        </p:tav>
                                      </p:tavLst>
                                    </p:anim>
                                    <p:anim calcmode="lin" valueType="num">
                                      <p:cBhvr>
                                        <p:cTn id="24" dur="450" fill="hold"/>
                                        <p:tgtEl>
                                          <p:spTgt spid="19"/>
                                        </p:tgtEl>
                                        <p:attrNameLst>
                                          <p:attrName>ppt_y</p:attrName>
                                        </p:attrNameLst>
                                      </p:cBhvr>
                                      <p:tavLst>
                                        <p:tav tm="0">
                                          <p:val>
                                            <p:strVal val="#ppt_y+.03"/>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50"/>
                                        <p:tgtEl>
                                          <p:spTgt spid="26"/>
                                        </p:tgtEl>
                                      </p:cBhvr>
                                    </p:animEffect>
                                    <p:anim calcmode="lin" valueType="num">
                                      <p:cBhvr>
                                        <p:cTn id="28" dur="450" fill="hold"/>
                                        <p:tgtEl>
                                          <p:spTgt spid="26"/>
                                        </p:tgtEl>
                                        <p:attrNameLst>
                                          <p:attrName>ppt_x</p:attrName>
                                        </p:attrNameLst>
                                      </p:cBhvr>
                                      <p:tavLst>
                                        <p:tav tm="0">
                                          <p:val>
                                            <p:strVal val="#ppt_x"/>
                                          </p:val>
                                        </p:tav>
                                        <p:tav tm="100000">
                                          <p:val>
                                            <p:strVal val="#ppt_x"/>
                                          </p:val>
                                        </p:tav>
                                      </p:tavLst>
                                    </p:anim>
                                    <p:anim calcmode="lin" valueType="num">
                                      <p:cBhvr>
                                        <p:cTn id="29" dur="450" fill="hold"/>
                                        <p:tgtEl>
                                          <p:spTgt spid="26"/>
                                        </p:tgtEl>
                                        <p:attrNameLst>
                                          <p:attrName>ppt_y</p:attrName>
                                        </p:attrNameLst>
                                      </p:cBhvr>
                                      <p:tavLst>
                                        <p:tav tm="0">
                                          <p:val>
                                            <p:strVal val="#ppt_y+.03"/>
                                          </p:val>
                                        </p:tav>
                                        <p:tav tm="100000">
                                          <p:val>
                                            <p:strVal val="#ppt_y"/>
                                          </p:val>
                                        </p:tav>
                                      </p:tavLst>
                                    </p:anim>
                                  </p:childTnLst>
                                </p:cTn>
                              </p:par>
                              <p:par>
                                <p:cTn id="30" presetID="10" presetClass="entr" presetSubtype="0" fill="hold" nodeType="withEffect">
                                  <p:stCondLst>
                                    <p:cond delay="14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5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anim calcmode="lin" valueType="num">
                                      <p:cBhvr>
                                        <p:cTn id="37" dur="500" fill="hold"/>
                                        <p:tgtEl>
                                          <p:spTgt spid="27"/>
                                        </p:tgtEl>
                                        <p:attrNameLst>
                                          <p:attrName>ppt_w</p:attrName>
                                        </p:attrNameLst>
                                      </p:cBhvr>
                                      <p:tavLst>
                                        <p:tav tm="0">
                                          <p:val>
                                            <p:strVal val="#ppt_w*0.85"/>
                                          </p:val>
                                        </p:tav>
                                        <p:tav tm="100000">
                                          <p:val>
                                            <p:strVal val="#ppt_w"/>
                                          </p:val>
                                        </p:tav>
                                      </p:tavLst>
                                    </p:anim>
                                    <p:anim calcmode="lin" valueType="num">
                                      <p:cBhvr>
                                        <p:cTn id="38" dur="500" fill="hold"/>
                                        <p:tgtEl>
                                          <p:spTgt spid="27"/>
                                        </p:tgtEl>
                                        <p:attrNameLst>
                                          <p:attrName>ppt_h</p:attrName>
                                        </p:attrNameLst>
                                      </p:cBhvr>
                                      <p:tavLst>
                                        <p:tav tm="0">
                                          <p:val>
                                            <p:strVal val="#ppt_h*0.85"/>
                                          </p:val>
                                        </p:tav>
                                        <p:tav tm="100000">
                                          <p:val>
                                            <p:strVal val="#ppt_h"/>
                                          </p:val>
                                        </p:tav>
                                      </p:tavLst>
                                    </p:anim>
                                    <p:animEffect transition="in" filter="fade">
                                      <p:cBhvr>
                                        <p:cTn id="39" dur="500"/>
                                        <p:tgtEl>
                                          <p:spTgt spid="27"/>
                                        </p:tgtEl>
                                      </p:cBhvr>
                                    </p:animEffect>
                                  </p:childTnLst>
                                </p:cTn>
                              </p:par>
                              <p:par>
                                <p:cTn id="40" presetID="42" presetClass="entr" presetSubtype="0" fill="hold" grpId="0" nodeType="withEffect">
                                  <p:stCondLst>
                                    <p:cond delay="14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50"/>
                                        <p:tgtEl>
                                          <p:spTgt spid="29"/>
                                        </p:tgtEl>
                                      </p:cBhvr>
                                    </p:animEffect>
                                    <p:anim calcmode="lin" valueType="num">
                                      <p:cBhvr>
                                        <p:cTn id="43" dur="450" fill="hold"/>
                                        <p:tgtEl>
                                          <p:spTgt spid="29"/>
                                        </p:tgtEl>
                                        <p:attrNameLst>
                                          <p:attrName>ppt_x</p:attrName>
                                        </p:attrNameLst>
                                      </p:cBhvr>
                                      <p:tavLst>
                                        <p:tav tm="0">
                                          <p:val>
                                            <p:strVal val="#ppt_x"/>
                                          </p:val>
                                        </p:tav>
                                        <p:tav tm="100000">
                                          <p:val>
                                            <p:strVal val="#ppt_x"/>
                                          </p:val>
                                        </p:tav>
                                      </p:tavLst>
                                    </p:anim>
                                    <p:anim calcmode="lin" valueType="num">
                                      <p:cBhvr>
                                        <p:cTn id="44" dur="450" fill="hold"/>
                                        <p:tgtEl>
                                          <p:spTgt spid="29"/>
                                        </p:tgtEl>
                                        <p:attrNameLst>
                                          <p:attrName>ppt_y</p:attrName>
                                        </p:attrNameLst>
                                      </p:cBhvr>
                                      <p:tavLst>
                                        <p:tav tm="0">
                                          <p:val>
                                            <p:strVal val="#ppt_y+.03"/>
                                          </p:val>
                                        </p:tav>
                                        <p:tav tm="100000">
                                          <p:val>
                                            <p:strVal val="#ppt_y"/>
                                          </p:val>
                                        </p:tav>
                                      </p:tavLst>
                                    </p:anim>
                                  </p:childTnLst>
                                </p:cTn>
                              </p:par>
                              <p:par>
                                <p:cTn id="45" presetID="42" presetClass="entr" presetSubtype="0" fill="hold" grpId="0" nodeType="withEffect">
                                  <p:stCondLst>
                                    <p:cond delay="14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450"/>
                                        <p:tgtEl>
                                          <p:spTgt spid="32"/>
                                        </p:tgtEl>
                                      </p:cBhvr>
                                    </p:animEffect>
                                    <p:anim calcmode="lin" valueType="num">
                                      <p:cBhvr>
                                        <p:cTn id="48" dur="450" fill="hold"/>
                                        <p:tgtEl>
                                          <p:spTgt spid="32"/>
                                        </p:tgtEl>
                                        <p:attrNameLst>
                                          <p:attrName>ppt_x</p:attrName>
                                        </p:attrNameLst>
                                      </p:cBhvr>
                                      <p:tavLst>
                                        <p:tav tm="0">
                                          <p:val>
                                            <p:strVal val="#ppt_x"/>
                                          </p:val>
                                        </p:tav>
                                        <p:tav tm="100000">
                                          <p:val>
                                            <p:strVal val="#ppt_x"/>
                                          </p:val>
                                        </p:tav>
                                      </p:tavLst>
                                    </p:anim>
                                    <p:anim calcmode="lin" valueType="num">
                                      <p:cBhvr>
                                        <p:cTn id="49" dur="450" fill="hold"/>
                                        <p:tgtEl>
                                          <p:spTgt spid="32"/>
                                        </p:tgtEl>
                                        <p:attrNameLst>
                                          <p:attrName>ppt_y</p:attrName>
                                        </p:attrNameLst>
                                      </p:cBhvr>
                                      <p:tavLst>
                                        <p:tav tm="0">
                                          <p:val>
                                            <p:strVal val="#ppt_y+.03"/>
                                          </p:val>
                                        </p:tav>
                                        <p:tav tm="100000">
                                          <p:val>
                                            <p:strVal val="#ppt_y"/>
                                          </p:val>
                                        </p:tav>
                                      </p:tavLst>
                                    </p:anim>
                                  </p:childTnLst>
                                </p:cTn>
                              </p:par>
                              <p:par>
                                <p:cTn id="50" presetID="42" presetClass="entr" presetSubtype="0" fill="hold" grpId="0" nodeType="withEffect">
                                  <p:stCondLst>
                                    <p:cond delay="140"/>
                                  </p:stCondLst>
                                  <p:childTnLst>
                                    <p:set>
                                      <p:cBhvr>
                                        <p:cTn id="51" dur="1" fill="hold">
                                          <p:stCondLst>
                                            <p:cond delay="0"/>
                                          </p:stCondLst>
                                        </p:cTn>
                                        <p:tgtEl>
                                          <p:spTgt spid="10"/>
                                        </p:tgtEl>
                                        <p:attrNameLst>
                                          <p:attrName>style.visibility</p:attrName>
                                        </p:attrNameLst>
                                      </p:cBhvr>
                                      <p:to>
                                        <p:strVal val="visible"/>
                                      </p:to>
                                    </p:set>
                                    <p:animEffect transition="in" filter="fade">
                                      <p:cBhvr>
                                        <p:cTn id="52" dur="450"/>
                                        <p:tgtEl>
                                          <p:spTgt spid="10"/>
                                        </p:tgtEl>
                                      </p:cBhvr>
                                    </p:animEffect>
                                    <p:anim calcmode="lin" valueType="num">
                                      <p:cBhvr>
                                        <p:cTn id="53" dur="450" fill="hold"/>
                                        <p:tgtEl>
                                          <p:spTgt spid="10"/>
                                        </p:tgtEl>
                                        <p:attrNameLst>
                                          <p:attrName>ppt_x</p:attrName>
                                        </p:attrNameLst>
                                      </p:cBhvr>
                                      <p:tavLst>
                                        <p:tav tm="0">
                                          <p:val>
                                            <p:strVal val="#ppt_x"/>
                                          </p:val>
                                        </p:tav>
                                        <p:tav tm="100000">
                                          <p:val>
                                            <p:strVal val="#ppt_x"/>
                                          </p:val>
                                        </p:tav>
                                      </p:tavLst>
                                    </p:anim>
                                    <p:anim calcmode="lin" valueType="num">
                                      <p:cBhvr>
                                        <p:cTn id="54" dur="450" fill="hold"/>
                                        <p:tgtEl>
                                          <p:spTgt spid="10"/>
                                        </p:tgtEl>
                                        <p:attrNameLst>
                                          <p:attrName>ppt_y</p:attrName>
                                        </p:attrNameLst>
                                      </p:cBhvr>
                                      <p:tavLst>
                                        <p:tav tm="0">
                                          <p:val>
                                            <p:strVal val="#ppt_y+.03"/>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wipe(down)">
                                      <p:cBhvr>
                                        <p:cTn id="59" dur="600"/>
                                        <p:tgtEl>
                                          <p:spTgt spid="23"/>
                                        </p:tgtEl>
                                      </p:cBhvr>
                                    </p:animEffect>
                                  </p:childTnLst>
                                </p:cTn>
                              </p:par>
                              <p:par>
                                <p:cTn id="60" presetID="42" presetClass="entr" presetSubtype="0" fill="hold" grpId="0" nodeType="withEffect">
                                  <p:stCondLst>
                                    <p:cond delay="140"/>
                                  </p:stCondLst>
                                  <p:childTnLst>
                                    <p:set>
                                      <p:cBhvr>
                                        <p:cTn id="61" dur="1" fill="hold">
                                          <p:stCondLst>
                                            <p:cond delay="0"/>
                                          </p:stCondLst>
                                        </p:cTn>
                                        <p:tgtEl>
                                          <p:spTgt spid="13"/>
                                        </p:tgtEl>
                                        <p:attrNameLst>
                                          <p:attrName>style.visibility</p:attrName>
                                        </p:attrNameLst>
                                      </p:cBhvr>
                                      <p:to>
                                        <p:strVal val="visible"/>
                                      </p:to>
                                    </p:set>
                                    <p:animEffect transition="in" filter="fade">
                                      <p:cBhvr>
                                        <p:cTn id="62" dur="450"/>
                                        <p:tgtEl>
                                          <p:spTgt spid="13"/>
                                        </p:tgtEl>
                                      </p:cBhvr>
                                    </p:animEffect>
                                    <p:anim calcmode="lin" valueType="num">
                                      <p:cBhvr>
                                        <p:cTn id="63" dur="450" fill="hold"/>
                                        <p:tgtEl>
                                          <p:spTgt spid="13"/>
                                        </p:tgtEl>
                                        <p:attrNameLst>
                                          <p:attrName>ppt_x</p:attrName>
                                        </p:attrNameLst>
                                      </p:cBhvr>
                                      <p:tavLst>
                                        <p:tav tm="0">
                                          <p:val>
                                            <p:strVal val="#ppt_x"/>
                                          </p:val>
                                        </p:tav>
                                        <p:tav tm="100000">
                                          <p:val>
                                            <p:strVal val="#ppt_x"/>
                                          </p:val>
                                        </p:tav>
                                      </p:tavLst>
                                    </p:anim>
                                    <p:anim calcmode="lin" valueType="num">
                                      <p:cBhvr>
                                        <p:cTn id="64" dur="450" fill="hold"/>
                                        <p:tgtEl>
                                          <p:spTgt spid="13"/>
                                        </p:tgtEl>
                                        <p:attrNameLst>
                                          <p:attrName>ppt_y</p:attrName>
                                        </p:attrNameLst>
                                      </p:cBhvr>
                                      <p:tavLst>
                                        <p:tav tm="0">
                                          <p:val>
                                            <p:strVal val="#ppt_y+.03"/>
                                          </p:val>
                                        </p:tav>
                                        <p:tav tm="100000">
                                          <p:val>
                                            <p:strVal val="#ppt_y"/>
                                          </p:val>
                                        </p:tav>
                                      </p:tavLst>
                                    </p:anim>
                                  </p:childTnLst>
                                </p:cTn>
                              </p:par>
                              <p:par>
                                <p:cTn id="65" presetID="42" presetClass="entr" presetSubtype="0" fill="hold" grpId="0" nodeType="withEffect">
                                  <p:stCondLst>
                                    <p:cond delay="28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450"/>
                                        <p:tgtEl>
                                          <p:spTgt spid="15"/>
                                        </p:tgtEl>
                                      </p:cBhvr>
                                    </p:animEffect>
                                    <p:anim calcmode="lin" valueType="num">
                                      <p:cBhvr>
                                        <p:cTn id="68" dur="450" fill="hold"/>
                                        <p:tgtEl>
                                          <p:spTgt spid="15"/>
                                        </p:tgtEl>
                                        <p:attrNameLst>
                                          <p:attrName>ppt_x</p:attrName>
                                        </p:attrNameLst>
                                      </p:cBhvr>
                                      <p:tavLst>
                                        <p:tav tm="0">
                                          <p:val>
                                            <p:strVal val="#ppt_x"/>
                                          </p:val>
                                        </p:tav>
                                        <p:tav tm="100000">
                                          <p:val>
                                            <p:strVal val="#ppt_x"/>
                                          </p:val>
                                        </p:tav>
                                      </p:tavLst>
                                    </p:anim>
                                    <p:anim calcmode="lin" valueType="num">
                                      <p:cBhvr>
                                        <p:cTn id="69" dur="450" fill="hold"/>
                                        <p:tgtEl>
                                          <p:spTgt spid="15"/>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5" grpId="0" animBg="1"/>
      <p:bldP spid="3" grpId="0" animBg="1"/>
      <p:bldP spid="10" grpId="0" animBg="1"/>
      <p:bldP spid="13" grpId="0" animBg="1"/>
      <p:bldP spid="15" grpId="0" animBg="1"/>
      <p:bldP spid="23" grpId="0" animBg="1"/>
      <p:bldP spid="26" grpId="0" animBg="1"/>
      <p:bldP spid="29" grpId="0" animBg="1"/>
      <p:bldP spid="3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01989-C147-EC1E-52E9-38895CE116E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CD927B3-EE68-C4C2-ACF6-1C706B2A190F}"/>
              </a:ext>
            </a:extLst>
          </p:cNvPr>
          <p:cNvSpPr>
            <a:spLocks noGrp="1" noRot="1" noMove="1" noResize="1" noEditPoints="1" noAdjustHandles="1" noChangeArrowheads="1" noChangeShapeType="1"/>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E78CE5D0-4808-F9C2-32B9-C39EF160C14B}"/>
              </a:ext>
            </a:extLst>
          </p:cNvPr>
          <p:cNvSpPr>
            <a:spLocks noGrp="1" noRot="1" noMove="1" noResize="1" noEditPoints="1" noAdjustHandles="1" noChangeArrowheads="1" noChangeShapeType="1"/>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 6">
            <a:extLst>
              <a:ext uri="{FF2B5EF4-FFF2-40B4-BE49-F238E27FC236}">
                <a16:creationId xmlns:a16="http://schemas.microsoft.com/office/drawing/2014/main" id="{C2986FAB-C5EE-4F4F-5189-3277CFF7C6C1}"/>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2304885" y="1807141"/>
            <a:ext cx="7582230" cy="5050859"/>
          </a:xfrm>
          <a:prstGeom prst="rect">
            <a:avLst/>
          </a:prstGeom>
        </p:spPr>
      </p:pic>
      <p:grpSp>
        <p:nvGrpSpPr>
          <p:cNvPr id="3" name="Groupe 2">
            <a:extLst>
              <a:ext uri="{FF2B5EF4-FFF2-40B4-BE49-F238E27FC236}">
                <a16:creationId xmlns:a16="http://schemas.microsoft.com/office/drawing/2014/main" id="{5CE6213F-76AB-FD33-A3B2-8722FAF75918}"/>
              </a:ext>
            </a:extLst>
          </p:cNvPr>
          <p:cNvGrpSpPr>
            <a:grpSpLocks noGrp="1" noUngrp="1" noRot="1" noMove="1" noResize="1"/>
          </p:cNvGrpSpPr>
          <p:nvPr/>
        </p:nvGrpSpPr>
        <p:grpSpPr>
          <a:xfrm>
            <a:off x="525488" y="1339792"/>
            <a:ext cx="3493264" cy="641924"/>
            <a:chOff x="605498" y="219652"/>
            <a:chExt cx="3493264" cy="641924"/>
          </a:xfrm>
        </p:grpSpPr>
        <p:sp>
          <p:nvSpPr>
            <p:cNvPr id="12" name="ZoneTexte 11">
              <a:extLst>
                <a:ext uri="{FF2B5EF4-FFF2-40B4-BE49-F238E27FC236}">
                  <a16:creationId xmlns:a16="http://schemas.microsoft.com/office/drawing/2014/main" id="{69B4EC97-B57A-F903-0E41-E302A53E1720}"/>
                </a:ext>
              </a:extLst>
            </p:cNvPr>
            <p:cNvSpPr txBox="1">
              <a:spLocks noGrp="1" noRot="1" noMove="1" noResize="1" noEditPoints="1" noAdjustHandles="1" noChangeArrowheads="1" noChangeShapeType="1"/>
            </p:cNvSpPr>
            <p:nvPr/>
          </p:nvSpPr>
          <p:spPr>
            <a:xfrm>
              <a:off x="605498" y="219652"/>
              <a:ext cx="3493264" cy="584775"/>
            </a:xfrm>
            <a:prstGeom prst="rect">
              <a:avLst/>
            </a:prstGeom>
            <a:noFill/>
          </p:spPr>
          <p:txBody>
            <a:bodyPr wrap="none" rtlCol="0">
              <a:spAutoFit/>
            </a:bodyPr>
            <a:lstStyle/>
            <a:p>
              <a:r>
                <a:rPr lang="fr-FR" sz="3200" b="1" dirty="0">
                  <a:latin typeface="Montserrat" panose="00000500000000000000" pitchFamily="2" charset="0"/>
                  <a:cs typeface="Times New Roman" panose="02020603050405020304" pitchFamily="18" charset="0"/>
                </a:rPr>
                <a:t>Organigramme</a:t>
              </a:r>
            </a:p>
          </p:txBody>
        </p:sp>
        <p:sp>
          <p:nvSpPr>
            <p:cNvPr id="16" name="Rectangle 15">
              <a:extLst>
                <a:ext uri="{FF2B5EF4-FFF2-40B4-BE49-F238E27FC236}">
                  <a16:creationId xmlns:a16="http://schemas.microsoft.com/office/drawing/2014/main" id="{34079FA5-4FC8-1A05-9A45-F33AC028B184}"/>
                </a:ext>
              </a:extLst>
            </p:cNvPr>
            <p:cNvSpPr>
              <a:spLocks noGrp="1" noRot="1" noMove="1" noResize="1" noEditPoints="1" noAdjustHandles="1" noChangeArrowheads="1" noChangeShapeType="1"/>
            </p:cNvSpPr>
            <p:nvPr/>
          </p:nvSpPr>
          <p:spPr>
            <a:xfrm rot="5400000">
              <a:off x="1838492" y="-205090"/>
              <a:ext cx="56775" cy="2076557"/>
            </a:xfrm>
            <a:prstGeom prst="rect">
              <a:avLst/>
            </a:prstGeom>
            <a:solidFill>
              <a:srgbClr val="F96A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17" name="Rectangle 16">
            <a:extLst>
              <a:ext uri="{FF2B5EF4-FFF2-40B4-BE49-F238E27FC236}">
                <a16:creationId xmlns:a16="http://schemas.microsoft.com/office/drawing/2014/main" id="{A77880EA-7A59-F27F-7A14-243554F0388B}"/>
              </a:ext>
            </a:extLst>
          </p:cNvPr>
          <p:cNvSpPr>
            <a:spLocks noGrp="1" noRot="1" noMove="1" noResize="1" noEditPoints="1" noAdjustHandles="1" noChangeArrowheads="1" noChangeShapeType="1"/>
          </p:cNvSpPr>
          <p:nvPr/>
        </p:nvSpPr>
        <p:spPr>
          <a:xfrm>
            <a:off x="2569742" y="5317490"/>
            <a:ext cx="1278379" cy="819217"/>
          </a:xfrm>
          <a:prstGeom prst="rect">
            <a:avLst/>
          </a:prstGeom>
          <a:noFill/>
          <a:ln w="38100">
            <a:solidFill>
              <a:srgbClr val="F96A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C821B1F8-3326-7BB6-4935-118DCC6E0665}"/>
              </a:ext>
            </a:extLst>
          </p:cNvPr>
          <p:cNvSpPr>
            <a:spLocks noGrp="1" noRot="1" noMove="1" noResize="1" noEditPoints="1" noAdjustHandles="1" noChangeArrowheads="1" noChangeShapeType="1"/>
          </p:cNvSpPr>
          <p:nvPr/>
        </p:nvSpPr>
        <p:spPr>
          <a:xfrm>
            <a:off x="3276885"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2</a:t>
            </a:r>
          </a:p>
        </p:txBody>
      </p:sp>
      <p:sp>
        <p:nvSpPr>
          <p:cNvPr id="10" name="Ellipse 9">
            <a:extLst>
              <a:ext uri="{FF2B5EF4-FFF2-40B4-BE49-F238E27FC236}">
                <a16:creationId xmlns:a16="http://schemas.microsoft.com/office/drawing/2014/main" id="{6C751806-82A7-7B5A-E74E-48DCE0E97DB9}"/>
              </a:ext>
            </a:extLst>
          </p:cNvPr>
          <p:cNvSpPr>
            <a:spLocks noGrp="1" noRot="1" noMove="1" noResize="1" noEditPoints="1" noAdjustHandles="1" noChangeArrowheads="1" noChangeShapeType="1"/>
          </p:cNvSpPr>
          <p:nvPr/>
        </p:nvSpPr>
        <p:spPr>
          <a:xfrm>
            <a:off x="5118671"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3</a:t>
            </a:r>
          </a:p>
        </p:txBody>
      </p:sp>
      <p:sp>
        <p:nvSpPr>
          <p:cNvPr id="11" name="Ellipse 10">
            <a:extLst>
              <a:ext uri="{FF2B5EF4-FFF2-40B4-BE49-F238E27FC236}">
                <a16:creationId xmlns:a16="http://schemas.microsoft.com/office/drawing/2014/main" id="{E82E8F53-9286-1C0C-23CF-0C3CD1F64B63}"/>
              </a:ext>
            </a:extLst>
          </p:cNvPr>
          <p:cNvSpPr>
            <a:spLocks noGrp="1" noRot="1" noMove="1" noResize="1" noEditPoints="1" noAdjustHandles="1" noChangeArrowheads="1" noChangeShapeType="1"/>
          </p:cNvSpPr>
          <p:nvPr/>
        </p:nvSpPr>
        <p:spPr>
          <a:xfrm>
            <a:off x="696045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4</a:t>
            </a:r>
          </a:p>
        </p:txBody>
      </p:sp>
      <p:sp>
        <p:nvSpPr>
          <p:cNvPr id="13" name="Ellipse 12">
            <a:extLst>
              <a:ext uri="{FF2B5EF4-FFF2-40B4-BE49-F238E27FC236}">
                <a16:creationId xmlns:a16="http://schemas.microsoft.com/office/drawing/2014/main" id="{8CBE8317-0358-A7BD-3965-6BD893185289}"/>
              </a:ext>
            </a:extLst>
          </p:cNvPr>
          <p:cNvSpPr>
            <a:spLocks noGrp="1" noRot="1" noMove="1" noResize="1" noEditPoints="1" noAdjustHandles="1" noChangeArrowheads="1" noChangeShapeType="1"/>
          </p:cNvSpPr>
          <p:nvPr/>
        </p:nvSpPr>
        <p:spPr>
          <a:xfrm>
            <a:off x="8802243"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5</a:t>
            </a:r>
          </a:p>
        </p:txBody>
      </p:sp>
      <p:sp>
        <p:nvSpPr>
          <p:cNvPr id="14" name="Ellipse 13">
            <a:extLst>
              <a:ext uri="{FF2B5EF4-FFF2-40B4-BE49-F238E27FC236}">
                <a16:creationId xmlns:a16="http://schemas.microsoft.com/office/drawing/2014/main" id="{C8836B82-2015-D872-7F6D-3F6D4B8BA1BA}"/>
              </a:ext>
            </a:extLst>
          </p:cNvPr>
          <p:cNvSpPr>
            <a:spLocks noGrp="1" noRot="1" noMove="1" noResize="1" noEditPoints="1" noAdjustHandles="1" noChangeArrowheads="1" noChangeShapeType="1"/>
          </p:cNvSpPr>
          <p:nvPr/>
        </p:nvSpPr>
        <p:spPr>
          <a:xfrm>
            <a:off x="1064402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6</a:t>
            </a:r>
          </a:p>
        </p:txBody>
      </p:sp>
      <p:cxnSp>
        <p:nvCxnSpPr>
          <p:cNvPr id="15" name="Connecteur droit 14">
            <a:extLst>
              <a:ext uri="{FF2B5EF4-FFF2-40B4-BE49-F238E27FC236}">
                <a16:creationId xmlns:a16="http://schemas.microsoft.com/office/drawing/2014/main" id="{11893334-946F-3829-D143-001EF8DE570E}"/>
              </a:ext>
            </a:extLst>
          </p:cNvPr>
          <p:cNvCxnSpPr>
            <a:cxnSpLocks noGrp="1" noRot="1" noMove="1" noResize="1" noEditPoints="1" noAdjustHandles="1" noChangeArrowheads="1" noChangeShapeType="1"/>
            <a:stCxn id="9" idx="6"/>
            <a:endCxn id="10" idx="2"/>
          </p:cNvCxnSpPr>
          <p:nvPr/>
        </p:nvCxnSpPr>
        <p:spPr>
          <a:xfrm>
            <a:off x="3522948"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FCE6B4CC-2BF7-1248-CE97-805F53899E10}"/>
              </a:ext>
            </a:extLst>
          </p:cNvPr>
          <p:cNvCxnSpPr>
            <a:cxnSpLocks noGrp="1" noRot="1" noMove="1" noResize="1" noEditPoints="1" noAdjustHandles="1" noChangeArrowheads="1" noChangeShapeType="1"/>
            <a:stCxn id="10" idx="6"/>
            <a:endCxn id="11" idx="2"/>
          </p:cNvCxnSpPr>
          <p:nvPr/>
        </p:nvCxnSpPr>
        <p:spPr>
          <a:xfrm>
            <a:off x="5364734"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F71D342C-2E0E-6988-AC33-04F833F25020}"/>
              </a:ext>
            </a:extLst>
          </p:cNvPr>
          <p:cNvCxnSpPr>
            <a:cxnSpLocks noGrp="1" noRot="1" noMove="1" noResize="1" noEditPoints="1" noAdjustHandles="1" noChangeArrowheads="1" noChangeShapeType="1"/>
            <a:stCxn id="11" idx="6"/>
            <a:endCxn id="13" idx="2"/>
          </p:cNvCxnSpPr>
          <p:nvPr/>
        </p:nvCxnSpPr>
        <p:spPr>
          <a:xfrm>
            <a:off x="7206520"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B2F93944-778A-9541-B644-AC0C2FDCBAA0}"/>
              </a:ext>
            </a:extLst>
          </p:cNvPr>
          <p:cNvCxnSpPr>
            <a:cxnSpLocks noGrp="1" noRot="1" noMove="1" noResize="1" noEditPoints="1" noAdjustHandles="1" noChangeArrowheads="1" noChangeShapeType="1"/>
            <a:stCxn id="13" idx="6"/>
            <a:endCxn id="14" idx="2"/>
          </p:cNvCxnSpPr>
          <p:nvPr/>
        </p:nvCxnSpPr>
        <p:spPr>
          <a:xfrm flipV="1">
            <a:off x="9048306" y="331905"/>
            <a:ext cx="1595721"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ZoneTexte 20">
            <a:extLst>
              <a:ext uri="{FF2B5EF4-FFF2-40B4-BE49-F238E27FC236}">
                <a16:creationId xmlns:a16="http://schemas.microsoft.com/office/drawing/2014/main" id="{ADA822AD-1D5F-AB3F-FD18-C6E4EFB26390}"/>
              </a:ext>
            </a:extLst>
          </p:cNvPr>
          <p:cNvSpPr txBox="1">
            <a:spLocks noGrp="1" noRot="1" noMove="1" noResize="1" noEditPoints="1" noAdjustHandles="1" noChangeArrowheads="1" noChangeShapeType="1"/>
          </p:cNvSpPr>
          <p:nvPr/>
        </p:nvSpPr>
        <p:spPr>
          <a:xfrm>
            <a:off x="2643588" y="417161"/>
            <a:ext cx="1481708" cy="430887"/>
          </a:xfrm>
          <a:prstGeom prst="rect">
            <a:avLst/>
          </a:prstGeom>
          <a:noFill/>
        </p:spPr>
        <p:txBody>
          <a:bodyPr wrap="square" rtlCol="0">
            <a:spAutoFit/>
          </a:bodyPr>
          <a:lstStyle/>
          <a:p>
            <a:r>
              <a:rPr lang="fr-FR" sz="1100" b="1" dirty="0">
                <a:latin typeface="Montserrat"/>
                <a:cs typeface="Montserrat"/>
              </a:rPr>
              <a:t>CONTEXTE ET </a:t>
            </a:r>
          </a:p>
          <a:p>
            <a:r>
              <a:rPr lang="fr-FR" sz="1100" b="1" dirty="0">
                <a:latin typeface="Montserrat"/>
                <a:cs typeface="Montserrat"/>
              </a:rPr>
              <a:t>PROBLÉMATIQUE</a:t>
            </a:r>
          </a:p>
        </p:txBody>
      </p:sp>
      <p:sp>
        <p:nvSpPr>
          <p:cNvPr id="22" name="ZoneTexte 21">
            <a:extLst>
              <a:ext uri="{FF2B5EF4-FFF2-40B4-BE49-F238E27FC236}">
                <a16:creationId xmlns:a16="http://schemas.microsoft.com/office/drawing/2014/main" id="{FB741B7D-1574-0E47-B5B3-2C81E6232153}"/>
              </a:ext>
            </a:extLst>
          </p:cNvPr>
          <p:cNvSpPr txBox="1">
            <a:spLocks noGrp="1" noRot="1" noMove="1" noResize="1" noEditPoints="1" noAdjustHandles="1" noChangeArrowheads="1" noChangeShapeType="1"/>
          </p:cNvSpPr>
          <p:nvPr/>
        </p:nvSpPr>
        <p:spPr>
          <a:xfrm>
            <a:off x="4178084" y="501799"/>
            <a:ext cx="1921727" cy="261610"/>
          </a:xfrm>
          <a:prstGeom prst="rect">
            <a:avLst/>
          </a:prstGeom>
          <a:noFill/>
        </p:spPr>
        <p:txBody>
          <a:bodyPr wrap="square" rtlCol="0">
            <a:spAutoFit/>
          </a:bodyPr>
          <a:lstStyle/>
          <a:p>
            <a:r>
              <a:rPr lang="fr-FR" sz="1100" b="1" dirty="0">
                <a:latin typeface="Montserrat"/>
                <a:cs typeface="Montserrat"/>
              </a:rPr>
              <a:t>ÉTUDE CONCEPTUELLE</a:t>
            </a:r>
          </a:p>
        </p:txBody>
      </p:sp>
      <p:sp>
        <p:nvSpPr>
          <p:cNvPr id="23" name="ZoneTexte 22">
            <a:extLst>
              <a:ext uri="{FF2B5EF4-FFF2-40B4-BE49-F238E27FC236}">
                <a16:creationId xmlns:a16="http://schemas.microsoft.com/office/drawing/2014/main" id="{AEC1702F-391A-FC40-18D0-8BBACC1EB125}"/>
              </a:ext>
            </a:extLst>
          </p:cNvPr>
          <p:cNvSpPr txBox="1">
            <a:spLocks noGrp="1" noRot="1" noMove="1" noResize="1" noEditPoints="1" noAdjustHandles="1" noChangeArrowheads="1" noChangeShapeType="1"/>
          </p:cNvSpPr>
          <p:nvPr/>
        </p:nvSpPr>
        <p:spPr>
          <a:xfrm>
            <a:off x="6152599" y="425597"/>
            <a:ext cx="1595723" cy="430887"/>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 SOLUTION</a:t>
            </a:r>
          </a:p>
        </p:txBody>
      </p:sp>
      <p:sp>
        <p:nvSpPr>
          <p:cNvPr id="24" name="ZoneTexte 23">
            <a:extLst>
              <a:ext uri="{FF2B5EF4-FFF2-40B4-BE49-F238E27FC236}">
                <a16:creationId xmlns:a16="http://schemas.microsoft.com/office/drawing/2014/main" id="{4C6C8E95-7934-0D6A-2A42-4ED5477C16CB}"/>
              </a:ext>
            </a:extLst>
          </p:cNvPr>
          <p:cNvSpPr txBox="1">
            <a:spLocks noGrp="1" noRot="1" noMove="1" noResize="1" noEditPoints="1" noAdjustHandles="1" noChangeArrowheads="1" noChangeShapeType="1"/>
          </p:cNvSpPr>
          <p:nvPr/>
        </p:nvSpPr>
        <p:spPr>
          <a:xfrm>
            <a:off x="7801110" y="458786"/>
            <a:ext cx="1860500" cy="430887"/>
          </a:xfrm>
          <a:prstGeom prst="rect">
            <a:avLst/>
          </a:prstGeom>
          <a:noFill/>
        </p:spPr>
        <p:txBody>
          <a:bodyPr wrap="square" rtlCol="0">
            <a:spAutoFit/>
          </a:bodyPr>
          <a:lstStyle/>
          <a:p>
            <a:r>
              <a:rPr lang="fr-FR" sz="1100" b="1" dirty="0">
                <a:latin typeface="Montserrat"/>
                <a:cs typeface="Montserrat"/>
              </a:rPr>
              <a:t>RÉSULTATS ET VALIDATION</a:t>
            </a:r>
          </a:p>
        </p:txBody>
      </p:sp>
      <p:sp>
        <p:nvSpPr>
          <p:cNvPr id="25" name="ZoneTexte 24">
            <a:extLst>
              <a:ext uri="{FF2B5EF4-FFF2-40B4-BE49-F238E27FC236}">
                <a16:creationId xmlns:a16="http://schemas.microsoft.com/office/drawing/2014/main" id="{227B049A-7316-3C73-5DD7-77CEF5AC0BC8}"/>
              </a:ext>
            </a:extLst>
          </p:cNvPr>
          <p:cNvSpPr txBox="1">
            <a:spLocks noGrp="1" noRot="1" noMove="1" noResize="1" noEditPoints="1" noAdjustHandles="1" noChangeArrowheads="1" noChangeShapeType="1"/>
          </p:cNvSpPr>
          <p:nvPr/>
        </p:nvSpPr>
        <p:spPr>
          <a:xfrm>
            <a:off x="9716922" y="479710"/>
            <a:ext cx="2346335" cy="261610"/>
          </a:xfrm>
          <a:prstGeom prst="rect">
            <a:avLst/>
          </a:prstGeom>
          <a:noFill/>
        </p:spPr>
        <p:txBody>
          <a:bodyPr wrap="square" rtlCol="0">
            <a:spAutoFit/>
          </a:bodyPr>
          <a:lstStyle/>
          <a:p>
            <a:r>
              <a:rPr lang="fr-FR" sz="1100" b="1" dirty="0">
                <a:latin typeface="Montserrat"/>
                <a:cs typeface="Montserrat"/>
              </a:rPr>
              <a:t>LIMITES ET PERSPECTIVES</a:t>
            </a:r>
          </a:p>
        </p:txBody>
      </p:sp>
      <p:cxnSp>
        <p:nvCxnSpPr>
          <p:cNvPr id="26" name="Connecteur droit 25">
            <a:extLst>
              <a:ext uri="{FF2B5EF4-FFF2-40B4-BE49-F238E27FC236}">
                <a16:creationId xmlns:a16="http://schemas.microsoft.com/office/drawing/2014/main" id="{F2BA95CC-760F-6405-ADF9-163D6D9AF945}"/>
              </a:ext>
            </a:extLst>
          </p:cNvPr>
          <p:cNvCxnSpPr>
            <a:cxnSpLocks noGrp="1" noRot="1" noMove="1" noResize="1" noEditPoints="1" noAdjustHandles="1" noChangeArrowheads="1" noChangeShapeType="1"/>
          </p:cNvCxnSpPr>
          <p:nvPr/>
        </p:nvCxnSpPr>
        <p:spPr>
          <a:xfrm>
            <a:off x="10890090" y="331905"/>
            <a:ext cx="1301910"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Ellipse 30">
            <a:extLst>
              <a:ext uri="{FF2B5EF4-FFF2-40B4-BE49-F238E27FC236}">
                <a16:creationId xmlns:a16="http://schemas.microsoft.com/office/drawing/2014/main" id="{AC9D9306-892A-65D6-1040-3F308956C399}"/>
              </a:ext>
            </a:extLst>
          </p:cNvPr>
          <p:cNvSpPr>
            <a:spLocks noGrp="1" noRot="1" noMove="1" noResize="1" noEditPoints="1" noAdjustHandles="1" noChangeArrowheads="1" noChangeShapeType="1"/>
          </p:cNvSpPr>
          <p:nvPr/>
        </p:nvSpPr>
        <p:spPr>
          <a:xfrm>
            <a:off x="1435099" y="205023"/>
            <a:ext cx="246063" cy="253765"/>
          </a:xfrm>
          <a:prstGeom prst="ellipse">
            <a:avLst/>
          </a:prstGeom>
          <a:noFill/>
          <a:ln>
            <a:solidFill>
              <a:srgbClr val="F96A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F96A09"/>
                </a:solidFill>
              </a:rPr>
              <a:t>1</a:t>
            </a:r>
          </a:p>
        </p:txBody>
      </p:sp>
      <p:cxnSp>
        <p:nvCxnSpPr>
          <p:cNvPr id="32" name="Connecteur droit 31">
            <a:extLst>
              <a:ext uri="{FF2B5EF4-FFF2-40B4-BE49-F238E27FC236}">
                <a16:creationId xmlns:a16="http://schemas.microsoft.com/office/drawing/2014/main" id="{BCFD974C-F539-28F0-11B8-7A611903D69B}"/>
              </a:ext>
            </a:extLst>
          </p:cNvPr>
          <p:cNvCxnSpPr>
            <a:cxnSpLocks noGrp="1" noRot="1" noMove="1" noResize="1" noEditPoints="1" noAdjustHandles="1" noChangeArrowheads="1" noChangeShapeType="1"/>
            <a:endCxn id="31" idx="2"/>
          </p:cNvCxnSpPr>
          <p:nvPr/>
        </p:nvCxnSpPr>
        <p:spPr>
          <a:xfrm flipV="1">
            <a:off x="387416" y="331905"/>
            <a:ext cx="104768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33" name="Connecteur droit 32">
            <a:extLst>
              <a:ext uri="{FF2B5EF4-FFF2-40B4-BE49-F238E27FC236}">
                <a16:creationId xmlns:a16="http://schemas.microsoft.com/office/drawing/2014/main" id="{C0916853-BB4C-9256-0262-497BC500C434}"/>
              </a:ext>
            </a:extLst>
          </p:cNvPr>
          <p:cNvCxnSpPr>
            <a:cxnSpLocks noGrp="1" noRot="1" noMove="1" noResize="1" noEditPoints="1" noAdjustHandles="1" noChangeArrowheads="1" noChangeShapeType="1"/>
            <a:stCxn id="31" idx="6"/>
          </p:cNvCxnSpPr>
          <p:nvPr/>
        </p:nvCxnSpPr>
        <p:spPr>
          <a:xfrm flipV="1">
            <a:off x="1681162"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sp>
        <p:nvSpPr>
          <p:cNvPr id="34" name="ZoneTexte 33">
            <a:extLst>
              <a:ext uri="{FF2B5EF4-FFF2-40B4-BE49-F238E27FC236}">
                <a16:creationId xmlns:a16="http://schemas.microsoft.com/office/drawing/2014/main" id="{522A83CF-2AB9-DF31-09FA-22D41BBC3607}"/>
              </a:ext>
            </a:extLst>
          </p:cNvPr>
          <p:cNvSpPr txBox="1">
            <a:spLocks noGrp="1" noRot="1" noMove="1" noResize="1" noEditPoints="1" noAdjustHandles="1" noChangeArrowheads="1" noChangeShapeType="1"/>
          </p:cNvSpPr>
          <p:nvPr/>
        </p:nvSpPr>
        <p:spPr>
          <a:xfrm>
            <a:off x="624823" y="479710"/>
            <a:ext cx="1965977" cy="769441"/>
          </a:xfrm>
          <a:prstGeom prst="rect">
            <a:avLst/>
          </a:prstGeom>
          <a:noFill/>
          <a:ln>
            <a:noFill/>
          </a:ln>
        </p:spPr>
        <p:txBody>
          <a:bodyPr wrap="square" rtlCol="0">
            <a:spAutoFit/>
          </a:bodyPr>
          <a:lstStyle/>
          <a:p>
            <a:r>
              <a:rPr lang="fr-FR" sz="1100" b="1" dirty="0">
                <a:solidFill>
                  <a:srgbClr val="F96A09"/>
                </a:solidFill>
                <a:latin typeface="Montserrat"/>
                <a:cs typeface="Montserrat"/>
              </a:rPr>
              <a:t>PRÉSENTATION DE </a:t>
            </a:r>
          </a:p>
          <a:p>
            <a:r>
              <a:rPr lang="fr-FR" sz="1100" b="1" dirty="0">
                <a:solidFill>
                  <a:srgbClr val="F96A09"/>
                </a:solidFill>
                <a:latin typeface="Montserrat"/>
                <a:cs typeface="Montserrat"/>
              </a:rPr>
              <a:t>LA</a:t>
            </a:r>
            <a:r>
              <a:rPr lang="fr-FR" sz="1100" b="1" dirty="0">
                <a:solidFill>
                  <a:srgbClr val="F96A09"/>
                </a:solidFill>
                <a:latin typeface="Montserrat"/>
              </a:rPr>
              <a:t> </a:t>
            </a:r>
            <a:r>
              <a:rPr lang="fr-FR" sz="1100" b="1" dirty="0">
                <a:solidFill>
                  <a:srgbClr val="F96A09"/>
                </a:solidFill>
                <a:latin typeface="Montserrat"/>
                <a:cs typeface="Montserrat"/>
              </a:rPr>
              <a:t>STRUCTURE D’ACCUEIL</a:t>
            </a:r>
          </a:p>
          <a:p>
            <a:endParaRPr lang="fr-FR" sz="1100" dirty="0">
              <a:solidFill>
                <a:srgbClr val="F96A09"/>
              </a:solidFill>
            </a:endParaRPr>
          </a:p>
        </p:txBody>
      </p:sp>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A2FBFAB8-9A07-423C-B195-0E52707633BB}" type="slidenum">
              <a:rPr lang="fr-FR" sz="1600" b="1" dirty="0">
                <a:solidFill>
                  <a:srgbClr val="FFFFFF"/>
                </a:solidFill>
                <a:latin typeface="Montserrat"/>
              </a:rPr>
              <a:t>4</a:t>
            </a:fld>
            <a:endParaRPr lang="fr-FR" sz="1600" b="1" dirty="0">
              <a:solidFill>
                <a:srgbClr val="FFFFFF"/>
              </a:solidFill>
              <a:latin typeface="Montserrat"/>
            </a:endParaRPr>
          </a:p>
        </p:txBody>
      </p:sp>
    </p:spTree>
    <p:extLst>
      <p:ext uri="{BB962C8B-B14F-4D97-AF65-F5344CB8AC3E}">
        <p14:creationId xmlns:p14="http://schemas.microsoft.com/office/powerpoint/2010/main" val="2051863930"/>
      </p:ext>
    </p:extLst>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anim calcmode="lin" valueType="num">
                                      <p:cBhvr>
                                        <p:cTn id="8" dur="450" fill="hold"/>
                                        <p:tgtEl>
                                          <p:spTgt spid="3"/>
                                        </p:tgtEl>
                                        <p:attrNameLst>
                                          <p:attrName>ppt_x</p:attrName>
                                        </p:attrNameLst>
                                      </p:cBhvr>
                                      <p:tavLst>
                                        <p:tav tm="0">
                                          <p:val>
                                            <p:strVal val="#ppt_x"/>
                                          </p:val>
                                        </p:tav>
                                        <p:tav tm="100000">
                                          <p:val>
                                            <p:strVal val="#ppt_x"/>
                                          </p:val>
                                        </p:tav>
                                      </p:tavLst>
                                    </p:anim>
                                    <p:anim calcmode="lin" valueType="num">
                                      <p:cBhvr>
                                        <p:cTn id="9" dur="450" fill="hold"/>
                                        <p:tgtEl>
                                          <p:spTgt spid="3"/>
                                        </p:tgtEl>
                                        <p:attrNameLst>
                                          <p:attrName>ppt_y</p:attrName>
                                        </p:attrNameLst>
                                      </p:cBhvr>
                                      <p:tavLst>
                                        <p:tav tm="0">
                                          <p:val>
                                            <p:strVal val="#ppt_y+.03"/>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childTnLst>
                                </p:cTn>
                              </p:par>
                              <p:par>
                                <p:cTn id="15" presetID="53" presetClass="entr" presetSubtype="16" fill="hold" grpId="0" nodeType="withEffect">
                                  <p:stCondLst>
                                    <p:cond delay="420"/>
                                  </p:stCondLst>
                                  <p:childTnLst>
                                    <p:set>
                                      <p:cBhvr>
                                        <p:cTn id="16" dur="1" fill="hold">
                                          <p:stCondLst>
                                            <p:cond delay="0"/>
                                          </p:stCondLst>
                                        </p:cTn>
                                        <p:tgtEl>
                                          <p:spTgt spid="17"/>
                                        </p:tgtEl>
                                        <p:attrNameLst>
                                          <p:attrName>style.visibility</p:attrName>
                                        </p:attrNameLst>
                                      </p:cBhvr>
                                      <p:to>
                                        <p:strVal val="visible"/>
                                      </p:to>
                                    </p:set>
                                    <p:anim calcmode="lin" valueType="num">
                                      <p:cBhvr>
                                        <p:cTn id="17" dur="500" fill="hold"/>
                                        <p:tgtEl>
                                          <p:spTgt spid="17"/>
                                        </p:tgtEl>
                                        <p:attrNameLst>
                                          <p:attrName>ppt_w</p:attrName>
                                        </p:attrNameLst>
                                      </p:cBhvr>
                                      <p:tavLst>
                                        <p:tav tm="0">
                                          <p:val>
                                            <p:strVal val="#ppt_w*0.85"/>
                                          </p:val>
                                        </p:tav>
                                        <p:tav tm="100000">
                                          <p:val>
                                            <p:strVal val="#ppt_w"/>
                                          </p:val>
                                        </p:tav>
                                      </p:tavLst>
                                    </p:anim>
                                    <p:anim calcmode="lin" valueType="num">
                                      <p:cBhvr>
                                        <p:cTn id="18" dur="500" fill="hold"/>
                                        <p:tgtEl>
                                          <p:spTgt spid="17"/>
                                        </p:tgtEl>
                                        <p:attrNameLst>
                                          <p:attrName>ppt_h</p:attrName>
                                        </p:attrNameLst>
                                      </p:cBhvr>
                                      <p:tavLst>
                                        <p:tav tm="0">
                                          <p:val>
                                            <p:strVal val="#ppt_h*0.85"/>
                                          </p:val>
                                        </p:tav>
                                        <p:tav tm="100000">
                                          <p:val>
                                            <p:strVal val="#ppt_h"/>
                                          </p:val>
                                        </p:tav>
                                      </p:tavLst>
                                    </p:anim>
                                    <p:animEffect transition="in" filter="fade">
                                      <p:cBhvr>
                                        <p:cTn id="1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A8483-6941-3F9C-B06E-A17FD14D6BD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991C212-C9B0-766B-C6C6-661EBCF427F7}"/>
              </a:ext>
            </a:extLst>
          </p:cNvPr>
          <p:cNvSpPr>
            <a:spLocks noGrp="1" noRot="1" noMove="1" noResize="1" noEditPoints="1" noAdjustHandles="1" noChangeArrowheads="1" noChangeShapeType="1"/>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5F8FD3D5-731D-6EC9-A251-7769D08AE9B7}"/>
              </a:ext>
            </a:extLst>
          </p:cNvPr>
          <p:cNvSpPr txBox="1">
            <a:spLocks noGrp="1" noRot="1" noMove="1" noResize="1" noEditPoints="1" noAdjustHandles="1" noChangeArrowheads="1" noChangeShapeType="1"/>
          </p:cNvSpPr>
          <p:nvPr/>
        </p:nvSpPr>
        <p:spPr>
          <a:xfrm>
            <a:off x="627116" y="1006292"/>
            <a:ext cx="1376915" cy="1446550"/>
          </a:xfrm>
          <a:prstGeom prst="rect">
            <a:avLst/>
          </a:prstGeom>
          <a:noFill/>
        </p:spPr>
        <p:txBody>
          <a:bodyPr wrap="square" rtlCol="0">
            <a:spAutoFit/>
          </a:bodyPr>
          <a:lstStyle/>
          <a:p>
            <a:r>
              <a:rPr lang="fr-FR" sz="8600" dirty="0">
                <a:solidFill>
                  <a:srgbClr val="F96A09"/>
                </a:solidFill>
                <a:latin typeface="Times New Roman" panose="02020603050405020304" pitchFamily="18" charset="0"/>
                <a:cs typeface="Times New Roman" panose="02020603050405020304" pitchFamily="18" charset="0"/>
              </a:rPr>
              <a:t>02</a:t>
            </a:r>
          </a:p>
        </p:txBody>
      </p:sp>
      <p:cxnSp>
        <p:nvCxnSpPr>
          <p:cNvPr id="11" name="Connecteur droit 10">
            <a:extLst>
              <a:ext uri="{FF2B5EF4-FFF2-40B4-BE49-F238E27FC236}">
                <a16:creationId xmlns:a16="http://schemas.microsoft.com/office/drawing/2014/main" id="{DEB619A4-3A84-B889-3A70-7DB56720C3B9}"/>
              </a:ext>
            </a:extLst>
          </p:cNvPr>
          <p:cNvCxnSpPr>
            <a:cxnSpLocks noGrp="1" noRot="1" noMove="1" noResize="1" noEditPoints="1" noAdjustHandles="1" noChangeArrowheads="1" noChangeShapeType="1"/>
          </p:cNvCxnSpPr>
          <p:nvPr/>
        </p:nvCxnSpPr>
        <p:spPr>
          <a:xfrm>
            <a:off x="2007270" y="1066800"/>
            <a:ext cx="0" cy="1117600"/>
          </a:xfrm>
          <a:prstGeom prst="line">
            <a:avLst/>
          </a:prstGeom>
          <a:ln w="28575">
            <a:solidFill>
              <a:srgbClr val="F96A09"/>
            </a:solidFill>
          </a:ln>
        </p:spPr>
        <p:style>
          <a:lnRef idx="1">
            <a:schemeClr val="accent1"/>
          </a:lnRef>
          <a:fillRef idx="0">
            <a:schemeClr val="accent1"/>
          </a:fillRef>
          <a:effectRef idx="0">
            <a:schemeClr val="accent1"/>
          </a:effectRef>
          <a:fontRef idx="minor">
            <a:schemeClr val="tx1"/>
          </a:fontRef>
        </p:style>
      </p:cxnSp>
      <p:sp>
        <p:nvSpPr>
          <p:cNvPr id="25" name="Ellipse 24">
            <a:extLst>
              <a:ext uri="{FF2B5EF4-FFF2-40B4-BE49-F238E27FC236}">
                <a16:creationId xmlns:a16="http://schemas.microsoft.com/office/drawing/2014/main" id="{5112AB94-69B9-E4F1-BC36-A890C34302F7}"/>
              </a:ext>
            </a:extLst>
          </p:cNvPr>
          <p:cNvSpPr>
            <a:spLocks noGrp="1" noRot="1" noMove="1" noResize="1" noEditPoints="1" noAdjustHandles="1" noChangeArrowheads="1" noChangeShapeType="1"/>
          </p:cNvSpPr>
          <p:nvPr/>
        </p:nvSpPr>
        <p:spPr>
          <a:xfrm>
            <a:off x="1435099"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1</a:t>
            </a:r>
          </a:p>
        </p:txBody>
      </p:sp>
      <p:sp>
        <p:nvSpPr>
          <p:cNvPr id="39" name="Ellipse 38">
            <a:extLst>
              <a:ext uri="{FF2B5EF4-FFF2-40B4-BE49-F238E27FC236}">
                <a16:creationId xmlns:a16="http://schemas.microsoft.com/office/drawing/2014/main" id="{17A443BF-D776-BDAF-7F5C-E989D916EE37}"/>
              </a:ext>
            </a:extLst>
          </p:cNvPr>
          <p:cNvSpPr>
            <a:spLocks noGrp="1" noRot="1" noMove="1" noResize="1" noEditPoints="1" noAdjustHandles="1" noChangeArrowheads="1" noChangeShapeType="1"/>
          </p:cNvSpPr>
          <p:nvPr/>
        </p:nvSpPr>
        <p:spPr>
          <a:xfrm>
            <a:off x="3276885" y="205023"/>
            <a:ext cx="246063" cy="253765"/>
          </a:xfrm>
          <a:prstGeom prst="ellipse">
            <a:avLst/>
          </a:prstGeom>
          <a:noFill/>
          <a:ln>
            <a:solidFill>
              <a:srgbClr val="F96A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F96A09"/>
                </a:solidFill>
              </a:rPr>
              <a:t>2</a:t>
            </a:r>
          </a:p>
        </p:txBody>
      </p:sp>
      <p:sp>
        <p:nvSpPr>
          <p:cNvPr id="41" name="Ellipse 40">
            <a:extLst>
              <a:ext uri="{FF2B5EF4-FFF2-40B4-BE49-F238E27FC236}">
                <a16:creationId xmlns:a16="http://schemas.microsoft.com/office/drawing/2014/main" id="{7945A4E8-0C75-A0A8-97F8-1DA8D903B9E4}"/>
              </a:ext>
            </a:extLst>
          </p:cNvPr>
          <p:cNvSpPr>
            <a:spLocks noGrp="1" noRot="1" noMove="1" noResize="1" noEditPoints="1" noAdjustHandles="1" noChangeArrowheads="1" noChangeShapeType="1"/>
          </p:cNvSpPr>
          <p:nvPr/>
        </p:nvSpPr>
        <p:spPr>
          <a:xfrm>
            <a:off x="5118671"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3</a:t>
            </a:r>
          </a:p>
        </p:txBody>
      </p:sp>
      <p:sp>
        <p:nvSpPr>
          <p:cNvPr id="43" name="Ellipse 42">
            <a:extLst>
              <a:ext uri="{FF2B5EF4-FFF2-40B4-BE49-F238E27FC236}">
                <a16:creationId xmlns:a16="http://schemas.microsoft.com/office/drawing/2014/main" id="{6AD12E97-0286-A790-06FF-B7A039302F7C}"/>
              </a:ext>
            </a:extLst>
          </p:cNvPr>
          <p:cNvSpPr>
            <a:spLocks noGrp="1" noRot="1" noMove="1" noResize="1" noEditPoints="1" noAdjustHandles="1" noChangeArrowheads="1" noChangeShapeType="1"/>
          </p:cNvSpPr>
          <p:nvPr/>
        </p:nvSpPr>
        <p:spPr>
          <a:xfrm>
            <a:off x="696045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4</a:t>
            </a:r>
          </a:p>
        </p:txBody>
      </p:sp>
      <p:sp>
        <p:nvSpPr>
          <p:cNvPr id="45" name="Ellipse 44">
            <a:extLst>
              <a:ext uri="{FF2B5EF4-FFF2-40B4-BE49-F238E27FC236}">
                <a16:creationId xmlns:a16="http://schemas.microsoft.com/office/drawing/2014/main" id="{696694D7-D506-3A57-D4A1-EE6C76E29C13}"/>
              </a:ext>
            </a:extLst>
          </p:cNvPr>
          <p:cNvSpPr>
            <a:spLocks noGrp="1" noRot="1" noMove="1" noResize="1" noEditPoints="1" noAdjustHandles="1" noChangeArrowheads="1" noChangeShapeType="1"/>
          </p:cNvSpPr>
          <p:nvPr/>
        </p:nvSpPr>
        <p:spPr>
          <a:xfrm>
            <a:off x="8802243"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5</a:t>
            </a:r>
          </a:p>
        </p:txBody>
      </p:sp>
      <p:sp>
        <p:nvSpPr>
          <p:cNvPr id="47" name="Ellipse 46">
            <a:extLst>
              <a:ext uri="{FF2B5EF4-FFF2-40B4-BE49-F238E27FC236}">
                <a16:creationId xmlns:a16="http://schemas.microsoft.com/office/drawing/2014/main" id="{9DC09777-7C5E-7D1D-9D79-13A2789B7F2C}"/>
              </a:ext>
            </a:extLst>
          </p:cNvPr>
          <p:cNvSpPr>
            <a:spLocks noGrp="1" noRot="1" noMove="1" noResize="1" noEditPoints="1" noAdjustHandles="1" noChangeArrowheads="1" noChangeShapeType="1"/>
          </p:cNvSpPr>
          <p:nvPr/>
        </p:nvSpPr>
        <p:spPr>
          <a:xfrm>
            <a:off x="1064402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6</a:t>
            </a:r>
          </a:p>
        </p:txBody>
      </p:sp>
      <p:cxnSp>
        <p:nvCxnSpPr>
          <p:cNvPr id="49" name="Connecteur droit 48">
            <a:extLst>
              <a:ext uri="{FF2B5EF4-FFF2-40B4-BE49-F238E27FC236}">
                <a16:creationId xmlns:a16="http://schemas.microsoft.com/office/drawing/2014/main" id="{6652AEAA-947A-8F59-29C3-31DD43A3E9A1}"/>
              </a:ext>
            </a:extLst>
          </p:cNvPr>
          <p:cNvCxnSpPr>
            <a:cxnSpLocks noGrp="1" noRot="1" noMove="1" noResize="1" noEditPoints="1" noAdjustHandles="1" noChangeArrowheads="1" noChangeShapeType="1"/>
            <a:endCxn id="25" idx="2"/>
          </p:cNvCxnSpPr>
          <p:nvPr/>
        </p:nvCxnSpPr>
        <p:spPr>
          <a:xfrm flipV="1">
            <a:off x="387416" y="331905"/>
            <a:ext cx="10476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A78A048B-DD71-92C0-DCA8-76ADC20398E5}"/>
              </a:ext>
            </a:extLst>
          </p:cNvPr>
          <p:cNvCxnSpPr>
            <a:cxnSpLocks noGrp="1" noRot="1" noMove="1" noResize="1" noEditPoints="1" noAdjustHandles="1" noChangeArrowheads="1" noChangeShapeType="1"/>
            <a:stCxn id="25" idx="6"/>
            <a:endCxn id="39" idx="2"/>
          </p:cNvCxnSpPr>
          <p:nvPr/>
        </p:nvCxnSpPr>
        <p:spPr>
          <a:xfrm flipV="1">
            <a:off x="1681162"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3" name="Connecteur droit 52">
            <a:extLst>
              <a:ext uri="{FF2B5EF4-FFF2-40B4-BE49-F238E27FC236}">
                <a16:creationId xmlns:a16="http://schemas.microsoft.com/office/drawing/2014/main" id="{4E06E591-5B2B-9F6D-CEF5-19B6F98C0FD6}"/>
              </a:ext>
            </a:extLst>
          </p:cNvPr>
          <p:cNvCxnSpPr>
            <a:cxnSpLocks noGrp="1" noRot="1" noMove="1" noResize="1" noEditPoints="1" noAdjustHandles="1" noChangeArrowheads="1" noChangeShapeType="1"/>
            <a:stCxn id="39" idx="6"/>
            <a:endCxn id="41" idx="2"/>
          </p:cNvCxnSpPr>
          <p:nvPr/>
        </p:nvCxnSpPr>
        <p:spPr>
          <a:xfrm>
            <a:off x="3522948"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5" name="Connecteur droit 54">
            <a:extLst>
              <a:ext uri="{FF2B5EF4-FFF2-40B4-BE49-F238E27FC236}">
                <a16:creationId xmlns:a16="http://schemas.microsoft.com/office/drawing/2014/main" id="{8930FF74-F3BF-79A7-BE00-7759BA4CEF3D}"/>
              </a:ext>
            </a:extLst>
          </p:cNvPr>
          <p:cNvCxnSpPr>
            <a:cxnSpLocks noGrp="1" noRot="1" noMove="1" noResize="1" noEditPoints="1" noAdjustHandles="1" noChangeArrowheads="1" noChangeShapeType="1"/>
            <a:stCxn id="41" idx="6"/>
            <a:endCxn id="43" idx="2"/>
          </p:cNvCxnSpPr>
          <p:nvPr/>
        </p:nvCxnSpPr>
        <p:spPr>
          <a:xfrm>
            <a:off x="5364734"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0712C77A-C9DB-D16B-2332-69554E133663}"/>
              </a:ext>
            </a:extLst>
          </p:cNvPr>
          <p:cNvCxnSpPr>
            <a:cxnSpLocks noGrp="1" noRot="1" noMove="1" noResize="1" noEditPoints="1" noAdjustHandles="1" noChangeArrowheads="1" noChangeShapeType="1"/>
            <a:stCxn id="43" idx="6"/>
            <a:endCxn id="45" idx="2"/>
          </p:cNvCxnSpPr>
          <p:nvPr/>
        </p:nvCxnSpPr>
        <p:spPr>
          <a:xfrm>
            <a:off x="7206520"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BFCEE27C-CEE1-6738-3431-50DC62EB3FD8}"/>
              </a:ext>
            </a:extLst>
          </p:cNvPr>
          <p:cNvCxnSpPr>
            <a:cxnSpLocks noGrp="1" noRot="1" noMove="1" noResize="1" noEditPoints="1" noAdjustHandles="1" noChangeArrowheads="1" noChangeShapeType="1"/>
            <a:stCxn id="45" idx="6"/>
            <a:endCxn id="47" idx="2"/>
          </p:cNvCxnSpPr>
          <p:nvPr/>
        </p:nvCxnSpPr>
        <p:spPr>
          <a:xfrm flipV="1">
            <a:off x="9048306" y="331905"/>
            <a:ext cx="15957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E52324C2-1040-8766-AA9C-40918F413366}"/>
              </a:ext>
            </a:extLst>
          </p:cNvPr>
          <p:cNvCxnSpPr>
            <a:cxnSpLocks noGrp="1" noRot="1" noMove="1" noResize="1" noEditPoints="1" noAdjustHandles="1" noChangeArrowheads="1" noChangeShapeType="1"/>
            <a:stCxn id="47" idx="6"/>
          </p:cNvCxnSpPr>
          <p:nvPr/>
        </p:nvCxnSpPr>
        <p:spPr>
          <a:xfrm>
            <a:off x="10890090" y="331905"/>
            <a:ext cx="130191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E9F27F16-B2C2-F305-8AAD-6D6DA9B7A2AF}"/>
              </a:ext>
            </a:extLst>
          </p:cNvPr>
          <p:cNvSpPr txBox="1">
            <a:spLocks noGrp="1" noRot="1" noMove="1" noResize="1" noEditPoints="1" noAdjustHandles="1" noChangeArrowheads="1" noChangeShapeType="1"/>
          </p:cNvSpPr>
          <p:nvPr/>
        </p:nvSpPr>
        <p:spPr>
          <a:xfrm>
            <a:off x="624823" y="479710"/>
            <a:ext cx="1965977" cy="769441"/>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a:t>
            </a:r>
            <a:r>
              <a:rPr lang="fr-FR" sz="1100" b="1" dirty="0">
                <a:latin typeface="Montserrat"/>
              </a:rPr>
              <a:t> </a:t>
            </a:r>
            <a:r>
              <a:rPr lang="fr-FR" sz="1100" b="1" dirty="0">
                <a:latin typeface="Montserrat"/>
                <a:cs typeface="Montserrat"/>
              </a:rPr>
              <a:t>STRUCTURE D’ACCUEIL</a:t>
            </a:r>
          </a:p>
          <a:p>
            <a:endParaRPr lang="fr-FR" sz="1100" dirty="0"/>
          </a:p>
        </p:txBody>
      </p:sp>
      <p:sp>
        <p:nvSpPr>
          <p:cNvPr id="10" name="ZoneTexte 9">
            <a:extLst>
              <a:ext uri="{FF2B5EF4-FFF2-40B4-BE49-F238E27FC236}">
                <a16:creationId xmlns:a16="http://schemas.microsoft.com/office/drawing/2014/main" id="{3C9817F5-AC75-FB08-0149-8CB7D6C3B246}"/>
              </a:ext>
            </a:extLst>
          </p:cNvPr>
          <p:cNvSpPr txBox="1">
            <a:spLocks noGrp="1" noRot="1" noMove="1" noResize="1" noEditPoints="1" noAdjustHandles="1" noChangeArrowheads="1" noChangeShapeType="1"/>
          </p:cNvSpPr>
          <p:nvPr/>
        </p:nvSpPr>
        <p:spPr>
          <a:xfrm>
            <a:off x="2643588" y="417161"/>
            <a:ext cx="1481708" cy="430887"/>
          </a:xfrm>
          <a:prstGeom prst="rect">
            <a:avLst/>
          </a:prstGeom>
          <a:noFill/>
        </p:spPr>
        <p:txBody>
          <a:bodyPr wrap="square" rtlCol="0">
            <a:spAutoFit/>
          </a:bodyPr>
          <a:lstStyle/>
          <a:p>
            <a:r>
              <a:rPr lang="fr-FR" sz="1100" b="1" dirty="0">
                <a:solidFill>
                  <a:srgbClr val="F96A09"/>
                </a:solidFill>
                <a:latin typeface="Montserrat"/>
                <a:cs typeface="Montserrat"/>
              </a:rPr>
              <a:t>CONTEXTE ET </a:t>
            </a:r>
          </a:p>
          <a:p>
            <a:r>
              <a:rPr lang="fr-FR" sz="1100" b="1" dirty="0">
                <a:solidFill>
                  <a:srgbClr val="F96A09"/>
                </a:solidFill>
                <a:latin typeface="Montserrat"/>
                <a:cs typeface="Montserrat"/>
              </a:rPr>
              <a:t>PROBLÉMATIQUE</a:t>
            </a:r>
          </a:p>
        </p:txBody>
      </p:sp>
      <p:sp>
        <p:nvSpPr>
          <p:cNvPr id="13" name="ZoneTexte 12">
            <a:extLst>
              <a:ext uri="{FF2B5EF4-FFF2-40B4-BE49-F238E27FC236}">
                <a16:creationId xmlns:a16="http://schemas.microsoft.com/office/drawing/2014/main" id="{16D37BB1-DE1A-C286-913B-E54C6DE902B1}"/>
              </a:ext>
            </a:extLst>
          </p:cNvPr>
          <p:cNvSpPr txBox="1">
            <a:spLocks noGrp="1" noRot="1" noMove="1" noResize="1" noEditPoints="1" noAdjustHandles="1" noChangeArrowheads="1" noChangeShapeType="1"/>
          </p:cNvSpPr>
          <p:nvPr/>
        </p:nvSpPr>
        <p:spPr>
          <a:xfrm>
            <a:off x="4178084" y="501799"/>
            <a:ext cx="1921727" cy="261610"/>
          </a:xfrm>
          <a:prstGeom prst="rect">
            <a:avLst/>
          </a:prstGeom>
          <a:noFill/>
        </p:spPr>
        <p:txBody>
          <a:bodyPr wrap="square" rtlCol="0">
            <a:spAutoFit/>
          </a:bodyPr>
          <a:lstStyle/>
          <a:p>
            <a:r>
              <a:rPr lang="fr-FR" sz="1100" b="1" dirty="0">
                <a:latin typeface="Montserrat"/>
                <a:cs typeface="Montserrat"/>
              </a:rPr>
              <a:t>ÉTUDE CONCEPTUELLE</a:t>
            </a:r>
          </a:p>
        </p:txBody>
      </p:sp>
      <p:sp>
        <p:nvSpPr>
          <p:cNvPr id="15" name="ZoneTexte 14">
            <a:extLst>
              <a:ext uri="{FF2B5EF4-FFF2-40B4-BE49-F238E27FC236}">
                <a16:creationId xmlns:a16="http://schemas.microsoft.com/office/drawing/2014/main" id="{E9080E58-8DF5-FF81-8419-51B867EE4C57}"/>
              </a:ext>
            </a:extLst>
          </p:cNvPr>
          <p:cNvSpPr txBox="1">
            <a:spLocks noGrp="1" noRot="1" noMove="1" noResize="1" noEditPoints="1" noAdjustHandles="1" noChangeArrowheads="1" noChangeShapeType="1"/>
          </p:cNvSpPr>
          <p:nvPr/>
        </p:nvSpPr>
        <p:spPr>
          <a:xfrm>
            <a:off x="6152599" y="425597"/>
            <a:ext cx="1595723" cy="430887"/>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 SOLUTION</a:t>
            </a:r>
          </a:p>
        </p:txBody>
      </p:sp>
      <p:sp>
        <p:nvSpPr>
          <p:cNvPr id="17" name="ZoneTexte 16">
            <a:extLst>
              <a:ext uri="{FF2B5EF4-FFF2-40B4-BE49-F238E27FC236}">
                <a16:creationId xmlns:a16="http://schemas.microsoft.com/office/drawing/2014/main" id="{9E9ED6A0-F8DA-46E0-57CF-F578130B4E19}"/>
              </a:ext>
            </a:extLst>
          </p:cNvPr>
          <p:cNvSpPr txBox="1">
            <a:spLocks noGrp="1" noRot="1" noMove="1" noResize="1" noEditPoints="1" noAdjustHandles="1" noChangeArrowheads="1" noChangeShapeType="1"/>
          </p:cNvSpPr>
          <p:nvPr/>
        </p:nvSpPr>
        <p:spPr>
          <a:xfrm>
            <a:off x="7801110" y="458786"/>
            <a:ext cx="1860500" cy="430887"/>
          </a:xfrm>
          <a:prstGeom prst="rect">
            <a:avLst/>
          </a:prstGeom>
          <a:noFill/>
        </p:spPr>
        <p:txBody>
          <a:bodyPr wrap="square" rtlCol="0">
            <a:spAutoFit/>
          </a:bodyPr>
          <a:lstStyle/>
          <a:p>
            <a:r>
              <a:rPr lang="fr-FR" sz="1100" b="1" dirty="0">
                <a:latin typeface="Montserrat"/>
                <a:cs typeface="Montserrat"/>
              </a:rPr>
              <a:t>RÉSULTATS ET VALIDATION</a:t>
            </a:r>
          </a:p>
        </p:txBody>
      </p:sp>
      <p:sp>
        <p:nvSpPr>
          <p:cNvPr id="19" name="ZoneTexte 18">
            <a:extLst>
              <a:ext uri="{FF2B5EF4-FFF2-40B4-BE49-F238E27FC236}">
                <a16:creationId xmlns:a16="http://schemas.microsoft.com/office/drawing/2014/main" id="{3694C535-5CA7-22A0-1A81-71175A3A7AE5}"/>
              </a:ext>
            </a:extLst>
          </p:cNvPr>
          <p:cNvSpPr txBox="1">
            <a:spLocks noGrp="1" noRot="1" noMove="1" noResize="1" noEditPoints="1" noAdjustHandles="1" noChangeArrowheads="1" noChangeShapeType="1"/>
          </p:cNvSpPr>
          <p:nvPr/>
        </p:nvSpPr>
        <p:spPr>
          <a:xfrm>
            <a:off x="9716922" y="479710"/>
            <a:ext cx="2346335" cy="261610"/>
          </a:xfrm>
          <a:prstGeom prst="rect">
            <a:avLst/>
          </a:prstGeom>
          <a:noFill/>
        </p:spPr>
        <p:txBody>
          <a:bodyPr wrap="square" rtlCol="0">
            <a:spAutoFit/>
          </a:bodyPr>
          <a:lstStyle/>
          <a:p>
            <a:r>
              <a:rPr lang="fr-FR" sz="1100" b="1" dirty="0">
                <a:latin typeface="Montserrat"/>
                <a:cs typeface="Montserrat"/>
              </a:rPr>
              <a:t>LIMITES ET PERSPECTIVES</a:t>
            </a:r>
          </a:p>
        </p:txBody>
      </p:sp>
      <p:sp>
        <p:nvSpPr>
          <p:cNvPr id="7" name="HdrTitle">
            <a:extLst>
              <a:ext uri="{FF2B5EF4-FFF2-40B4-BE49-F238E27FC236}">
                <a16:creationId xmlns:a16="http://schemas.microsoft.com/office/drawing/2014/main" id="{C29C1661-C6D2-4E8C-BE26-0BDC4FDE1E2E}"/>
              </a:ext>
            </a:extLst>
          </p:cNvPr>
          <p:cNvSpPr txBox="1">
            <a:spLocks noGrp="1" noRot="1" noMove="1" noResize="1" noEditPoints="1" noAdjustHandles="1" noChangeArrowheads="1" noChangeShapeType="1"/>
          </p:cNvSpPr>
          <p:nvPr/>
        </p:nvSpPr>
        <p:spPr>
          <a:xfrm>
            <a:off x="2120900" y="1270000"/>
            <a:ext cx="5080000" cy="892873"/>
          </a:xfrm>
          <a:prstGeom prst="rect">
            <a:avLst/>
          </a:prstGeom>
          <a:noFill/>
        </p:spPr>
        <p:txBody>
          <a:bodyPr vertOverflow="overflow" vert="horz" wrap="square" rtlCol="0" anchor="t">
            <a:spAutoFit/>
          </a:bodyPr>
          <a:lstStyle/>
          <a:p>
            <a:pPr algn="l">
              <a:lnSpc>
                <a:spcPts val="3200"/>
              </a:lnSpc>
              <a:spcBef>
                <a:spcPct val="0"/>
              </a:spcBef>
              <a:buNone/>
            </a:pPr>
            <a:r>
              <a:rPr lang="fr-FR" sz="2600" b="1" spc="60" dirty="0">
                <a:solidFill>
                  <a:srgbClr val="16294A"/>
                </a:solidFill>
                <a:latin typeface="Montserrat"/>
              </a:rPr>
              <a:t>CONTEXTE ET</a:t>
            </a:r>
          </a:p>
          <a:p>
            <a:pPr algn="l">
              <a:lnSpc>
                <a:spcPts val="3200"/>
              </a:lnSpc>
              <a:spcBef>
                <a:spcPct val="0"/>
              </a:spcBef>
              <a:buNone/>
            </a:pPr>
            <a:r>
              <a:rPr lang="fr-FR" sz="2600" b="1" spc="60" dirty="0">
                <a:solidFill>
                  <a:srgbClr val="16294A"/>
                </a:solidFill>
                <a:latin typeface="Montserrat"/>
              </a:rPr>
              <a:t>PROBLÉMATIQUE</a:t>
            </a:r>
          </a:p>
        </p:txBody>
      </p:sp>
      <p:sp>
        <p:nvSpPr>
          <p:cNvPr id="12" name="Kpi0">
            <a:extLst>
              <a:ext uri="{FF2B5EF4-FFF2-40B4-BE49-F238E27FC236}">
                <a16:creationId xmlns:a16="http://schemas.microsoft.com/office/drawing/2014/main" id="{5B7CF4EB-1304-45D0-B7A8-38CDDFB4B747}"/>
              </a:ext>
            </a:extLst>
          </p:cNvPr>
          <p:cNvSpPr>
            <a:spLocks noGrp="1" noRot="1" noMove="1" noResize="1" noEditPoints="1" noAdjustHandles="1" noChangeArrowheads="1" noChangeShapeType="1"/>
          </p:cNvSpPr>
          <p:nvPr/>
        </p:nvSpPr>
        <p:spPr>
          <a:xfrm>
            <a:off x="901700" y="2743200"/>
            <a:ext cx="3327400" cy="1244600"/>
          </a:xfrm>
          <a:prstGeom prst="roundRect">
            <a:avLst/>
          </a:prstGeom>
          <a:solidFill>
            <a:srgbClr val="EDF0F5"/>
          </a:solidFill>
          <a:ln>
            <a:noFill/>
          </a:ln>
          <a:effectLst>
            <a:outerShdw blurRad="101600" dist="25400" dir="5400000" algn="t" rotWithShape="0">
              <a:srgbClr val="16294A">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14" name="KpiVal0">
            <a:extLst>
              <a:ext uri="{FF2B5EF4-FFF2-40B4-BE49-F238E27FC236}">
                <a16:creationId xmlns:a16="http://schemas.microsoft.com/office/drawing/2014/main" id="{F51E3ED3-C530-4E03-9A80-1FBD3C9791C6}"/>
              </a:ext>
            </a:extLst>
          </p:cNvPr>
          <p:cNvSpPr txBox="1">
            <a:spLocks noGrp="1" noRot="1" noMove="1" noResize="1" noEditPoints="1" noAdjustHandles="1" noChangeArrowheads="1" noChangeShapeType="1"/>
          </p:cNvSpPr>
          <p:nvPr/>
        </p:nvSpPr>
        <p:spPr>
          <a:xfrm>
            <a:off x="1739900" y="2921000"/>
            <a:ext cx="2311400" cy="457200"/>
          </a:xfrm>
          <a:prstGeom prst="rect">
            <a:avLst/>
          </a:prstGeom>
          <a:noFill/>
        </p:spPr>
        <p:txBody>
          <a:bodyPr vertOverflow="overflow" vert="horz" wrap="square" rtlCol="0" anchor="t">
            <a:spAutoFit/>
          </a:bodyPr>
          <a:lstStyle/>
          <a:p>
            <a:pPr algn="l">
              <a:lnSpc>
                <a:spcPts val="3000"/>
              </a:lnSpc>
              <a:spcBef>
                <a:spcPct val="0"/>
              </a:spcBef>
              <a:buNone/>
            </a:pPr>
            <a:r>
              <a:rPr lang="fr-FR" sz="2600" b="1" dirty="0">
                <a:solidFill>
                  <a:srgbClr val="16294A"/>
                </a:solidFill>
                <a:latin typeface="Montserrat"/>
              </a:rPr>
              <a:t>33 000+</a:t>
            </a:r>
          </a:p>
        </p:txBody>
      </p:sp>
      <p:sp>
        <p:nvSpPr>
          <p:cNvPr id="16" name="KpiLbl0">
            <a:extLst>
              <a:ext uri="{FF2B5EF4-FFF2-40B4-BE49-F238E27FC236}">
                <a16:creationId xmlns:a16="http://schemas.microsoft.com/office/drawing/2014/main" id="{D2F95C23-5803-43A5-99C3-0A8B9677B94A}"/>
              </a:ext>
            </a:extLst>
          </p:cNvPr>
          <p:cNvSpPr txBox="1">
            <a:spLocks noGrp="1" noRot="1" noMove="1" noResize="1" noEditPoints="1" noAdjustHandles="1" noChangeArrowheads="1" noChangeShapeType="1"/>
          </p:cNvSpPr>
          <p:nvPr/>
        </p:nvSpPr>
        <p:spPr>
          <a:xfrm>
            <a:off x="1739900" y="3378200"/>
            <a:ext cx="2362200" cy="355600"/>
          </a:xfrm>
          <a:prstGeom prst="rect">
            <a:avLst/>
          </a:prstGeom>
          <a:noFill/>
        </p:spPr>
        <p:txBody>
          <a:bodyPr vertOverflow="overflow" vert="horz" wrap="square" rtlCol="0" anchor="t">
            <a:spAutoFit/>
          </a:bodyPr>
          <a:lstStyle/>
          <a:p>
            <a:pPr algn="l">
              <a:lnSpc>
                <a:spcPts val="1800"/>
              </a:lnSpc>
              <a:spcBef>
                <a:spcPct val="0"/>
              </a:spcBef>
              <a:buNone/>
            </a:pPr>
            <a:r>
              <a:rPr lang="fr-FR" sz="1400" dirty="0">
                <a:solidFill>
                  <a:srgbClr val="5A5550"/>
                </a:solidFill>
                <a:latin typeface="Montserrat"/>
              </a:rPr>
              <a:t>utilisateurs enregistrés</a:t>
            </a:r>
          </a:p>
        </p:txBody>
      </p:sp>
      <p:sp>
        <p:nvSpPr>
          <p:cNvPr id="18" name="Kpi1">
            <a:extLst>
              <a:ext uri="{FF2B5EF4-FFF2-40B4-BE49-F238E27FC236}">
                <a16:creationId xmlns:a16="http://schemas.microsoft.com/office/drawing/2014/main" id="{66F41DA6-C57A-4F11-8AFD-3FF565F71CF0}"/>
              </a:ext>
            </a:extLst>
          </p:cNvPr>
          <p:cNvSpPr>
            <a:spLocks noGrp="1" noRot="1" noMove="1" noResize="1" noEditPoints="1" noAdjustHandles="1" noChangeArrowheads="1" noChangeShapeType="1"/>
          </p:cNvSpPr>
          <p:nvPr/>
        </p:nvSpPr>
        <p:spPr>
          <a:xfrm>
            <a:off x="4432300" y="2743200"/>
            <a:ext cx="3327400" cy="1244600"/>
          </a:xfrm>
          <a:prstGeom prst="roundRect">
            <a:avLst/>
          </a:prstGeom>
          <a:solidFill>
            <a:srgbClr val="EDF0F5"/>
          </a:solidFill>
          <a:ln>
            <a:noFill/>
          </a:ln>
          <a:effectLst>
            <a:outerShdw blurRad="101600" dist="25400" dir="5400000" algn="t" rotWithShape="0">
              <a:srgbClr val="16294A">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20" name="KpiVal1">
            <a:extLst>
              <a:ext uri="{FF2B5EF4-FFF2-40B4-BE49-F238E27FC236}">
                <a16:creationId xmlns:a16="http://schemas.microsoft.com/office/drawing/2014/main" id="{B4989E1E-9641-4026-86C9-8B2B63BE9113}"/>
              </a:ext>
            </a:extLst>
          </p:cNvPr>
          <p:cNvSpPr txBox="1">
            <a:spLocks noGrp="1" noRot="1" noMove="1" noResize="1" noEditPoints="1" noAdjustHandles="1" noChangeArrowheads="1" noChangeShapeType="1"/>
          </p:cNvSpPr>
          <p:nvPr/>
        </p:nvSpPr>
        <p:spPr>
          <a:xfrm>
            <a:off x="5270500" y="2921000"/>
            <a:ext cx="2311400" cy="457200"/>
          </a:xfrm>
          <a:prstGeom prst="rect">
            <a:avLst/>
          </a:prstGeom>
          <a:noFill/>
        </p:spPr>
        <p:txBody>
          <a:bodyPr vertOverflow="overflow" vert="horz" wrap="square" rtlCol="0" anchor="t">
            <a:spAutoFit/>
          </a:bodyPr>
          <a:lstStyle/>
          <a:p>
            <a:pPr algn="l">
              <a:lnSpc>
                <a:spcPts val="3000"/>
              </a:lnSpc>
              <a:spcBef>
                <a:spcPct val="0"/>
              </a:spcBef>
              <a:buNone/>
            </a:pPr>
            <a:r>
              <a:rPr lang="fr-FR" sz="2600" b="1" dirty="0">
                <a:solidFill>
                  <a:srgbClr val="16294A"/>
                </a:solidFill>
                <a:latin typeface="Montserrat"/>
              </a:rPr>
              <a:t>2 041</a:t>
            </a:r>
          </a:p>
        </p:txBody>
      </p:sp>
      <p:sp>
        <p:nvSpPr>
          <p:cNvPr id="21" name="KpiLbl1">
            <a:extLst>
              <a:ext uri="{FF2B5EF4-FFF2-40B4-BE49-F238E27FC236}">
                <a16:creationId xmlns:a16="http://schemas.microsoft.com/office/drawing/2014/main" id="{2C9030C7-13DF-42DF-AE00-C3025E97E76E}"/>
              </a:ext>
            </a:extLst>
          </p:cNvPr>
          <p:cNvSpPr txBox="1">
            <a:spLocks noGrp="1" noRot="1" noMove="1" noResize="1" noEditPoints="1" noAdjustHandles="1" noChangeArrowheads="1" noChangeShapeType="1"/>
          </p:cNvSpPr>
          <p:nvPr/>
        </p:nvSpPr>
        <p:spPr>
          <a:xfrm>
            <a:off x="5270500" y="3378200"/>
            <a:ext cx="2362200" cy="355600"/>
          </a:xfrm>
          <a:prstGeom prst="rect">
            <a:avLst/>
          </a:prstGeom>
          <a:noFill/>
        </p:spPr>
        <p:txBody>
          <a:bodyPr vertOverflow="overflow" vert="horz" wrap="square" rtlCol="0" anchor="t">
            <a:spAutoFit/>
          </a:bodyPr>
          <a:lstStyle/>
          <a:p>
            <a:pPr algn="l">
              <a:lnSpc>
                <a:spcPts val="1800"/>
              </a:lnSpc>
              <a:spcBef>
                <a:spcPct val="0"/>
              </a:spcBef>
              <a:buNone/>
            </a:pPr>
            <a:r>
              <a:rPr lang="fr-FR" sz="1400" dirty="0">
                <a:solidFill>
                  <a:srgbClr val="5A5550"/>
                </a:solidFill>
                <a:latin typeface="Montserrat"/>
              </a:rPr>
              <a:t>demandes d’assistance</a:t>
            </a:r>
          </a:p>
        </p:txBody>
      </p:sp>
      <p:sp>
        <p:nvSpPr>
          <p:cNvPr id="22" name="Kpi2">
            <a:extLst>
              <a:ext uri="{FF2B5EF4-FFF2-40B4-BE49-F238E27FC236}">
                <a16:creationId xmlns:a16="http://schemas.microsoft.com/office/drawing/2014/main" id="{F7B05323-CED4-4079-B514-99F609916FBB}"/>
              </a:ext>
            </a:extLst>
          </p:cNvPr>
          <p:cNvSpPr>
            <a:spLocks noGrp="1" noRot="1" noMove="1" noResize="1" noEditPoints="1" noAdjustHandles="1" noChangeArrowheads="1" noChangeShapeType="1"/>
          </p:cNvSpPr>
          <p:nvPr/>
        </p:nvSpPr>
        <p:spPr>
          <a:xfrm>
            <a:off x="7962900" y="2743200"/>
            <a:ext cx="3340100" cy="1244600"/>
          </a:xfrm>
          <a:prstGeom prst="roundRect">
            <a:avLst/>
          </a:prstGeom>
          <a:solidFill>
            <a:srgbClr val="EDF0F5"/>
          </a:solidFill>
          <a:ln>
            <a:noFill/>
          </a:ln>
          <a:effectLst>
            <a:outerShdw blurRad="101600" dist="25400" dir="5400000" algn="t" rotWithShape="0">
              <a:srgbClr val="16294A">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23" name="KpiVal2">
            <a:extLst>
              <a:ext uri="{FF2B5EF4-FFF2-40B4-BE49-F238E27FC236}">
                <a16:creationId xmlns:a16="http://schemas.microsoft.com/office/drawing/2014/main" id="{D2224CB0-B633-4C26-8DED-A5BE23DBA591}"/>
              </a:ext>
            </a:extLst>
          </p:cNvPr>
          <p:cNvSpPr txBox="1">
            <a:spLocks noGrp="1" noRot="1" noMove="1" noResize="1" noEditPoints="1" noAdjustHandles="1" noChangeArrowheads="1" noChangeShapeType="1"/>
          </p:cNvSpPr>
          <p:nvPr/>
        </p:nvSpPr>
        <p:spPr>
          <a:xfrm>
            <a:off x="8801100" y="2921000"/>
            <a:ext cx="2324100" cy="457200"/>
          </a:xfrm>
          <a:prstGeom prst="rect">
            <a:avLst/>
          </a:prstGeom>
          <a:noFill/>
        </p:spPr>
        <p:txBody>
          <a:bodyPr vertOverflow="overflow" vert="horz" wrap="square" rtlCol="0" anchor="t">
            <a:spAutoFit/>
          </a:bodyPr>
          <a:lstStyle/>
          <a:p>
            <a:pPr algn="l">
              <a:lnSpc>
                <a:spcPts val="3000"/>
              </a:lnSpc>
              <a:spcBef>
                <a:spcPct val="0"/>
              </a:spcBef>
              <a:buNone/>
            </a:pPr>
            <a:r>
              <a:rPr lang="fr-FR" sz="2600" b="1" dirty="0">
                <a:solidFill>
                  <a:srgbClr val="16294A"/>
                </a:solidFill>
                <a:latin typeface="Montserrat"/>
              </a:rPr>
              <a:t>&lt; 2 mois</a:t>
            </a:r>
          </a:p>
        </p:txBody>
      </p:sp>
      <p:sp>
        <p:nvSpPr>
          <p:cNvPr id="24" name="KpiLbl2">
            <a:extLst>
              <a:ext uri="{FF2B5EF4-FFF2-40B4-BE49-F238E27FC236}">
                <a16:creationId xmlns:a16="http://schemas.microsoft.com/office/drawing/2014/main" id="{5646E9DA-4222-4A4D-BD60-6A64F65C1354}"/>
              </a:ext>
            </a:extLst>
          </p:cNvPr>
          <p:cNvSpPr txBox="1">
            <a:spLocks noGrp="1" noRot="1" noMove="1" noResize="1" noEditPoints="1" noAdjustHandles="1" noChangeArrowheads="1" noChangeShapeType="1"/>
          </p:cNvSpPr>
          <p:nvPr/>
        </p:nvSpPr>
        <p:spPr>
          <a:xfrm>
            <a:off x="8801100" y="3378200"/>
            <a:ext cx="2374900" cy="355600"/>
          </a:xfrm>
          <a:prstGeom prst="rect">
            <a:avLst/>
          </a:prstGeom>
          <a:noFill/>
        </p:spPr>
        <p:txBody>
          <a:bodyPr vertOverflow="overflow" vert="horz" wrap="square" rtlCol="0" anchor="t">
            <a:spAutoFit/>
          </a:bodyPr>
          <a:lstStyle/>
          <a:p>
            <a:pPr algn="l">
              <a:lnSpc>
                <a:spcPts val="1800"/>
              </a:lnSpc>
              <a:spcBef>
                <a:spcPct val="0"/>
              </a:spcBef>
              <a:buNone/>
            </a:pPr>
            <a:r>
              <a:rPr lang="fr-FR" sz="1400" dirty="0">
                <a:solidFill>
                  <a:srgbClr val="5A5550"/>
                </a:solidFill>
                <a:latin typeface="Montserrat"/>
              </a:rPr>
              <a:t>d’exploitation</a:t>
            </a:r>
          </a:p>
        </p:txBody>
      </p:sp>
      <p:sp>
        <p:nvSpPr>
          <p:cNvPr id="26" name="LimBar">
            <a:extLst>
              <a:ext uri="{FF2B5EF4-FFF2-40B4-BE49-F238E27FC236}">
                <a16:creationId xmlns:a16="http://schemas.microsoft.com/office/drawing/2014/main" id="{EB3E7B7B-B4BF-4436-B434-A00C85087135}"/>
              </a:ext>
            </a:extLst>
          </p:cNvPr>
          <p:cNvSpPr>
            <a:spLocks noGrp="1" noRot="1" noMove="1" noResize="1" noEditPoints="1" noAdjustHandles="1" noChangeArrowheads="1" noChangeShapeType="1"/>
          </p:cNvSpPr>
          <p:nvPr/>
        </p:nvSpPr>
        <p:spPr>
          <a:xfrm>
            <a:off x="901700" y="4470400"/>
            <a:ext cx="63500" cy="1828800"/>
          </a:xfrm>
          <a:prstGeom prst="rect">
            <a:avLst/>
          </a:prstGeom>
          <a:solidFill>
            <a:srgbClr val="F96A0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27" name="LimHead">
            <a:extLst>
              <a:ext uri="{FF2B5EF4-FFF2-40B4-BE49-F238E27FC236}">
                <a16:creationId xmlns:a16="http://schemas.microsoft.com/office/drawing/2014/main" id="{01210616-FEB9-4A15-A6B3-D4C58734D683}"/>
              </a:ext>
            </a:extLst>
          </p:cNvPr>
          <p:cNvSpPr txBox="1">
            <a:spLocks noGrp="1" noRot="1" noMove="1" noResize="1" noEditPoints="1" noAdjustHandles="1" noChangeArrowheads="1" noChangeShapeType="1"/>
          </p:cNvSpPr>
          <p:nvPr/>
        </p:nvSpPr>
        <p:spPr>
          <a:xfrm>
            <a:off x="1168400" y="4419600"/>
            <a:ext cx="5080000" cy="381000"/>
          </a:xfrm>
          <a:prstGeom prst="rect">
            <a:avLst/>
          </a:prstGeom>
          <a:noFill/>
        </p:spPr>
        <p:txBody>
          <a:bodyPr vertOverflow="overflow" vert="horz" wrap="square" rtlCol="0" anchor="t">
            <a:spAutoFit/>
          </a:bodyPr>
          <a:lstStyle/>
          <a:p>
            <a:pPr algn="l">
              <a:spcBef>
                <a:spcPct val="0"/>
              </a:spcBef>
              <a:buNone/>
            </a:pPr>
            <a:r>
              <a:rPr lang="fr-FR" sz="1800" b="1" spc="200" dirty="0">
                <a:solidFill>
                  <a:srgbClr val="16294A"/>
                </a:solidFill>
                <a:latin typeface="Montserrat"/>
              </a:rPr>
              <a:t>LIMITES ACTUELLES</a:t>
            </a:r>
          </a:p>
        </p:txBody>
      </p:sp>
      <p:sp>
        <p:nvSpPr>
          <p:cNvPr id="28" name="LimList">
            <a:extLst>
              <a:ext uri="{FF2B5EF4-FFF2-40B4-BE49-F238E27FC236}">
                <a16:creationId xmlns:a16="http://schemas.microsoft.com/office/drawing/2014/main" id="{9C913579-736B-40D8-9254-C6E8726FEA70}"/>
              </a:ext>
            </a:extLst>
          </p:cNvPr>
          <p:cNvSpPr txBox="1">
            <a:spLocks noGrp="1" noRot="1" noMove="1" noResize="1" noEditPoints="1" noAdjustHandles="1" noChangeArrowheads="1" noChangeShapeType="1"/>
          </p:cNvSpPr>
          <p:nvPr/>
        </p:nvSpPr>
        <p:spPr>
          <a:xfrm>
            <a:off x="1168400" y="4927600"/>
            <a:ext cx="5461000" cy="1217000"/>
          </a:xfrm>
          <a:prstGeom prst="rect">
            <a:avLst/>
          </a:prstGeom>
          <a:noFill/>
        </p:spPr>
        <p:txBody>
          <a:bodyPr vertOverflow="overflow" vert="horz" wrap="square" rtlCol="0" anchor="t">
            <a:spAutoFit/>
          </a:bodyPr>
          <a:lstStyle/>
          <a:p>
            <a:pPr marL="228600" indent="-228600" algn="l">
              <a:lnSpc>
                <a:spcPts val="2600"/>
              </a:lnSpc>
              <a:spcBef>
                <a:spcPct val="0"/>
              </a:spcBef>
              <a:buClr>
                <a:srgbClr val="F96A09"/>
              </a:buClr>
              <a:buFont typeface="Arial"/>
              <a:buChar char="•"/>
            </a:pPr>
            <a:r>
              <a:rPr lang="fr-FR" sz="1700" dirty="0">
                <a:solidFill>
                  <a:srgbClr val="5A5550"/>
                </a:solidFill>
                <a:latin typeface="Montserrat"/>
              </a:rPr>
              <a:t>Traitement 100 % </a:t>
            </a:r>
            <a:r>
              <a:rPr lang="fr-FR" sz="1700" b="1" dirty="0">
                <a:solidFill>
                  <a:srgbClr val="F96A09"/>
                </a:solidFill>
                <a:latin typeface="Montserrat"/>
              </a:rPr>
              <a:t>manuel</a:t>
            </a:r>
            <a:r>
              <a:rPr lang="fr-FR" sz="1700" dirty="0">
                <a:solidFill>
                  <a:srgbClr val="5A5550"/>
                </a:solidFill>
                <a:latin typeface="Montserrat"/>
              </a:rPr>
              <a:t> via le back-office.</a:t>
            </a:r>
          </a:p>
          <a:p>
            <a:pPr marL="228600" indent="-228600" algn="l">
              <a:lnSpc>
                <a:spcPts val="2600"/>
              </a:lnSpc>
              <a:spcBef>
                <a:spcPts val="600"/>
              </a:spcBef>
              <a:buClr>
                <a:srgbClr val="F96A09"/>
              </a:buClr>
              <a:buFont typeface="Arial"/>
              <a:buChar char="•"/>
            </a:pPr>
            <a:r>
              <a:rPr lang="fr-FR" sz="1700" dirty="0">
                <a:solidFill>
                  <a:srgbClr val="5A5550"/>
                </a:solidFill>
                <a:latin typeface="Montserrat"/>
              </a:rPr>
              <a:t>Délais de prise en charge </a:t>
            </a:r>
            <a:r>
              <a:rPr lang="fr-FR" sz="1700" b="1" dirty="0">
                <a:solidFill>
                  <a:srgbClr val="F96A09"/>
                </a:solidFill>
                <a:latin typeface="Montserrat"/>
              </a:rPr>
              <a:t>qui s’allongent</a:t>
            </a:r>
            <a:r>
              <a:rPr lang="fr-FR" sz="1700" dirty="0">
                <a:latin typeface="Montserrat"/>
              </a:rPr>
              <a:t>.</a:t>
            </a:r>
          </a:p>
          <a:p>
            <a:pPr marL="228600" indent="-228600" algn="l">
              <a:lnSpc>
                <a:spcPts val="2600"/>
              </a:lnSpc>
              <a:spcBef>
                <a:spcPts val="600"/>
              </a:spcBef>
              <a:buClr>
                <a:srgbClr val="F96A09"/>
              </a:buClr>
              <a:buFont typeface="Arial"/>
              <a:buChar char="•"/>
            </a:pPr>
            <a:r>
              <a:rPr lang="fr-FR" sz="1700" dirty="0">
                <a:solidFill>
                  <a:srgbClr val="5A5550"/>
                </a:solidFill>
                <a:latin typeface="Montserrat"/>
              </a:rPr>
              <a:t>Disponibilité du support </a:t>
            </a:r>
            <a:r>
              <a:rPr lang="fr-FR" sz="1700" b="1" dirty="0">
                <a:solidFill>
                  <a:srgbClr val="F96A09"/>
                </a:solidFill>
                <a:latin typeface="Montserrat"/>
              </a:rPr>
              <a:t>limitée</a:t>
            </a:r>
            <a:r>
              <a:rPr lang="fr-FR" sz="1700" dirty="0">
                <a:latin typeface="Montserrat"/>
              </a:rPr>
              <a:t>.</a:t>
            </a:r>
          </a:p>
        </p:txBody>
      </p:sp>
      <p:pic>
        <p:nvPicPr>
          <p:cNvPr id="63" name="Graphic 63" descr="Utilisateurs enregistrés"/>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1181100" y="3098800"/>
            <a:ext cx="533400" cy="533400"/>
          </a:xfrm>
          <a:prstGeom prst="rect">
            <a:avLst/>
          </a:prstGeom>
        </p:spPr>
      </p:pic>
      <p:pic>
        <p:nvPicPr>
          <p:cNvPr id="64" name="Graphic 64" descr="Demandes d'assistance"/>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4"/>
              </a:ext>
            </a:extLst>
          </a:blip>
          <a:stretch>
            <a:fillRect/>
          </a:stretch>
        </p:blipFill>
        <p:spPr>
          <a:xfrm>
            <a:off x="4711700" y="3098800"/>
            <a:ext cx="533400" cy="533400"/>
          </a:xfrm>
          <a:prstGeom prst="rect">
            <a:avLst/>
          </a:prstGeom>
        </p:spPr>
      </p:pic>
      <p:pic>
        <p:nvPicPr>
          <p:cNvPr id="65" name="Graphic 65" descr="Durée d'exploitation"/>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tretch>
            <a:fillRect/>
          </a:stretch>
        </p:blipFill>
        <p:spPr>
          <a:xfrm>
            <a:off x="8242300" y="3098800"/>
            <a:ext cx="533400" cy="533400"/>
          </a:xfrm>
          <a:prstGeom prst="rect">
            <a:avLst/>
          </a:prstGeom>
        </p:spPr>
      </p:pic>
      <p:sp>
        <p:nvSpPr>
          <p:cNvPr id="3" name="HdrRule2">
            <a:extLst>
              <a:ext uri="{FF2B5EF4-FFF2-40B4-BE49-F238E27FC236}">
                <a16:creationId xmlns:a16="http://schemas.microsoft.com/office/drawing/2014/main" id="{B16C703D-D714-4EDA-8EB9-A41890D9EEF1}"/>
              </a:ext>
            </a:extLst>
          </p:cNvPr>
          <p:cNvSpPr>
            <a:spLocks noGrp="1" noRot="1" noMove="1" noResize="1" noEditPoints="1" noAdjustHandles="1" noChangeArrowheads="1" noChangeShapeType="1"/>
          </p:cNvSpPr>
          <p:nvPr/>
        </p:nvSpPr>
        <p:spPr>
          <a:xfrm>
            <a:off x="1003300" y="2451100"/>
            <a:ext cx="10388600" cy="12700"/>
          </a:xfrm>
          <a:prstGeom prst="rect">
            <a:avLst/>
          </a:prstGeom>
          <a:solidFill>
            <a:srgbClr val="D8CCC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29" name="Rectangle 28">
            <a:extLst>
              <a:ext uri="{FF2B5EF4-FFF2-40B4-BE49-F238E27FC236}">
                <a16:creationId xmlns:a16="http://schemas.microsoft.com/office/drawing/2014/main" id="{3D3B11B2-5DD8-95CE-6E43-BB7723AABEED}"/>
              </a:ext>
            </a:extLst>
          </p:cNvPr>
          <p:cNvSpPr>
            <a:spLocks/>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BDC130A1-B90F-47BF-94EE-94B24A29DE76}" type="slidenum">
              <a:rPr lang="fr-FR" sz="1600" b="1" dirty="0">
                <a:solidFill>
                  <a:srgbClr val="FFFFFF"/>
                </a:solidFill>
                <a:latin typeface="Montserrat"/>
              </a:rPr>
              <a:t>5</a:t>
            </a:fld>
            <a:endParaRPr lang="fr-FR" sz="1600" b="1" dirty="0">
              <a:solidFill>
                <a:srgbClr val="FFFFFF"/>
              </a:solidFill>
              <a:latin typeface="Montserrat"/>
            </a:endParaRPr>
          </a:p>
        </p:txBody>
      </p:sp>
    </p:spTree>
    <p:extLst>
      <p:ext uri="{BB962C8B-B14F-4D97-AF65-F5344CB8AC3E}">
        <p14:creationId xmlns:p14="http://schemas.microsoft.com/office/powerpoint/2010/main" val="1875788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anim calcmode="lin" valueType="num">
                                      <p:cBhvr>
                                        <p:cTn id="8" dur="450" fill="hold"/>
                                        <p:tgtEl>
                                          <p:spTgt spid="5"/>
                                        </p:tgtEl>
                                        <p:attrNameLst>
                                          <p:attrName>ppt_x</p:attrName>
                                        </p:attrNameLst>
                                      </p:cBhvr>
                                      <p:tavLst>
                                        <p:tav tm="0">
                                          <p:val>
                                            <p:strVal val="#ppt_x"/>
                                          </p:val>
                                        </p:tav>
                                        <p:tav tm="100000">
                                          <p:val>
                                            <p:strVal val="#ppt_x"/>
                                          </p:val>
                                        </p:tav>
                                      </p:tavLst>
                                    </p:anim>
                                    <p:anim calcmode="lin" valueType="num">
                                      <p:cBhvr>
                                        <p:cTn id="9" dur="450" fill="hold"/>
                                        <p:tgtEl>
                                          <p:spTgt spid="5"/>
                                        </p:tgtEl>
                                        <p:attrNameLst>
                                          <p:attrName>ppt_y</p:attrName>
                                        </p:attrNameLst>
                                      </p:cBhvr>
                                      <p:tavLst>
                                        <p:tav tm="0">
                                          <p:val>
                                            <p:strVal val="#ppt_y+.03"/>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anim calcmode="lin" valueType="num">
                                      <p:cBhvr>
                                        <p:cTn id="13" dur="450" fill="hold"/>
                                        <p:tgtEl>
                                          <p:spTgt spid="11"/>
                                        </p:tgtEl>
                                        <p:attrNameLst>
                                          <p:attrName>ppt_x</p:attrName>
                                        </p:attrNameLst>
                                      </p:cBhvr>
                                      <p:tavLst>
                                        <p:tav tm="0">
                                          <p:val>
                                            <p:strVal val="#ppt_x"/>
                                          </p:val>
                                        </p:tav>
                                        <p:tav tm="100000">
                                          <p:val>
                                            <p:strVal val="#ppt_x"/>
                                          </p:val>
                                        </p:tav>
                                      </p:tavLst>
                                    </p:anim>
                                    <p:anim calcmode="lin" valueType="num">
                                      <p:cBhvr>
                                        <p:cTn id="14" dur="450" fill="hold"/>
                                        <p:tgtEl>
                                          <p:spTgt spid="11"/>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450"/>
                                        <p:tgtEl>
                                          <p:spTgt spid="7"/>
                                        </p:tgtEl>
                                      </p:cBhvr>
                                    </p:animEffect>
                                    <p:anim calcmode="lin" valueType="num">
                                      <p:cBhvr>
                                        <p:cTn id="18" dur="450" fill="hold"/>
                                        <p:tgtEl>
                                          <p:spTgt spid="7"/>
                                        </p:tgtEl>
                                        <p:attrNameLst>
                                          <p:attrName>ppt_x</p:attrName>
                                        </p:attrNameLst>
                                      </p:cBhvr>
                                      <p:tavLst>
                                        <p:tav tm="0">
                                          <p:val>
                                            <p:strVal val="#ppt_x"/>
                                          </p:val>
                                        </p:tav>
                                        <p:tav tm="100000">
                                          <p:val>
                                            <p:strVal val="#ppt_x"/>
                                          </p:val>
                                        </p:tav>
                                      </p:tavLst>
                                    </p:anim>
                                    <p:anim calcmode="lin" valueType="num">
                                      <p:cBhvr>
                                        <p:cTn id="19" dur="450" fill="hold"/>
                                        <p:tgtEl>
                                          <p:spTgt spid="7"/>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450"/>
                                        <p:tgtEl>
                                          <p:spTgt spid="3"/>
                                        </p:tgtEl>
                                      </p:cBhvr>
                                    </p:animEffect>
                                    <p:anim calcmode="lin" valueType="num">
                                      <p:cBhvr>
                                        <p:cTn id="23" dur="450" fill="hold"/>
                                        <p:tgtEl>
                                          <p:spTgt spid="3"/>
                                        </p:tgtEl>
                                        <p:attrNameLst>
                                          <p:attrName>ppt_x</p:attrName>
                                        </p:attrNameLst>
                                      </p:cBhvr>
                                      <p:tavLst>
                                        <p:tav tm="0">
                                          <p:val>
                                            <p:strVal val="#ppt_x"/>
                                          </p:val>
                                        </p:tav>
                                        <p:tav tm="100000">
                                          <p:val>
                                            <p:strVal val="#ppt_x"/>
                                          </p:val>
                                        </p:tav>
                                      </p:tavLst>
                                    </p:anim>
                                    <p:anim calcmode="lin" valueType="num">
                                      <p:cBhvr>
                                        <p:cTn id="24" dur="450" fill="hold"/>
                                        <p:tgtEl>
                                          <p:spTgt spid="3"/>
                                        </p:tgtEl>
                                        <p:attrNameLst>
                                          <p:attrName>ppt_y</p:attrName>
                                        </p:attrNameLst>
                                      </p:cBhvr>
                                      <p:tavLst>
                                        <p:tav tm="0">
                                          <p:val>
                                            <p:strVal val="#ppt_y+.03"/>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p:cTn id="29" dur="500" fill="hold"/>
                                        <p:tgtEl>
                                          <p:spTgt spid="12"/>
                                        </p:tgtEl>
                                        <p:attrNameLst>
                                          <p:attrName>ppt_w</p:attrName>
                                        </p:attrNameLst>
                                      </p:cBhvr>
                                      <p:tavLst>
                                        <p:tav tm="0">
                                          <p:val>
                                            <p:strVal val="#ppt_w*0.85"/>
                                          </p:val>
                                        </p:tav>
                                        <p:tav tm="100000">
                                          <p:val>
                                            <p:strVal val="#ppt_w"/>
                                          </p:val>
                                        </p:tav>
                                      </p:tavLst>
                                    </p:anim>
                                    <p:anim calcmode="lin" valueType="num">
                                      <p:cBhvr>
                                        <p:cTn id="30" dur="500" fill="hold"/>
                                        <p:tgtEl>
                                          <p:spTgt spid="12"/>
                                        </p:tgtEl>
                                        <p:attrNameLst>
                                          <p:attrName>ppt_h</p:attrName>
                                        </p:attrNameLst>
                                      </p:cBhvr>
                                      <p:tavLst>
                                        <p:tav tm="0">
                                          <p:val>
                                            <p:strVal val="#ppt_h*0.85"/>
                                          </p:val>
                                        </p:tav>
                                        <p:tav tm="100000">
                                          <p:val>
                                            <p:strVal val="#ppt_h"/>
                                          </p:val>
                                        </p:tav>
                                      </p:tavLst>
                                    </p:anim>
                                    <p:animEffect transition="in" filter="fade">
                                      <p:cBhvr>
                                        <p:cTn id="31" dur="500"/>
                                        <p:tgtEl>
                                          <p:spTgt spid="12"/>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 calcmode="lin" valueType="num">
                                      <p:cBhvr>
                                        <p:cTn id="34" dur="500" fill="hold"/>
                                        <p:tgtEl>
                                          <p:spTgt spid="14"/>
                                        </p:tgtEl>
                                        <p:attrNameLst>
                                          <p:attrName>ppt_w</p:attrName>
                                        </p:attrNameLst>
                                      </p:cBhvr>
                                      <p:tavLst>
                                        <p:tav tm="0">
                                          <p:val>
                                            <p:strVal val="#ppt_w*0.85"/>
                                          </p:val>
                                        </p:tav>
                                        <p:tav tm="100000">
                                          <p:val>
                                            <p:strVal val="#ppt_w"/>
                                          </p:val>
                                        </p:tav>
                                      </p:tavLst>
                                    </p:anim>
                                    <p:anim calcmode="lin" valueType="num">
                                      <p:cBhvr>
                                        <p:cTn id="35" dur="500" fill="hold"/>
                                        <p:tgtEl>
                                          <p:spTgt spid="14"/>
                                        </p:tgtEl>
                                        <p:attrNameLst>
                                          <p:attrName>ppt_h</p:attrName>
                                        </p:attrNameLst>
                                      </p:cBhvr>
                                      <p:tavLst>
                                        <p:tav tm="0">
                                          <p:val>
                                            <p:strVal val="#ppt_h*0.85"/>
                                          </p:val>
                                        </p:tav>
                                        <p:tav tm="100000">
                                          <p:val>
                                            <p:strVal val="#ppt_h"/>
                                          </p:val>
                                        </p:tav>
                                      </p:tavLst>
                                    </p:anim>
                                    <p:animEffect transition="in" filter="fade">
                                      <p:cBhvr>
                                        <p:cTn id="36" dur="500"/>
                                        <p:tgtEl>
                                          <p:spTgt spid="14"/>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p:cTn id="39" dur="500" fill="hold"/>
                                        <p:tgtEl>
                                          <p:spTgt spid="16"/>
                                        </p:tgtEl>
                                        <p:attrNameLst>
                                          <p:attrName>ppt_w</p:attrName>
                                        </p:attrNameLst>
                                      </p:cBhvr>
                                      <p:tavLst>
                                        <p:tav tm="0">
                                          <p:val>
                                            <p:strVal val="#ppt_w*0.85"/>
                                          </p:val>
                                        </p:tav>
                                        <p:tav tm="100000">
                                          <p:val>
                                            <p:strVal val="#ppt_w"/>
                                          </p:val>
                                        </p:tav>
                                      </p:tavLst>
                                    </p:anim>
                                    <p:anim calcmode="lin" valueType="num">
                                      <p:cBhvr>
                                        <p:cTn id="40" dur="500" fill="hold"/>
                                        <p:tgtEl>
                                          <p:spTgt spid="16"/>
                                        </p:tgtEl>
                                        <p:attrNameLst>
                                          <p:attrName>ppt_h</p:attrName>
                                        </p:attrNameLst>
                                      </p:cBhvr>
                                      <p:tavLst>
                                        <p:tav tm="0">
                                          <p:val>
                                            <p:strVal val="#ppt_h*0.85"/>
                                          </p:val>
                                        </p:tav>
                                        <p:tav tm="100000">
                                          <p:val>
                                            <p:strVal val="#ppt_h"/>
                                          </p:val>
                                        </p:tav>
                                      </p:tavLst>
                                    </p:anim>
                                    <p:animEffect transition="in" filter="fade">
                                      <p:cBhvr>
                                        <p:cTn id="41" dur="500"/>
                                        <p:tgtEl>
                                          <p:spTgt spid="16"/>
                                        </p:tgtEl>
                                      </p:cBhvr>
                                    </p:animEffect>
                                  </p:childTnLst>
                                </p:cTn>
                              </p:par>
                              <p:par>
                                <p:cTn id="42" presetID="53" presetClass="entr" presetSubtype="16" fill="hold" nodeType="withEffect">
                                  <p:stCondLst>
                                    <p:cond delay="0"/>
                                  </p:stCondLst>
                                  <p:childTnLst>
                                    <p:set>
                                      <p:cBhvr>
                                        <p:cTn id="43" dur="1" fill="hold">
                                          <p:stCondLst>
                                            <p:cond delay="0"/>
                                          </p:stCondLst>
                                        </p:cTn>
                                        <p:tgtEl>
                                          <p:spTgt spid="63"/>
                                        </p:tgtEl>
                                        <p:attrNameLst>
                                          <p:attrName>style.visibility</p:attrName>
                                        </p:attrNameLst>
                                      </p:cBhvr>
                                      <p:to>
                                        <p:strVal val="visible"/>
                                      </p:to>
                                    </p:set>
                                    <p:anim calcmode="lin" valueType="num">
                                      <p:cBhvr>
                                        <p:cTn id="44" dur="500" fill="hold"/>
                                        <p:tgtEl>
                                          <p:spTgt spid="63"/>
                                        </p:tgtEl>
                                        <p:attrNameLst>
                                          <p:attrName>ppt_w</p:attrName>
                                        </p:attrNameLst>
                                      </p:cBhvr>
                                      <p:tavLst>
                                        <p:tav tm="0">
                                          <p:val>
                                            <p:strVal val="#ppt_w*0.85"/>
                                          </p:val>
                                        </p:tav>
                                        <p:tav tm="100000">
                                          <p:val>
                                            <p:strVal val="#ppt_w"/>
                                          </p:val>
                                        </p:tav>
                                      </p:tavLst>
                                    </p:anim>
                                    <p:anim calcmode="lin" valueType="num">
                                      <p:cBhvr>
                                        <p:cTn id="45" dur="500" fill="hold"/>
                                        <p:tgtEl>
                                          <p:spTgt spid="63"/>
                                        </p:tgtEl>
                                        <p:attrNameLst>
                                          <p:attrName>ppt_h</p:attrName>
                                        </p:attrNameLst>
                                      </p:cBhvr>
                                      <p:tavLst>
                                        <p:tav tm="0">
                                          <p:val>
                                            <p:strVal val="#ppt_h*0.85"/>
                                          </p:val>
                                        </p:tav>
                                        <p:tav tm="100000">
                                          <p:val>
                                            <p:strVal val="#ppt_h"/>
                                          </p:val>
                                        </p:tav>
                                      </p:tavLst>
                                    </p:anim>
                                    <p:animEffect transition="in" filter="fade">
                                      <p:cBhvr>
                                        <p:cTn id="46" dur="500"/>
                                        <p:tgtEl>
                                          <p:spTgt spid="63"/>
                                        </p:tgtEl>
                                      </p:cBhvr>
                                    </p:animEffect>
                                  </p:childTnLst>
                                </p:cTn>
                              </p:par>
                              <p:par>
                                <p:cTn id="47" presetID="53" presetClass="entr" presetSubtype="16" fill="hold" grpId="0" nodeType="withEffect">
                                  <p:stCondLst>
                                    <p:cond delay="140"/>
                                  </p:stCondLst>
                                  <p:childTnLst>
                                    <p:set>
                                      <p:cBhvr>
                                        <p:cTn id="48" dur="1" fill="hold">
                                          <p:stCondLst>
                                            <p:cond delay="0"/>
                                          </p:stCondLst>
                                        </p:cTn>
                                        <p:tgtEl>
                                          <p:spTgt spid="18"/>
                                        </p:tgtEl>
                                        <p:attrNameLst>
                                          <p:attrName>style.visibility</p:attrName>
                                        </p:attrNameLst>
                                      </p:cBhvr>
                                      <p:to>
                                        <p:strVal val="visible"/>
                                      </p:to>
                                    </p:set>
                                    <p:anim calcmode="lin" valueType="num">
                                      <p:cBhvr>
                                        <p:cTn id="49" dur="500" fill="hold"/>
                                        <p:tgtEl>
                                          <p:spTgt spid="18"/>
                                        </p:tgtEl>
                                        <p:attrNameLst>
                                          <p:attrName>ppt_w</p:attrName>
                                        </p:attrNameLst>
                                      </p:cBhvr>
                                      <p:tavLst>
                                        <p:tav tm="0">
                                          <p:val>
                                            <p:strVal val="#ppt_w*0.85"/>
                                          </p:val>
                                        </p:tav>
                                        <p:tav tm="100000">
                                          <p:val>
                                            <p:strVal val="#ppt_w"/>
                                          </p:val>
                                        </p:tav>
                                      </p:tavLst>
                                    </p:anim>
                                    <p:anim calcmode="lin" valueType="num">
                                      <p:cBhvr>
                                        <p:cTn id="50" dur="500" fill="hold"/>
                                        <p:tgtEl>
                                          <p:spTgt spid="18"/>
                                        </p:tgtEl>
                                        <p:attrNameLst>
                                          <p:attrName>ppt_h</p:attrName>
                                        </p:attrNameLst>
                                      </p:cBhvr>
                                      <p:tavLst>
                                        <p:tav tm="0">
                                          <p:val>
                                            <p:strVal val="#ppt_h*0.85"/>
                                          </p:val>
                                        </p:tav>
                                        <p:tav tm="100000">
                                          <p:val>
                                            <p:strVal val="#ppt_h"/>
                                          </p:val>
                                        </p:tav>
                                      </p:tavLst>
                                    </p:anim>
                                    <p:animEffect transition="in" filter="fade">
                                      <p:cBhvr>
                                        <p:cTn id="51" dur="500"/>
                                        <p:tgtEl>
                                          <p:spTgt spid="18"/>
                                        </p:tgtEl>
                                      </p:cBhvr>
                                    </p:animEffect>
                                  </p:childTnLst>
                                </p:cTn>
                              </p:par>
                              <p:par>
                                <p:cTn id="52" presetID="53" presetClass="entr" presetSubtype="16" fill="hold" grpId="0" nodeType="withEffect">
                                  <p:stCondLst>
                                    <p:cond delay="140"/>
                                  </p:stCondLst>
                                  <p:childTnLst>
                                    <p:set>
                                      <p:cBhvr>
                                        <p:cTn id="53" dur="1" fill="hold">
                                          <p:stCondLst>
                                            <p:cond delay="0"/>
                                          </p:stCondLst>
                                        </p:cTn>
                                        <p:tgtEl>
                                          <p:spTgt spid="20"/>
                                        </p:tgtEl>
                                        <p:attrNameLst>
                                          <p:attrName>style.visibility</p:attrName>
                                        </p:attrNameLst>
                                      </p:cBhvr>
                                      <p:to>
                                        <p:strVal val="visible"/>
                                      </p:to>
                                    </p:set>
                                    <p:anim calcmode="lin" valueType="num">
                                      <p:cBhvr>
                                        <p:cTn id="54" dur="500" fill="hold"/>
                                        <p:tgtEl>
                                          <p:spTgt spid="20"/>
                                        </p:tgtEl>
                                        <p:attrNameLst>
                                          <p:attrName>ppt_w</p:attrName>
                                        </p:attrNameLst>
                                      </p:cBhvr>
                                      <p:tavLst>
                                        <p:tav tm="0">
                                          <p:val>
                                            <p:strVal val="#ppt_w*0.85"/>
                                          </p:val>
                                        </p:tav>
                                        <p:tav tm="100000">
                                          <p:val>
                                            <p:strVal val="#ppt_w"/>
                                          </p:val>
                                        </p:tav>
                                      </p:tavLst>
                                    </p:anim>
                                    <p:anim calcmode="lin" valueType="num">
                                      <p:cBhvr>
                                        <p:cTn id="55" dur="500" fill="hold"/>
                                        <p:tgtEl>
                                          <p:spTgt spid="20"/>
                                        </p:tgtEl>
                                        <p:attrNameLst>
                                          <p:attrName>ppt_h</p:attrName>
                                        </p:attrNameLst>
                                      </p:cBhvr>
                                      <p:tavLst>
                                        <p:tav tm="0">
                                          <p:val>
                                            <p:strVal val="#ppt_h*0.85"/>
                                          </p:val>
                                        </p:tav>
                                        <p:tav tm="100000">
                                          <p:val>
                                            <p:strVal val="#ppt_h"/>
                                          </p:val>
                                        </p:tav>
                                      </p:tavLst>
                                    </p:anim>
                                    <p:animEffect transition="in" filter="fade">
                                      <p:cBhvr>
                                        <p:cTn id="56" dur="500"/>
                                        <p:tgtEl>
                                          <p:spTgt spid="20"/>
                                        </p:tgtEl>
                                      </p:cBhvr>
                                    </p:animEffect>
                                  </p:childTnLst>
                                </p:cTn>
                              </p:par>
                              <p:par>
                                <p:cTn id="57" presetID="53" presetClass="entr" presetSubtype="16" fill="hold" grpId="0" nodeType="withEffect">
                                  <p:stCondLst>
                                    <p:cond delay="140"/>
                                  </p:stCondLst>
                                  <p:childTnLst>
                                    <p:set>
                                      <p:cBhvr>
                                        <p:cTn id="58" dur="1" fill="hold">
                                          <p:stCondLst>
                                            <p:cond delay="0"/>
                                          </p:stCondLst>
                                        </p:cTn>
                                        <p:tgtEl>
                                          <p:spTgt spid="21"/>
                                        </p:tgtEl>
                                        <p:attrNameLst>
                                          <p:attrName>style.visibility</p:attrName>
                                        </p:attrNameLst>
                                      </p:cBhvr>
                                      <p:to>
                                        <p:strVal val="visible"/>
                                      </p:to>
                                    </p:set>
                                    <p:anim calcmode="lin" valueType="num">
                                      <p:cBhvr>
                                        <p:cTn id="59" dur="500" fill="hold"/>
                                        <p:tgtEl>
                                          <p:spTgt spid="21"/>
                                        </p:tgtEl>
                                        <p:attrNameLst>
                                          <p:attrName>ppt_w</p:attrName>
                                        </p:attrNameLst>
                                      </p:cBhvr>
                                      <p:tavLst>
                                        <p:tav tm="0">
                                          <p:val>
                                            <p:strVal val="#ppt_w*0.85"/>
                                          </p:val>
                                        </p:tav>
                                        <p:tav tm="100000">
                                          <p:val>
                                            <p:strVal val="#ppt_w"/>
                                          </p:val>
                                        </p:tav>
                                      </p:tavLst>
                                    </p:anim>
                                    <p:anim calcmode="lin" valueType="num">
                                      <p:cBhvr>
                                        <p:cTn id="60" dur="500" fill="hold"/>
                                        <p:tgtEl>
                                          <p:spTgt spid="21"/>
                                        </p:tgtEl>
                                        <p:attrNameLst>
                                          <p:attrName>ppt_h</p:attrName>
                                        </p:attrNameLst>
                                      </p:cBhvr>
                                      <p:tavLst>
                                        <p:tav tm="0">
                                          <p:val>
                                            <p:strVal val="#ppt_h*0.85"/>
                                          </p:val>
                                        </p:tav>
                                        <p:tav tm="100000">
                                          <p:val>
                                            <p:strVal val="#ppt_h"/>
                                          </p:val>
                                        </p:tav>
                                      </p:tavLst>
                                    </p:anim>
                                    <p:animEffect transition="in" filter="fade">
                                      <p:cBhvr>
                                        <p:cTn id="61" dur="500"/>
                                        <p:tgtEl>
                                          <p:spTgt spid="21"/>
                                        </p:tgtEl>
                                      </p:cBhvr>
                                    </p:animEffect>
                                  </p:childTnLst>
                                </p:cTn>
                              </p:par>
                              <p:par>
                                <p:cTn id="62" presetID="53" presetClass="entr" presetSubtype="16" fill="hold" nodeType="withEffect">
                                  <p:stCondLst>
                                    <p:cond delay="140"/>
                                  </p:stCondLst>
                                  <p:childTnLst>
                                    <p:set>
                                      <p:cBhvr>
                                        <p:cTn id="63" dur="1" fill="hold">
                                          <p:stCondLst>
                                            <p:cond delay="0"/>
                                          </p:stCondLst>
                                        </p:cTn>
                                        <p:tgtEl>
                                          <p:spTgt spid="64"/>
                                        </p:tgtEl>
                                        <p:attrNameLst>
                                          <p:attrName>style.visibility</p:attrName>
                                        </p:attrNameLst>
                                      </p:cBhvr>
                                      <p:to>
                                        <p:strVal val="visible"/>
                                      </p:to>
                                    </p:set>
                                    <p:anim calcmode="lin" valueType="num">
                                      <p:cBhvr>
                                        <p:cTn id="64" dur="500" fill="hold"/>
                                        <p:tgtEl>
                                          <p:spTgt spid="64"/>
                                        </p:tgtEl>
                                        <p:attrNameLst>
                                          <p:attrName>ppt_w</p:attrName>
                                        </p:attrNameLst>
                                      </p:cBhvr>
                                      <p:tavLst>
                                        <p:tav tm="0">
                                          <p:val>
                                            <p:strVal val="#ppt_w*0.85"/>
                                          </p:val>
                                        </p:tav>
                                        <p:tav tm="100000">
                                          <p:val>
                                            <p:strVal val="#ppt_w"/>
                                          </p:val>
                                        </p:tav>
                                      </p:tavLst>
                                    </p:anim>
                                    <p:anim calcmode="lin" valueType="num">
                                      <p:cBhvr>
                                        <p:cTn id="65" dur="500" fill="hold"/>
                                        <p:tgtEl>
                                          <p:spTgt spid="64"/>
                                        </p:tgtEl>
                                        <p:attrNameLst>
                                          <p:attrName>ppt_h</p:attrName>
                                        </p:attrNameLst>
                                      </p:cBhvr>
                                      <p:tavLst>
                                        <p:tav tm="0">
                                          <p:val>
                                            <p:strVal val="#ppt_h*0.85"/>
                                          </p:val>
                                        </p:tav>
                                        <p:tav tm="100000">
                                          <p:val>
                                            <p:strVal val="#ppt_h"/>
                                          </p:val>
                                        </p:tav>
                                      </p:tavLst>
                                    </p:anim>
                                    <p:animEffect transition="in" filter="fade">
                                      <p:cBhvr>
                                        <p:cTn id="66" dur="500"/>
                                        <p:tgtEl>
                                          <p:spTgt spid="64"/>
                                        </p:tgtEl>
                                      </p:cBhvr>
                                    </p:animEffect>
                                  </p:childTnLst>
                                </p:cTn>
                              </p:par>
                              <p:par>
                                <p:cTn id="67" presetID="53" presetClass="entr" presetSubtype="16" fill="hold" grpId="0" nodeType="withEffect">
                                  <p:stCondLst>
                                    <p:cond delay="280"/>
                                  </p:stCondLst>
                                  <p:childTnLst>
                                    <p:set>
                                      <p:cBhvr>
                                        <p:cTn id="68" dur="1" fill="hold">
                                          <p:stCondLst>
                                            <p:cond delay="0"/>
                                          </p:stCondLst>
                                        </p:cTn>
                                        <p:tgtEl>
                                          <p:spTgt spid="22"/>
                                        </p:tgtEl>
                                        <p:attrNameLst>
                                          <p:attrName>style.visibility</p:attrName>
                                        </p:attrNameLst>
                                      </p:cBhvr>
                                      <p:to>
                                        <p:strVal val="visible"/>
                                      </p:to>
                                    </p:set>
                                    <p:anim calcmode="lin" valueType="num">
                                      <p:cBhvr>
                                        <p:cTn id="69" dur="500" fill="hold"/>
                                        <p:tgtEl>
                                          <p:spTgt spid="22"/>
                                        </p:tgtEl>
                                        <p:attrNameLst>
                                          <p:attrName>ppt_w</p:attrName>
                                        </p:attrNameLst>
                                      </p:cBhvr>
                                      <p:tavLst>
                                        <p:tav tm="0">
                                          <p:val>
                                            <p:strVal val="#ppt_w*0.85"/>
                                          </p:val>
                                        </p:tav>
                                        <p:tav tm="100000">
                                          <p:val>
                                            <p:strVal val="#ppt_w"/>
                                          </p:val>
                                        </p:tav>
                                      </p:tavLst>
                                    </p:anim>
                                    <p:anim calcmode="lin" valueType="num">
                                      <p:cBhvr>
                                        <p:cTn id="70" dur="500" fill="hold"/>
                                        <p:tgtEl>
                                          <p:spTgt spid="22"/>
                                        </p:tgtEl>
                                        <p:attrNameLst>
                                          <p:attrName>ppt_h</p:attrName>
                                        </p:attrNameLst>
                                      </p:cBhvr>
                                      <p:tavLst>
                                        <p:tav tm="0">
                                          <p:val>
                                            <p:strVal val="#ppt_h*0.85"/>
                                          </p:val>
                                        </p:tav>
                                        <p:tav tm="100000">
                                          <p:val>
                                            <p:strVal val="#ppt_h"/>
                                          </p:val>
                                        </p:tav>
                                      </p:tavLst>
                                    </p:anim>
                                    <p:animEffect transition="in" filter="fade">
                                      <p:cBhvr>
                                        <p:cTn id="71" dur="500"/>
                                        <p:tgtEl>
                                          <p:spTgt spid="22"/>
                                        </p:tgtEl>
                                      </p:cBhvr>
                                    </p:animEffect>
                                  </p:childTnLst>
                                </p:cTn>
                              </p:par>
                              <p:par>
                                <p:cTn id="72" presetID="53" presetClass="entr" presetSubtype="16" fill="hold" grpId="0" nodeType="withEffect">
                                  <p:stCondLst>
                                    <p:cond delay="280"/>
                                  </p:stCondLst>
                                  <p:childTnLst>
                                    <p:set>
                                      <p:cBhvr>
                                        <p:cTn id="73" dur="1" fill="hold">
                                          <p:stCondLst>
                                            <p:cond delay="0"/>
                                          </p:stCondLst>
                                        </p:cTn>
                                        <p:tgtEl>
                                          <p:spTgt spid="23"/>
                                        </p:tgtEl>
                                        <p:attrNameLst>
                                          <p:attrName>style.visibility</p:attrName>
                                        </p:attrNameLst>
                                      </p:cBhvr>
                                      <p:to>
                                        <p:strVal val="visible"/>
                                      </p:to>
                                    </p:set>
                                    <p:anim calcmode="lin" valueType="num">
                                      <p:cBhvr>
                                        <p:cTn id="74" dur="500" fill="hold"/>
                                        <p:tgtEl>
                                          <p:spTgt spid="23"/>
                                        </p:tgtEl>
                                        <p:attrNameLst>
                                          <p:attrName>ppt_w</p:attrName>
                                        </p:attrNameLst>
                                      </p:cBhvr>
                                      <p:tavLst>
                                        <p:tav tm="0">
                                          <p:val>
                                            <p:strVal val="#ppt_w*0.85"/>
                                          </p:val>
                                        </p:tav>
                                        <p:tav tm="100000">
                                          <p:val>
                                            <p:strVal val="#ppt_w"/>
                                          </p:val>
                                        </p:tav>
                                      </p:tavLst>
                                    </p:anim>
                                    <p:anim calcmode="lin" valueType="num">
                                      <p:cBhvr>
                                        <p:cTn id="75" dur="500" fill="hold"/>
                                        <p:tgtEl>
                                          <p:spTgt spid="23"/>
                                        </p:tgtEl>
                                        <p:attrNameLst>
                                          <p:attrName>ppt_h</p:attrName>
                                        </p:attrNameLst>
                                      </p:cBhvr>
                                      <p:tavLst>
                                        <p:tav tm="0">
                                          <p:val>
                                            <p:strVal val="#ppt_h*0.85"/>
                                          </p:val>
                                        </p:tav>
                                        <p:tav tm="100000">
                                          <p:val>
                                            <p:strVal val="#ppt_h"/>
                                          </p:val>
                                        </p:tav>
                                      </p:tavLst>
                                    </p:anim>
                                    <p:animEffect transition="in" filter="fade">
                                      <p:cBhvr>
                                        <p:cTn id="76" dur="500"/>
                                        <p:tgtEl>
                                          <p:spTgt spid="23"/>
                                        </p:tgtEl>
                                      </p:cBhvr>
                                    </p:animEffect>
                                  </p:childTnLst>
                                </p:cTn>
                              </p:par>
                              <p:par>
                                <p:cTn id="77" presetID="53" presetClass="entr" presetSubtype="16" fill="hold" grpId="0" nodeType="withEffect">
                                  <p:stCondLst>
                                    <p:cond delay="280"/>
                                  </p:stCondLst>
                                  <p:childTnLst>
                                    <p:set>
                                      <p:cBhvr>
                                        <p:cTn id="78" dur="1" fill="hold">
                                          <p:stCondLst>
                                            <p:cond delay="0"/>
                                          </p:stCondLst>
                                        </p:cTn>
                                        <p:tgtEl>
                                          <p:spTgt spid="24"/>
                                        </p:tgtEl>
                                        <p:attrNameLst>
                                          <p:attrName>style.visibility</p:attrName>
                                        </p:attrNameLst>
                                      </p:cBhvr>
                                      <p:to>
                                        <p:strVal val="visible"/>
                                      </p:to>
                                    </p:set>
                                    <p:anim calcmode="lin" valueType="num">
                                      <p:cBhvr>
                                        <p:cTn id="79" dur="500" fill="hold"/>
                                        <p:tgtEl>
                                          <p:spTgt spid="24"/>
                                        </p:tgtEl>
                                        <p:attrNameLst>
                                          <p:attrName>ppt_w</p:attrName>
                                        </p:attrNameLst>
                                      </p:cBhvr>
                                      <p:tavLst>
                                        <p:tav tm="0">
                                          <p:val>
                                            <p:strVal val="#ppt_w*0.85"/>
                                          </p:val>
                                        </p:tav>
                                        <p:tav tm="100000">
                                          <p:val>
                                            <p:strVal val="#ppt_w"/>
                                          </p:val>
                                        </p:tav>
                                      </p:tavLst>
                                    </p:anim>
                                    <p:anim calcmode="lin" valueType="num">
                                      <p:cBhvr>
                                        <p:cTn id="80" dur="500" fill="hold"/>
                                        <p:tgtEl>
                                          <p:spTgt spid="24"/>
                                        </p:tgtEl>
                                        <p:attrNameLst>
                                          <p:attrName>ppt_h</p:attrName>
                                        </p:attrNameLst>
                                      </p:cBhvr>
                                      <p:tavLst>
                                        <p:tav tm="0">
                                          <p:val>
                                            <p:strVal val="#ppt_h*0.85"/>
                                          </p:val>
                                        </p:tav>
                                        <p:tav tm="100000">
                                          <p:val>
                                            <p:strVal val="#ppt_h"/>
                                          </p:val>
                                        </p:tav>
                                      </p:tavLst>
                                    </p:anim>
                                    <p:animEffect transition="in" filter="fade">
                                      <p:cBhvr>
                                        <p:cTn id="81" dur="500"/>
                                        <p:tgtEl>
                                          <p:spTgt spid="24"/>
                                        </p:tgtEl>
                                      </p:cBhvr>
                                    </p:animEffect>
                                  </p:childTnLst>
                                </p:cTn>
                              </p:par>
                              <p:par>
                                <p:cTn id="82" presetID="53" presetClass="entr" presetSubtype="16" fill="hold" nodeType="withEffect">
                                  <p:stCondLst>
                                    <p:cond delay="280"/>
                                  </p:stCondLst>
                                  <p:childTnLst>
                                    <p:set>
                                      <p:cBhvr>
                                        <p:cTn id="83" dur="1" fill="hold">
                                          <p:stCondLst>
                                            <p:cond delay="0"/>
                                          </p:stCondLst>
                                        </p:cTn>
                                        <p:tgtEl>
                                          <p:spTgt spid="65"/>
                                        </p:tgtEl>
                                        <p:attrNameLst>
                                          <p:attrName>style.visibility</p:attrName>
                                        </p:attrNameLst>
                                      </p:cBhvr>
                                      <p:to>
                                        <p:strVal val="visible"/>
                                      </p:to>
                                    </p:set>
                                    <p:anim calcmode="lin" valueType="num">
                                      <p:cBhvr>
                                        <p:cTn id="84" dur="500" fill="hold"/>
                                        <p:tgtEl>
                                          <p:spTgt spid="65"/>
                                        </p:tgtEl>
                                        <p:attrNameLst>
                                          <p:attrName>ppt_w</p:attrName>
                                        </p:attrNameLst>
                                      </p:cBhvr>
                                      <p:tavLst>
                                        <p:tav tm="0">
                                          <p:val>
                                            <p:strVal val="#ppt_w*0.85"/>
                                          </p:val>
                                        </p:tav>
                                        <p:tav tm="100000">
                                          <p:val>
                                            <p:strVal val="#ppt_w"/>
                                          </p:val>
                                        </p:tav>
                                      </p:tavLst>
                                    </p:anim>
                                    <p:anim calcmode="lin" valueType="num">
                                      <p:cBhvr>
                                        <p:cTn id="85" dur="500" fill="hold"/>
                                        <p:tgtEl>
                                          <p:spTgt spid="65"/>
                                        </p:tgtEl>
                                        <p:attrNameLst>
                                          <p:attrName>ppt_h</p:attrName>
                                        </p:attrNameLst>
                                      </p:cBhvr>
                                      <p:tavLst>
                                        <p:tav tm="0">
                                          <p:val>
                                            <p:strVal val="#ppt_h*0.85"/>
                                          </p:val>
                                        </p:tav>
                                        <p:tav tm="100000">
                                          <p:val>
                                            <p:strVal val="#ppt_h"/>
                                          </p:val>
                                        </p:tav>
                                      </p:tavLst>
                                    </p:anim>
                                    <p:animEffect transition="in" filter="fade">
                                      <p:cBhvr>
                                        <p:cTn id="86" dur="500"/>
                                        <p:tgtEl>
                                          <p:spTgt spid="65"/>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grpId="0" nodeType="clickEffect">
                                  <p:stCondLst>
                                    <p:cond delay="0"/>
                                  </p:stCondLst>
                                  <p:childTnLst>
                                    <p:set>
                                      <p:cBhvr>
                                        <p:cTn id="90" dur="1" fill="hold">
                                          <p:stCondLst>
                                            <p:cond delay="0"/>
                                          </p:stCondLst>
                                        </p:cTn>
                                        <p:tgtEl>
                                          <p:spTgt spid="26"/>
                                        </p:tgtEl>
                                        <p:attrNameLst>
                                          <p:attrName>style.visibility</p:attrName>
                                        </p:attrNameLst>
                                      </p:cBhvr>
                                      <p:to>
                                        <p:strVal val="visible"/>
                                      </p:to>
                                    </p:set>
                                    <p:animEffect transition="in" filter="wipe(down)">
                                      <p:cBhvr>
                                        <p:cTn id="91" dur="600"/>
                                        <p:tgtEl>
                                          <p:spTgt spid="26"/>
                                        </p:tgtEl>
                                      </p:cBhvr>
                                    </p:animEffect>
                                  </p:childTnLst>
                                </p:cTn>
                              </p:par>
                              <p:par>
                                <p:cTn id="92" presetID="42" presetClass="entr" presetSubtype="0" fill="hold" grpId="0" nodeType="withEffect">
                                  <p:stCondLst>
                                    <p:cond delay="140"/>
                                  </p:stCondLst>
                                  <p:childTnLst>
                                    <p:set>
                                      <p:cBhvr>
                                        <p:cTn id="93" dur="1" fill="hold">
                                          <p:stCondLst>
                                            <p:cond delay="0"/>
                                          </p:stCondLst>
                                        </p:cTn>
                                        <p:tgtEl>
                                          <p:spTgt spid="27"/>
                                        </p:tgtEl>
                                        <p:attrNameLst>
                                          <p:attrName>style.visibility</p:attrName>
                                        </p:attrNameLst>
                                      </p:cBhvr>
                                      <p:to>
                                        <p:strVal val="visible"/>
                                      </p:to>
                                    </p:set>
                                    <p:animEffect transition="in" filter="fade">
                                      <p:cBhvr>
                                        <p:cTn id="94" dur="450"/>
                                        <p:tgtEl>
                                          <p:spTgt spid="27"/>
                                        </p:tgtEl>
                                      </p:cBhvr>
                                    </p:animEffect>
                                    <p:anim calcmode="lin" valueType="num">
                                      <p:cBhvr>
                                        <p:cTn id="95" dur="450" fill="hold"/>
                                        <p:tgtEl>
                                          <p:spTgt spid="27"/>
                                        </p:tgtEl>
                                        <p:attrNameLst>
                                          <p:attrName>ppt_x</p:attrName>
                                        </p:attrNameLst>
                                      </p:cBhvr>
                                      <p:tavLst>
                                        <p:tav tm="0">
                                          <p:val>
                                            <p:strVal val="#ppt_x"/>
                                          </p:val>
                                        </p:tav>
                                        <p:tav tm="100000">
                                          <p:val>
                                            <p:strVal val="#ppt_x"/>
                                          </p:val>
                                        </p:tav>
                                      </p:tavLst>
                                    </p:anim>
                                    <p:anim calcmode="lin" valueType="num">
                                      <p:cBhvr>
                                        <p:cTn id="96" dur="450" fill="hold"/>
                                        <p:tgtEl>
                                          <p:spTgt spid="27"/>
                                        </p:tgtEl>
                                        <p:attrNameLst>
                                          <p:attrName>ppt_y</p:attrName>
                                        </p:attrNameLst>
                                      </p:cBhvr>
                                      <p:tavLst>
                                        <p:tav tm="0">
                                          <p:val>
                                            <p:strVal val="#ppt_y+.03"/>
                                          </p:val>
                                        </p:tav>
                                        <p:tav tm="100000">
                                          <p:val>
                                            <p:strVal val="#ppt_y"/>
                                          </p:val>
                                        </p:tav>
                                      </p:tavLst>
                                    </p:anim>
                                  </p:childTnLst>
                                </p:cTn>
                              </p:par>
                              <p:par>
                                <p:cTn id="97" presetID="42" presetClass="entr" presetSubtype="0" fill="hold" grpId="0" nodeType="withEffect">
                                  <p:stCondLst>
                                    <p:cond delay="280"/>
                                  </p:stCondLst>
                                  <p:childTnLst>
                                    <p:set>
                                      <p:cBhvr>
                                        <p:cTn id="98" dur="1" fill="hold">
                                          <p:stCondLst>
                                            <p:cond delay="0"/>
                                          </p:stCondLst>
                                        </p:cTn>
                                        <p:tgtEl>
                                          <p:spTgt spid="28">
                                            <p:txEl>
                                              <p:pRg st="0" end="0"/>
                                            </p:txEl>
                                          </p:spTgt>
                                        </p:tgtEl>
                                        <p:attrNameLst>
                                          <p:attrName>style.visibility</p:attrName>
                                        </p:attrNameLst>
                                      </p:cBhvr>
                                      <p:to>
                                        <p:strVal val="visible"/>
                                      </p:to>
                                    </p:set>
                                    <p:animEffect transition="in" filter="fade">
                                      <p:cBhvr>
                                        <p:cTn id="99" dur="500"/>
                                        <p:tgtEl>
                                          <p:spTgt spid="28">
                                            <p:txEl>
                                              <p:pRg st="0" end="0"/>
                                            </p:txEl>
                                          </p:spTgt>
                                        </p:tgtEl>
                                      </p:cBhvr>
                                    </p:animEffect>
                                    <p:anim calcmode="lin" valueType="num">
                                      <p:cBhvr>
                                        <p:cTn id="100" dur="500" fill="hold"/>
                                        <p:tgtEl>
                                          <p:spTgt spid="28">
                                            <p:txEl>
                                              <p:pRg st="0" end="0"/>
                                            </p:txEl>
                                          </p:spTgt>
                                        </p:tgtEl>
                                        <p:attrNameLst>
                                          <p:attrName>ppt_x</p:attrName>
                                        </p:attrNameLst>
                                      </p:cBhvr>
                                      <p:tavLst>
                                        <p:tav tm="0">
                                          <p:val>
                                            <p:strVal val="#ppt_x-.035"/>
                                          </p:val>
                                        </p:tav>
                                        <p:tav tm="100000">
                                          <p:val>
                                            <p:strVal val="#ppt_x"/>
                                          </p:val>
                                        </p:tav>
                                      </p:tavLst>
                                    </p:anim>
                                    <p:anim calcmode="lin" valueType="num">
                                      <p:cBhvr>
                                        <p:cTn id="101" dur="500" fill="hold"/>
                                        <p:tgtEl>
                                          <p:spTgt spid="2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grpId="0" nodeType="clickEffect">
                                  <p:stCondLst>
                                    <p:cond delay="0"/>
                                  </p:stCondLst>
                                  <p:childTnLst>
                                    <p:set>
                                      <p:cBhvr>
                                        <p:cTn id="105" dur="1" fill="hold">
                                          <p:stCondLst>
                                            <p:cond delay="0"/>
                                          </p:stCondLst>
                                        </p:cTn>
                                        <p:tgtEl>
                                          <p:spTgt spid="28">
                                            <p:txEl>
                                              <p:pRg st="1" end="1"/>
                                            </p:txEl>
                                          </p:spTgt>
                                        </p:tgtEl>
                                        <p:attrNameLst>
                                          <p:attrName>style.visibility</p:attrName>
                                        </p:attrNameLst>
                                      </p:cBhvr>
                                      <p:to>
                                        <p:strVal val="visible"/>
                                      </p:to>
                                    </p:set>
                                    <p:animEffect transition="in" filter="fade">
                                      <p:cBhvr>
                                        <p:cTn id="106" dur="500"/>
                                        <p:tgtEl>
                                          <p:spTgt spid="28">
                                            <p:txEl>
                                              <p:pRg st="1" end="1"/>
                                            </p:txEl>
                                          </p:spTgt>
                                        </p:tgtEl>
                                      </p:cBhvr>
                                    </p:animEffect>
                                    <p:anim calcmode="lin" valueType="num">
                                      <p:cBhvr>
                                        <p:cTn id="107" dur="500" fill="hold"/>
                                        <p:tgtEl>
                                          <p:spTgt spid="28">
                                            <p:txEl>
                                              <p:pRg st="1" end="1"/>
                                            </p:txEl>
                                          </p:spTgt>
                                        </p:tgtEl>
                                        <p:attrNameLst>
                                          <p:attrName>ppt_x</p:attrName>
                                        </p:attrNameLst>
                                      </p:cBhvr>
                                      <p:tavLst>
                                        <p:tav tm="0">
                                          <p:val>
                                            <p:strVal val="#ppt_x-.035"/>
                                          </p:val>
                                        </p:tav>
                                        <p:tav tm="100000">
                                          <p:val>
                                            <p:strVal val="#ppt_x"/>
                                          </p:val>
                                        </p:tav>
                                      </p:tavLst>
                                    </p:anim>
                                    <p:anim calcmode="lin" valueType="num">
                                      <p:cBhvr>
                                        <p:cTn id="108" dur="500" fill="hold"/>
                                        <p:tgtEl>
                                          <p:spTgt spid="2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42" presetClass="entr" presetSubtype="0" fill="hold" grpId="0" nodeType="clickEffect">
                                  <p:stCondLst>
                                    <p:cond delay="0"/>
                                  </p:stCondLst>
                                  <p:childTnLst>
                                    <p:set>
                                      <p:cBhvr>
                                        <p:cTn id="112" dur="1" fill="hold">
                                          <p:stCondLst>
                                            <p:cond delay="0"/>
                                          </p:stCondLst>
                                        </p:cTn>
                                        <p:tgtEl>
                                          <p:spTgt spid="28">
                                            <p:txEl>
                                              <p:pRg st="2" end="2"/>
                                            </p:txEl>
                                          </p:spTgt>
                                        </p:tgtEl>
                                        <p:attrNameLst>
                                          <p:attrName>style.visibility</p:attrName>
                                        </p:attrNameLst>
                                      </p:cBhvr>
                                      <p:to>
                                        <p:strVal val="visible"/>
                                      </p:to>
                                    </p:set>
                                    <p:animEffect transition="in" filter="fade">
                                      <p:cBhvr>
                                        <p:cTn id="113" dur="500"/>
                                        <p:tgtEl>
                                          <p:spTgt spid="28">
                                            <p:txEl>
                                              <p:pRg st="2" end="2"/>
                                            </p:txEl>
                                          </p:spTgt>
                                        </p:tgtEl>
                                      </p:cBhvr>
                                    </p:animEffect>
                                    <p:anim calcmode="lin" valueType="num">
                                      <p:cBhvr>
                                        <p:cTn id="114" dur="500" fill="hold"/>
                                        <p:tgtEl>
                                          <p:spTgt spid="28">
                                            <p:txEl>
                                              <p:pRg st="2" end="2"/>
                                            </p:txEl>
                                          </p:spTgt>
                                        </p:tgtEl>
                                        <p:attrNameLst>
                                          <p:attrName>ppt_x</p:attrName>
                                        </p:attrNameLst>
                                      </p:cBhvr>
                                      <p:tavLst>
                                        <p:tav tm="0">
                                          <p:val>
                                            <p:strVal val="#ppt_x-.035"/>
                                          </p:val>
                                        </p:tav>
                                        <p:tav tm="100000">
                                          <p:val>
                                            <p:strVal val="#ppt_x"/>
                                          </p:val>
                                        </p:tav>
                                      </p:tavLst>
                                    </p:anim>
                                    <p:anim calcmode="lin" valueType="num">
                                      <p:cBhvr>
                                        <p:cTn id="115" dur="500" fill="hold"/>
                                        <p:tgtEl>
                                          <p:spTgt spid="28">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2" grpId="0" animBg="1"/>
      <p:bldP spid="14" grpId="0" animBg="1"/>
      <p:bldP spid="16" grpId="0" animBg="1"/>
      <p:bldP spid="18" grpId="0" animBg="1"/>
      <p:bldP spid="20" grpId="0" animBg="1"/>
      <p:bldP spid="21" grpId="0" animBg="1"/>
      <p:bldP spid="22" grpId="0" animBg="1"/>
      <p:bldP spid="23" grpId="0" animBg="1"/>
      <p:bldP spid="24" grpId="0" animBg="1"/>
      <p:bldP spid="26" grpId="0" animBg="1"/>
      <p:bldP spid="27" grpId="0" animBg="1"/>
      <p:bldP spid="28" grpId="0" build="p"/>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1C596-411A-BE10-8F4A-288066B1473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D1458C8-13CC-E250-10FC-FB4AAF3F9207}"/>
              </a:ext>
            </a:extLst>
          </p:cNvPr>
          <p:cNvSpPr>
            <a:spLocks noGrp="1" noRot="1" noMove="1" noResize="1" noEditPoints="1" noAdjustHandles="1" noChangeArrowheads="1" noChangeShapeType="1"/>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CAD7BF6-907B-ABC2-37BC-3BAA54253F49}"/>
              </a:ext>
            </a:extLst>
          </p:cNvPr>
          <p:cNvSpPr>
            <a:spLocks/>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74B12127-87AD-90E4-5CF0-E2B2FBC7EB37}"/>
              </a:ext>
            </a:extLst>
          </p:cNvPr>
          <p:cNvSpPr>
            <a:spLocks noGrp="1" noRot="1" noMove="1" noResize="1" noEditPoints="1" noAdjustHandles="1" noChangeArrowheads="1" noChangeShapeType="1"/>
          </p:cNvSpPr>
          <p:nvPr/>
        </p:nvSpPr>
        <p:spPr>
          <a:xfrm>
            <a:off x="1435099"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1</a:t>
            </a:r>
          </a:p>
        </p:txBody>
      </p:sp>
      <p:sp>
        <p:nvSpPr>
          <p:cNvPr id="39" name="Ellipse 38">
            <a:extLst>
              <a:ext uri="{FF2B5EF4-FFF2-40B4-BE49-F238E27FC236}">
                <a16:creationId xmlns:a16="http://schemas.microsoft.com/office/drawing/2014/main" id="{15738380-DBE0-7913-1C8E-EED48D4B15FA}"/>
              </a:ext>
            </a:extLst>
          </p:cNvPr>
          <p:cNvSpPr>
            <a:spLocks noGrp="1" noRot="1" noMove="1" noResize="1" noEditPoints="1" noAdjustHandles="1" noChangeArrowheads="1" noChangeShapeType="1"/>
          </p:cNvSpPr>
          <p:nvPr/>
        </p:nvSpPr>
        <p:spPr>
          <a:xfrm>
            <a:off x="3276885" y="205023"/>
            <a:ext cx="246063" cy="253765"/>
          </a:xfrm>
          <a:prstGeom prst="ellipse">
            <a:avLst/>
          </a:prstGeom>
          <a:noFill/>
          <a:ln>
            <a:solidFill>
              <a:srgbClr val="F96A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F96A09"/>
                </a:solidFill>
              </a:rPr>
              <a:t>2</a:t>
            </a:r>
          </a:p>
        </p:txBody>
      </p:sp>
      <p:sp>
        <p:nvSpPr>
          <p:cNvPr id="41" name="Ellipse 40">
            <a:extLst>
              <a:ext uri="{FF2B5EF4-FFF2-40B4-BE49-F238E27FC236}">
                <a16:creationId xmlns:a16="http://schemas.microsoft.com/office/drawing/2014/main" id="{73C8F56F-395F-EBD0-8A41-C35D77984B31}"/>
              </a:ext>
            </a:extLst>
          </p:cNvPr>
          <p:cNvSpPr>
            <a:spLocks noGrp="1" noRot="1" noMove="1" noResize="1" noEditPoints="1" noAdjustHandles="1" noChangeArrowheads="1" noChangeShapeType="1"/>
          </p:cNvSpPr>
          <p:nvPr/>
        </p:nvSpPr>
        <p:spPr>
          <a:xfrm>
            <a:off x="5118671"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3</a:t>
            </a:r>
          </a:p>
        </p:txBody>
      </p:sp>
      <p:sp>
        <p:nvSpPr>
          <p:cNvPr id="43" name="Ellipse 42">
            <a:extLst>
              <a:ext uri="{FF2B5EF4-FFF2-40B4-BE49-F238E27FC236}">
                <a16:creationId xmlns:a16="http://schemas.microsoft.com/office/drawing/2014/main" id="{E7782DBB-CC36-81CD-2ECE-FBB0134BCAA1}"/>
              </a:ext>
            </a:extLst>
          </p:cNvPr>
          <p:cNvSpPr>
            <a:spLocks noGrp="1" noRot="1" noMove="1" noResize="1" noEditPoints="1" noAdjustHandles="1" noChangeArrowheads="1" noChangeShapeType="1"/>
          </p:cNvSpPr>
          <p:nvPr/>
        </p:nvSpPr>
        <p:spPr>
          <a:xfrm>
            <a:off x="696045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4</a:t>
            </a:r>
          </a:p>
        </p:txBody>
      </p:sp>
      <p:sp>
        <p:nvSpPr>
          <p:cNvPr id="45" name="Ellipse 44">
            <a:extLst>
              <a:ext uri="{FF2B5EF4-FFF2-40B4-BE49-F238E27FC236}">
                <a16:creationId xmlns:a16="http://schemas.microsoft.com/office/drawing/2014/main" id="{025AA84F-6070-D887-7320-E89F9573D51A}"/>
              </a:ext>
            </a:extLst>
          </p:cNvPr>
          <p:cNvSpPr>
            <a:spLocks noGrp="1" noRot="1" noMove="1" noResize="1" noEditPoints="1" noAdjustHandles="1" noChangeArrowheads="1" noChangeShapeType="1"/>
          </p:cNvSpPr>
          <p:nvPr/>
        </p:nvSpPr>
        <p:spPr>
          <a:xfrm>
            <a:off x="8802243"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5</a:t>
            </a:r>
          </a:p>
        </p:txBody>
      </p:sp>
      <p:sp>
        <p:nvSpPr>
          <p:cNvPr id="47" name="Ellipse 46">
            <a:extLst>
              <a:ext uri="{FF2B5EF4-FFF2-40B4-BE49-F238E27FC236}">
                <a16:creationId xmlns:a16="http://schemas.microsoft.com/office/drawing/2014/main" id="{81931FAD-74A1-53B0-D953-7BD549DD3923}"/>
              </a:ext>
            </a:extLst>
          </p:cNvPr>
          <p:cNvSpPr>
            <a:spLocks noGrp="1" noRot="1" noMove="1" noResize="1" noEditPoints="1" noAdjustHandles="1" noChangeArrowheads="1" noChangeShapeType="1"/>
          </p:cNvSpPr>
          <p:nvPr/>
        </p:nvSpPr>
        <p:spPr>
          <a:xfrm>
            <a:off x="1064402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6</a:t>
            </a:r>
          </a:p>
        </p:txBody>
      </p:sp>
      <p:cxnSp>
        <p:nvCxnSpPr>
          <p:cNvPr id="49" name="Connecteur droit 48">
            <a:extLst>
              <a:ext uri="{FF2B5EF4-FFF2-40B4-BE49-F238E27FC236}">
                <a16:creationId xmlns:a16="http://schemas.microsoft.com/office/drawing/2014/main" id="{08B0792E-4A12-15DF-C546-4E0A8102B80F}"/>
              </a:ext>
            </a:extLst>
          </p:cNvPr>
          <p:cNvCxnSpPr>
            <a:cxnSpLocks noGrp="1" noRot="1" noMove="1" noResize="1" noEditPoints="1" noAdjustHandles="1" noChangeArrowheads="1" noChangeShapeType="1"/>
            <a:endCxn id="25" idx="2"/>
          </p:cNvCxnSpPr>
          <p:nvPr/>
        </p:nvCxnSpPr>
        <p:spPr>
          <a:xfrm flipV="1">
            <a:off x="387416" y="331905"/>
            <a:ext cx="10476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CDC9A21F-0408-D6AE-8660-DAB1012B57DB}"/>
              </a:ext>
            </a:extLst>
          </p:cNvPr>
          <p:cNvCxnSpPr>
            <a:cxnSpLocks noGrp="1" noRot="1" noMove="1" noResize="1" noEditPoints="1" noAdjustHandles="1" noChangeArrowheads="1" noChangeShapeType="1"/>
            <a:stCxn id="25" idx="6"/>
            <a:endCxn id="39" idx="2"/>
          </p:cNvCxnSpPr>
          <p:nvPr/>
        </p:nvCxnSpPr>
        <p:spPr>
          <a:xfrm flipV="1">
            <a:off x="1681162"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3" name="Connecteur droit 52">
            <a:extLst>
              <a:ext uri="{FF2B5EF4-FFF2-40B4-BE49-F238E27FC236}">
                <a16:creationId xmlns:a16="http://schemas.microsoft.com/office/drawing/2014/main" id="{34C106C6-ACAB-0949-355D-0B224BFEB6F7}"/>
              </a:ext>
            </a:extLst>
          </p:cNvPr>
          <p:cNvCxnSpPr>
            <a:cxnSpLocks noGrp="1" noRot="1" noMove="1" noResize="1" noEditPoints="1" noAdjustHandles="1" noChangeArrowheads="1" noChangeShapeType="1"/>
            <a:stCxn id="39" idx="6"/>
            <a:endCxn id="41" idx="2"/>
          </p:cNvCxnSpPr>
          <p:nvPr/>
        </p:nvCxnSpPr>
        <p:spPr>
          <a:xfrm>
            <a:off x="3522948"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5" name="Connecteur droit 54">
            <a:extLst>
              <a:ext uri="{FF2B5EF4-FFF2-40B4-BE49-F238E27FC236}">
                <a16:creationId xmlns:a16="http://schemas.microsoft.com/office/drawing/2014/main" id="{4A5A45F7-0668-E9A8-C609-5F1C70E9EBB9}"/>
              </a:ext>
            </a:extLst>
          </p:cNvPr>
          <p:cNvCxnSpPr>
            <a:cxnSpLocks noGrp="1" noRot="1" noMove="1" noResize="1" noEditPoints="1" noAdjustHandles="1" noChangeArrowheads="1" noChangeShapeType="1"/>
            <a:stCxn id="41" idx="6"/>
            <a:endCxn id="43" idx="2"/>
          </p:cNvCxnSpPr>
          <p:nvPr/>
        </p:nvCxnSpPr>
        <p:spPr>
          <a:xfrm>
            <a:off x="5364734"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B24A46AD-E31E-81D9-BD6D-0242914FF456}"/>
              </a:ext>
            </a:extLst>
          </p:cNvPr>
          <p:cNvCxnSpPr>
            <a:cxnSpLocks noGrp="1" noRot="1" noMove="1" noResize="1" noEditPoints="1" noAdjustHandles="1" noChangeArrowheads="1" noChangeShapeType="1"/>
            <a:stCxn id="43" idx="6"/>
            <a:endCxn id="45" idx="2"/>
          </p:cNvCxnSpPr>
          <p:nvPr/>
        </p:nvCxnSpPr>
        <p:spPr>
          <a:xfrm>
            <a:off x="7206520"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92AA891C-1988-8E05-8AE3-67FDA3C665BB}"/>
              </a:ext>
            </a:extLst>
          </p:cNvPr>
          <p:cNvCxnSpPr>
            <a:cxnSpLocks noGrp="1" noRot="1" noMove="1" noResize="1" noEditPoints="1" noAdjustHandles="1" noChangeArrowheads="1" noChangeShapeType="1"/>
            <a:stCxn id="45" idx="6"/>
            <a:endCxn id="47" idx="2"/>
          </p:cNvCxnSpPr>
          <p:nvPr/>
        </p:nvCxnSpPr>
        <p:spPr>
          <a:xfrm flipV="1">
            <a:off x="9048306" y="331905"/>
            <a:ext cx="15957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E2BC7F89-2253-5EEB-57E8-3011C941C5A0}"/>
              </a:ext>
            </a:extLst>
          </p:cNvPr>
          <p:cNvCxnSpPr>
            <a:cxnSpLocks noGrp="1" noRot="1" noMove="1" noResize="1" noEditPoints="1" noAdjustHandles="1" noChangeArrowheads="1" noChangeShapeType="1"/>
            <a:stCxn id="47" idx="6"/>
          </p:cNvCxnSpPr>
          <p:nvPr/>
        </p:nvCxnSpPr>
        <p:spPr>
          <a:xfrm>
            <a:off x="10890090" y="331905"/>
            <a:ext cx="130191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E70C2DBF-37E9-8289-D428-8DF21DEFD908}"/>
              </a:ext>
            </a:extLst>
          </p:cNvPr>
          <p:cNvSpPr txBox="1">
            <a:spLocks noGrp="1" noRot="1" noMove="1" noResize="1" noEditPoints="1" noAdjustHandles="1" noChangeArrowheads="1" noChangeShapeType="1"/>
          </p:cNvSpPr>
          <p:nvPr/>
        </p:nvSpPr>
        <p:spPr>
          <a:xfrm>
            <a:off x="624823" y="479710"/>
            <a:ext cx="1965977" cy="600164"/>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a:t>
            </a:r>
            <a:r>
              <a:rPr lang="fr-FR" sz="1100" b="1" dirty="0">
                <a:latin typeface="Montserrat"/>
              </a:rPr>
              <a:t> </a:t>
            </a:r>
            <a:r>
              <a:rPr lang="fr-FR" sz="1100" b="1" dirty="0">
                <a:latin typeface="Montserrat"/>
                <a:cs typeface="Montserrat"/>
              </a:rPr>
              <a:t>STRUCTURE D’ACCUEIL</a:t>
            </a:r>
          </a:p>
        </p:txBody>
      </p:sp>
      <p:sp>
        <p:nvSpPr>
          <p:cNvPr id="10" name="ZoneTexte 9">
            <a:extLst>
              <a:ext uri="{FF2B5EF4-FFF2-40B4-BE49-F238E27FC236}">
                <a16:creationId xmlns:a16="http://schemas.microsoft.com/office/drawing/2014/main" id="{3BEA21A9-92D2-8E01-CF43-815D62CC1808}"/>
              </a:ext>
            </a:extLst>
          </p:cNvPr>
          <p:cNvSpPr txBox="1">
            <a:spLocks noGrp="1" noRot="1" noMove="1" noResize="1" noEditPoints="1" noAdjustHandles="1" noChangeArrowheads="1" noChangeShapeType="1"/>
          </p:cNvSpPr>
          <p:nvPr/>
        </p:nvSpPr>
        <p:spPr>
          <a:xfrm>
            <a:off x="2643588" y="417161"/>
            <a:ext cx="1481708" cy="430887"/>
          </a:xfrm>
          <a:prstGeom prst="rect">
            <a:avLst/>
          </a:prstGeom>
          <a:noFill/>
        </p:spPr>
        <p:txBody>
          <a:bodyPr wrap="square" rtlCol="0">
            <a:spAutoFit/>
          </a:bodyPr>
          <a:lstStyle/>
          <a:p>
            <a:r>
              <a:rPr lang="fr-FR" sz="1100" b="1" dirty="0">
                <a:solidFill>
                  <a:srgbClr val="F96A09"/>
                </a:solidFill>
                <a:latin typeface="Montserrat"/>
                <a:cs typeface="Montserrat"/>
              </a:rPr>
              <a:t>CONTEXTE ET </a:t>
            </a:r>
          </a:p>
          <a:p>
            <a:r>
              <a:rPr lang="fr-FR" sz="1100" b="1" dirty="0">
                <a:solidFill>
                  <a:srgbClr val="F96A09"/>
                </a:solidFill>
                <a:latin typeface="Montserrat"/>
                <a:cs typeface="Montserrat"/>
              </a:rPr>
              <a:t>PROBLÉMATIQUE</a:t>
            </a:r>
          </a:p>
        </p:txBody>
      </p:sp>
      <p:sp>
        <p:nvSpPr>
          <p:cNvPr id="13" name="ZoneTexte 12">
            <a:extLst>
              <a:ext uri="{FF2B5EF4-FFF2-40B4-BE49-F238E27FC236}">
                <a16:creationId xmlns:a16="http://schemas.microsoft.com/office/drawing/2014/main" id="{F744112E-EF9B-ACBB-97AF-48D2DA0D9960}"/>
              </a:ext>
            </a:extLst>
          </p:cNvPr>
          <p:cNvSpPr txBox="1">
            <a:spLocks noGrp="1" noRot="1" noMove="1" noResize="1" noEditPoints="1" noAdjustHandles="1" noChangeArrowheads="1" noChangeShapeType="1"/>
          </p:cNvSpPr>
          <p:nvPr/>
        </p:nvSpPr>
        <p:spPr>
          <a:xfrm>
            <a:off x="4178084" y="501799"/>
            <a:ext cx="1921727" cy="261610"/>
          </a:xfrm>
          <a:prstGeom prst="rect">
            <a:avLst/>
          </a:prstGeom>
          <a:noFill/>
        </p:spPr>
        <p:txBody>
          <a:bodyPr wrap="square" rtlCol="0">
            <a:spAutoFit/>
          </a:bodyPr>
          <a:lstStyle/>
          <a:p>
            <a:r>
              <a:rPr lang="fr-FR" sz="1100" b="1" dirty="0">
                <a:latin typeface="Montserrat"/>
                <a:cs typeface="Montserrat"/>
              </a:rPr>
              <a:t>ÉTUDE CONCEPTUELLE</a:t>
            </a:r>
          </a:p>
        </p:txBody>
      </p:sp>
      <p:sp>
        <p:nvSpPr>
          <p:cNvPr id="15" name="ZoneTexte 14">
            <a:extLst>
              <a:ext uri="{FF2B5EF4-FFF2-40B4-BE49-F238E27FC236}">
                <a16:creationId xmlns:a16="http://schemas.microsoft.com/office/drawing/2014/main" id="{7809D1A0-6CD3-A011-E4BE-BE7062E04105}"/>
              </a:ext>
            </a:extLst>
          </p:cNvPr>
          <p:cNvSpPr txBox="1">
            <a:spLocks noGrp="1" noRot="1" noMove="1" noResize="1" noEditPoints="1" noAdjustHandles="1" noChangeArrowheads="1" noChangeShapeType="1"/>
          </p:cNvSpPr>
          <p:nvPr/>
        </p:nvSpPr>
        <p:spPr>
          <a:xfrm>
            <a:off x="6152599" y="425597"/>
            <a:ext cx="1595723" cy="430887"/>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 SOLUTION</a:t>
            </a:r>
          </a:p>
        </p:txBody>
      </p:sp>
      <p:sp>
        <p:nvSpPr>
          <p:cNvPr id="17" name="ZoneTexte 16">
            <a:extLst>
              <a:ext uri="{FF2B5EF4-FFF2-40B4-BE49-F238E27FC236}">
                <a16:creationId xmlns:a16="http://schemas.microsoft.com/office/drawing/2014/main" id="{F17D77EC-5678-ED71-F4F9-1193A42E7DC5}"/>
              </a:ext>
            </a:extLst>
          </p:cNvPr>
          <p:cNvSpPr txBox="1">
            <a:spLocks noGrp="1" noRot="1" noMove="1" noResize="1" noEditPoints="1" noAdjustHandles="1" noChangeArrowheads="1" noChangeShapeType="1"/>
          </p:cNvSpPr>
          <p:nvPr/>
        </p:nvSpPr>
        <p:spPr>
          <a:xfrm>
            <a:off x="7801110" y="458786"/>
            <a:ext cx="1860500" cy="430887"/>
          </a:xfrm>
          <a:prstGeom prst="rect">
            <a:avLst/>
          </a:prstGeom>
          <a:noFill/>
        </p:spPr>
        <p:txBody>
          <a:bodyPr wrap="square" rtlCol="0">
            <a:spAutoFit/>
          </a:bodyPr>
          <a:lstStyle/>
          <a:p>
            <a:r>
              <a:rPr lang="fr-FR" sz="1100" b="1" dirty="0">
                <a:latin typeface="Montserrat"/>
                <a:cs typeface="Montserrat"/>
              </a:rPr>
              <a:t>RÉSULTATS ET VALIDATION</a:t>
            </a:r>
          </a:p>
        </p:txBody>
      </p:sp>
      <p:sp>
        <p:nvSpPr>
          <p:cNvPr id="19" name="ZoneTexte 18">
            <a:extLst>
              <a:ext uri="{FF2B5EF4-FFF2-40B4-BE49-F238E27FC236}">
                <a16:creationId xmlns:a16="http://schemas.microsoft.com/office/drawing/2014/main" id="{9FC42E0B-3734-9FDF-4EDD-5AE10E27D7C4}"/>
              </a:ext>
            </a:extLst>
          </p:cNvPr>
          <p:cNvSpPr txBox="1">
            <a:spLocks noGrp="1" noRot="1" noMove="1" noResize="1" noEditPoints="1" noAdjustHandles="1" noChangeArrowheads="1" noChangeShapeType="1"/>
          </p:cNvSpPr>
          <p:nvPr/>
        </p:nvSpPr>
        <p:spPr>
          <a:xfrm>
            <a:off x="9716922" y="479710"/>
            <a:ext cx="2346335" cy="261610"/>
          </a:xfrm>
          <a:prstGeom prst="rect">
            <a:avLst/>
          </a:prstGeom>
          <a:noFill/>
        </p:spPr>
        <p:txBody>
          <a:bodyPr wrap="square" rtlCol="0">
            <a:spAutoFit/>
          </a:bodyPr>
          <a:lstStyle/>
          <a:p>
            <a:r>
              <a:rPr lang="fr-FR" sz="1100" b="1" dirty="0">
                <a:latin typeface="Montserrat"/>
                <a:cs typeface="Montserrat"/>
              </a:rPr>
              <a:t>LIMITES ET PERSPECTIVES</a:t>
            </a:r>
          </a:p>
        </p:txBody>
      </p:sp>
      <p:grpSp>
        <p:nvGrpSpPr>
          <p:cNvPr id="3" name="Groupe 2">
            <a:extLst>
              <a:ext uri="{FF2B5EF4-FFF2-40B4-BE49-F238E27FC236}">
                <a16:creationId xmlns:a16="http://schemas.microsoft.com/office/drawing/2014/main" id="{0857DF28-E9CE-6A88-C416-B1E65EFC0B59}"/>
              </a:ext>
            </a:extLst>
          </p:cNvPr>
          <p:cNvGrpSpPr/>
          <p:nvPr/>
        </p:nvGrpSpPr>
        <p:grpSpPr>
          <a:xfrm>
            <a:off x="407545" y="1683626"/>
            <a:ext cx="3784600" cy="814513"/>
            <a:chOff x="7518400" y="2348644"/>
            <a:chExt cx="3784600" cy="814513"/>
          </a:xfrm>
        </p:grpSpPr>
        <p:sp>
          <p:nvSpPr>
            <p:cNvPr id="18" name="BenCard0">
              <a:extLst>
                <a:ext uri="{FF2B5EF4-FFF2-40B4-BE49-F238E27FC236}">
                  <a16:creationId xmlns:a16="http://schemas.microsoft.com/office/drawing/2014/main" id="{2CC42B60-CFEC-B771-E790-1973CEB213C0}"/>
                </a:ext>
              </a:extLst>
            </p:cNvPr>
            <p:cNvSpPr/>
            <p:nvPr/>
          </p:nvSpPr>
          <p:spPr>
            <a:xfrm>
              <a:off x="7518400" y="2348644"/>
              <a:ext cx="3784600" cy="812800"/>
            </a:xfrm>
            <a:prstGeom prst="roundRect">
              <a:avLst/>
            </a:prstGeom>
            <a:solidFill>
              <a:srgbClr val="EDF0F5"/>
            </a:solidFill>
            <a:ln>
              <a:noFill/>
            </a:ln>
            <a:effectLst>
              <a:outerShdw blurRad="101600" dist="25400" dir="5400000" algn="t" rotWithShape="0">
                <a:srgbClr val="16294A">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20" name="BenLbl0">
              <a:extLst>
                <a:ext uri="{FF2B5EF4-FFF2-40B4-BE49-F238E27FC236}">
                  <a16:creationId xmlns:a16="http://schemas.microsoft.com/office/drawing/2014/main" id="{4EC13471-AEC2-ED66-6C3B-B6E30D513CA4}"/>
                </a:ext>
              </a:extLst>
            </p:cNvPr>
            <p:cNvSpPr txBox="1"/>
            <p:nvPr/>
          </p:nvSpPr>
          <p:spPr>
            <a:xfrm>
              <a:off x="8356600" y="2526444"/>
              <a:ext cx="2717800" cy="636713"/>
            </a:xfrm>
            <a:prstGeom prst="rect">
              <a:avLst/>
            </a:prstGeom>
            <a:noFill/>
          </p:spPr>
          <p:txBody>
            <a:bodyPr vertOverflow="overflow" vert="horz" wrap="square" rtlCol="0" anchor="t">
              <a:spAutoFit/>
            </a:bodyPr>
            <a:lstStyle/>
            <a:p>
              <a:pPr algn="l">
                <a:lnSpc>
                  <a:spcPts val="2200"/>
                </a:lnSpc>
                <a:spcBef>
                  <a:spcPct val="0"/>
                </a:spcBef>
                <a:buNone/>
              </a:pPr>
              <a:r>
                <a:rPr lang="fr-FR" sz="1600" b="1" dirty="0">
                  <a:solidFill>
                    <a:srgbClr val="16294A"/>
                  </a:solidFill>
                  <a:latin typeface="Montserrat"/>
                </a:rPr>
                <a:t>Temps de réponse optimisés</a:t>
              </a:r>
            </a:p>
          </p:txBody>
        </p:sp>
        <p:pic>
          <p:nvPicPr>
            <p:cNvPr id="27" name="Graphic 64" descr="Temps de réponse">
              <a:extLst>
                <a:ext uri="{FF2B5EF4-FFF2-40B4-BE49-F238E27FC236}">
                  <a16:creationId xmlns:a16="http://schemas.microsoft.com/office/drawing/2014/main" id="{736E7804-634D-A00F-4876-2AD5D83BE3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72400" y="2551844"/>
              <a:ext cx="406400" cy="406400"/>
            </a:xfrm>
            <a:prstGeom prst="rect">
              <a:avLst/>
            </a:prstGeom>
          </p:spPr>
        </p:pic>
      </p:grpSp>
      <p:grpSp>
        <p:nvGrpSpPr>
          <p:cNvPr id="6" name="Groupe 5">
            <a:extLst>
              <a:ext uri="{FF2B5EF4-FFF2-40B4-BE49-F238E27FC236}">
                <a16:creationId xmlns:a16="http://schemas.microsoft.com/office/drawing/2014/main" id="{9C256F07-9298-7B02-385A-47C90D0CC686}"/>
              </a:ext>
            </a:extLst>
          </p:cNvPr>
          <p:cNvGrpSpPr/>
          <p:nvPr/>
        </p:nvGrpSpPr>
        <p:grpSpPr>
          <a:xfrm>
            <a:off x="4375695" y="1683626"/>
            <a:ext cx="3784600" cy="814513"/>
            <a:chOff x="7518400" y="3288444"/>
            <a:chExt cx="3784600" cy="814513"/>
          </a:xfrm>
        </p:grpSpPr>
        <p:sp>
          <p:nvSpPr>
            <p:cNvPr id="21" name="BenCard1">
              <a:extLst>
                <a:ext uri="{FF2B5EF4-FFF2-40B4-BE49-F238E27FC236}">
                  <a16:creationId xmlns:a16="http://schemas.microsoft.com/office/drawing/2014/main" id="{F7D9CED8-023D-D117-7A48-86ACA2DB71BF}"/>
                </a:ext>
              </a:extLst>
            </p:cNvPr>
            <p:cNvSpPr/>
            <p:nvPr/>
          </p:nvSpPr>
          <p:spPr>
            <a:xfrm>
              <a:off x="7518400" y="3288444"/>
              <a:ext cx="3784600" cy="812800"/>
            </a:xfrm>
            <a:prstGeom prst="roundRect">
              <a:avLst/>
            </a:prstGeom>
            <a:solidFill>
              <a:srgbClr val="EDF0F5"/>
            </a:solidFill>
            <a:ln>
              <a:noFill/>
            </a:ln>
            <a:effectLst>
              <a:outerShdw blurRad="101600" dist="25400" dir="5400000" algn="t" rotWithShape="0">
                <a:srgbClr val="16294A">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22" name="BenLbl1">
              <a:extLst>
                <a:ext uri="{FF2B5EF4-FFF2-40B4-BE49-F238E27FC236}">
                  <a16:creationId xmlns:a16="http://schemas.microsoft.com/office/drawing/2014/main" id="{6CD54E30-CF8C-DE76-2F2D-9D35CF83E6FF}"/>
                </a:ext>
              </a:extLst>
            </p:cNvPr>
            <p:cNvSpPr txBox="1"/>
            <p:nvPr/>
          </p:nvSpPr>
          <p:spPr>
            <a:xfrm>
              <a:off x="8356600" y="3466244"/>
              <a:ext cx="2717800" cy="636713"/>
            </a:xfrm>
            <a:prstGeom prst="rect">
              <a:avLst/>
            </a:prstGeom>
            <a:noFill/>
          </p:spPr>
          <p:txBody>
            <a:bodyPr vertOverflow="overflow" vert="horz" wrap="square" rtlCol="0" anchor="t">
              <a:spAutoFit/>
            </a:bodyPr>
            <a:lstStyle/>
            <a:p>
              <a:pPr algn="l">
                <a:lnSpc>
                  <a:spcPts val="2200"/>
                </a:lnSpc>
                <a:spcBef>
                  <a:spcPct val="0"/>
                </a:spcBef>
                <a:buNone/>
              </a:pPr>
              <a:r>
                <a:rPr lang="fr-FR" sz="1600" b="1" dirty="0">
                  <a:solidFill>
                    <a:srgbClr val="16294A"/>
                  </a:solidFill>
                  <a:latin typeface="Montserrat"/>
                </a:rPr>
                <a:t>Accompagnement continu 24/7</a:t>
              </a:r>
            </a:p>
          </p:txBody>
        </p:sp>
        <p:pic>
          <p:nvPicPr>
            <p:cNvPr id="28" name="Graphic 65" descr="Support continu">
              <a:extLst>
                <a:ext uri="{FF2B5EF4-FFF2-40B4-BE49-F238E27FC236}">
                  <a16:creationId xmlns:a16="http://schemas.microsoft.com/office/drawing/2014/main" id="{733B3518-FF8F-27A5-A32F-48151980F8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72400" y="3491644"/>
              <a:ext cx="406400" cy="406400"/>
            </a:xfrm>
            <a:prstGeom prst="rect">
              <a:avLst/>
            </a:prstGeom>
          </p:spPr>
        </p:pic>
      </p:grpSp>
      <p:grpSp>
        <p:nvGrpSpPr>
          <p:cNvPr id="12" name="Groupe 11">
            <a:extLst>
              <a:ext uri="{FF2B5EF4-FFF2-40B4-BE49-F238E27FC236}">
                <a16:creationId xmlns:a16="http://schemas.microsoft.com/office/drawing/2014/main" id="{BCC3E55C-F9AB-A781-E738-56132A9F7D88}"/>
              </a:ext>
            </a:extLst>
          </p:cNvPr>
          <p:cNvGrpSpPr/>
          <p:nvPr/>
        </p:nvGrpSpPr>
        <p:grpSpPr>
          <a:xfrm>
            <a:off x="8343845" y="1683626"/>
            <a:ext cx="3784600" cy="814513"/>
            <a:chOff x="7518400" y="4228244"/>
            <a:chExt cx="3784600" cy="814513"/>
          </a:xfrm>
        </p:grpSpPr>
        <p:sp>
          <p:nvSpPr>
            <p:cNvPr id="23" name="BenCard2">
              <a:extLst>
                <a:ext uri="{FF2B5EF4-FFF2-40B4-BE49-F238E27FC236}">
                  <a16:creationId xmlns:a16="http://schemas.microsoft.com/office/drawing/2014/main" id="{13891451-7470-59D1-0A20-F313354D84BD}"/>
                </a:ext>
              </a:extLst>
            </p:cNvPr>
            <p:cNvSpPr/>
            <p:nvPr/>
          </p:nvSpPr>
          <p:spPr>
            <a:xfrm>
              <a:off x="7518400" y="4228244"/>
              <a:ext cx="3784600" cy="812800"/>
            </a:xfrm>
            <a:prstGeom prst="roundRect">
              <a:avLst/>
            </a:prstGeom>
            <a:solidFill>
              <a:srgbClr val="EDF0F5"/>
            </a:solidFill>
            <a:ln>
              <a:noFill/>
            </a:ln>
            <a:effectLst>
              <a:outerShdw blurRad="101600" dist="25400" dir="5400000" algn="t" rotWithShape="0">
                <a:srgbClr val="16294A">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24" name="BenLbl2">
              <a:extLst>
                <a:ext uri="{FF2B5EF4-FFF2-40B4-BE49-F238E27FC236}">
                  <a16:creationId xmlns:a16="http://schemas.microsoft.com/office/drawing/2014/main" id="{6BFB87A0-D393-4157-BEE3-13331C55C89B}"/>
                </a:ext>
              </a:extLst>
            </p:cNvPr>
            <p:cNvSpPr txBox="1"/>
            <p:nvPr/>
          </p:nvSpPr>
          <p:spPr>
            <a:xfrm>
              <a:off x="8356600" y="4406044"/>
              <a:ext cx="2717800" cy="636713"/>
            </a:xfrm>
            <a:prstGeom prst="rect">
              <a:avLst/>
            </a:prstGeom>
            <a:noFill/>
          </p:spPr>
          <p:txBody>
            <a:bodyPr vertOverflow="overflow" vert="horz" wrap="square" rtlCol="0" anchor="t">
              <a:spAutoFit/>
            </a:bodyPr>
            <a:lstStyle/>
            <a:p>
              <a:pPr algn="l">
                <a:lnSpc>
                  <a:spcPts val="2200"/>
                </a:lnSpc>
                <a:spcBef>
                  <a:spcPct val="0"/>
                </a:spcBef>
                <a:buNone/>
              </a:pPr>
              <a:r>
                <a:rPr lang="fr-FR" sz="1600" b="1" dirty="0">
                  <a:solidFill>
                    <a:srgbClr val="16294A"/>
                  </a:solidFill>
                  <a:latin typeface="Montserrat"/>
                </a:rPr>
                <a:t>Traitement automatisé des requêtes</a:t>
              </a:r>
            </a:p>
          </p:txBody>
        </p:sp>
        <p:pic>
          <p:nvPicPr>
            <p:cNvPr id="32" name="Graphic 66" descr="Traitement automatisé">
              <a:extLst>
                <a:ext uri="{FF2B5EF4-FFF2-40B4-BE49-F238E27FC236}">
                  <a16:creationId xmlns:a16="http://schemas.microsoft.com/office/drawing/2014/main" id="{1F4957D3-274E-2ABE-FE47-8E5F142275B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72400" y="4431444"/>
              <a:ext cx="406400" cy="406400"/>
            </a:xfrm>
            <a:prstGeom prst="rect">
              <a:avLst/>
            </a:prstGeom>
          </p:spPr>
        </p:pic>
      </p:grpSp>
      <p:grpSp>
        <p:nvGrpSpPr>
          <p:cNvPr id="14" name="Groupe 13">
            <a:extLst>
              <a:ext uri="{FF2B5EF4-FFF2-40B4-BE49-F238E27FC236}">
                <a16:creationId xmlns:a16="http://schemas.microsoft.com/office/drawing/2014/main" id="{028F5C6C-596C-AB34-53DF-C33EEBCBFF59}"/>
              </a:ext>
            </a:extLst>
          </p:cNvPr>
          <p:cNvGrpSpPr/>
          <p:nvPr/>
        </p:nvGrpSpPr>
        <p:grpSpPr>
          <a:xfrm>
            <a:off x="895350" y="2879446"/>
            <a:ext cx="10401300" cy="3149600"/>
            <a:chOff x="901700" y="2946400"/>
            <a:chExt cx="10401300" cy="3149600"/>
          </a:xfrm>
        </p:grpSpPr>
        <p:sp>
          <p:nvSpPr>
            <p:cNvPr id="29" name="PbEyebrow">
              <a:extLst>
                <a:ext uri="{FF2B5EF4-FFF2-40B4-BE49-F238E27FC236}">
                  <a16:creationId xmlns:a16="http://schemas.microsoft.com/office/drawing/2014/main" id="{FF1B0DCE-8C10-81CA-C1C3-40D131EED143}"/>
                </a:ext>
              </a:extLst>
            </p:cNvPr>
            <p:cNvSpPr txBox="1"/>
            <p:nvPr/>
          </p:nvSpPr>
          <p:spPr>
            <a:xfrm>
              <a:off x="1168400" y="2946400"/>
              <a:ext cx="5334000" cy="338554"/>
            </a:xfrm>
            <a:prstGeom prst="rect">
              <a:avLst/>
            </a:prstGeom>
            <a:noFill/>
          </p:spPr>
          <p:txBody>
            <a:bodyPr vertOverflow="overflow" vert="horz" wrap="square" rtlCol="0" anchor="t">
              <a:spAutoFit/>
            </a:bodyPr>
            <a:lstStyle/>
            <a:p>
              <a:pPr algn="l">
                <a:spcBef>
                  <a:spcPct val="0"/>
                </a:spcBef>
                <a:buNone/>
              </a:pPr>
              <a:r>
                <a:rPr lang="fr-FR" sz="1600" b="1" spc="300" dirty="0">
                  <a:solidFill>
                    <a:srgbClr val="F96A09"/>
                  </a:solidFill>
                  <a:latin typeface="Montserrat"/>
                </a:rPr>
                <a:t>QUESTION CENTRALE</a:t>
              </a:r>
            </a:p>
          </p:txBody>
        </p:sp>
        <p:sp>
          <p:nvSpPr>
            <p:cNvPr id="30" name="PbBar">
              <a:extLst>
                <a:ext uri="{FF2B5EF4-FFF2-40B4-BE49-F238E27FC236}">
                  <a16:creationId xmlns:a16="http://schemas.microsoft.com/office/drawing/2014/main" id="{A5A239DD-6F26-91A8-4B4D-249988CFD7C7}"/>
                </a:ext>
              </a:extLst>
            </p:cNvPr>
            <p:cNvSpPr/>
            <p:nvPr/>
          </p:nvSpPr>
          <p:spPr>
            <a:xfrm>
              <a:off x="901700" y="2971800"/>
              <a:ext cx="63500" cy="304800"/>
            </a:xfrm>
            <a:prstGeom prst="rect">
              <a:avLst/>
            </a:prstGeom>
            <a:solidFill>
              <a:srgbClr val="F96A0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grpSp>
          <p:nvGrpSpPr>
            <p:cNvPr id="31" name="Groupe 30">
              <a:extLst>
                <a:ext uri="{FF2B5EF4-FFF2-40B4-BE49-F238E27FC236}">
                  <a16:creationId xmlns:a16="http://schemas.microsoft.com/office/drawing/2014/main" id="{7D60643B-22E8-EEF4-1AB5-591B66EEAF09}"/>
                </a:ext>
              </a:extLst>
            </p:cNvPr>
            <p:cNvGrpSpPr/>
            <p:nvPr/>
          </p:nvGrpSpPr>
          <p:grpSpPr>
            <a:xfrm>
              <a:off x="901700" y="3479800"/>
              <a:ext cx="10401300" cy="2616200"/>
              <a:chOff x="901700" y="3479800"/>
              <a:chExt cx="10401300" cy="2616200"/>
            </a:xfrm>
          </p:grpSpPr>
          <p:sp>
            <p:nvSpPr>
              <p:cNvPr id="33" name="PbCard">
                <a:extLst>
                  <a:ext uri="{FF2B5EF4-FFF2-40B4-BE49-F238E27FC236}">
                    <a16:creationId xmlns:a16="http://schemas.microsoft.com/office/drawing/2014/main" id="{08C1B52D-5821-70A0-BC59-344B851FACBF}"/>
                  </a:ext>
                </a:extLst>
              </p:cNvPr>
              <p:cNvSpPr/>
              <p:nvPr/>
            </p:nvSpPr>
            <p:spPr>
              <a:xfrm>
                <a:off x="901700" y="3479800"/>
                <a:ext cx="10401300" cy="2616200"/>
              </a:xfrm>
              <a:prstGeom prst="roundRect">
                <a:avLst/>
              </a:prstGeom>
              <a:solidFill>
                <a:srgbClr val="EDF0F5"/>
              </a:solidFill>
              <a:ln>
                <a:noFill/>
              </a:ln>
              <a:effectLst>
                <a:outerShdw blurRad="101600" dist="25400" dir="5400000" algn="t" rotWithShape="0">
                  <a:srgbClr val="16294A">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34" name="PbEdge">
                <a:extLst>
                  <a:ext uri="{FF2B5EF4-FFF2-40B4-BE49-F238E27FC236}">
                    <a16:creationId xmlns:a16="http://schemas.microsoft.com/office/drawing/2014/main" id="{828C0319-E5C2-D0C9-9F94-073DA53DB82D}"/>
                  </a:ext>
                </a:extLst>
              </p:cNvPr>
              <p:cNvSpPr/>
              <p:nvPr/>
            </p:nvSpPr>
            <p:spPr>
              <a:xfrm>
                <a:off x="901700" y="3759200"/>
                <a:ext cx="88900" cy="2057400"/>
              </a:xfrm>
              <a:prstGeom prst="rect">
                <a:avLst/>
              </a:prstGeom>
              <a:solidFill>
                <a:srgbClr val="F96A0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35" name="PbQuestion">
                <a:extLst>
                  <a:ext uri="{FF2B5EF4-FFF2-40B4-BE49-F238E27FC236}">
                    <a16:creationId xmlns:a16="http://schemas.microsoft.com/office/drawing/2014/main" id="{ECAB9D1D-3CC4-69CF-65A4-8BB873F4FF71}"/>
                  </a:ext>
                </a:extLst>
              </p:cNvPr>
              <p:cNvSpPr txBox="1"/>
              <p:nvPr/>
            </p:nvSpPr>
            <p:spPr>
              <a:xfrm>
                <a:off x="2184400" y="3860800"/>
                <a:ext cx="8712200" cy="1514838"/>
              </a:xfrm>
              <a:prstGeom prst="rect">
                <a:avLst/>
              </a:prstGeom>
              <a:noFill/>
            </p:spPr>
            <p:txBody>
              <a:bodyPr vertOverflow="overflow" vert="horz" wrap="square" rtlCol="0" anchor="t">
                <a:spAutoFit/>
              </a:bodyPr>
              <a:lstStyle/>
              <a:p>
                <a:pPr algn="l">
                  <a:lnSpc>
                    <a:spcPts val="3800"/>
                  </a:lnSpc>
                  <a:spcBef>
                    <a:spcPct val="0"/>
                  </a:spcBef>
                  <a:buNone/>
                </a:pPr>
                <a:r>
                  <a:rPr lang="fr-FR" sz="2600" dirty="0">
                    <a:solidFill>
                      <a:srgbClr val="16294A"/>
                    </a:solidFill>
                    <a:latin typeface="Montserrat"/>
                  </a:rPr>
                  <a:t>« Comment concevoir et développer un </a:t>
                </a:r>
                <a:r>
                  <a:rPr lang="fr-FR" sz="2600" b="1" dirty="0">
                    <a:solidFill>
                      <a:srgbClr val="F96A09"/>
                    </a:solidFill>
                    <a:latin typeface="Montserrat"/>
                  </a:rPr>
                  <a:t>agent conversationnel intelligent</a:t>
                </a:r>
                <a:r>
                  <a:rPr lang="fr-FR" sz="2600" dirty="0">
                    <a:solidFill>
                      <a:srgbClr val="16294A"/>
                    </a:solidFill>
                    <a:latin typeface="Montserrat"/>
                  </a:rPr>
                  <a:t> pour </a:t>
                </a:r>
                <a:r>
                  <a:rPr lang="fr-FR" sz="2600" b="1" dirty="0">
                    <a:solidFill>
                      <a:srgbClr val="F96A09"/>
                    </a:solidFill>
                    <a:latin typeface="Montserrat"/>
                  </a:rPr>
                  <a:t>automatiser le support client</a:t>
                </a:r>
                <a:r>
                  <a:rPr lang="fr-FR" sz="2600" dirty="0">
                    <a:solidFill>
                      <a:srgbClr val="16294A"/>
                    </a:solidFill>
                    <a:latin typeface="Montserrat"/>
                  </a:rPr>
                  <a:t> de la plateforme NGONI ? »</a:t>
                </a:r>
              </a:p>
            </p:txBody>
          </p:sp>
        </p:grpSp>
      </p:grpSp>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2941EB0A-1B79-4FE9-943E-9F3C50257C68}" type="slidenum">
              <a:rPr lang="fr-FR" sz="1600" b="1" dirty="0">
                <a:solidFill>
                  <a:srgbClr val="FFFFFF"/>
                </a:solidFill>
                <a:latin typeface="Montserrat"/>
              </a:rPr>
              <a:t>6</a:t>
            </a:fld>
            <a:endParaRPr lang="fr-FR" sz="1600" b="1" dirty="0">
              <a:solidFill>
                <a:srgbClr val="FFFFFF"/>
              </a:solidFill>
              <a:latin typeface="Montserrat"/>
            </a:endParaRPr>
          </a:p>
        </p:txBody>
      </p:sp>
    </p:spTree>
    <p:extLst>
      <p:ext uri="{BB962C8B-B14F-4D97-AF65-F5344CB8AC3E}">
        <p14:creationId xmlns:p14="http://schemas.microsoft.com/office/powerpoint/2010/main" val="1249087997"/>
      </p:ext>
    </p:extLst>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anim calcmode="lin" valueType="num">
                                      <p:cBhvr>
                                        <p:cTn id="8" dur="450" fill="hold"/>
                                        <p:tgtEl>
                                          <p:spTgt spid="3"/>
                                        </p:tgtEl>
                                        <p:attrNameLst>
                                          <p:attrName>ppt_x</p:attrName>
                                        </p:attrNameLst>
                                      </p:cBhvr>
                                      <p:tavLst>
                                        <p:tav tm="0">
                                          <p:val>
                                            <p:strVal val="#ppt_x"/>
                                          </p:val>
                                        </p:tav>
                                        <p:tav tm="100000">
                                          <p:val>
                                            <p:strVal val="#ppt_x"/>
                                          </p:val>
                                        </p:tav>
                                      </p:tavLst>
                                    </p:anim>
                                    <p:anim calcmode="lin" valueType="num">
                                      <p:cBhvr>
                                        <p:cTn id="9" dur="450" fill="hold"/>
                                        <p:tgtEl>
                                          <p:spTgt spid="3"/>
                                        </p:tgtEl>
                                        <p:attrNameLst>
                                          <p:attrName>ppt_y</p:attrName>
                                        </p:attrNameLst>
                                      </p:cBhvr>
                                      <p:tavLst>
                                        <p:tav tm="0">
                                          <p:val>
                                            <p:strVal val="#ppt_y+.03"/>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anim calcmode="lin" valueType="num">
                                      <p:cBhvr>
                                        <p:cTn id="15" dur="450" fill="hold"/>
                                        <p:tgtEl>
                                          <p:spTgt spid="6"/>
                                        </p:tgtEl>
                                        <p:attrNameLst>
                                          <p:attrName>ppt_x</p:attrName>
                                        </p:attrNameLst>
                                      </p:cBhvr>
                                      <p:tavLst>
                                        <p:tav tm="0">
                                          <p:val>
                                            <p:strVal val="#ppt_x"/>
                                          </p:val>
                                        </p:tav>
                                        <p:tav tm="100000">
                                          <p:val>
                                            <p:strVal val="#ppt_x"/>
                                          </p:val>
                                        </p:tav>
                                      </p:tavLst>
                                    </p:anim>
                                    <p:anim calcmode="lin" valueType="num">
                                      <p:cBhvr>
                                        <p:cTn id="16" dur="450" fill="hold"/>
                                        <p:tgtEl>
                                          <p:spTgt spid="6"/>
                                        </p:tgtEl>
                                        <p:attrNameLst>
                                          <p:attrName>ppt_y</p:attrName>
                                        </p:attrNameLst>
                                      </p:cBhvr>
                                      <p:tavLst>
                                        <p:tav tm="0">
                                          <p:val>
                                            <p:strVal val="#ppt_y+.03"/>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50"/>
                                        <p:tgtEl>
                                          <p:spTgt spid="12"/>
                                        </p:tgtEl>
                                      </p:cBhvr>
                                    </p:animEffect>
                                    <p:anim calcmode="lin" valueType="num">
                                      <p:cBhvr>
                                        <p:cTn id="22" dur="450" fill="hold"/>
                                        <p:tgtEl>
                                          <p:spTgt spid="12"/>
                                        </p:tgtEl>
                                        <p:attrNameLst>
                                          <p:attrName>ppt_x</p:attrName>
                                        </p:attrNameLst>
                                      </p:cBhvr>
                                      <p:tavLst>
                                        <p:tav tm="0">
                                          <p:val>
                                            <p:strVal val="#ppt_x"/>
                                          </p:val>
                                        </p:tav>
                                        <p:tav tm="100000">
                                          <p:val>
                                            <p:strVal val="#ppt_x"/>
                                          </p:val>
                                        </p:tav>
                                      </p:tavLst>
                                    </p:anim>
                                    <p:anim calcmode="lin" valueType="num">
                                      <p:cBhvr>
                                        <p:cTn id="23" dur="450" fill="hold"/>
                                        <p:tgtEl>
                                          <p:spTgt spid="12"/>
                                        </p:tgtEl>
                                        <p:attrNameLst>
                                          <p:attrName>ppt_y</p:attrName>
                                        </p:attrNameLst>
                                      </p:cBhvr>
                                      <p:tavLst>
                                        <p:tav tm="0">
                                          <p:val>
                                            <p:strVal val="#ppt_y+.03"/>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left)">
                                      <p:cBhvr>
                                        <p:cTn id="28"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4B6F5-9518-5459-A663-B46FB6E7C8A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BE79D3A-56F2-1306-9DF1-D8204BB4EC40}"/>
              </a:ext>
            </a:extLst>
          </p:cNvPr>
          <p:cNvSpPr>
            <a:spLocks noGrp="1" noRot="1" noMove="1" noResize="1" noEditPoints="1" noAdjustHandles="1" noChangeArrowheads="1" noChangeShapeType="1"/>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EB7B4B15-E78E-CD0E-27DC-E67E5D73C0A4}"/>
              </a:ext>
            </a:extLst>
          </p:cNvPr>
          <p:cNvSpPr>
            <a:spLocks/>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D19E6ACE-167D-401E-FF11-DE4DC37100DA}"/>
              </a:ext>
            </a:extLst>
          </p:cNvPr>
          <p:cNvSpPr>
            <a:spLocks noGrp="1" noRot="1" noMove="1" noResize="1" noEditPoints="1" noAdjustHandles="1" noChangeArrowheads="1" noChangeShapeType="1"/>
          </p:cNvSpPr>
          <p:nvPr/>
        </p:nvSpPr>
        <p:spPr>
          <a:xfrm>
            <a:off x="1435099"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1</a:t>
            </a:r>
          </a:p>
        </p:txBody>
      </p:sp>
      <p:sp>
        <p:nvSpPr>
          <p:cNvPr id="39" name="Ellipse 38">
            <a:extLst>
              <a:ext uri="{FF2B5EF4-FFF2-40B4-BE49-F238E27FC236}">
                <a16:creationId xmlns:a16="http://schemas.microsoft.com/office/drawing/2014/main" id="{268A5158-03D3-EEB2-BB74-F9951D22BBB4}"/>
              </a:ext>
            </a:extLst>
          </p:cNvPr>
          <p:cNvSpPr>
            <a:spLocks noGrp="1" noRot="1" noMove="1" noResize="1" noEditPoints="1" noAdjustHandles="1" noChangeArrowheads="1" noChangeShapeType="1"/>
          </p:cNvSpPr>
          <p:nvPr/>
        </p:nvSpPr>
        <p:spPr>
          <a:xfrm>
            <a:off x="3276885" y="205023"/>
            <a:ext cx="246063" cy="253765"/>
          </a:xfrm>
          <a:prstGeom prst="ellipse">
            <a:avLst/>
          </a:prstGeom>
          <a:noFill/>
          <a:ln>
            <a:solidFill>
              <a:srgbClr val="F96A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F96A09"/>
                </a:solidFill>
              </a:rPr>
              <a:t>2</a:t>
            </a:r>
          </a:p>
        </p:txBody>
      </p:sp>
      <p:sp>
        <p:nvSpPr>
          <p:cNvPr id="41" name="Ellipse 40">
            <a:extLst>
              <a:ext uri="{FF2B5EF4-FFF2-40B4-BE49-F238E27FC236}">
                <a16:creationId xmlns:a16="http://schemas.microsoft.com/office/drawing/2014/main" id="{0F2C84C6-1855-C6D8-A52B-9CD74A90F409}"/>
              </a:ext>
            </a:extLst>
          </p:cNvPr>
          <p:cNvSpPr>
            <a:spLocks noGrp="1" noRot="1" noMove="1" noResize="1" noEditPoints="1" noAdjustHandles="1" noChangeArrowheads="1" noChangeShapeType="1"/>
          </p:cNvSpPr>
          <p:nvPr/>
        </p:nvSpPr>
        <p:spPr>
          <a:xfrm>
            <a:off x="5118671"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3</a:t>
            </a:r>
          </a:p>
        </p:txBody>
      </p:sp>
      <p:sp>
        <p:nvSpPr>
          <p:cNvPr id="43" name="Ellipse 42">
            <a:extLst>
              <a:ext uri="{FF2B5EF4-FFF2-40B4-BE49-F238E27FC236}">
                <a16:creationId xmlns:a16="http://schemas.microsoft.com/office/drawing/2014/main" id="{C7D1FD60-5BEB-A3CE-7B5D-A59A47F34728}"/>
              </a:ext>
            </a:extLst>
          </p:cNvPr>
          <p:cNvSpPr>
            <a:spLocks noGrp="1" noRot="1" noMove="1" noResize="1" noEditPoints="1" noAdjustHandles="1" noChangeArrowheads="1" noChangeShapeType="1"/>
          </p:cNvSpPr>
          <p:nvPr/>
        </p:nvSpPr>
        <p:spPr>
          <a:xfrm>
            <a:off x="696045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4</a:t>
            </a:r>
          </a:p>
        </p:txBody>
      </p:sp>
      <p:sp>
        <p:nvSpPr>
          <p:cNvPr id="45" name="Ellipse 44">
            <a:extLst>
              <a:ext uri="{FF2B5EF4-FFF2-40B4-BE49-F238E27FC236}">
                <a16:creationId xmlns:a16="http://schemas.microsoft.com/office/drawing/2014/main" id="{1D6AB122-C813-B9AF-92BC-3BA3228508C2}"/>
              </a:ext>
            </a:extLst>
          </p:cNvPr>
          <p:cNvSpPr>
            <a:spLocks noGrp="1" noRot="1" noMove="1" noResize="1" noEditPoints="1" noAdjustHandles="1" noChangeArrowheads="1" noChangeShapeType="1"/>
          </p:cNvSpPr>
          <p:nvPr/>
        </p:nvSpPr>
        <p:spPr>
          <a:xfrm>
            <a:off x="8802243"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5</a:t>
            </a:r>
          </a:p>
        </p:txBody>
      </p:sp>
      <p:sp>
        <p:nvSpPr>
          <p:cNvPr id="47" name="Ellipse 46">
            <a:extLst>
              <a:ext uri="{FF2B5EF4-FFF2-40B4-BE49-F238E27FC236}">
                <a16:creationId xmlns:a16="http://schemas.microsoft.com/office/drawing/2014/main" id="{3A90CC6B-DA56-C1F6-8423-F39D738D0894}"/>
              </a:ext>
            </a:extLst>
          </p:cNvPr>
          <p:cNvSpPr>
            <a:spLocks noGrp="1" noRot="1" noMove="1" noResize="1" noEditPoints="1" noAdjustHandles="1" noChangeArrowheads="1" noChangeShapeType="1"/>
          </p:cNvSpPr>
          <p:nvPr/>
        </p:nvSpPr>
        <p:spPr>
          <a:xfrm>
            <a:off x="1064402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6</a:t>
            </a:r>
          </a:p>
        </p:txBody>
      </p:sp>
      <p:cxnSp>
        <p:nvCxnSpPr>
          <p:cNvPr id="49" name="Connecteur droit 48">
            <a:extLst>
              <a:ext uri="{FF2B5EF4-FFF2-40B4-BE49-F238E27FC236}">
                <a16:creationId xmlns:a16="http://schemas.microsoft.com/office/drawing/2014/main" id="{498C1C17-0743-860A-EF44-7A3738B727EF}"/>
              </a:ext>
            </a:extLst>
          </p:cNvPr>
          <p:cNvCxnSpPr>
            <a:cxnSpLocks noGrp="1" noRot="1" noMove="1" noResize="1" noEditPoints="1" noAdjustHandles="1" noChangeArrowheads="1" noChangeShapeType="1"/>
            <a:endCxn id="25" idx="2"/>
          </p:cNvCxnSpPr>
          <p:nvPr/>
        </p:nvCxnSpPr>
        <p:spPr>
          <a:xfrm flipV="1">
            <a:off x="387416" y="331905"/>
            <a:ext cx="10476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3887A7D1-B544-DD8C-88F3-045215811189}"/>
              </a:ext>
            </a:extLst>
          </p:cNvPr>
          <p:cNvCxnSpPr>
            <a:cxnSpLocks noGrp="1" noRot="1" noMove="1" noResize="1" noEditPoints="1" noAdjustHandles="1" noChangeArrowheads="1" noChangeShapeType="1"/>
            <a:stCxn id="25" idx="6"/>
            <a:endCxn id="39" idx="2"/>
          </p:cNvCxnSpPr>
          <p:nvPr/>
        </p:nvCxnSpPr>
        <p:spPr>
          <a:xfrm flipV="1">
            <a:off x="1681162"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3" name="Connecteur droit 52">
            <a:extLst>
              <a:ext uri="{FF2B5EF4-FFF2-40B4-BE49-F238E27FC236}">
                <a16:creationId xmlns:a16="http://schemas.microsoft.com/office/drawing/2014/main" id="{997C531C-FD14-DD21-4EBC-592E088CD4DD}"/>
              </a:ext>
            </a:extLst>
          </p:cNvPr>
          <p:cNvCxnSpPr>
            <a:cxnSpLocks noGrp="1" noRot="1" noMove="1" noResize="1" noEditPoints="1" noAdjustHandles="1" noChangeArrowheads="1" noChangeShapeType="1"/>
            <a:stCxn id="39" idx="6"/>
            <a:endCxn id="41" idx="2"/>
          </p:cNvCxnSpPr>
          <p:nvPr/>
        </p:nvCxnSpPr>
        <p:spPr>
          <a:xfrm>
            <a:off x="3522948"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5" name="Connecteur droit 54">
            <a:extLst>
              <a:ext uri="{FF2B5EF4-FFF2-40B4-BE49-F238E27FC236}">
                <a16:creationId xmlns:a16="http://schemas.microsoft.com/office/drawing/2014/main" id="{A824B286-D3ED-7775-9E69-1EE6CD4376D1}"/>
              </a:ext>
            </a:extLst>
          </p:cNvPr>
          <p:cNvCxnSpPr>
            <a:cxnSpLocks noGrp="1" noRot="1" noMove="1" noResize="1" noEditPoints="1" noAdjustHandles="1" noChangeArrowheads="1" noChangeShapeType="1"/>
            <a:stCxn id="41" idx="6"/>
            <a:endCxn id="43" idx="2"/>
          </p:cNvCxnSpPr>
          <p:nvPr/>
        </p:nvCxnSpPr>
        <p:spPr>
          <a:xfrm>
            <a:off x="5364734"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7C0CAB53-5721-E154-A94A-8FE16FB52805}"/>
              </a:ext>
            </a:extLst>
          </p:cNvPr>
          <p:cNvCxnSpPr>
            <a:cxnSpLocks noGrp="1" noRot="1" noMove="1" noResize="1" noEditPoints="1" noAdjustHandles="1" noChangeArrowheads="1" noChangeShapeType="1"/>
            <a:stCxn id="43" idx="6"/>
            <a:endCxn id="45" idx="2"/>
          </p:cNvCxnSpPr>
          <p:nvPr/>
        </p:nvCxnSpPr>
        <p:spPr>
          <a:xfrm>
            <a:off x="7206520"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B542EAA7-D6B4-FA78-57F0-91928EDF38DA}"/>
              </a:ext>
            </a:extLst>
          </p:cNvPr>
          <p:cNvCxnSpPr>
            <a:cxnSpLocks noGrp="1" noRot="1" noMove="1" noResize="1" noEditPoints="1" noAdjustHandles="1" noChangeArrowheads="1" noChangeShapeType="1"/>
            <a:stCxn id="45" idx="6"/>
            <a:endCxn id="47" idx="2"/>
          </p:cNvCxnSpPr>
          <p:nvPr/>
        </p:nvCxnSpPr>
        <p:spPr>
          <a:xfrm flipV="1">
            <a:off x="9048306" y="331905"/>
            <a:ext cx="15957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B11645A0-BB47-DFF9-6681-A050D74C65D7}"/>
              </a:ext>
            </a:extLst>
          </p:cNvPr>
          <p:cNvCxnSpPr>
            <a:cxnSpLocks noGrp="1" noRot="1" noMove="1" noResize="1" noEditPoints="1" noAdjustHandles="1" noChangeArrowheads="1" noChangeShapeType="1"/>
            <a:stCxn id="47" idx="6"/>
          </p:cNvCxnSpPr>
          <p:nvPr/>
        </p:nvCxnSpPr>
        <p:spPr>
          <a:xfrm>
            <a:off x="10890090" y="331905"/>
            <a:ext cx="130191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E36E6299-3910-FC82-BFA8-71A5B9EB60BF}"/>
              </a:ext>
            </a:extLst>
          </p:cNvPr>
          <p:cNvSpPr txBox="1">
            <a:spLocks noGrp="1" noRot="1" noMove="1" noResize="1" noEditPoints="1" noAdjustHandles="1" noChangeArrowheads="1" noChangeShapeType="1"/>
          </p:cNvSpPr>
          <p:nvPr/>
        </p:nvSpPr>
        <p:spPr>
          <a:xfrm>
            <a:off x="624823" y="479710"/>
            <a:ext cx="1965977" cy="600164"/>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a:t>
            </a:r>
            <a:r>
              <a:rPr lang="fr-FR" sz="1100" b="1" dirty="0">
                <a:latin typeface="Montserrat"/>
              </a:rPr>
              <a:t> </a:t>
            </a:r>
            <a:r>
              <a:rPr lang="fr-FR" sz="1100" b="1" dirty="0">
                <a:latin typeface="Montserrat"/>
                <a:cs typeface="Montserrat"/>
              </a:rPr>
              <a:t>STRUCTURE D’ACCUEIL</a:t>
            </a:r>
          </a:p>
        </p:txBody>
      </p:sp>
      <p:sp>
        <p:nvSpPr>
          <p:cNvPr id="10" name="ZoneTexte 9">
            <a:extLst>
              <a:ext uri="{FF2B5EF4-FFF2-40B4-BE49-F238E27FC236}">
                <a16:creationId xmlns:a16="http://schemas.microsoft.com/office/drawing/2014/main" id="{CB64CADE-EC9F-4F25-CE5B-08A6E1F22A63}"/>
              </a:ext>
            </a:extLst>
          </p:cNvPr>
          <p:cNvSpPr txBox="1">
            <a:spLocks noGrp="1" noRot="1" noMove="1" noResize="1" noEditPoints="1" noAdjustHandles="1" noChangeArrowheads="1" noChangeShapeType="1"/>
          </p:cNvSpPr>
          <p:nvPr/>
        </p:nvSpPr>
        <p:spPr>
          <a:xfrm>
            <a:off x="2643588" y="417161"/>
            <a:ext cx="1481708" cy="430887"/>
          </a:xfrm>
          <a:prstGeom prst="rect">
            <a:avLst/>
          </a:prstGeom>
          <a:noFill/>
        </p:spPr>
        <p:txBody>
          <a:bodyPr wrap="square" rtlCol="0">
            <a:spAutoFit/>
          </a:bodyPr>
          <a:lstStyle/>
          <a:p>
            <a:r>
              <a:rPr lang="fr-FR" sz="1100" b="1" dirty="0">
                <a:solidFill>
                  <a:srgbClr val="F96A09"/>
                </a:solidFill>
                <a:latin typeface="Montserrat"/>
                <a:cs typeface="Montserrat"/>
              </a:rPr>
              <a:t>CONTEXTE ET </a:t>
            </a:r>
          </a:p>
          <a:p>
            <a:r>
              <a:rPr lang="fr-FR" sz="1100" b="1" dirty="0">
                <a:solidFill>
                  <a:srgbClr val="F96A09"/>
                </a:solidFill>
                <a:latin typeface="Montserrat"/>
                <a:cs typeface="Montserrat"/>
              </a:rPr>
              <a:t>PROBLÉMATIQUE</a:t>
            </a:r>
          </a:p>
        </p:txBody>
      </p:sp>
      <p:sp>
        <p:nvSpPr>
          <p:cNvPr id="13" name="ZoneTexte 12">
            <a:extLst>
              <a:ext uri="{FF2B5EF4-FFF2-40B4-BE49-F238E27FC236}">
                <a16:creationId xmlns:a16="http://schemas.microsoft.com/office/drawing/2014/main" id="{85A25338-A93A-18E5-CE87-CC83FD1FC8FC}"/>
              </a:ext>
            </a:extLst>
          </p:cNvPr>
          <p:cNvSpPr txBox="1">
            <a:spLocks noGrp="1" noRot="1" noMove="1" noResize="1" noEditPoints="1" noAdjustHandles="1" noChangeArrowheads="1" noChangeShapeType="1"/>
          </p:cNvSpPr>
          <p:nvPr/>
        </p:nvSpPr>
        <p:spPr>
          <a:xfrm>
            <a:off x="4178084" y="501799"/>
            <a:ext cx="1921727" cy="261610"/>
          </a:xfrm>
          <a:prstGeom prst="rect">
            <a:avLst/>
          </a:prstGeom>
          <a:noFill/>
        </p:spPr>
        <p:txBody>
          <a:bodyPr wrap="square" rtlCol="0">
            <a:spAutoFit/>
          </a:bodyPr>
          <a:lstStyle/>
          <a:p>
            <a:r>
              <a:rPr lang="fr-FR" sz="1100" b="1" dirty="0">
                <a:latin typeface="Montserrat"/>
                <a:cs typeface="Montserrat"/>
              </a:rPr>
              <a:t>ÉTUDE CONCEPTUELLE</a:t>
            </a:r>
          </a:p>
        </p:txBody>
      </p:sp>
      <p:sp>
        <p:nvSpPr>
          <p:cNvPr id="15" name="ZoneTexte 14">
            <a:extLst>
              <a:ext uri="{FF2B5EF4-FFF2-40B4-BE49-F238E27FC236}">
                <a16:creationId xmlns:a16="http://schemas.microsoft.com/office/drawing/2014/main" id="{4EA221CE-E871-B753-407D-4531B7611BAA}"/>
              </a:ext>
            </a:extLst>
          </p:cNvPr>
          <p:cNvSpPr txBox="1">
            <a:spLocks noGrp="1" noRot="1" noMove="1" noResize="1" noEditPoints="1" noAdjustHandles="1" noChangeArrowheads="1" noChangeShapeType="1"/>
          </p:cNvSpPr>
          <p:nvPr/>
        </p:nvSpPr>
        <p:spPr>
          <a:xfrm>
            <a:off x="6152599" y="425597"/>
            <a:ext cx="1595723" cy="430887"/>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 SOLUTION</a:t>
            </a:r>
          </a:p>
        </p:txBody>
      </p:sp>
      <p:sp>
        <p:nvSpPr>
          <p:cNvPr id="17" name="ZoneTexte 16">
            <a:extLst>
              <a:ext uri="{FF2B5EF4-FFF2-40B4-BE49-F238E27FC236}">
                <a16:creationId xmlns:a16="http://schemas.microsoft.com/office/drawing/2014/main" id="{638506B2-FB4C-015C-C24F-A43298347E60}"/>
              </a:ext>
            </a:extLst>
          </p:cNvPr>
          <p:cNvSpPr txBox="1">
            <a:spLocks noGrp="1" noRot="1" noMove="1" noResize="1" noEditPoints="1" noAdjustHandles="1" noChangeArrowheads="1" noChangeShapeType="1"/>
          </p:cNvSpPr>
          <p:nvPr/>
        </p:nvSpPr>
        <p:spPr>
          <a:xfrm>
            <a:off x="7801110" y="458786"/>
            <a:ext cx="1860500" cy="430887"/>
          </a:xfrm>
          <a:prstGeom prst="rect">
            <a:avLst/>
          </a:prstGeom>
          <a:noFill/>
        </p:spPr>
        <p:txBody>
          <a:bodyPr wrap="square" rtlCol="0">
            <a:spAutoFit/>
          </a:bodyPr>
          <a:lstStyle/>
          <a:p>
            <a:r>
              <a:rPr lang="fr-FR" sz="1100" b="1" dirty="0">
                <a:latin typeface="Montserrat"/>
                <a:cs typeface="Montserrat"/>
              </a:rPr>
              <a:t>RÉSULTATS ET VALIDATION</a:t>
            </a:r>
          </a:p>
        </p:txBody>
      </p:sp>
      <p:sp>
        <p:nvSpPr>
          <p:cNvPr id="19" name="ZoneTexte 18">
            <a:extLst>
              <a:ext uri="{FF2B5EF4-FFF2-40B4-BE49-F238E27FC236}">
                <a16:creationId xmlns:a16="http://schemas.microsoft.com/office/drawing/2014/main" id="{4B77CD6E-CDDF-504B-D8B3-7B6CD83FC4FF}"/>
              </a:ext>
            </a:extLst>
          </p:cNvPr>
          <p:cNvSpPr txBox="1">
            <a:spLocks noGrp="1" noRot="1" noMove="1" noResize="1" noEditPoints="1" noAdjustHandles="1" noChangeArrowheads="1" noChangeShapeType="1"/>
          </p:cNvSpPr>
          <p:nvPr/>
        </p:nvSpPr>
        <p:spPr>
          <a:xfrm>
            <a:off x="9716922" y="479710"/>
            <a:ext cx="2346335" cy="261610"/>
          </a:xfrm>
          <a:prstGeom prst="rect">
            <a:avLst/>
          </a:prstGeom>
          <a:noFill/>
        </p:spPr>
        <p:txBody>
          <a:bodyPr wrap="square" rtlCol="0">
            <a:spAutoFit/>
          </a:bodyPr>
          <a:lstStyle/>
          <a:p>
            <a:r>
              <a:rPr lang="fr-FR" sz="1100" b="1" dirty="0">
                <a:latin typeface="Montserrat"/>
                <a:cs typeface="Montserrat"/>
              </a:rPr>
              <a:t>LIMITES ET PERSPECTIVES</a:t>
            </a:r>
          </a:p>
        </p:txBody>
      </p:sp>
      <p:sp>
        <p:nvSpPr>
          <p:cNvPr id="5" name="ObjBar">
            <a:extLst>
              <a:ext uri="{FF2B5EF4-FFF2-40B4-BE49-F238E27FC236}">
                <a16:creationId xmlns:a16="http://schemas.microsoft.com/office/drawing/2014/main" id="{8862D97E-A69E-BB79-7F5F-51550A2C4CC4}"/>
              </a:ext>
            </a:extLst>
          </p:cNvPr>
          <p:cNvSpPr/>
          <p:nvPr/>
        </p:nvSpPr>
        <p:spPr>
          <a:xfrm>
            <a:off x="901700" y="1840644"/>
            <a:ext cx="63500" cy="330200"/>
          </a:xfrm>
          <a:prstGeom prst="rect">
            <a:avLst/>
          </a:prstGeom>
          <a:solidFill>
            <a:srgbClr val="F96A0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7" name="ObjEyebrow">
            <a:extLst>
              <a:ext uri="{FF2B5EF4-FFF2-40B4-BE49-F238E27FC236}">
                <a16:creationId xmlns:a16="http://schemas.microsoft.com/office/drawing/2014/main" id="{B00F93F4-B166-D21A-DEA9-EC5FDD44F0D2}"/>
              </a:ext>
            </a:extLst>
          </p:cNvPr>
          <p:cNvSpPr txBox="1"/>
          <p:nvPr/>
        </p:nvSpPr>
        <p:spPr>
          <a:xfrm>
            <a:off x="1168400" y="1815244"/>
            <a:ext cx="5080000" cy="338554"/>
          </a:xfrm>
          <a:prstGeom prst="rect">
            <a:avLst/>
          </a:prstGeom>
          <a:noFill/>
        </p:spPr>
        <p:txBody>
          <a:bodyPr vertOverflow="overflow" vert="horz" wrap="square" rtlCol="0" anchor="t">
            <a:spAutoFit/>
          </a:bodyPr>
          <a:lstStyle/>
          <a:p>
            <a:pPr algn="l">
              <a:spcBef>
                <a:spcPct val="0"/>
              </a:spcBef>
              <a:buNone/>
            </a:pPr>
            <a:r>
              <a:rPr lang="fr-FR" sz="1600" b="1" spc="300" dirty="0">
                <a:solidFill>
                  <a:srgbClr val="F96A09"/>
                </a:solidFill>
                <a:latin typeface="Montserrat"/>
              </a:rPr>
              <a:t>OBJECTIF GÉNÉRAL</a:t>
            </a:r>
          </a:p>
        </p:txBody>
      </p:sp>
      <p:sp>
        <p:nvSpPr>
          <p:cNvPr id="11" name="ObjCard">
            <a:extLst>
              <a:ext uri="{FF2B5EF4-FFF2-40B4-BE49-F238E27FC236}">
                <a16:creationId xmlns:a16="http://schemas.microsoft.com/office/drawing/2014/main" id="{582B9FDD-A9C2-9D2F-CA5F-64A6EEF33218}"/>
              </a:ext>
            </a:extLst>
          </p:cNvPr>
          <p:cNvSpPr/>
          <p:nvPr/>
        </p:nvSpPr>
        <p:spPr>
          <a:xfrm>
            <a:off x="901700" y="2563211"/>
            <a:ext cx="10223500" cy="1781372"/>
          </a:xfrm>
          <a:prstGeom prst="roundRect">
            <a:avLst/>
          </a:prstGeom>
          <a:solidFill>
            <a:srgbClr val="EDF0F5"/>
          </a:solidFill>
          <a:ln>
            <a:noFill/>
          </a:ln>
          <a:effectLst>
            <a:outerShdw blurRad="101600" dist="25400" dir="5400000" algn="t" rotWithShape="0">
              <a:srgbClr val="16294A">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16" name="ObjMain">
            <a:extLst>
              <a:ext uri="{FF2B5EF4-FFF2-40B4-BE49-F238E27FC236}">
                <a16:creationId xmlns:a16="http://schemas.microsoft.com/office/drawing/2014/main" id="{8E684707-CBFB-713A-6019-6068C281ECB8}"/>
              </a:ext>
            </a:extLst>
          </p:cNvPr>
          <p:cNvSpPr txBox="1"/>
          <p:nvPr/>
        </p:nvSpPr>
        <p:spPr>
          <a:xfrm>
            <a:off x="1320800" y="3466244"/>
            <a:ext cx="9569290" cy="431337"/>
          </a:xfrm>
          <a:prstGeom prst="rect">
            <a:avLst/>
          </a:prstGeom>
          <a:noFill/>
        </p:spPr>
        <p:txBody>
          <a:bodyPr vertOverflow="overflow" vert="horz" wrap="square" rtlCol="0" anchor="t">
            <a:spAutoFit/>
          </a:bodyPr>
          <a:lstStyle/>
          <a:p>
            <a:pPr algn="l">
              <a:lnSpc>
                <a:spcPts val="2800"/>
              </a:lnSpc>
              <a:spcBef>
                <a:spcPct val="0"/>
              </a:spcBef>
              <a:buNone/>
            </a:pPr>
            <a:r>
              <a:rPr lang="fr-FR" sz="2200" b="1" dirty="0">
                <a:solidFill>
                  <a:srgbClr val="F96A09"/>
                </a:solidFill>
                <a:latin typeface="Montserrat"/>
              </a:rPr>
              <a:t>Automatiser la prise en charge </a:t>
            </a:r>
            <a:r>
              <a:rPr lang="fr-FR" sz="2200" b="1" dirty="0">
                <a:solidFill>
                  <a:srgbClr val="16294A"/>
                </a:solidFill>
                <a:latin typeface="Montserrat"/>
              </a:rPr>
              <a:t>des requêtes du support client.</a:t>
            </a:r>
          </a:p>
        </p:txBody>
      </p:sp>
      <p:pic>
        <p:nvPicPr>
          <p:cNvPr id="26" name="Graphic 63" descr="Objectif">
            <a:extLst>
              <a:ext uri="{FF2B5EF4-FFF2-40B4-BE49-F238E27FC236}">
                <a16:creationId xmlns:a16="http://schemas.microsoft.com/office/drawing/2014/main" id="{2D039DE7-FCEF-20C9-9F40-E4D53CD5CF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69031" y="2678844"/>
            <a:ext cx="635000" cy="635000"/>
          </a:xfrm>
          <a:prstGeom prst="rect">
            <a:avLst/>
          </a:prstGeom>
        </p:spPr>
      </p:pic>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8BC3DBD8-C72C-4804-A960-D98DCA8561E8}" type="slidenum">
              <a:rPr lang="fr-FR" sz="1600" b="1" dirty="0">
                <a:solidFill>
                  <a:srgbClr val="FFFFFF"/>
                </a:solidFill>
                <a:latin typeface="Montserrat"/>
              </a:rPr>
              <a:t>7</a:t>
            </a:fld>
            <a:endParaRPr lang="fr-FR" sz="1600" b="1" dirty="0">
              <a:solidFill>
                <a:srgbClr val="FFFFFF"/>
              </a:solidFill>
              <a:latin typeface="Montserrat"/>
            </a:endParaRPr>
          </a:p>
        </p:txBody>
      </p:sp>
    </p:spTree>
    <p:extLst>
      <p:ext uri="{BB962C8B-B14F-4D97-AF65-F5344CB8AC3E}">
        <p14:creationId xmlns:p14="http://schemas.microsoft.com/office/powerpoint/2010/main" val="2600448421"/>
      </p:ext>
    </p:extLst>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anim calcmode="lin" valueType="num">
                                      <p:cBhvr>
                                        <p:cTn id="8" dur="450" fill="hold"/>
                                        <p:tgtEl>
                                          <p:spTgt spid="5"/>
                                        </p:tgtEl>
                                        <p:attrNameLst>
                                          <p:attrName>ppt_x</p:attrName>
                                        </p:attrNameLst>
                                      </p:cBhvr>
                                      <p:tavLst>
                                        <p:tav tm="0">
                                          <p:val>
                                            <p:strVal val="#ppt_x"/>
                                          </p:val>
                                        </p:tav>
                                        <p:tav tm="100000">
                                          <p:val>
                                            <p:strVal val="#ppt_x"/>
                                          </p:val>
                                        </p:tav>
                                      </p:tavLst>
                                    </p:anim>
                                    <p:anim calcmode="lin" valueType="num">
                                      <p:cBhvr>
                                        <p:cTn id="9" dur="450" fill="hold"/>
                                        <p:tgtEl>
                                          <p:spTgt spid="5"/>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50"/>
                                        <p:tgtEl>
                                          <p:spTgt spid="7"/>
                                        </p:tgtEl>
                                      </p:cBhvr>
                                    </p:animEffect>
                                    <p:anim calcmode="lin" valueType="num">
                                      <p:cBhvr>
                                        <p:cTn id="13" dur="450" fill="hold"/>
                                        <p:tgtEl>
                                          <p:spTgt spid="7"/>
                                        </p:tgtEl>
                                        <p:attrNameLst>
                                          <p:attrName>ppt_x</p:attrName>
                                        </p:attrNameLst>
                                      </p:cBhvr>
                                      <p:tavLst>
                                        <p:tav tm="0">
                                          <p:val>
                                            <p:strVal val="#ppt_x"/>
                                          </p:val>
                                        </p:tav>
                                        <p:tav tm="100000">
                                          <p:val>
                                            <p:strVal val="#ppt_x"/>
                                          </p:val>
                                        </p:tav>
                                      </p:tavLst>
                                    </p:anim>
                                    <p:anim calcmode="lin" valueType="num">
                                      <p:cBhvr>
                                        <p:cTn id="14" dur="450" fill="hold"/>
                                        <p:tgtEl>
                                          <p:spTgt spid="7"/>
                                        </p:tgtEl>
                                        <p:attrNameLst>
                                          <p:attrName>ppt_y</p:attrName>
                                        </p:attrNameLst>
                                      </p:cBhvr>
                                      <p:tavLst>
                                        <p:tav tm="0">
                                          <p:val>
                                            <p:strVal val="#ppt_y+.03"/>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400"/>
                                        <p:tgtEl>
                                          <p:spTgt spid="11"/>
                                        </p:tgtEl>
                                      </p:cBhvr>
                                    </p:animEffect>
                                  </p:childTnLst>
                                </p:cTn>
                              </p:par>
                              <p:par>
                                <p:cTn id="20" presetID="22" presetClass="entr" presetSubtype="8" fill="hold" nodeType="with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400"/>
                                        <p:tgtEl>
                                          <p:spTgt spid="26"/>
                                        </p:tgtEl>
                                      </p:cBhvr>
                                    </p:animEffect>
                                  </p:childTnLst>
                                </p:cTn>
                              </p:par>
                              <p:par>
                                <p:cTn id="23" presetID="22" presetClass="entr" presetSubtype="8" fill="hold" grpId="0" nodeType="withEffect">
                                  <p:stCondLst>
                                    <p:cond delay="28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1"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DF72A-33D9-03CF-ECF5-74FBA3DDE83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5400747-DD33-BE91-87F2-A6E87C287147}"/>
              </a:ext>
            </a:extLst>
          </p:cNvPr>
          <p:cNvSpPr>
            <a:spLocks noGrp="1" noRot="1" noMove="1" noResize="1" noEditPoints="1" noAdjustHandles="1" noChangeArrowheads="1" noChangeShapeType="1"/>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1179A030-942A-6E80-B6AC-A205608B550F}"/>
              </a:ext>
            </a:extLst>
          </p:cNvPr>
          <p:cNvSpPr>
            <a:spLocks/>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D94FA453-7FC6-AFD4-F421-5A551E0DE125}"/>
              </a:ext>
            </a:extLst>
          </p:cNvPr>
          <p:cNvSpPr>
            <a:spLocks noGrp="1" noRot="1" noMove="1" noResize="1" noEditPoints="1" noAdjustHandles="1" noChangeArrowheads="1" noChangeShapeType="1"/>
          </p:cNvSpPr>
          <p:nvPr/>
        </p:nvSpPr>
        <p:spPr>
          <a:xfrm>
            <a:off x="1435099"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1</a:t>
            </a:r>
          </a:p>
        </p:txBody>
      </p:sp>
      <p:sp>
        <p:nvSpPr>
          <p:cNvPr id="39" name="Ellipse 38">
            <a:extLst>
              <a:ext uri="{FF2B5EF4-FFF2-40B4-BE49-F238E27FC236}">
                <a16:creationId xmlns:a16="http://schemas.microsoft.com/office/drawing/2014/main" id="{216425C4-A51F-2660-0C1C-8AEF6595525B}"/>
              </a:ext>
            </a:extLst>
          </p:cNvPr>
          <p:cNvSpPr>
            <a:spLocks noGrp="1" noRot="1" noMove="1" noResize="1" noEditPoints="1" noAdjustHandles="1" noChangeArrowheads="1" noChangeShapeType="1"/>
          </p:cNvSpPr>
          <p:nvPr/>
        </p:nvSpPr>
        <p:spPr>
          <a:xfrm>
            <a:off x="3276885" y="205023"/>
            <a:ext cx="246063" cy="253765"/>
          </a:xfrm>
          <a:prstGeom prst="ellipse">
            <a:avLst/>
          </a:prstGeom>
          <a:noFill/>
          <a:ln>
            <a:solidFill>
              <a:srgbClr val="F96A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F96A09"/>
                </a:solidFill>
              </a:rPr>
              <a:t>2</a:t>
            </a:r>
          </a:p>
        </p:txBody>
      </p:sp>
      <p:sp>
        <p:nvSpPr>
          <p:cNvPr id="41" name="Ellipse 40">
            <a:extLst>
              <a:ext uri="{FF2B5EF4-FFF2-40B4-BE49-F238E27FC236}">
                <a16:creationId xmlns:a16="http://schemas.microsoft.com/office/drawing/2014/main" id="{C1C767D1-8B79-B55F-0999-7C4D098D67FA}"/>
              </a:ext>
            </a:extLst>
          </p:cNvPr>
          <p:cNvSpPr>
            <a:spLocks noGrp="1" noRot="1" noMove="1" noResize="1" noEditPoints="1" noAdjustHandles="1" noChangeArrowheads="1" noChangeShapeType="1"/>
          </p:cNvSpPr>
          <p:nvPr/>
        </p:nvSpPr>
        <p:spPr>
          <a:xfrm>
            <a:off x="5118671"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3</a:t>
            </a:r>
          </a:p>
        </p:txBody>
      </p:sp>
      <p:sp>
        <p:nvSpPr>
          <p:cNvPr id="43" name="Ellipse 42">
            <a:extLst>
              <a:ext uri="{FF2B5EF4-FFF2-40B4-BE49-F238E27FC236}">
                <a16:creationId xmlns:a16="http://schemas.microsoft.com/office/drawing/2014/main" id="{0D74431B-79ED-46F5-CB3E-56A5F27CA866}"/>
              </a:ext>
            </a:extLst>
          </p:cNvPr>
          <p:cNvSpPr>
            <a:spLocks noGrp="1" noRot="1" noMove="1" noResize="1" noEditPoints="1" noAdjustHandles="1" noChangeArrowheads="1" noChangeShapeType="1"/>
          </p:cNvSpPr>
          <p:nvPr/>
        </p:nvSpPr>
        <p:spPr>
          <a:xfrm>
            <a:off x="696045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4</a:t>
            </a:r>
          </a:p>
        </p:txBody>
      </p:sp>
      <p:sp>
        <p:nvSpPr>
          <p:cNvPr id="45" name="Ellipse 44">
            <a:extLst>
              <a:ext uri="{FF2B5EF4-FFF2-40B4-BE49-F238E27FC236}">
                <a16:creationId xmlns:a16="http://schemas.microsoft.com/office/drawing/2014/main" id="{E794FB63-2D78-FD00-E638-330FDBF3D424}"/>
              </a:ext>
            </a:extLst>
          </p:cNvPr>
          <p:cNvSpPr>
            <a:spLocks noGrp="1" noRot="1" noMove="1" noResize="1" noEditPoints="1" noAdjustHandles="1" noChangeArrowheads="1" noChangeShapeType="1"/>
          </p:cNvSpPr>
          <p:nvPr/>
        </p:nvSpPr>
        <p:spPr>
          <a:xfrm>
            <a:off x="8802243"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5</a:t>
            </a:r>
          </a:p>
        </p:txBody>
      </p:sp>
      <p:sp>
        <p:nvSpPr>
          <p:cNvPr id="47" name="Ellipse 46">
            <a:extLst>
              <a:ext uri="{FF2B5EF4-FFF2-40B4-BE49-F238E27FC236}">
                <a16:creationId xmlns:a16="http://schemas.microsoft.com/office/drawing/2014/main" id="{AAFF60A0-2C81-171F-6DEA-AE37508594F7}"/>
              </a:ext>
            </a:extLst>
          </p:cNvPr>
          <p:cNvSpPr>
            <a:spLocks noGrp="1" noRot="1" noMove="1" noResize="1" noEditPoints="1" noAdjustHandles="1" noChangeArrowheads="1" noChangeShapeType="1"/>
          </p:cNvSpPr>
          <p:nvPr/>
        </p:nvSpPr>
        <p:spPr>
          <a:xfrm>
            <a:off x="1064402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6</a:t>
            </a:r>
          </a:p>
        </p:txBody>
      </p:sp>
      <p:cxnSp>
        <p:nvCxnSpPr>
          <p:cNvPr id="49" name="Connecteur droit 48">
            <a:extLst>
              <a:ext uri="{FF2B5EF4-FFF2-40B4-BE49-F238E27FC236}">
                <a16:creationId xmlns:a16="http://schemas.microsoft.com/office/drawing/2014/main" id="{2702807C-5D61-C6FF-DA55-6AD44B2129F2}"/>
              </a:ext>
            </a:extLst>
          </p:cNvPr>
          <p:cNvCxnSpPr>
            <a:cxnSpLocks noGrp="1" noRot="1" noMove="1" noResize="1" noEditPoints="1" noAdjustHandles="1" noChangeArrowheads="1" noChangeShapeType="1"/>
            <a:endCxn id="25" idx="2"/>
          </p:cNvCxnSpPr>
          <p:nvPr/>
        </p:nvCxnSpPr>
        <p:spPr>
          <a:xfrm flipV="1">
            <a:off x="387416" y="331905"/>
            <a:ext cx="10476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4A73025B-F4E2-7650-502E-2BAFFB952E85}"/>
              </a:ext>
            </a:extLst>
          </p:cNvPr>
          <p:cNvCxnSpPr>
            <a:cxnSpLocks noGrp="1" noRot="1" noMove="1" noResize="1" noEditPoints="1" noAdjustHandles="1" noChangeArrowheads="1" noChangeShapeType="1"/>
            <a:stCxn id="25" idx="6"/>
            <a:endCxn id="39" idx="2"/>
          </p:cNvCxnSpPr>
          <p:nvPr/>
        </p:nvCxnSpPr>
        <p:spPr>
          <a:xfrm flipV="1">
            <a:off x="1681162"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3" name="Connecteur droit 52">
            <a:extLst>
              <a:ext uri="{FF2B5EF4-FFF2-40B4-BE49-F238E27FC236}">
                <a16:creationId xmlns:a16="http://schemas.microsoft.com/office/drawing/2014/main" id="{601FD0AF-BF62-5567-BFCF-E0D0DA5E5282}"/>
              </a:ext>
            </a:extLst>
          </p:cNvPr>
          <p:cNvCxnSpPr>
            <a:cxnSpLocks noGrp="1" noRot="1" noMove="1" noResize="1" noEditPoints="1" noAdjustHandles="1" noChangeArrowheads="1" noChangeShapeType="1"/>
            <a:stCxn id="39" idx="6"/>
            <a:endCxn id="41" idx="2"/>
          </p:cNvCxnSpPr>
          <p:nvPr/>
        </p:nvCxnSpPr>
        <p:spPr>
          <a:xfrm>
            <a:off x="3522948"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5" name="Connecteur droit 54">
            <a:extLst>
              <a:ext uri="{FF2B5EF4-FFF2-40B4-BE49-F238E27FC236}">
                <a16:creationId xmlns:a16="http://schemas.microsoft.com/office/drawing/2014/main" id="{A6FE82C8-0331-9FBE-D564-8FFD5998544E}"/>
              </a:ext>
            </a:extLst>
          </p:cNvPr>
          <p:cNvCxnSpPr>
            <a:cxnSpLocks noGrp="1" noRot="1" noMove="1" noResize="1" noEditPoints="1" noAdjustHandles="1" noChangeArrowheads="1" noChangeShapeType="1"/>
            <a:stCxn id="41" idx="6"/>
            <a:endCxn id="43" idx="2"/>
          </p:cNvCxnSpPr>
          <p:nvPr/>
        </p:nvCxnSpPr>
        <p:spPr>
          <a:xfrm>
            <a:off x="5364734"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846F99E9-668A-8870-F7AC-477C40AE3F7F}"/>
              </a:ext>
            </a:extLst>
          </p:cNvPr>
          <p:cNvCxnSpPr>
            <a:cxnSpLocks noGrp="1" noRot="1" noMove="1" noResize="1" noEditPoints="1" noAdjustHandles="1" noChangeArrowheads="1" noChangeShapeType="1"/>
            <a:stCxn id="43" idx="6"/>
            <a:endCxn id="45" idx="2"/>
          </p:cNvCxnSpPr>
          <p:nvPr/>
        </p:nvCxnSpPr>
        <p:spPr>
          <a:xfrm>
            <a:off x="7206520"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14E0868D-2DA5-28E1-E979-0937CAFCE7FF}"/>
              </a:ext>
            </a:extLst>
          </p:cNvPr>
          <p:cNvCxnSpPr>
            <a:cxnSpLocks noGrp="1" noRot="1" noMove="1" noResize="1" noEditPoints="1" noAdjustHandles="1" noChangeArrowheads="1" noChangeShapeType="1"/>
            <a:stCxn id="45" idx="6"/>
            <a:endCxn id="47" idx="2"/>
          </p:cNvCxnSpPr>
          <p:nvPr/>
        </p:nvCxnSpPr>
        <p:spPr>
          <a:xfrm flipV="1">
            <a:off x="9048306" y="331905"/>
            <a:ext cx="15957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C049357F-18F8-0747-C960-29BBD403F968}"/>
              </a:ext>
            </a:extLst>
          </p:cNvPr>
          <p:cNvCxnSpPr>
            <a:cxnSpLocks noGrp="1" noRot="1" noMove="1" noResize="1" noEditPoints="1" noAdjustHandles="1" noChangeArrowheads="1" noChangeShapeType="1"/>
            <a:stCxn id="47" idx="6"/>
          </p:cNvCxnSpPr>
          <p:nvPr/>
        </p:nvCxnSpPr>
        <p:spPr>
          <a:xfrm>
            <a:off x="10890090" y="331905"/>
            <a:ext cx="1301910"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6DC0C933-1F15-91C4-1845-01D78FA686B6}"/>
              </a:ext>
            </a:extLst>
          </p:cNvPr>
          <p:cNvSpPr txBox="1">
            <a:spLocks noGrp="1" noRot="1" noMove="1" noResize="1" noEditPoints="1" noAdjustHandles="1" noChangeArrowheads="1" noChangeShapeType="1"/>
          </p:cNvSpPr>
          <p:nvPr/>
        </p:nvSpPr>
        <p:spPr>
          <a:xfrm>
            <a:off x="624823" y="479710"/>
            <a:ext cx="1965977" cy="600164"/>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a:t>
            </a:r>
            <a:r>
              <a:rPr lang="fr-FR" sz="1100" b="1" dirty="0">
                <a:latin typeface="Montserrat"/>
              </a:rPr>
              <a:t> </a:t>
            </a:r>
            <a:r>
              <a:rPr lang="fr-FR" sz="1100" b="1" dirty="0">
                <a:latin typeface="Montserrat"/>
                <a:cs typeface="Montserrat"/>
              </a:rPr>
              <a:t>STRUCTURE D’ACCUEIL</a:t>
            </a:r>
          </a:p>
        </p:txBody>
      </p:sp>
      <p:sp>
        <p:nvSpPr>
          <p:cNvPr id="10" name="ZoneTexte 9">
            <a:extLst>
              <a:ext uri="{FF2B5EF4-FFF2-40B4-BE49-F238E27FC236}">
                <a16:creationId xmlns:a16="http://schemas.microsoft.com/office/drawing/2014/main" id="{C28FC988-CCB0-4798-F686-FBD202577AA8}"/>
              </a:ext>
            </a:extLst>
          </p:cNvPr>
          <p:cNvSpPr txBox="1">
            <a:spLocks noGrp="1" noRot="1" noMove="1" noResize="1" noEditPoints="1" noAdjustHandles="1" noChangeArrowheads="1" noChangeShapeType="1"/>
          </p:cNvSpPr>
          <p:nvPr/>
        </p:nvSpPr>
        <p:spPr>
          <a:xfrm>
            <a:off x="2643588" y="417161"/>
            <a:ext cx="1481708" cy="430887"/>
          </a:xfrm>
          <a:prstGeom prst="rect">
            <a:avLst/>
          </a:prstGeom>
          <a:noFill/>
        </p:spPr>
        <p:txBody>
          <a:bodyPr wrap="square" rtlCol="0">
            <a:spAutoFit/>
          </a:bodyPr>
          <a:lstStyle/>
          <a:p>
            <a:r>
              <a:rPr lang="fr-FR" sz="1100" b="1" dirty="0">
                <a:solidFill>
                  <a:srgbClr val="F96A09"/>
                </a:solidFill>
                <a:latin typeface="Montserrat"/>
                <a:cs typeface="Montserrat"/>
              </a:rPr>
              <a:t>CONTEXTE ET </a:t>
            </a:r>
          </a:p>
          <a:p>
            <a:r>
              <a:rPr lang="fr-FR" sz="1100" b="1" dirty="0">
                <a:solidFill>
                  <a:srgbClr val="F96A09"/>
                </a:solidFill>
                <a:latin typeface="Montserrat"/>
                <a:cs typeface="Montserrat"/>
              </a:rPr>
              <a:t>PROBLÉMATIQUE</a:t>
            </a:r>
          </a:p>
        </p:txBody>
      </p:sp>
      <p:sp>
        <p:nvSpPr>
          <p:cNvPr id="13" name="ZoneTexte 12">
            <a:extLst>
              <a:ext uri="{FF2B5EF4-FFF2-40B4-BE49-F238E27FC236}">
                <a16:creationId xmlns:a16="http://schemas.microsoft.com/office/drawing/2014/main" id="{BF21BA5A-B4BF-3D00-A7CF-188C1DC83259}"/>
              </a:ext>
            </a:extLst>
          </p:cNvPr>
          <p:cNvSpPr txBox="1">
            <a:spLocks noGrp="1" noRot="1" noMove="1" noResize="1" noEditPoints="1" noAdjustHandles="1" noChangeArrowheads="1" noChangeShapeType="1"/>
          </p:cNvSpPr>
          <p:nvPr/>
        </p:nvSpPr>
        <p:spPr>
          <a:xfrm>
            <a:off x="4178084" y="501799"/>
            <a:ext cx="1921727" cy="261610"/>
          </a:xfrm>
          <a:prstGeom prst="rect">
            <a:avLst/>
          </a:prstGeom>
          <a:noFill/>
        </p:spPr>
        <p:txBody>
          <a:bodyPr wrap="square" rtlCol="0">
            <a:spAutoFit/>
          </a:bodyPr>
          <a:lstStyle/>
          <a:p>
            <a:r>
              <a:rPr lang="fr-FR" sz="1100" b="1" dirty="0">
                <a:latin typeface="Montserrat"/>
                <a:cs typeface="Montserrat"/>
              </a:rPr>
              <a:t>ÉTUDE CONCEPTUELLE</a:t>
            </a:r>
          </a:p>
        </p:txBody>
      </p:sp>
      <p:sp>
        <p:nvSpPr>
          <p:cNvPr id="15" name="ZoneTexte 14">
            <a:extLst>
              <a:ext uri="{FF2B5EF4-FFF2-40B4-BE49-F238E27FC236}">
                <a16:creationId xmlns:a16="http://schemas.microsoft.com/office/drawing/2014/main" id="{00F60DDA-D6FF-F205-99F5-E8ED0DE31CF6}"/>
              </a:ext>
            </a:extLst>
          </p:cNvPr>
          <p:cNvSpPr txBox="1">
            <a:spLocks noGrp="1" noRot="1" noMove="1" noResize="1" noEditPoints="1" noAdjustHandles="1" noChangeArrowheads="1" noChangeShapeType="1"/>
          </p:cNvSpPr>
          <p:nvPr/>
        </p:nvSpPr>
        <p:spPr>
          <a:xfrm>
            <a:off x="6152599" y="425597"/>
            <a:ext cx="1595723" cy="430887"/>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 SOLUTION</a:t>
            </a:r>
          </a:p>
        </p:txBody>
      </p:sp>
      <p:sp>
        <p:nvSpPr>
          <p:cNvPr id="17" name="ZoneTexte 16">
            <a:extLst>
              <a:ext uri="{FF2B5EF4-FFF2-40B4-BE49-F238E27FC236}">
                <a16:creationId xmlns:a16="http://schemas.microsoft.com/office/drawing/2014/main" id="{C91B7A37-B46C-376C-CED4-2A2D656F912B}"/>
              </a:ext>
            </a:extLst>
          </p:cNvPr>
          <p:cNvSpPr txBox="1">
            <a:spLocks noGrp="1" noRot="1" noMove="1" noResize="1" noEditPoints="1" noAdjustHandles="1" noChangeArrowheads="1" noChangeShapeType="1"/>
          </p:cNvSpPr>
          <p:nvPr/>
        </p:nvSpPr>
        <p:spPr>
          <a:xfrm>
            <a:off x="7801110" y="458786"/>
            <a:ext cx="1860500" cy="430887"/>
          </a:xfrm>
          <a:prstGeom prst="rect">
            <a:avLst/>
          </a:prstGeom>
          <a:noFill/>
        </p:spPr>
        <p:txBody>
          <a:bodyPr wrap="square" rtlCol="0">
            <a:spAutoFit/>
          </a:bodyPr>
          <a:lstStyle/>
          <a:p>
            <a:r>
              <a:rPr lang="fr-FR" sz="1100" b="1" dirty="0">
                <a:latin typeface="Montserrat"/>
                <a:cs typeface="Montserrat"/>
              </a:rPr>
              <a:t>RÉSULTATS ET VALIDATION</a:t>
            </a:r>
          </a:p>
        </p:txBody>
      </p:sp>
      <p:sp>
        <p:nvSpPr>
          <p:cNvPr id="19" name="ZoneTexte 18">
            <a:extLst>
              <a:ext uri="{FF2B5EF4-FFF2-40B4-BE49-F238E27FC236}">
                <a16:creationId xmlns:a16="http://schemas.microsoft.com/office/drawing/2014/main" id="{D1BD6B99-D22C-6C72-1695-8EE0AF4EB3FF}"/>
              </a:ext>
            </a:extLst>
          </p:cNvPr>
          <p:cNvSpPr txBox="1">
            <a:spLocks noGrp="1" noRot="1" noMove="1" noResize="1" noEditPoints="1" noAdjustHandles="1" noChangeArrowheads="1" noChangeShapeType="1"/>
          </p:cNvSpPr>
          <p:nvPr/>
        </p:nvSpPr>
        <p:spPr>
          <a:xfrm>
            <a:off x="9716922" y="479710"/>
            <a:ext cx="2346335" cy="261610"/>
          </a:xfrm>
          <a:prstGeom prst="rect">
            <a:avLst/>
          </a:prstGeom>
          <a:noFill/>
        </p:spPr>
        <p:txBody>
          <a:bodyPr wrap="square" rtlCol="0">
            <a:spAutoFit/>
          </a:bodyPr>
          <a:lstStyle/>
          <a:p>
            <a:r>
              <a:rPr lang="fr-FR" sz="1100" b="1" dirty="0">
                <a:latin typeface="Montserrat"/>
                <a:cs typeface="Montserrat"/>
              </a:rPr>
              <a:t>LIMITES ET PERSPECTIVES</a:t>
            </a:r>
          </a:p>
        </p:txBody>
      </p:sp>
      <p:sp>
        <p:nvSpPr>
          <p:cNvPr id="12" name="ObjEyebrow">
            <a:extLst>
              <a:ext uri="{FF2B5EF4-FFF2-40B4-BE49-F238E27FC236}">
                <a16:creationId xmlns:a16="http://schemas.microsoft.com/office/drawing/2014/main" id="{A5CB9FEE-2C63-4673-AE99-E143BE48471E}"/>
              </a:ext>
            </a:extLst>
          </p:cNvPr>
          <p:cNvSpPr txBox="1"/>
          <p:nvPr/>
        </p:nvSpPr>
        <p:spPr>
          <a:xfrm>
            <a:off x="1155700" y="1574800"/>
            <a:ext cx="5080000" cy="338554"/>
          </a:xfrm>
          <a:prstGeom prst="rect">
            <a:avLst/>
          </a:prstGeom>
          <a:noFill/>
        </p:spPr>
        <p:txBody>
          <a:bodyPr vertOverflow="overflow" vert="horz" wrap="square" rtlCol="0" anchor="t">
            <a:spAutoFit/>
          </a:bodyPr>
          <a:lstStyle/>
          <a:p>
            <a:pPr algn="l">
              <a:spcBef>
                <a:spcPct val="0"/>
              </a:spcBef>
              <a:buNone/>
            </a:pPr>
            <a:r>
              <a:rPr lang="fr-FR" sz="1600" b="1" spc="300" dirty="0">
                <a:solidFill>
                  <a:srgbClr val="F96A09"/>
                </a:solidFill>
                <a:latin typeface="Montserrat"/>
              </a:rPr>
              <a:t>OBJECTIFS SPÉCIFIQUES</a:t>
            </a:r>
          </a:p>
        </p:txBody>
      </p:sp>
      <p:sp>
        <p:nvSpPr>
          <p:cNvPr id="6" name="StepNum0">
            <a:extLst>
              <a:ext uri="{FF2B5EF4-FFF2-40B4-BE49-F238E27FC236}">
                <a16:creationId xmlns:a16="http://schemas.microsoft.com/office/drawing/2014/main" id="{D9F2B09B-6BBA-48E8-AA9B-EE0E5345FC92}"/>
              </a:ext>
            </a:extLst>
          </p:cNvPr>
          <p:cNvSpPr/>
          <p:nvPr/>
        </p:nvSpPr>
        <p:spPr>
          <a:xfrm>
            <a:off x="952500" y="2108200"/>
            <a:ext cx="431800" cy="431800"/>
          </a:xfrm>
          <a:prstGeom prst="ellipse">
            <a:avLst/>
          </a:prstGeom>
          <a:solidFill>
            <a:srgbClr val="F96A0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fr-FR" sz="1600" b="1">
                <a:solidFill>
                  <a:srgbClr val="FFFFFF"/>
                </a:solidFill>
                <a:latin typeface="Montserrat"/>
              </a:rPr>
              <a:t>1</a:t>
            </a:r>
          </a:p>
        </p:txBody>
      </p:sp>
      <p:sp>
        <p:nvSpPr>
          <p:cNvPr id="14" name="StepTxt0">
            <a:extLst>
              <a:ext uri="{FF2B5EF4-FFF2-40B4-BE49-F238E27FC236}">
                <a16:creationId xmlns:a16="http://schemas.microsoft.com/office/drawing/2014/main" id="{0086B2EB-B435-49EE-8DA3-FC0FA1979B97}"/>
              </a:ext>
            </a:extLst>
          </p:cNvPr>
          <p:cNvSpPr txBox="1"/>
          <p:nvPr/>
        </p:nvSpPr>
        <p:spPr>
          <a:xfrm>
            <a:off x="1587500" y="2133600"/>
            <a:ext cx="9652000" cy="354584"/>
          </a:xfrm>
          <a:prstGeom prst="rect">
            <a:avLst/>
          </a:prstGeom>
          <a:noFill/>
        </p:spPr>
        <p:txBody>
          <a:bodyPr vertOverflow="overflow" vert="horz" wrap="square" rtlCol="0" anchor="t">
            <a:spAutoFit/>
          </a:bodyPr>
          <a:lstStyle/>
          <a:p>
            <a:pPr algn="l">
              <a:lnSpc>
                <a:spcPts val="2200"/>
              </a:lnSpc>
              <a:spcBef>
                <a:spcPct val="0"/>
              </a:spcBef>
              <a:buNone/>
            </a:pPr>
            <a:r>
              <a:rPr lang="fr-FR" sz="1600" b="1" dirty="0">
                <a:solidFill>
                  <a:srgbClr val="16294A"/>
                </a:solidFill>
                <a:latin typeface="Montserrat"/>
              </a:rPr>
              <a:t>Cadrer les besoins</a:t>
            </a:r>
            <a:r>
              <a:rPr lang="fr-FR" sz="1600" dirty="0">
                <a:solidFill>
                  <a:srgbClr val="5A5550"/>
                </a:solidFill>
                <a:latin typeface="Montserrat"/>
              </a:rPr>
              <a:t> du support client et les fonctionnalités de l’agent</a:t>
            </a:r>
          </a:p>
        </p:txBody>
      </p:sp>
      <p:sp>
        <p:nvSpPr>
          <p:cNvPr id="29" name="StepRule0">
            <a:extLst>
              <a:ext uri="{FF2B5EF4-FFF2-40B4-BE49-F238E27FC236}">
                <a16:creationId xmlns:a16="http://schemas.microsoft.com/office/drawing/2014/main" id="{2EC23010-C951-42EA-B8A6-7AA8DCD558D5}"/>
              </a:ext>
            </a:extLst>
          </p:cNvPr>
          <p:cNvSpPr/>
          <p:nvPr/>
        </p:nvSpPr>
        <p:spPr>
          <a:xfrm>
            <a:off x="1587500" y="2667000"/>
            <a:ext cx="9652000" cy="12700"/>
          </a:xfrm>
          <a:prstGeom prst="rect">
            <a:avLst/>
          </a:prstGeom>
          <a:solidFill>
            <a:srgbClr val="EADFD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30" name="StepNum1">
            <a:extLst>
              <a:ext uri="{FF2B5EF4-FFF2-40B4-BE49-F238E27FC236}">
                <a16:creationId xmlns:a16="http://schemas.microsoft.com/office/drawing/2014/main" id="{61B61C1B-4A59-4F85-B5EF-DCC2C6267E24}"/>
              </a:ext>
            </a:extLst>
          </p:cNvPr>
          <p:cNvSpPr/>
          <p:nvPr/>
        </p:nvSpPr>
        <p:spPr>
          <a:xfrm>
            <a:off x="952500" y="2794000"/>
            <a:ext cx="431800" cy="431800"/>
          </a:xfrm>
          <a:prstGeom prst="ellipse">
            <a:avLst/>
          </a:prstGeom>
          <a:solidFill>
            <a:srgbClr val="F96A0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fr-FR" sz="1600" b="1">
                <a:solidFill>
                  <a:srgbClr val="FFFFFF"/>
                </a:solidFill>
                <a:latin typeface="Montserrat"/>
              </a:rPr>
              <a:t>2</a:t>
            </a:r>
          </a:p>
        </p:txBody>
      </p:sp>
      <p:sp>
        <p:nvSpPr>
          <p:cNvPr id="31" name="StepTxt1">
            <a:extLst>
              <a:ext uri="{FF2B5EF4-FFF2-40B4-BE49-F238E27FC236}">
                <a16:creationId xmlns:a16="http://schemas.microsoft.com/office/drawing/2014/main" id="{7245F2C7-5A06-4822-A289-911EECFE24A7}"/>
              </a:ext>
            </a:extLst>
          </p:cNvPr>
          <p:cNvSpPr txBox="1"/>
          <p:nvPr/>
        </p:nvSpPr>
        <p:spPr>
          <a:xfrm>
            <a:off x="1587500" y="2819400"/>
            <a:ext cx="9652000" cy="354584"/>
          </a:xfrm>
          <a:prstGeom prst="rect">
            <a:avLst/>
          </a:prstGeom>
          <a:noFill/>
        </p:spPr>
        <p:txBody>
          <a:bodyPr vertOverflow="overflow" vert="horz" wrap="square" rtlCol="0" anchor="t">
            <a:spAutoFit/>
          </a:bodyPr>
          <a:lstStyle/>
          <a:p>
            <a:pPr algn="l">
              <a:lnSpc>
                <a:spcPts val="2200"/>
              </a:lnSpc>
              <a:spcBef>
                <a:spcPct val="0"/>
              </a:spcBef>
              <a:buNone/>
            </a:pPr>
            <a:r>
              <a:rPr lang="fr-FR" sz="1600" b="1" dirty="0">
                <a:solidFill>
                  <a:srgbClr val="16294A"/>
                </a:solidFill>
                <a:latin typeface="Montserrat"/>
              </a:rPr>
              <a:t>Constituer et annoter un corpus</a:t>
            </a:r>
            <a:r>
              <a:rPr lang="fr-FR" sz="1600" dirty="0">
                <a:solidFill>
                  <a:srgbClr val="5A5550"/>
                </a:solidFill>
                <a:latin typeface="Montserrat"/>
              </a:rPr>
              <a:t> de requêtes et des représentations vectorielles métier</a:t>
            </a:r>
          </a:p>
        </p:txBody>
      </p:sp>
      <p:sp>
        <p:nvSpPr>
          <p:cNvPr id="33" name="StepRule1">
            <a:extLst>
              <a:ext uri="{FF2B5EF4-FFF2-40B4-BE49-F238E27FC236}">
                <a16:creationId xmlns:a16="http://schemas.microsoft.com/office/drawing/2014/main" id="{0A92FDB9-7E2A-4884-B59D-82D8B521F7D1}"/>
              </a:ext>
            </a:extLst>
          </p:cNvPr>
          <p:cNvSpPr/>
          <p:nvPr/>
        </p:nvSpPr>
        <p:spPr>
          <a:xfrm>
            <a:off x="1587500" y="3352800"/>
            <a:ext cx="9652000" cy="12700"/>
          </a:xfrm>
          <a:prstGeom prst="rect">
            <a:avLst/>
          </a:prstGeom>
          <a:solidFill>
            <a:srgbClr val="EADFD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34" name="StepNum2">
            <a:extLst>
              <a:ext uri="{FF2B5EF4-FFF2-40B4-BE49-F238E27FC236}">
                <a16:creationId xmlns:a16="http://schemas.microsoft.com/office/drawing/2014/main" id="{3EEBE249-97D0-41BA-A79A-6CF786D44A8D}"/>
              </a:ext>
            </a:extLst>
          </p:cNvPr>
          <p:cNvSpPr/>
          <p:nvPr/>
        </p:nvSpPr>
        <p:spPr>
          <a:xfrm>
            <a:off x="952500" y="3479800"/>
            <a:ext cx="431800" cy="431800"/>
          </a:xfrm>
          <a:prstGeom prst="ellipse">
            <a:avLst/>
          </a:prstGeom>
          <a:solidFill>
            <a:srgbClr val="F96A0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fr-FR" sz="1600" b="1">
                <a:solidFill>
                  <a:srgbClr val="FFFFFF"/>
                </a:solidFill>
                <a:latin typeface="Montserrat"/>
              </a:rPr>
              <a:t>3</a:t>
            </a:r>
          </a:p>
        </p:txBody>
      </p:sp>
      <p:sp>
        <p:nvSpPr>
          <p:cNvPr id="35" name="StepTxt2">
            <a:extLst>
              <a:ext uri="{FF2B5EF4-FFF2-40B4-BE49-F238E27FC236}">
                <a16:creationId xmlns:a16="http://schemas.microsoft.com/office/drawing/2014/main" id="{92CF6606-78CB-4889-8C91-F648A8CB6472}"/>
              </a:ext>
            </a:extLst>
          </p:cNvPr>
          <p:cNvSpPr txBox="1"/>
          <p:nvPr/>
        </p:nvSpPr>
        <p:spPr>
          <a:xfrm>
            <a:off x="1587500" y="3505200"/>
            <a:ext cx="9652000" cy="354584"/>
          </a:xfrm>
          <a:prstGeom prst="rect">
            <a:avLst/>
          </a:prstGeom>
          <a:noFill/>
        </p:spPr>
        <p:txBody>
          <a:bodyPr vertOverflow="overflow" vert="horz" wrap="square" rtlCol="0" anchor="t">
            <a:spAutoFit/>
          </a:bodyPr>
          <a:lstStyle/>
          <a:p>
            <a:pPr algn="l">
              <a:lnSpc>
                <a:spcPts val="2200"/>
              </a:lnSpc>
              <a:spcBef>
                <a:spcPct val="0"/>
              </a:spcBef>
              <a:buNone/>
            </a:pPr>
            <a:r>
              <a:rPr lang="fr-FR" sz="1600" b="1" dirty="0">
                <a:solidFill>
                  <a:srgbClr val="16294A"/>
                </a:solidFill>
                <a:latin typeface="Montserrat"/>
              </a:rPr>
              <a:t>Concevoir et entraîner le module NLU</a:t>
            </a:r>
            <a:r>
              <a:rPr lang="fr-FR" sz="1600" dirty="0">
                <a:solidFill>
                  <a:srgbClr val="5A5550"/>
                </a:solidFill>
                <a:latin typeface="Montserrat"/>
              </a:rPr>
              <a:t> : intentions, entités, routage vers les workflows</a:t>
            </a:r>
          </a:p>
        </p:txBody>
      </p:sp>
      <p:sp>
        <p:nvSpPr>
          <p:cNvPr id="36" name="StepRule2">
            <a:extLst>
              <a:ext uri="{FF2B5EF4-FFF2-40B4-BE49-F238E27FC236}">
                <a16:creationId xmlns:a16="http://schemas.microsoft.com/office/drawing/2014/main" id="{1C4A3D4E-978B-4607-9427-383A422E6B68}"/>
              </a:ext>
            </a:extLst>
          </p:cNvPr>
          <p:cNvSpPr/>
          <p:nvPr/>
        </p:nvSpPr>
        <p:spPr>
          <a:xfrm>
            <a:off x="1587500" y="4038600"/>
            <a:ext cx="9652000" cy="12700"/>
          </a:xfrm>
          <a:prstGeom prst="rect">
            <a:avLst/>
          </a:prstGeom>
          <a:solidFill>
            <a:srgbClr val="EADFD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37" name="StepNum3">
            <a:extLst>
              <a:ext uri="{FF2B5EF4-FFF2-40B4-BE49-F238E27FC236}">
                <a16:creationId xmlns:a16="http://schemas.microsoft.com/office/drawing/2014/main" id="{96F198EC-D926-4DCD-98AA-1FD40497AF61}"/>
              </a:ext>
            </a:extLst>
          </p:cNvPr>
          <p:cNvSpPr/>
          <p:nvPr/>
        </p:nvSpPr>
        <p:spPr>
          <a:xfrm>
            <a:off x="952500" y="4165600"/>
            <a:ext cx="431800" cy="431800"/>
          </a:xfrm>
          <a:prstGeom prst="ellipse">
            <a:avLst/>
          </a:prstGeom>
          <a:solidFill>
            <a:srgbClr val="F96A0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fr-FR" sz="1600" b="1">
                <a:solidFill>
                  <a:srgbClr val="FFFFFF"/>
                </a:solidFill>
                <a:latin typeface="Montserrat"/>
              </a:rPr>
              <a:t>4</a:t>
            </a:r>
          </a:p>
        </p:txBody>
      </p:sp>
      <p:sp>
        <p:nvSpPr>
          <p:cNvPr id="38" name="StepTxt3">
            <a:extLst>
              <a:ext uri="{FF2B5EF4-FFF2-40B4-BE49-F238E27FC236}">
                <a16:creationId xmlns:a16="http://schemas.microsoft.com/office/drawing/2014/main" id="{94FE25E0-12CB-453D-BD18-8D1BC2867815}"/>
              </a:ext>
            </a:extLst>
          </p:cNvPr>
          <p:cNvSpPr txBox="1"/>
          <p:nvPr/>
        </p:nvSpPr>
        <p:spPr>
          <a:xfrm>
            <a:off x="1587500" y="4191000"/>
            <a:ext cx="9652000" cy="354584"/>
          </a:xfrm>
          <a:prstGeom prst="rect">
            <a:avLst/>
          </a:prstGeom>
          <a:noFill/>
        </p:spPr>
        <p:txBody>
          <a:bodyPr vertOverflow="overflow" vert="horz" wrap="square" rtlCol="0" anchor="t">
            <a:spAutoFit/>
          </a:bodyPr>
          <a:lstStyle/>
          <a:p>
            <a:pPr algn="l">
              <a:lnSpc>
                <a:spcPts val="2200"/>
              </a:lnSpc>
              <a:spcBef>
                <a:spcPct val="0"/>
              </a:spcBef>
              <a:buNone/>
            </a:pPr>
            <a:r>
              <a:rPr lang="fr-FR" sz="1600" b="1" dirty="0">
                <a:solidFill>
                  <a:srgbClr val="16294A"/>
                </a:solidFill>
                <a:latin typeface="Montserrat"/>
              </a:rPr>
              <a:t>Intégrer le module NLU</a:t>
            </a:r>
            <a:r>
              <a:rPr lang="fr-FR" sz="1600" dirty="0">
                <a:solidFill>
                  <a:srgbClr val="5A5550"/>
                </a:solidFill>
                <a:latin typeface="Montserrat"/>
              </a:rPr>
              <a:t> à l’architecture microservices de la plateforme NGONI</a:t>
            </a:r>
          </a:p>
        </p:txBody>
      </p:sp>
      <p:sp>
        <p:nvSpPr>
          <p:cNvPr id="40" name="StepRule3">
            <a:extLst>
              <a:ext uri="{FF2B5EF4-FFF2-40B4-BE49-F238E27FC236}">
                <a16:creationId xmlns:a16="http://schemas.microsoft.com/office/drawing/2014/main" id="{45A4BDD6-E19C-4617-8C90-4D4BFD600AF5}"/>
              </a:ext>
            </a:extLst>
          </p:cNvPr>
          <p:cNvSpPr/>
          <p:nvPr/>
        </p:nvSpPr>
        <p:spPr>
          <a:xfrm>
            <a:off x="1587500" y="4724400"/>
            <a:ext cx="9652000" cy="12700"/>
          </a:xfrm>
          <a:prstGeom prst="rect">
            <a:avLst/>
          </a:prstGeom>
          <a:solidFill>
            <a:srgbClr val="EADFD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42" name="StepNum4">
            <a:extLst>
              <a:ext uri="{FF2B5EF4-FFF2-40B4-BE49-F238E27FC236}">
                <a16:creationId xmlns:a16="http://schemas.microsoft.com/office/drawing/2014/main" id="{F9CE83D0-B79A-4473-A247-A5D7AC987D10}"/>
              </a:ext>
            </a:extLst>
          </p:cNvPr>
          <p:cNvSpPr/>
          <p:nvPr/>
        </p:nvSpPr>
        <p:spPr>
          <a:xfrm>
            <a:off x="952500" y="4851400"/>
            <a:ext cx="431800" cy="431800"/>
          </a:xfrm>
          <a:prstGeom prst="ellipse">
            <a:avLst/>
          </a:prstGeom>
          <a:solidFill>
            <a:srgbClr val="F96A0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fr-FR" sz="1600" b="1">
                <a:solidFill>
                  <a:srgbClr val="FFFFFF"/>
                </a:solidFill>
                <a:latin typeface="Montserrat"/>
              </a:rPr>
              <a:t>5</a:t>
            </a:r>
          </a:p>
        </p:txBody>
      </p:sp>
      <p:sp>
        <p:nvSpPr>
          <p:cNvPr id="44" name="StepTxt4">
            <a:extLst>
              <a:ext uri="{FF2B5EF4-FFF2-40B4-BE49-F238E27FC236}">
                <a16:creationId xmlns:a16="http://schemas.microsoft.com/office/drawing/2014/main" id="{17A6DF9A-B5D4-47A0-B080-5FA1C6CAE0F0}"/>
              </a:ext>
            </a:extLst>
          </p:cNvPr>
          <p:cNvSpPr txBox="1"/>
          <p:nvPr/>
        </p:nvSpPr>
        <p:spPr>
          <a:xfrm>
            <a:off x="1587500" y="4876800"/>
            <a:ext cx="9652000" cy="354584"/>
          </a:xfrm>
          <a:prstGeom prst="rect">
            <a:avLst/>
          </a:prstGeom>
          <a:noFill/>
        </p:spPr>
        <p:txBody>
          <a:bodyPr vertOverflow="overflow" vert="horz" wrap="square" rtlCol="0" anchor="t">
            <a:spAutoFit/>
          </a:bodyPr>
          <a:lstStyle/>
          <a:p>
            <a:pPr algn="l">
              <a:lnSpc>
                <a:spcPts val="2200"/>
              </a:lnSpc>
              <a:spcBef>
                <a:spcPct val="0"/>
              </a:spcBef>
              <a:buNone/>
            </a:pPr>
            <a:r>
              <a:rPr lang="fr-FR" sz="1600" b="1" dirty="0">
                <a:solidFill>
                  <a:srgbClr val="16294A"/>
                </a:solidFill>
                <a:latin typeface="Montserrat"/>
              </a:rPr>
              <a:t>Évaluer le système</a:t>
            </a:r>
            <a:r>
              <a:rPr lang="fr-FR" sz="1600" dirty="0">
                <a:solidFill>
                  <a:srgbClr val="5A5550"/>
                </a:solidFill>
                <a:latin typeface="Montserrat"/>
              </a:rPr>
              <a:t> : précision, F1-score, pertinence des réponses, temps de réponse</a:t>
            </a:r>
          </a:p>
        </p:txBody>
      </p:sp>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168ADE39-BAE4-44AF-8FB8-BA2955E064E3}" type="slidenum">
              <a:rPr lang="fr-FR" sz="1600" b="1" dirty="0">
                <a:solidFill>
                  <a:srgbClr val="FFFFFF"/>
                </a:solidFill>
                <a:latin typeface="Montserrat"/>
              </a:rPr>
              <a:t>8</a:t>
            </a:fld>
            <a:endParaRPr lang="fr-FR" sz="1600" b="1" dirty="0">
              <a:solidFill>
                <a:srgbClr val="FFFFFF"/>
              </a:solidFill>
              <a:latin typeface="Montserrat"/>
            </a:endParaRPr>
          </a:p>
        </p:txBody>
      </p:sp>
    </p:spTree>
    <p:extLst>
      <p:ext uri="{BB962C8B-B14F-4D97-AF65-F5344CB8AC3E}">
        <p14:creationId xmlns:p14="http://schemas.microsoft.com/office/powerpoint/2010/main" val="2544746273"/>
      </p:ext>
    </p:extLst>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anim calcmode="lin" valueType="num">
                                      <p:cBhvr>
                                        <p:cTn id="8" dur="450" fill="hold"/>
                                        <p:tgtEl>
                                          <p:spTgt spid="12"/>
                                        </p:tgtEl>
                                        <p:attrNameLst>
                                          <p:attrName>ppt_x</p:attrName>
                                        </p:attrNameLst>
                                      </p:cBhvr>
                                      <p:tavLst>
                                        <p:tav tm="0">
                                          <p:val>
                                            <p:strVal val="#ppt_x"/>
                                          </p:val>
                                        </p:tav>
                                        <p:tav tm="100000">
                                          <p:val>
                                            <p:strVal val="#ppt_x"/>
                                          </p:val>
                                        </p:tav>
                                      </p:tavLst>
                                    </p:anim>
                                    <p:anim calcmode="lin" valueType="num">
                                      <p:cBhvr>
                                        <p:cTn id="9" dur="450" fill="hold"/>
                                        <p:tgtEl>
                                          <p:spTgt spid="12"/>
                                        </p:tgtEl>
                                        <p:attrNameLst>
                                          <p:attrName>ppt_y</p:attrName>
                                        </p:attrNameLst>
                                      </p:cBhvr>
                                      <p:tavLst>
                                        <p:tav tm="0">
                                          <p:val>
                                            <p:strVal val="#ppt_y+.03"/>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anim calcmode="lin" valueType="num">
                                      <p:cBhvr>
                                        <p:cTn id="15" dur="500" fill="hold"/>
                                        <p:tgtEl>
                                          <p:spTgt spid="6"/>
                                        </p:tgtEl>
                                        <p:attrNameLst>
                                          <p:attrName>ppt_x</p:attrName>
                                        </p:attrNameLst>
                                      </p:cBhvr>
                                      <p:tavLst>
                                        <p:tav tm="0">
                                          <p:val>
                                            <p:strVal val="#ppt_x-.035"/>
                                          </p:val>
                                        </p:tav>
                                        <p:tav tm="100000">
                                          <p:val>
                                            <p:strVal val="#ppt_x"/>
                                          </p:val>
                                        </p:tav>
                                      </p:tavLst>
                                    </p:anim>
                                    <p:anim calcmode="lin" valueType="num">
                                      <p:cBhvr>
                                        <p:cTn id="16" dur="500" fill="hold"/>
                                        <p:tgtEl>
                                          <p:spTgt spid="6"/>
                                        </p:tgtEl>
                                        <p:attrNameLst>
                                          <p:attrName>ppt_y</p:attrName>
                                        </p:attrNameLst>
                                      </p:cBhvr>
                                      <p:tavLst>
                                        <p:tav tm="0">
                                          <p:val>
                                            <p:strVal val="#ppt_y"/>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anim calcmode="lin" valueType="num">
                                      <p:cBhvr>
                                        <p:cTn id="20" dur="500" fill="hold"/>
                                        <p:tgtEl>
                                          <p:spTgt spid="14"/>
                                        </p:tgtEl>
                                        <p:attrNameLst>
                                          <p:attrName>ppt_x</p:attrName>
                                        </p:attrNameLst>
                                      </p:cBhvr>
                                      <p:tavLst>
                                        <p:tav tm="0">
                                          <p:val>
                                            <p:strVal val="#ppt_x-.035"/>
                                          </p:val>
                                        </p:tav>
                                        <p:tav tm="100000">
                                          <p:val>
                                            <p:strVal val="#ppt_x"/>
                                          </p:val>
                                        </p:tav>
                                      </p:tavLst>
                                    </p:anim>
                                    <p:anim calcmode="lin" valueType="num">
                                      <p:cBhvr>
                                        <p:cTn id="21" dur="500" fill="hold"/>
                                        <p:tgtEl>
                                          <p:spTgt spid="14"/>
                                        </p:tgtEl>
                                        <p:attrNameLst>
                                          <p:attrName>ppt_y</p:attrName>
                                        </p:attrNameLst>
                                      </p:cBhvr>
                                      <p:tavLst>
                                        <p:tav tm="0">
                                          <p:val>
                                            <p:strVal val="#ppt_y"/>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500"/>
                                        <p:tgtEl>
                                          <p:spTgt spid="29"/>
                                        </p:tgtEl>
                                      </p:cBhvr>
                                    </p:animEffect>
                                    <p:anim calcmode="lin" valueType="num">
                                      <p:cBhvr>
                                        <p:cTn id="25" dur="500" fill="hold"/>
                                        <p:tgtEl>
                                          <p:spTgt spid="29"/>
                                        </p:tgtEl>
                                        <p:attrNameLst>
                                          <p:attrName>ppt_x</p:attrName>
                                        </p:attrNameLst>
                                      </p:cBhvr>
                                      <p:tavLst>
                                        <p:tav tm="0">
                                          <p:val>
                                            <p:strVal val="#ppt_x-.035"/>
                                          </p:val>
                                        </p:tav>
                                        <p:tav tm="100000">
                                          <p:val>
                                            <p:strVal val="#ppt_x"/>
                                          </p:val>
                                        </p:tav>
                                      </p:tavLst>
                                    </p:anim>
                                    <p:anim calcmode="lin" valueType="num">
                                      <p:cBhvr>
                                        <p:cTn id="26"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anim calcmode="lin" valueType="num">
                                      <p:cBhvr>
                                        <p:cTn id="32" dur="500" fill="hold"/>
                                        <p:tgtEl>
                                          <p:spTgt spid="30"/>
                                        </p:tgtEl>
                                        <p:attrNameLst>
                                          <p:attrName>ppt_x</p:attrName>
                                        </p:attrNameLst>
                                      </p:cBhvr>
                                      <p:tavLst>
                                        <p:tav tm="0">
                                          <p:val>
                                            <p:strVal val="#ppt_x-.035"/>
                                          </p:val>
                                        </p:tav>
                                        <p:tav tm="100000">
                                          <p:val>
                                            <p:strVal val="#ppt_x"/>
                                          </p:val>
                                        </p:tav>
                                      </p:tavLst>
                                    </p:anim>
                                    <p:anim calcmode="lin" valueType="num">
                                      <p:cBhvr>
                                        <p:cTn id="33" dur="500" fill="hold"/>
                                        <p:tgtEl>
                                          <p:spTgt spid="30"/>
                                        </p:tgtEl>
                                        <p:attrNameLst>
                                          <p:attrName>ppt_y</p:attrName>
                                        </p:attrNameLst>
                                      </p:cBhvr>
                                      <p:tavLst>
                                        <p:tav tm="0">
                                          <p:val>
                                            <p:strVal val="#ppt_y"/>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500"/>
                                        <p:tgtEl>
                                          <p:spTgt spid="31"/>
                                        </p:tgtEl>
                                      </p:cBhvr>
                                    </p:animEffect>
                                    <p:anim calcmode="lin" valueType="num">
                                      <p:cBhvr>
                                        <p:cTn id="37" dur="500" fill="hold"/>
                                        <p:tgtEl>
                                          <p:spTgt spid="31"/>
                                        </p:tgtEl>
                                        <p:attrNameLst>
                                          <p:attrName>ppt_x</p:attrName>
                                        </p:attrNameLst>
                                      </p:cBhvr>
                                      <p:tavLst>
                                        <p:tav tm="0">
                                          <p:val>
                                            <p:strVal val="#ppt_x-.035"/>
                                          </p:val>
                                        </p:tav>
                                        <p:tav tm="100000">
                                          <p:val>
                                            <p:strVal val="#ppt_x"/>
                                          </p:val>
                                        </p:tav>
                                      </p:tavLst>
                                    </p:anim>
                                    <p:anim calcmode="lin" valueType="num">
                                      <p:cBhvr>
                                        <p:cTn id="38" dur="500" fill="hold"/>
                                        <p:tgtEl>
                                          <p:spTgt spid="31"/>
                                        </p:tgtEl>
                                        <p:attrNameLst>
                                          <p:attrName>ppt_y</p:attrName>
                                        </p:attrNameLst>
                                      </p:cBhvr>
                                      <p:tavLst>
                                        <p:tav tm="0">
                                          <p:val>
                                            <p:strVal val="#ppt_y"/>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animEffect transition="in" filter="fade">
                                      <p:cBhvr>
                                        <p:cTn id="41" dur="500"/>
                                        <p:tgtEl>
                                          <p:spTgt spid="33"/>
                                        </p:tgtEl>
                                      </p:cBhvr>
                                    </p:animEffect>
                                    <p:anim calcmode="lin" valueType="num">
                                      <p:cBhvr>
                                        <p:cTn id="42" dur="500" fill="hold"/>
                                        <p:tgtEl>
                                          <p:spTgt spid="33"/>
                                        </p:tgtEl>
                                        <p:attrNameLst>
                                          <p:attrName>ppt_x</p:attrName>
                                        </p:attrNameLst>
                                      </p:cBhvr>
                                      <p:tavLst>
                                        <p:tav tm="0">
                                          <p:val>
                                            <p:strVal val="#ppt_x-.035"/>
                                          </p:val>
                                        </p:tav>
                                        <p:tav tm="100000">
                                          <p:val>
                                            <p:strVal val="#ppt_x"/>
                                          </p:val>
                                        </p:tav>
                                      </p:tavLst>
                                    </p:anim>
                                    <p:anim calcmode="lin" valueType="num">
                                      <p:cBhvr>
                                        <p:cTn id="43" dur="500" fill="hold"/>
                                        <p:tgtEl>
                                          <p:spTgt spid="33"/>
                                        </p:tgtEl>
                                        <p:attrNameLst>
                                          <p:attrName>ppt_y</p:attrName>
                                        </p:attrNameLst>
                                      </p:cBhvr>
                                      <p:tavLst>
                                        <p:tav tm="0">
                                          <p:val>
                                            <p:strVal val="#ppt_y"/>
                                          </p:val>
                                        </p:tav>
                                        <p:tav tm="100000">
                                          <p:val>
                                            <p:strVal val="#ppt_y"/>
                                          </p:val>
                                        </p:tav>
                                      </p:tavLst>
                                    </p:anim>
                                  </p:childTnLst>
                                </p:cTn>
                              </p:par>
                              <p:par>
                                <p:cTn id="44" presetID="42" presetClass="entr" presetSubtype="0" fill="hold" grpId="0" nodeType="withEffect">
                                  <p:stCondLst>
                                    <p:cond delay="280"/>
                                  </p:stCondLst>
                                  <p:childTnLst>
                                    <p:set>
                                      <p:cBhvr>
                                        <p:cTn id="45" dur="1" fill="hold">
                                          <p:stCondLst>
                                            <p:cond delay="0"/>
                                          </p:stCondLst>
                                        </p:cTn>
                                        <p:tgtEl>
                                          <p:spTgt spid="34"/>
                                        </p:tgtEl>
                                        <p:attrNameLst>
                                          <p:attrName>style.visibility</p:attrName>
                                        </p:attrNameLst>
                                      </p:cBhvr>
                                      <p:to>
                                        <p:strVal val="visible"/>
                                      </p:to>
                                    </p:set>
                                    <p:animEffect transition="in" filter="fade">
                                      <p:cBhvr>
                                        <p:cTn id="46" dur="500"/>
                                        <p:tgtEl>
                                          <p:spTgt spid="34"/>
                                        </p:tgtEl>
                                      </p:cBhvr>
                                    </p:animEffect>
                                    <p:anim calcmode="lin" valueType="num">
                                      <p:cBhvr>
                                        <p:cTn id="47" dur="500" fill="hold"/>
                                        <p:tgtEl>
                                          <p:spTgt spid="34"/>
                                        </p:tgtEl>
                                        <p:attrNameLst>
                                          <p:attrName>ppt_x</p:attrName>
                                        </p:attrNameLst>
                                      </p:cBhvr>
                                      <p:tavLst>
                                        <p:tav tm="0">
                                          <p:val>
                                            <p:strVal val="#ppt_x-.035"/>
                                          </p:val>
                                        </p:tav>
                                        <p:tav tm="100000">
                                          <p:val>
                                            <p:strVal val="#ppt_x"/>
                                          </p:val>
                                        </p:tav>
                                      </p:tavLst>
                                    </p:anim>
                                    <p:anim calcmode="lin" valueType="num">
                                      <p:cBhvr>
                                        <p:cTn id="48" dur="500" fill="hold"/>
                                        <p:tgtEl>
                                          <p:spTgt spid="34"/>
                                        </p:tgtEl>
                                        <p:attrNameLst>
                                          <p:attrName>ppt_y</p:attrName>
                                        </p:attrNameLst>
                                      </p:cBhvr>
                                      <p:tavLst>
                                        <p:tav tm="0">
                                          <p:val>
                                            <p:strVal val="#ppt_y"/>
                                          </p:val>
                                        </p:tav>
                                        <p:tav tm="100000">
                                          <p:val>
                                            <p:strVal val="#ppt_y"/>
                                          </p:val>
                                        </p:tav>
                                      </p:tavLst>
                                    </p:anim>
                                  </p:childTnLst>
                                </p:cTn>
                              </p:par>
                              <p:par>
                                <p:cTn id="49" presetID="42" presetClass="entr" presetSubtype="0" fill="hold" grpId="0" nodeType="withEffect">
                                  <p:stCondLst>
                                    <p:cond delay="28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500"/>
                                        <p:tgtEl>
                                          <p:spTgt spid="35"/>
                                        </p:tgtEl>
                                      </p:cBhvr>
                                    </p:animEffect>
                                    <p:anim calcmode="lin" valueType="num">
                                      <p:cBhvr>
                                        <p:cTn id="52" dur="500" fill="hold"/>
                                        <p:tgtEl>
                                          <p:spTgt spid="35"/>
                                        </p:tgtEl>
                                        <p:attrNameLst>
                                          <p:attrName>ppt_x</p:attrName>
                                        </p:attrNameLst>
                                      </p:cBhvr>
                                      <p:tavLst>
                                        <p:tav tm="0">
                                          <p:val>
                                            <p:strVal val="#ppt_x-.035"/>
                                          </p:val>
                                        </p:tav>
                                        <p:tav tm="100000">
                                          <p:val>
                                            <p:strVal val="#ppt_x"/>
                                          </p:val>
                                        </p:tav>
                                      </p:tavLst>
                                    </p:anim>
                                    <p:anim calcmode="lin" valueType="num">
                                      <p:cBhvr>
                                        <p:cTn id="53" dur="500" fill="hold"/>
                                        <p:tgtEl>
                                          <p:spTgt spid="35"/>
                                        </p:tgtEl>
                                        <p:attrNameLst>
                                          <p:attrName>ppt_y</p:attrName>
                                        </p:attrNameLst>
                                      </p:cBhvr>
                                      <p:tavLst>
                                        <p:tav tm="0">
                                          <p:val>
                                            <p:strVal val="#ppt_y"/>
                                          </p:val>
                                        </p:tav>
                                        <p:tav tm="100000">
                                          <p:val>
                                            <p:strVal val="#ppt_y"/>
                                          </p:val>
                                        </p:tav>
                                      </p:tavLst>
                                    </p:anim>
                                  </p:childTnLst>
                                </p:cTn>
                              </p:par>
                              <p:par>
                                <p:cTn id="54" presetID="42" presetClass="entr" presetSubtype="0" fill="hold" grpId="0" nodeType="withEffect">
                                  <p:stCondLst>
                                    <p:cond delay="280"/>
                                  </p:stCondLst>
                                  <p:childTnLst>
                                    <p:set>
                                      <p:cBhvr>
                                        <p:cTn id="55" dur="1" fill="hold">
                                          <p:stCondLst>
                                            <p:cond delay="0"/>
                                          </p:stCondLst>
                                        </p:cTn>
                                        <p:tgtEl>
                                          <p:spTgt spid="36"/>
                                        </p:tgtEl>
                                        <p:attrNameLst>
                                          <p:attrName>style.visibility</p:attrName>
                                        </p:attrNameLst>
                                      </p:cBhvr>
                                      <p:to>
                                        <p:strVal val="visible"/>
                                      </p:to>
                                    </p:set>
                                    <p:animEffect transition="in" filter="fade">
                                      <p:cBhvr>
                                        <p:cTn id="56" dur="500"/>
                                        <p:tgtEl>
                                          <p:spTgt spid="36"/>
                                        </p:tgtEl>
                                      </p:cBhvr>
                                    </p:animEffect>
                                    <p:anim calcmode="lin" valueType="num">
                                      <p:cBhvr>
                                        <p:cTn id="57" dur="500" fill="hold"/>
                                        <p:tgtEl>
                                          <p:spTgt spid="36"/>
                                        </p:tgtEl>
                                        <p:attrNameLst>
                                          <p:attrName>ppt_x</p:attrName>
                                        </p:attrNameLst>
                                      </p:cBhvr>
                                      <p:tavLst>
                                        <p:tav tm="0">
                                          <p:val>
                                            <p:strVal val="#ppt_x-.035"/>
                                          </p:val>
                                        </p:tav>
                                        <p:tav tm="100000">
                                          <p:val>
                                            <p:strVal val="#ppt_x"/>
                                          </p:val>
                                        </p:tav>
                                      </p:tavLst>
                                    </p:anim>
                                    <p:anim calcmode="lin" valueType="num">
                                      <p:cBhvr>
                                        <p:cTn id="58" dur="500" fill="hold"/>
                                        <p:tgtEl>
                                          <p:spTgt spid="36"/>
                                        </p:tgtEl>
                                        <p:attrNameLst>
                                          <p:attrName>ppt_y</p:attrName>
                                        </p:attrNameLst>
                                      </p:cBhvr>
                                      <p:tavLst>
                                        <p:tav tm="0">
                                          <p:val>
                                            <p:strVal val="#ppt_y"/>
                                          </p:val>
                                        </p:tav>
                                        <p:tav tm="100000">
                                          <p:val>
                                            <p:strVal val="#ppt_y"/>
                                          </p:val>
                                        </p:tav>
                                      </p:tavLst>
                                    </p:anim>
                                  </p:childTnLst>
                                </p:cTn>
                              </p:par>
                              <p:par>
                                <p:cTn id="59" presetID="42" presetClass="entr" presetSubtype="0" fill="hold" grpId="0" nodeType="withEffect">
                                  <p:stCondLst>
                                    <p:cond delay="56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500"/>
                                        <p:tgtEl>
                                          <p:spTgt spid="37"/>
                                        </p:tgtEl>
                                      </p:cBhvr>
                                    </p:animEffect>
                                    <p:anim calcmode="lin" valueType="num">
                                      <p:cBhvr>
                                        <p:cTn id="62" dur="500" fill="hold"/>
                                        <p:tgtEl>
                                          <p:spTgt spid="37"/>
                                        </p:tgtEl>
                                        <p:attrNameLst>
                                          <p:attrName>ppt_x</p:attrName>
                                        </p:attrNameLst>
                                      </p:cBhvr>
                                      <p:tavLst>
                                        <p:tav tm="0">
                                          <p:val>
                                            <p:strVal val="#ppt_x-.035"/>
                                          </p:val>
                                        </p:tav>
                                        <p:tav tm="100000">
                                          <p:val>
                                            <p:strVal val="#ppt_x"/>
                                          </p:val>
                                        </p:tav>
                                      </p:tavLst>
                                    </p:anim>
                                    <p:anim calcmode="lin" valueType="num">
                                      <p:cBhvr>
                                        <p:cTn id="63" dur="500" fill="hold"/>
                                        <p:tgtEl>
                                          <p:spTgt spid="37"/>
                                        </p:tgtEl>
                                        <p:attrNameLst>
                                          <p:attrName>ppt_y</p:attrName>
                                        </p:attrNameLst>
                                      </p:cBhvr>
                                      <p:tavLst>
                                        <p:tav tm="0">
                                          <p:val>
                                            <p:strVal val="#ppt_y"/>
                                          </p:val>
                                        </p:tav>
                                        <p:tav tm="100000">
                                          <p:val>
                                            <p:strVal val="#ppt_y"/>
                                          </p:val>
                                        </p:tav>
                                      </p:tavLst>
                                    </p:anim>
                                  </p:childTnLst>
                                </p:cTn>
                              </p:par>
                              <p:par>
                                <p:cTn id="64" presetID="42" presetClass="entr" presetSubtype="0" fill="hold" grpId="0" nodeType="withEffect">
                                  <p:stCondLst>
                                    <p:cond delay="560"/>
                                  </p:stCondLst>
                                  <p:childTnLst>
                                    <p:set>
                                      <p:cBhvr>
                                        <p:cTn id="65" dur="1" fill="hold">
                                          <p:stCondLst>
                                            <p:cond delay="0"/>
                                          </p:stCondLst>
                                        </p:cTn>
                                        <p:tgtEl>
                                          <p:spTgt spid="38"/>
                                        </p:tgtEl>
                                        <p:attrNameLst>
                                          <p:attrName>style.visibility</p:attrName>
                                        </p:attrNameLst>
                                      </p:cBhvr>
                                      <p:to>
                                        <p:strVal val="visible"/>
                                      </p:to>
                                    </p:set>
                                    <p:animEffect transition="in" filter="fade">
                                      <p:cBhvr>
                                        <p:cTn id="66" dur="500"/>
                                        <p:tgtEl>
                                          <p:spTgt spid="38"/>
                                        </p:tgtEl>
                                      </p:cBhvr>
                                    </p:animEffect>
                                    <p:anim calcmode="lin" valueType="num">
                                      <p:cBhvr>
                                        <p:cTn id="67" dur="500" fill="hold"/>
                                        <p:tgtEl>
                                          <p:spTgt spid="38"/>
                                        </p:tgtEl>
                                        <p:attrNameLst>
                                          <p:attrName>ppt_x</p:attrName>
                                        </p:attrNameLst>
                                      </p:cBhvr>
                                      <p:tavLst>
                                        <p:tav tm="0">
                                          <p:val>
                                            <p:strVal val="#ppt_x-.035"/>
                                          </p:val>
                                        </p:tav>
                                        <p:tav tm="100000">
                                          <p:val>
                                            <p:strVal val="#ppt_x"/>
                                          </p:val>
                                        </p:tav>
                                      </p:tavLst>
                                    </p:anim>
                                    <p:anim calcmode="lin" valueType="num">
                                      <p:cBhvr>
                                        <p:cTn id="68" dur="500" fill="hold"/>
                                        <p:tgtEl>
                                          <p:spTgt spid="38"/>
                                        </p:tgtEl>
                                        <p:attrNameLst>
                                          <p:attrName>ppt_y</p:attrName>
                                        </p:attrNameLst>
                                      </p:cBhvr>
                                      <p:tavLst>
                                        <p:tav tm="0">
                                          <p:val>
                                            <p:strVal val="#ppt_y"/>
                                          </p:val>
                                        </p:tav>
                                        <p:tav tm="100000">
                                          <p:val>
                                            <p:strVal val="#ppt_y"/>
                                          </p:val>
                                        </p:tav>
                                      </p:tavLst>
                                    </p:anim>
                                  </p:childTnLst>
                                </p:cTn>
                              </p:par>
                              <p:par>
                                <p:cTn id="69" presetID="42" presetClass="entr" presetSubtype="0" fill="hold" grpId="0" nodeType="withEffect">
                                  <p:stCondLst>
                                    <p:cond delay="560"/>
                                  </p:stCondLst>
                                  <p:childTnLst>
                                    <p:set>
                                      <p:cBhvr>
                                        <p:cTn id="70" dur="1" fill="hold">
                                          <p:stCondLst>
                                            <p:cond delay="0"/>
                                          </p:stCondLst>
                                        </p:cTn>
                                        <p:tgtEl>
                                          <p:spTgt spid="40"/>
                                        </p:tgtEl>
                                        <p:attrNameLst>
                                          <p:attrName>style.visibility</p:attrName>
                                        </p:attrNameLst>
                                      </p:cBhvr>
                                      <p:to>
                                        <p:strVal val="visible"/>
                                      </p:to>
                                    </p:set>
                                    <p:animEffect transition="in" filter="fade">
                                      <p:cBhvr>
                                        <p:cTn id="71" dur="500"/>
                                        <p:tgtEl>
                                          <p:spTgt spid="40"/>
                                        </p:tgtEl>
                                      </p:cBhvr>
                                    </p:animEffect>
                                    <p:anim calcmode="lin" valueType="num">
                                      <p:cBhvr>
                                        <p:cTn id="72" dur="500" fill="hold"/>
                                        <p:tgtEl>
                                          <p:spTgt spid="40"/>
                                        </p:tgtEl>
                                        <p:attrNameLst>
                                          <p:attrName>ppt_x</p:attrName>
                                        </p:attrNameLst>
                                      </p:cBhvr>
                                      <p:tavLst>
                                        <p:tav tm="0">
                                          <p:val>
                                            <p:strVal val="#ppt_x-.035"/>
                                          </p:val>
                                        </p:tav>
                                        <p:tav tm="100000">
                                          <p:val>
                                            <p:strVal val="#ppt_x"/>
                                          </p:val>
                                        </p:tav>
                                      </p:tavLst>
                                    </p:anim>
                                    <p:anim calcmode="lin" valueType="num">
                                      <p:cBhvr>
                                        <p:cTn id="73"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fade">
                                      <p:cBhvr>
                                        <p:cTn id="78" dur="500"/>
                                        <p:tgtEl>
                                          <p:spTgt spid="42"/>
                                        </p:tgtEl>
                                      </p:cBhvr>
                                    </p:animEffect>
                                    <p:anim calcmode="lin" valueType="num">
                                      <p:cBhvr>
                                        <p:cTn id="79" dur="500" fill="hold"/>
                                        <p:tgtEl>
                                          <p:spTgt spid="42"/>
                                        </p:tgtEl>
                                        <p:attrNameLst>
                                          <p:attrName>ppt_x</p:attrName>
                                        </p:attrNameLst>
                                      </p:cBhvr>
                                      <p:tavLst>
                                        <p:tav tm="0">
                                          <p:val>
                                            <p:strVal val="#ppt_x-.035"/>
                                          </p:val>
                                        </p:tav>
                                        <p:tav tm="100000">
                                          <p:val>
                                            <p:strVal val="#ppt_x"/>
                                          </p:val>
                                        </p:tav>
                                      </p:tavLst>
                                    </p:anim>
                                    <p:anim calcmode="lin" valueType="num">
                                      <p:cBhvr>
                                        <p:cTn id="80" dur="500" fill="hold"/>
                                        <p:tgtEl>
                                          <p:spTgt spid="42"/>
                                        </p:tgtEl>
                                        <p:attrNameLst>
                                          <p:attrName>ppt_y</p:attrName>
                                        </p:attrNameLst>
                                      </p:cBhvr>
                                      <p:tavLst>
                                        <p:tav tm="0">
                                          <p:val>
                                            <p:strVal val="#ppt_y"/>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44"/>
                                        </p:tgtEl>
                                        <p:attrNameLst>
                                          <p:attrName>style.visibility</p:attrName>
                                        </p:attrNameLst>
                                      </p:cBhvr>
                                      <p:to>
                                        <p:strVal val="visible"/>
                                      </p:to>
                                    </p:set>
                                    <p:animEffect transition="in" filter="fade">
                                      <p:cBhvr>
                                        <p:cTn id="83" dur="500"/>
                                        <p:tgtEl>
                                          <p:spTgt spid="44"/>
                                        </p:tgtEl>
                                      </p:cBhvr>
                                    </p:animEffect>
                                    <p:anim calcmode="lin" valueType="num">
                                      <p:cBhvr>
                                        <p:cTn id="84" dur="500" fill="hold"/>
                                        <p:tgtEl>
                                          <p:spTgt spid="44"/>
                                        </p:tgtEl>
                                        <p:attrNameLst>
                                          <p:attrName>ppt_x</p:attrName>
                                        </p:attrNameLst>
                                      </p:cBhvr>
                                      <p:tavLst>
                                        <p:tav tm="0">
                                          <p:val>
                                            <p:strVal val="#ppt_x-.035"/>
                                          </p:val>
                                        </p:tav>
                                        <p:tav tm="100000">
                                          <p:val>
                                            <p:strVal val="#ppt_x"/>
                                          </p:val>
                                        </p:tav>
                                      </p:tavLst>
                                    </p:anim>
                                    <p:anim calcmode="lin" valueType="num">
                                      <p:cBhvr>
                                        <p:cTn id="85" dur="500" fill="hold"/>
                                        <p:tgtEl>
                                          <p:spTgt spid="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6" grpId="0" animBg="1"/>
      <p:bldP spid="14" grpId="0" animBg="1"/>
      <p:bldP spid="29" grpId="0" animBg="1"/>
      <p:bldP spid="30" grpId="0" animBg="1"/>
      <p:bldP spid="31" grpId="0" animBg="1"/>
      <p:bldP spid="33" grpId="0" animBg="1"/>
      <p:bldP spid="34" grpId="0" animBg="1"/>
      <p:bldP spid="35" grpId="0" animBg="1"/>
      <p:bldP spid="36" grpId="0" animBg="1"/>
      <p:bldP spid="37" grpId="0" animBg="1"/>
      <p:bldP spid="38" grpId="0" animBg="1"/>
      <p:bldP spid="40" grpId="0" animBg="1"/>
      <p:bldP spid="42" grpId="0" animBg="1"/>
      <p:bldP spid="4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B1B47-3EAB-47DE-C1DF-75176FD3981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2FA1453-CC26-BA03-142E-3A35DE06ABF9}"/>
              </a:ext>
            </a:extLst>
          </p:cNvPr>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95D57979-93B6-3EC3-6E9A-40394E6D8EC7}"/>
              </a:ext>
            </a:extLst>
          </p:cNvPr>
          <p:cNvSpPr/>
          <p:nvPr/>
        </p:nvSpPr>
        <p:spPr>
          <a:xfrm>
            <a:off x="1435099"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1</a:t>
            </a:r>
          </a:p>
        </p:txBody>
      </p:sp>
      <p:sp>
        <p:nvSpPr>
          <p:cNvPr id="39" name="Ellipse 38">
            <a:extLst>
              <a:ext uri="{FF2B5EF4-FFF2-40B4-BE49-F238E27FC236}">
                <a16:creationId xmlns:a16="http://schemas.microsoft.com/office/drawing/2014/main" id="{ACDF65C6-9F24-A166-A43F-124874EE284A}"/>
              </a:ext>
            </a:extLst>
          </p:cNvPr>
          <p:cNvSpPr/>
          <p:nvPr/>
        </p:nvSpPr>
        <p:spPr>
          <a:xfrm>
            <a:off x="3276885"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2</a:t>
            </a:r>
          </a:p>
        </p:txBody>
      </p:sp>
      <p:sp>
        <p:nvSpPr>
          <p:cNvPr id="41" name="Ellipse 40">
            <a:extLst>
              <a:ext uri="{FF2B5EF4-FFF2-40B4-BE49-F238E27FC236}">
                <a16:creationId xmlns:a16="http://schemas.microsoft.com/office/drawing/2014/main" id="{4AA58933-2840-AF26-90A6-D3898B262CF7}"/>
              </a:ext>
            </a:extLst>
          </p:cNvPr>
          <p:cNvSpPr/>
          <p:nvPr/>
        </p:nvSpPr>
        <p:spPr>
          <a:xfrm>
            <a:off x="5118671" y="205023"/>
            <a:ext cx="246063" cy="253765"/>
          </a:xfrm>
          <a:prstGeom prst="ellipse">
            <a:avLst/>
          </a:prstGeom>
          <a:noFill/>
          <a:ln>
            <a:solidFill>
              <a:srgbClr val="F96A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F96A09"/>
                </a:solidFill>
              </a:rPr>
              <a:t>3</a:t>
            </a:r>
          </a:p>
        </p:txBody>
      </p:sp>
      <p:sp>
        <p:nvSpPr>
          <p:cNvPr id="43" name="Ellipse 42">
            <a:extLst>
              <a:ext uri="{FF2B5EF4-FFF2-40B4-BE49-F238E27FC236}">
                <a16:creationId xmlns:a16="http://schemas.microsoft.com/office/drawing/2014/main" id="{51C6BA4F-8A13-F540-E8A5-0C1FCC445BF7}"/>
              </a:ext>
            </a:extLst>
          </p:cNvPr>
          <p:cNvSpPr/>
          <p:nvPr/>
        </p:nvSpPr>
        <p:spPr>
          <a:xfrm>
            <a:off x="696045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4</a:t>
            </a:r>
          </a:p>
        </p:txBody>
      </p:sp>
      <p:sp>
        <p:nvSpPr>
          <p:cNvPr id="45" name="Ellipse 44">
            <a:extLst>
              <a:ext uri="{FF2B5EF4-FFF2-40B4-BE49-F238E27FC236}">
                <a16:creationId xmlns:a16="http://schemas.microsoft.com/office/drawing/2014/main" id="{496935F6-F329-9569-329A-692C26A4F485}"/>
              </a:ext>
            </a:extLst>
          </p:cNvPr>
          <p:cNvSpPr/>
          <p:nvPr/>
        </p:nvSpPr>
        <p:spPr>
          <a:xfrm>
            <a:off x="8802243"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5</a:t>
            </a:r>
          </a:p>
        </p:txBody>
      </p:sp>
      <p:sp>
        <p:nvSpPr>
          <p:cNvPr id="47" name="Ellipse 46">
            <a:extLst>
              <a:ext uri="{FF2B5EF4-FFF2-40B4-BE49-F238E27FC236}">
                <a16:creationId xmlns:a16="http://schemas.microsoft.com/office/drawing/2014/main" id="{81925164-8ABA-A07E-DF0D-377F01A87331}"/>
              </a:ext>
            </a:extLst>
          </p:cNvPr>
          <p:cNvSpPr/>
          <p:nvPr/>
        </p:nvSpPr>
        <p:spPr>
          <a:xfrm>
            <a:off x="1064402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6</a:t>
            </a:r>
          </a:p>
        </p:txBody>
      </p:sp>
      <p:cxnSp>
        <p:nvCxnSpPr>
          <p:cNvPr id="49" name="Connecteur droit 48">
            <a:extLst>
              <a:ext uri="{FF2B5EF4-FFF2-40B4-BE49-F238E27FC236}">
                <a16:creationId xmlns:a16="http://schemas.microsoft.com/office/drawing/2014/main" id="{BEF5C2CE-DC30-4AD1-F3C8-538AC499428A}"/>
              </a:ext>
            </a:extLst>
          </p:cNvPr>
          <p:cNvCxnSpPr>
            <a:endCxn id="25" idx="2"/>
          </p:cNvCxnSpPr>
          <p:nvPr/>
        </p:nvCxnSpPr>
        <p:spPr>
          <a:xfrm flipV="1">
            <a:off x="387416" y="331905"/>
            <a:ext cx="10476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20A16FAF-C499-CF2A-93E4-778AA7AA6B44}"/>
              </a:ext>
            </a:extLst>
          </p:cNvPr>
          <p:cNvCxnSpPr>
            <a:stCxn id="25" idx="6"/>
            <a:endCxn id="39" idx="2"/>
          </p:cNvCxnSpPr>
          <p:nvPr/>
        </p:nvCxnSpPr>
        <p:spPr>
          <a:xfrm flipV="1">
            <a:off x="1681162"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BCEF7128-7839-ABD8-5FE1-D57E6F3EB716}"/>
              </a:ext>
            </a:extLst>
          </p:cNvPr>
          <p:cNvCxnSpPr>
            <a:stCxn id="39" idx="6"/>
            <a:endCxn id="41" idx="2"/>
          </p:cNvCxnSpPr>
          <p:nvPr/>
        </p:nvCxnSpPr>
        <p:spPr>
          <a:xfrm>
            <a:off x="3522948"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5" name="Connecteur droit 54">
            <a:extLst>
              <a:ext uri="{FF2B5EF4-FFF2-40B4-BE49-F238E27FC236}">
                <a16:creationId xmlns:a16="http://schemas.microsoft.com/office/drawing/2014/main" id="{BE83B6D8-9D8E-AC6C-8905-D25DEF9540FF}"/>
              </a:ext>
            </a:extLst>
          </p:cNvPr>
          <p:cNvCxnSpPr>
            <a:stCxn id="41" idx="6"/>
            <a:endCxn id="43" idx="2"/>
          </p:cNvCxnSpPr>
          <p:nvPr/>
        </p:nvCxnSpPr>
        <p:spPr>
          <a:xfrm>
            <a:off x="5364734"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7" name="Connecteur droit 56">
            <a:extLst>
              <a:ext uri="{FF2B5EF4-FFF2-40B4-BE49-F238E27FC236}">
                <a16:creationId xmlns:a16="http://schemas.microsoft.com/office/drawing/2014/main" id="{6662307B-57E2-7C0C-06A6-AFC807B1390C}"/>
              </a:ext>
            </a:extLst>
          </p:cNvPr>
          <p:cNvCxnSpPr>
            <a:stCxn id="43" idx="6"/>
            <a:endCxn id="45" idx="2"/>
          </p:cNvCxnSpPr>
          <p:nvPr/>
        </p:nvCxnSpPr>
        <p:spPr>
          <a:xfrm>
            <a:off x="7206520"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D1DBC9D8-6037-67F9-7370-3C0B20137691}"/>
              </a:ext>
            </a:extLst>
          </p:cNvPr>
          <p:cNvCxnSpPr>
            <a:stCxn id="45" idx="6"/>
            <a:endCxn id="47" idx="2"/>
          </p:cNvCxnSpPr>
          <p:nvPr/>
        </p:nvCxnSpPr>
        <p:spPr>
          <a:xfrm flipV="1">
            <a:off x="9048306" y="331905"/>
            <a:ext cx="15957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977215CE-ACB7-F524-DB02-215AFDB8D660}"/>
              </a:ext>
            </a:extLst>
          </p:cNvPr>
          <p:cNvCxnSpPr>
            <a:stCxn id="47" idx="6"/>
          </p:cNvCxnSpPr>
          <p:nvPr/>
        </p:nvCxnSpPr>
        <p:spPr>
          <a:xfrm>
            <a:off x="10890090" y="331905"/>
            <a:ext cx="130191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637E64C0-A50E-D7BB-C6AA-126847CBCEDD}"/>
              </a:ext>
            </a:extLst>
          </p:cNvPr>
          <p:cNvSpPr txBox="1"/>
          <p:nvPr/>
        </p:nvSpPr>
        <p:spPr>
          <a:xfrm>
            <a:off x="624823" y="479710"/>
            <a:ext cx="1965977" cy="600164"/>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a:t>
            </a:r>
            <a:r>
              <a:rPr lang="fr-FR" sz="1100" b="1" dirty="0">
                <a:latin typeface="Montserrat"/>
              </a:rPr>
              <a:t> </a:t>
            </a:r>
            <a:r>
              <a:rPr lang="fr-FR" sz="1100" b="1" dirty="0">
                <a:latin typeface="Montserrat"/>
                <a:cs typeface="Montserrat"/>
              </a:rPr>
              <a:t>STRUCTURE D’ACCUEIL</a:t>
            </a:r>
          </a:p>
        </p:txBody>
      </p:sp>
      <p:sp>
        <p:nvSpPr>
          <p:cNvPr id="8" name="ZoneTexte 7">
            <a:extLst>
              <a:ext uri="{FF2B5EF4-FFF2-40B4-BE49-F238E27FC236}">
                <a16:creationId xmlns:a16="http://schemas.microsoft.com/office/drawing/2014/main" id="{9F7141B5-AFF7-47D5-704A-56FC1E782713}"/>
              </a:ext>
            </a:extLst>
          </p:cNvPr>
          <p:cNvSpPr txBox="1"/>
          <p:nvPr/>
        </p:nvSpPr>
        <p:spPr>
          <a:xfrm>
            <a:off x="2643588" y="417161"/>
            <a:ext cx="1481708" cy="430887"/>
          </a:xfrm>
          <a:prstGeom prst="rect">
            <a:avLst/>
          </a:prstGeom>
          <a:noFill/>
        </p:spPr>
        <p:txBody>
          <a:bodyPr wrap="square" rtlCol="0">
            <a:spAutoFit/>
          </a:bodyPr>
          <a:lstStyle/>
          <a:p>
            <a:r>
              <a:rPr lang="fr-FR" sz="1100" b="1" dirty="0">
                <a:latin typeface="Montserrat"/>
                <a:cs typeface="Montserrat"/>
              </a:rPr>
              <a:t>CONTEXTE ET </a:t>
            </a:r>
          </a:p>
          <a:p>
            <a:r>
              <a:rPr lang="fr-FR" sz="1100" b="1" dirty="0">
                <a:latin typeface="Montserrat"/>
                <a:cs typeface="Montserrat"/>
              </a:rPr>
              <a:t>PROBLÉMATIQUE</a:t>
            </a:r>
          </a:p>
        </p:txBody>
      </p:sp>
      <p:sp>
        <p:nvSpPr>
          <p:cNvPr id="10" name="ZoneTexte 9">
            <a:extLst>
              <a:ext uri="{FF2B5EF4-FFF2-40B4-BE49-F238E27FC236}">
                <a16:creationId xmlns:a16="http://schemas.microsoft.com/office/drawing/2014/main" id="{978569B0-E812-8EE4-7BCE-FB7116F2858B}"/>
              </a:ext>
            </a:extLst>
          </p:cNvPr>
          <p:cNvSpPr txBox="1"/>
          <p:nvPr/>
        </p:nvSpPr>
        <p:spPr>
          <a:xfrm>
            <a:off x="4178084" y="501799"/>
            <a:ext cx="1921727" cy="261610"/>
          </a:xfrm>
          <a:prstGeom prst="rect">
            <a:avLst/>
          </a:prstGeom>
          <a:noFill/>
        </p:spPr>
        <p:txBody>
          <a:bodyPr wrap="square" rtlCol="0">
            <a:spAutoFit/>
          </a:bodyPr>
          <a:lstStyle/>
          <a:p>
            <a:r>
              <a:rPr lang="fr-FR" sz="1100" b="1" dirty="0">
                <a:solidFill>
                  <a:srgbClr val="F96A09"/>
                </a:solidFill>
                <a:latin typeface="Montserrat"/>
                <a:cs typeface="Montserrat"/>
              </a:rPr>
              <a:t>ÉTUDE CONCEPTUELLE</a:t>
            </a:r>
          </a:p>
        </p:txBody>
      </p:sp>
      <p:sp>
        <p:nvSpPr>
          <p:cNvPr id="13" name="ZoneTexte 12">
            <a:extLst>
              <a:ext uri="{FF2B5EF4-FFF2-40B4-BE49-F238E27FC236}">
                <a16:creationId xmlns:a16="http://schemas.microsoft.com/office/drawing/2014/main" id="{F59C1729-095D-560C-717C-B2DB6970A312}"/>
              </a:ext>
            </a:extLst>
          </p:cNvPr>
          <p:cNvSpPr txBox="1"/>
          <p:nvPr/>
        </p:nvSpPr>
        <p:spPr>
          <a:xfrm>
            <a:off x="6152599" y="425597"/>
            <a:ext cx="1595723"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fr-FR" sz="1100" b="1" dirty="0">
                <a:latin typeface="Montserrat"/>
                <a:cs typeface="Montserrat"/>
              </a:rPr>
              <a:t>PRÉSENTATION DE </a:t>
            </a:r>
          </a:p>
          <a:p>
            <a:r>
              <a:rPr lang="fr-FR" sz="1100" b="1" dirty="0">
                <a:latin typeface="Montserrat"/>
                <a:cs typeface="Montserrat"/>
              </a:rPr>
              <a:t>LA SOLUTION</a:t>
            </a:r>
          </a:p>
        </p:txBody>
      </p:sp>
      <p:sp>
        <p:nvSpPr>
          <p:cNvPr id="15" name="ZoneTexte 14">
            <a:extLst>
              <a:ext uri="{FF2B5EF4-FFF2-40B4-BE49-F238E27FC236}">
                <a16:creationId xmlns:a16="http://schemas.microsoft.com/office/drawing/2014/main" id="{E3B9DCD5-6124-7640-EA47-6AFB3ED13A8E}"/>
              </a:ext>
            </a:extLst>
          </p:cNvPr>
          <p:cNvSpPr txBox="1"/>
          <p:nvPr/>
        </p:nvSpPr>
        <p:spPr>
          <a:xfrm>
            <a:off x="7801110" y="458786"/>
            <a:ext cx="1860500" cy="430887"/>
          </a:xfrm>
          <a:prstGeom prst="rect">
            <a:avLst/>
          </a:prstGeom>
          <a:noFill/>
        </p:spPr>
        <p:txBody>
          <a:bodyPr wrap="square" rtlCol="0">
            <a:spAutoFit/>
          </a:bodyPr>
          <a:lstStyle/>
          <a:p>
            <a:r>
              <a:rPr lang="fr-FR" sz="1100" b="1" dirty="0">
                <a:latin typeface="Montserrat"/>
                <a:cs typeface="Montserrat"/>
              </a:rPr>
              <a:t>RÉSULTATS ET VALIDATION</a:t>
            </a:r>
          </a:p>
        </p:txBody>
      </p:sp>
      <p:sp>
        <p:nvSpPr>
          <p:cNvPr id="17" name="ZoneTexte 16">
            <a:extLst>
              <a:ext uri="{FF2B5EF4-FFF2-40B4-BE49-F238E27FC236}">
                <a16:creationId xmlns:a16="http://schemas.microsoft.com/office/drawing/2014/main" id="{D284DB53-38F0-23CC-7780-4AE474C1C4A6}"/>
              </a:ext>
            </a:extLst>
          </p:cNvPr>
          <p:cNvSpPr txBox="1"/>
          <p:nvPr/>
        </p:nvSpPr>
        <p:spPr>
          <a:xfrm>
            <a:off x="9716922" y="479710"/>
            <a:ext cx="2346335" cy="261610"/>
          </a:xfrm>
          <a:prstGeom prst="rect">
            <a:avLst/>
          </a:prstGeom>
          <a:noFill/>
        </p:spPr>
        <p:txBody>
          <a:bodyPr wrap="square" rtlCol="0">
            <a:spAutoFit/>
          </a:bodyPr>
          <a:lstStyle/>
          <a:p>
            <a:r>
              <a:rPr lang="fr-FR" sz="1100" b="1" dirty="0">
                <a:latin typeface="Montserrat"/>
                <a:cs typeface="Montserrat"/>
              </a:rPr>
              <a:t>LIMITES ET PERSPECTIVES</a:t>
            </a:r>
          </a:p>
        </p:txBody>
      </p:sp>
      <p:sp>
        <p:nvSpPr>
          <p:cNvPr id="4" name="Rectangle 3">
            <a:extLst>
              <a:ext uri="{FF2B5EF4-FFF2-40B4-BE49-F238E27FC236}">
                <a16:creationId xmlns:a16="http://schemas.microsoft.com/office/drawing/2014/main" id="{2DA5B3F9-91BB-A205-6FC1-A30AE4DF193D}"/>
              </a:ext>
            </a:extLst>
          </p:cNvPr>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9" name="ZoneTexte 28">
            <a:extLst>
              <a:ext uri="{FF2B5EF4-FFF2-40B4-BE49-F238E27FC236}">
                <a16:creationId xmlns:a16="http://schemas.microsoft.com/office/drawing/2014/main" id="{1C5AD09E-0265-B8E6-527A-975EA290A5E0}"/>
              </a:ext>
            </a:extLst>
          </p:cNvPr>
          <p:cNvSpPr txBox="1">
            <a:spLocks/>
          </p:cNvSpPr>
          <p:nvPr/>
        </p:nvSpPr>
        <p:spPr>
          <a:xfrm>
            <a:off x="627116" y="734512"/>
            <a:ext cx="1376915" cy="1446550"/>
          </a:xfrm>
          <a:prstGeom prst="rect">
            <a:avLst/>
          </a:prstGeom>
          <a:noFill/>
        </p:spPr>
        <p:txBody>
          <a:bodyPr wrap="square" rtlCol="0">
            <a:spAutoFit/>
          </a:bodyPr>
          <a:lstStyle/>
          <a:p>
            <a:r>
              <a:rPr lang="fr-FR" sz="8600" dirty="0">
                <a:solidFill>
                  <a:srgbClr val="F96A09"/>
                </a:solidFill>
                <a:latin typeface="Times New Roman" panose="02020603050405020304" pitchFamily="18" charset="0"/>
                <a:cs typeface="Times New Roman" panose="02020603050405020304" pitchFamily="18" charset="0"/>
              </a:rPr>
              <a:t>03</a:t>
            </a:r>
          </a:p>
        </p:txBody>
      </p:sp>
      <p:cxnSp>
        <p:nvCxnSpPr>
          <p:cNvPr id="31" name="Connecteur droit 30">
            <a:extLst>
              <a:ext uri="{FF2B5EF4-FFF2-40B4-BE49-F238E27FC236}">
                <a16:creationId xmlns:a16="http://schemas.microsoft.com/office/drawing/2014/main" id="{8C4D3856-890F-A3AC-C934-9743115F2346}"/>
              </a:ext>
            </a:extLst>
          </p:cNvPr>
          <p:cNvCxnSpPr>
            <a:cxnSpLocks/>
          </p:cNvCxnSpPr>
          <p:nvPr/>
        </p:nvCxnSpPr>
        <p:spPr>
          <a:xfrm>
            <a:off x="2007270" y="896620"/>
            <a:ext cx="0" cy="1117600"/>
          </a:xfrm>
          <a:prstGeom prst="line">
            <a:avLst/>
          </a:prstGeom>
          <a:ln w="28575">
            <a:solidFill>
              <a:srgbClr val="F96A09"/>
            </a:solidFill>
          </a:ln>
        </p:spPr>
        <p:style>
          <a:lnRef idx="1">
            <a:schemeClr val="accent1"/>
          </a:lnRef>
          <a:fillRef idx="0">
            <a:schemeClr val="accent1"/>
          </a:fillRef>
          <a:effectRef idx="0">
            <a:schemeClr val="accent1"/>
          </a:effectRef>
          <a:fontRef idx="minor">
            <a:schemeClr val="tx1"/>
          </a:fontRef>
        </p:style>
      </p:cxnSp>
      <p:sp>
        <p:nvSpPr>
          <p:cNvPr id="33" name="ZoneTexte 32">
            <a:extLst>
              <a:ext uri="{FF2B5EF4-FFF2-40B4-BE49-F238E27FC236}">
                <a16:creationId xmlns:a16="http://schemas.microsoft.com/office/drawing/2014/main" id="{DFA9F6E3-58BF-FA01-2DF8-8A365F7ABC5D}"/>
              </a:ext>
            </a:extLst>
          </p:cNvPr>
          <p:cNvSpPr txBox="1">
            <a:spLocks/>
          </p:cNvSpPr>
          <p:nvPr/>
        </p:nvSpPr>
        <p:spPr>
          <a:xfrm>
            <a:off x="2116519" y="1104068"/>
            <a:ext cx="5102679" cy="584775"/>
          </a:xfrm>
          <a:prstGeom prst="rect">
            <a:avLst/>
          </a:prstGeom>
          <a:noFill/>
        </p:spPr>
        <p:txBody>
          <a:bodyPr wrap="none" rtlCol="0">
            <a:spAutoFit/>
          </a:bodyPr>
          <a:lstStyle/>
          <a:p>
            <a:r>
              <a:rPr lang="fr-FR" sz="3200" b="1" dirty="0">
                <a:latin typeface="Times New Roman" panose="02020603050405020304" pitchFamily="18" charset="0"/>
                <a:cs typeface="Times New Roman" panose="02020603050405020304" pitchFamily="18" charset="0"/>
              </a:rPr>
              <a:t>ÉTUDE </a:t>
            </a:r>
            <a:r>
              <a:rPr lang="fr-FR" sz="3200" b="1" dirty="0">
                <a:solidFill>
                  <a:srgbClr val="F96A09"/>
                </a:solidFill>
                <a:latin typeface="Times New Roman" panose="02020603050405020304" pitchFamily="18" charset="0"/>
                <a:cs typeface="Times New Roman" panose="02020603050405020304" pitchFamily="18" charset="0"/>
              </a:rPr>
              <a:t>CONCEPTUELLE</a:t>
            </a:r>
          </a:p>
        </p:txBody>
      </p:sp>
      <p:pic>
        <p:nvPicPr>
          <p:cNvPr id="9" name="Image 4" descr=" ">
            <a:extLst>
              <a:ext uri="{FF2B5EF4-FFF2-40B4-BE49-F238E27FC236}">
                <a16:creationId xmlns:a16="http://schemas.microsoft.com/office/drawing/2014/main" id="{40414174-34FD-5965-91C6-A873C52713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02600" y="2451828"/>
            <a:ext cx="2836439" cy="2417719"/>
          </a:xfrm>
          <a:prstGeom prst="rect">
            <a:avLst/>
          </a:prstGeom>
        </p:spPr>
      </p:pic>
      <p:pic>
        <p:nvPicPr>
          <p:cNvPr id="12" name="Image 2" descr=" ">
            <a:extLst>
              <a:ext uri="{FF2B5EF4-FFF2-40B4-BE49-F238E27FC236}">
                <a16:creationId xmlns:a16="http://schemas.microsoft.com/office/drawing/2014/main" id="{5B1372F9-F453-71C2-CB94-9643AC757E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61718" y="2491535"/>
            <a:ext cx="2625361" cy="2127318"/>
          </a:xfrm>
          <a:prstGeom prst="rect">
            <a:avLst/>
          </a:prstGeom>
        </p:spPr>
      </p:pic>
      <p:pic>
        <p:nvPicPr>
          <p:cNvPr id="18" name="Image 17">
            <a:extLst>
              <a:ext uri="{FF2B5EF4-FFF2-40B4-BE49-F238E27FC236}">
                <a16:creationId xmlns:a16="http://schemas.microsoft.com/office/drawing/2014/main" id="{37F33801-26F7-C099-9063-B5FA89A7269C}"/>
              </a:ext>
            </a:extLst>
          </p:cNvPr>
          <p:cNvPicPr>
            <a:picLocks noChangeAspect="1"/>
          </p:cNvPicPr>
          <p:nvPr/>
        </p:nvPicPr>
        <p:blipFill>
          <a:blip r:embed="rId5"/>
          <a:stretch>
            <a:fillRect/>
          </a:stretch>
        </p:blipFill>
        <p:spPr>
          <a:xfrm>
            <a:off x="412782" y="1936427"/>
            <a:ext cx="3855470" cy="3618210"/>
          </a:xfrm>
          <a:prstGeom prst="rect">
            <a:avLst/>
          </a:prstGeom>
        </p:spPr>
      </p:pic>
      <p:sp>
        <p:nvSpPr>
          <p:cNvPr id="26" name="Rectangle : coins arrondis 25">
            <a:extLst>
              <a:ext uri="{FF2B5EF4-FFF2-40B4-BE49-F238E27FC236}">
                <a16:creationId xmlns:a16="http://schemas.microsoft.com/office/drawing/2014/main" id="{E6B36008-B0D5-EC91-AC40-F4E1A83AEC48}"/>
              </a:ext>
            </a:extLst>
          </p:cNvPr>
          <p:cNvSpPr/>
          <p:nvPr/>
        </p:nvSpPr>
        <p:spPr>
          <a:xfrm>
            <a:off x="1341986" y="5155699"/>
            <a:ext cx="2619420" cy="797876"/>
          </a:xfrm>
          <a:prstGeom prst="roundRect">
            <a:avLst/>
          </a:prstGeom>
          <a:solidFill>
            <a:srgbClr val="1629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Montserrat" panose="00000500000000000000" pitchFamily="2" charset="0"/>
                <a:cs typeface="Times New Roman" panose="02020603050405020304" pitchFamily="18" charset="0"/>
              </a:rPr>
              <a:t>Méthode de gestion de projet</a:t>
            </a:r>
          </a:p>
        </p:txBody>
      </p:sp>
      <p:sp>
        <p:nvSpPr>
          <p:cNvPr id="37" name="Rectangle : coins arrondis 36">
            <a:extLst>
              <a:ext uri="{FF2B5EF4-FFF2-40B4-BE49-F238E27FC236}">
                <a16:creationId xmlns:a16="http://schemas.microsoft.com/office/drawing/2014/main" id="{ACE0C0D4-8075-FBDE-1195-2A696D32BCB9}"/>
              </a:ext>
            </a:extLst>
          </p:cNvPr>
          <p:cNvSpPr/>
          <p:nvPr/>
        </p:nvSpPr>
        <p:spPr>
          <a:xfrm>
            <a:off x="5388948" y="5155699"/>
            <a:ext cx="5867461" cy="797876"/>
          </a:xfrm>
          <a:prstGeom prst="roundRect">
            <a:avLst/>
          </a:prstGeom>
          <a:solidFill>
            <a:srgbClr val="1629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latin typeface="Montserrat" panose="00000500000000000000" pitchFamily="2" charset="0"/>
              </a:rPr>
              <a:t>Méthode de conception et de modélisation</a:t>
            </a:r>
          </a:p>
        </p:txBody>
      </p:sp>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864DE6E7-0840-4193-B925-9668D142A4AD}" type="slidenum">
              <a:rPr lang="fr-FR" sz="1600" b="1" dirty="0">
                <a:solidFill>
                  <a:srgbClr val="FFFFFF"/>
                </a:solidFill>
                <a:latin typeface="Montserrat"/>
              </a:rPr>
              <a:t>9</a:t>
            </a:fld>
            <a:endParaRPr lang="fr-FR" sz="1600" b="1" dirty="0">
              <a:solidFill>
                <a:srgbClr val="FFFFFF"/>
              </a:solidFill>
              <a:latin typeface="Montserrat"/>
            </a:endParaRPr>
          </a:p>
        </p:txBody>
      </p:sp>
    </p:spTree>
    <p:extLst>
      <p:ext uri="{BB962C8B-B14F-4D97-AF65-F5344CB8AC3E}">
        <p14:creationId xmlns:p14="http://schemas.microsoft.com/office/powerpoint/2010/main" val="1755258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450"/>
                                        <p:tgtEl>
                                          <p:spTgt spid="29"/>
                                        </p:tgtEl>
                                      </p:cBhvr>
                                    </p:animEffect>
                                    <p:anim calcmode="lin" valueType="num">
                                      <p:cBhvr>
                                        <p:cTn id="8" dur="450" fill="hold"/>
                                        <p:tgtEl>
                                          <p:spTgt spid="29"/>
                                        </p:tgtEl>
                                        <p:attrNameLst>
                                          <p:attrName>ppt_x</p:attrName>
                                        </p:attrNameLst>
                                      </p:cBhvr>
                                      <p:tavLst>
                                        <p:tav tm="0">
                                          <p:val>
                                            <p:strVal val="#ppt_x"/>
                                          </p:val>
                                        </p:tav>
                                        <p:tav tm="100000">
                                          <p:val>
                                            <p:strVal val="#ppt_x"/>
                                          </p:val>
                                        </p:tav>
                                      </p:tavLst>
                                    </p:anim>
                                    <p:anim calcmode="lin" valueType="num">
                                      <p:cBhvr>
                                        <p:cTn id="9" dur="450" fill="hold"/>
                                        <p:tgtEl>
                                          <p:spTgt spid="29"/>
                                        </p:tgtEl>
                                        <p:attrNameLst>
                                          <p:attrName>ppt_y</p:attrName>
                                        </p:attrNameLst>
                                      </p:cBhvr>
                                      <p:tavLst>
                                        <p:tav tm="0">
                                          <p:val>
                                            <p:strVal val="#ppt_y+.03"/>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450"/>
                                        <p:tgtEl>
                                          <p:spTgt spid="31"/>
                                        </p:tgtEl>
                                      </p:cBhvr>
                                    </p:animEffect>
                                    <p:anim calcmode="lin" valueType="num">
                                      <p:cBhvr>
                                        <p:cTn id="13" dur="450" fill="hold"/>
                                        <p:tgtEl>
                                          <p:spTgt spid="31"/>
                                        </p:tgtEl>
                                        <p:attrNameLst>
                                          <p:attrName>ppt_x</p:attrName>
                                        </p:attrNameLst>
                                      </p:cBhvr>
                                      <p:tavLst>
                                        <p:tav tm="0">
                                          <p:val>
                                            <p:strVal val="#ppt_x"/>
                                          </p:val>
                                        </p:tav>
                                        <p:tav tm="100000">
                                          <p:val>
                                            <p:strVal val="#ppt_x"/>
                                          </p:val>
                                        </p:tav>
                                      </p:tavLst>
                                    </p:anim>
                                    <p:anim calcmode="lin" valueType="num">
                                      <p:cBhvr>
                                        <p:cTn id="14" dur="450" fill="hold"/>
                                        <p:tgtEl>
                                          <p:spTgt spid="31"/>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450"/>
                                        <p:tgtEl>
                                          <p:spTgt spid="33"/>
                                        </p:tgtEl>
                                      </p:cBhvr>
                                    </p:animEffect>
                                    <p:anim calcmode="lin" valueType="num">
                                      <p:cBhvr>
                                        <p:cTn id="18" dur="450" fill="hold"/>
                                        <p:tgtEl>
                                          <p:spTgt spid="33"/>
                                        </p:tgtEl>
                                        <p:attrNameLst>
                                          <p:attrName>ppt_x</p:attrName>
                                        </p:attrNameLst>
                                      </p:cBhvr>
                                      <p:tavLst>
                                        <p:tav tm="0">
                                          <p:val>
                                            <p:strVal val="#ppt_x"/>
                                          </p:val>
                                        </p:tav>
                                        <p:tav tm="100000">
                                          <p:val>
                                            <p:strVal val="#ppt_x"/>
                                          </p:val>
                                        </p:tav>
                                      </p:tavLst>
                                    </p:anim>
                                    <p:anim calcmode="lin" valueType="num">
                                      <p:cBhvr>
                                        <p:cTn id="19" dur="450" fill="hold"/>
                                        <p:tgtEl>
                                          <p:spTgt spid="33"/>
                                        </p:tgtEl>
                                        <p:attrNameLst>
                                          <p:attrName>ppt_y</p:attrName>
                                        </p:attrNameLst>
                                      </p:cBhvr>
                                      <p:tavLst>
                                        <p:tav tm="0">
                                          <p:val>
                                            <p:strVal val="#ppt_y+.03"/>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450"/>
                                        <p:tgtEl>
                                          <p:spTgt spid="18"/>
                                        </p:tgtEl>
                                      </p:cBhvr>
                                    </p:animEffect>
                                    <p:anim calcmode="lin" valueType="num">
                                      <p:cBhvr>
                                        <p:cTn id="25" dur="450" fill="hold"/>
                                        <p:tgtEl>
                                          <p:spTgt spid="18"/>
                                        </p:tgtEl>
                                        <p:attrNameLst>
                                          <p:attrName>ppt_x</p:attrName>
                                        </p:attrNameLst>
                                      </p:cBhvr>
                                      <p:tavLst>
                                        <p:tav tm="0">
                                          <p:val>
                                            <p:strVal val="#ppt_x"/>
                                          </p:val>
                                        </p:tav>
                                        <p:tav tm="100000">
                                          <p:val>
                                            <p:strVal val="#ppt_x"/>
                                          </p:val>
                                        </p:tav>
                                      </p:tavLst>
                                    </p:anim>
                                    <p:anim calcmode="lin" valueType="num">
                                      <p:cBhvr>
                                        <p:cTn id="26" dur="450" fill="hold"/>
                                        <p:tgtEl>
                                          <p:spTgt spid="18"/>
                                        </p:tgtEl>
                                        <p:attrNameLst>
                                          <p:attrName>ppt_y</p:attrName>
                                        </p:attrNameLst>
                                      </p:cBhvr>
                                      <p:tavLst>
                                        <p:tav tm="0">
                                          <p:val>
                                            <p:strVal val="#ppt_y+.03"/>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50"/>
                                        <p:tgtEl>
                                          <p:spTgt spid="26"/>
                                        </p:tgtEl>
                                      </p:cBhvr>
                                    </p:animEffect>
                                    <p:anim calcmode="lin" valueType="num">
                                      <p:cBhvr>
                                        <p:cTn id="30" dur="450" fill="hold"/>
                                        <p:tgtEl>
                                          <p:spTgt spid="26"/>
                                        </p:tgtEl>
                                        <p:attrNameLst>
                                          <p:attrName>ppt_x</p:attrName>
                                        </p:attrNameLst>
                                      </p:cBhvr>
                                      <p:tavLst>
                                        <p:tav tm="0">
                                          <p:val>
                                            <p:strVal val="#ppt_x"/>
                                          </p:val>
                                        </p:tav>
                                        <p:tav tm="100000">
                                          <p:val>
                                            <p:strVal val="#ppt_x"/>
                                          </p:val>
                                        </p:tav>
                                      </p:tavLst>
                                    </p:anim>
                                    <p:anim calcmode="lin" valueType="num">
                                      <p:cBhvr>
                                        <p:cTn id="31" dur="450" fill="hold"/>
                                        <p:tgtEl>
                                          <p:spTgt spid="26"/>
                                        </p:tgtEl>
                                        <p:attrNameLst>
                                          <p:attrName>ppt_y</p:attrName>
                                        </p:attrNameLst>
                                      </p:cBhvr>
                                      <p:tavLst>
                                        <p:tav tm="0">
                                          <p:val>
                                            <p:strVal val="#ppt_y+.03"/>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450"/>
                                        <p:tgtEl>
                                          <p:spTgt spid="9"/>
                                        </p:tgtEl>
                                      </p:cBhvr>
                                    </p:animEffect>
                                    <p:anim calcmode="lin" valueType="num">
                                      <p:cBhvr>
                                        <p:cTn id="37" dur="450" fill="hold"/>
                                        <p:tgtEl>
                                          <p:spTgt spid="9"/>
                                        </p:tgtEl>
                                        <p:attrNameLst>
                                          <p:attrName>ppt_x</p:attrName>
                                        </p:attrNameLst>
                                      </p:cBhvr>
                                      <p:tavLst>
                                        <p:tav tm="0">
                                          <p:val>
                                            <p:strVal val="#ppt_x"/>
                                          </p:val>
                                        </p:tav>
                                        <p:tav tm="100000">
                                          <p:val>
                                            <p:strVal val="#ppt_x"/>
                                          </p:val>
                                        </p:tav>
                                      </p:tavLst>
                                    </p:anim>
                                    <p:anim calcmode="lin" valueType="num">
                                      <p:cBhvr>
                                        <p:cTn id="38" dur="450" fill="hold"/>
                                        <p:tgtEl>
                                          <p:spTgt spid="9"/>
                                        </p:tgtEl>
                                        <p:attrNameLst>
                                          <p:attrName>ppt_y</p:attrName>
                                        </p:attrNameLst>
                                      </p:cBhvr>
                                      <p:tavLst>
                                        <p:tav tm="0">
                                          <p:val>
                                            <p:strVal val="#ppt_y+.03"/>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450"/>
                                        <p:tgtEl>
                                          <p:spTgt spid="12"/>
                                        </p:tgtEl>
                                      </p:cBhvr>
                                    </p:animEffect>
                                    <p:anim calcmode="lin" valueType="num">
                                      <p:cBhvr>
                                        <p:cTn id="42" dur="450" fill="hold"/>
                                        <p:tgtEl>
                                          <p:spTgt spid="12"/>
                                        </p:tgtEl>
                                        <p:attrNameLst>
                                          <p:attrName>ppt_x</p:attrName>
                                        </p:attrNameLst>
                                      </p:cBhvr>
                                      <p:tavLst>
                                        <p:tav tm="0">
                                          <p:val>
                                            <p:strVal val="#ppt_x"/>
                                          </p:val>
                                        </p:tav>
                                        <p:tav tm="100000">
                                          <p:val>
                                            <p:strVal val="#ppt_x"/>
                                          </p:val>
                                        </p:tav>
                                      </p:tavLst>
                                    </p:anim>
                                    <p:anim calcmode="lin" valueType="num">
                                      <p:cBhvr>
                                        <p:cTn id="43" dur="450" fill="hold"/>
                                        <p:tgtEl>
                                          <p:spTgt spid="12"/>
                                        </p:tgtEl>
                                        <p:attrNameLst>
                                          <p:attrName>ppt_y</p:attrName>
                                        </p:attrNameLst>
                                      </p:cBhvr>
                                      <p:tavLst>
                                        <p:tav tm="0">
                                          <p:val>
                                            <p:strVal val="#ppt_y+.03"/>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fade">
                                      <p:cBhvr>
                                        <p:cTn id="46" dur="450"/>
                                        <p:tgtEl>
                                          <p:spTgt spid="37"/>
                                        </p:tgtEl>
                                      </p:cBhvr>
                                    </p:animEffect>
                                    <p:anim calcmode="lin" valueType="num">
                                      <p:cBhvr>
                                        <p:cTn id="47" dur="450" fill="hold"/>
                                        <p:tgtEl>
                                          <p:spTgt spid="37"/>
                                        </p:tgtEl>
                                        <p:attrNameLst>
                                          <p:attrName>ppt_x</p:attrName>
                                        </p:attrNameLst>
                                      </p:cBhvr>
                                      <p:tavLst>
                                        <p:tav tm="0">
                                          <p:val>
                                            <p:strVal val="#ppt_x"/>
                                          </p:val>
                                        </p:tav>
                                        <p:tav tm="100000">
                                          <p:val>
                                            <p:strVal val="#ppt_x"/>
                                          </p:val>
                                        </p:tav>
                                      </p:tavLst>
                                    </p:anim>
                                    <p:anim calcmode="lin" valueType="num">
                                      <p:cBhvr>
                                        <p:cTn id="48" dur="450" fill="hold"/>
                                        <p:tgtEl>
                                          <p:spTgt spid="37"/>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3" grpId="0" animBg="1"/>
      <p:bldP spid="26" grpId="0" animBg="1"/>
      <p:bldP spid="3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1FCEF-442A-17D4-ABF1-D9880927D7B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6B699BF-2A6D-A033-127D-70D0CB8C2EC6}"/>
              </a:ext>
            </a:extLst>
          </p:cNvPr>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469367D0-5007-44B6-4DC2-E76BD0DACBF1}"/>
              </a:ext>
            </a:extLst>
          </p:cNvPr>
          <p:cNvSpPr/>
          <p:nvPr/>
        </p:nvSpPr>
        <p:spPr>
          <a:xfrm>
            <a:off x="1435099"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1</a:t>
            </a:r>
          </a:p>
        </p:txBody>
      </p:sp>
      <p:sp>
        <p:nvSpPr>
          <p:cNvPr id="39" name="Ellipse 38">
            <a:extLst>
              <a:ext uri="{FF2B5EF4-FFF2-40B4-BE49-F238E27FC236}">
                <a16:creationId xmlns:a16="http://schemas.microsoft.com/office/drawing/2014/main" id="{A7CFD92B-9817-1899-6382-02F1F25EEB90}"/>
              </a:ext>
            </a:extLst>
          </p:cNvPr>
          <p:cNvSpPr/>
          <p:nvPr/>
        </p:nvSpPr>
        <p:spPr>
          <a:xfrm>
            <a:off x="3276885"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2</a:t>
            </a:r>
          </a:p>
        </p:txBody>
      </p:sp>
      <p:sp>
        <p:nvSpPr>
          <p:cNvPr id="41" name="Ellipse 40">
            <a:extLst>
              <a:ext uri="{FF2B5EF4-FFF2-40B4-BE49-F238E27FC236}">
                <a16:creationId xmlns:a16="http://schemas.microsoft.com/office/drawing/2014/main" id="{A3783100-3BCC-C9A4-B1DC-2838419BBFBA}"/>
              </a:ext>
            </a:extLst>
          </p:cNvPr>
          <p:cNvSpPr/>
          <p:nvPr/>
        </p:nvSpPr>
        <p:spPr>
          <a:xfrm>
            <a:off x="5118671" y="205023"/>
            <a:ext cx="246063" cy="253765"/>
          </a:xfrm>
          <a:prstGeom prst="ellipse">
            <a:avLst/>
          </a:prstGeom>
          <a:noFill/>
          <a:ln>
            <a:solidFill>
              <a:srgbClr val="F96A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F96A09"/>
                </a:solidFill>
              </a:rPr>
              <a:t>3</a:t>
            </a:r>
          </a:p>
        </p:txBody>
      </p:sp>
      <p:sp>
        <p:nvSpPr>
          <p:cNvPr id="43" name="Ellipse 42">
            <a:extLst>
              <a:ext uri="{FF2B5EF4-FFF2-40B4-BE49-F238E27FC236}">
                <a16:creationId xmlns:a16="http://schemas.microsoft.com/office/drawing/2014/main" id="{E271BB70-9DE3-AD75-8677-A6542A016A41}"/>
              </a:ext>
            </a:extLst>
          </p:cNvPr>
          <p:cNvSpPr/>
          <p:nvPr/>
        </p:nvSpPr>
        <p:spPr>
          <a:xfrm>
            <a:off x="696045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4</a:t>
            </a:r>
          </a:p>
        </p:txBody>
      </p:sp>
      <p:sp>
        <p:nvSpPr>
          <p:cNvPr id="45" name="Ellipse 44">
            <a:extLst>
              <a:ext uri="{FF2B5EF4-FFF2-40B4-BE49-F238E27FC236}">
                <a16:creationId xmlns:a16="http://schemas.microsoft.com/office/drawing/2014/main" id="{FD834C2F-D885-4196-21E5-18F88AE06868}"/>
              </a:ext>
            </a:extLst>
          </p:cNvPr>
          <p:cNvSpPr/>
          <p:nvPr/>
        </p:nvSpPr>
        <p:spPr>
          <a:xfrm>
            <a:off x="8802243"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5</a:t>
            </a:r>
          </a:p>
        </p:txBody>
      </p:sp>
      <p:sp>
        <p:nvSpPr>
          <p:cNvPr id="47" name="Ellipse 46">
            <a:extLst>
              <a:ext uri="{FF2B5EF4-FFF2-40B4-BE49-F238E27FC236}">
                <a16:creationId xmlns:a16="http://schemas.microsoft.com/office/drawing/2014/main" id="{BF1FD614-FF12-990A-DAD7-86C68C8EE1A7}"/>
              </a:ext>
            </a:extLst>
          </p:cNvPr>
          <p:cNvSpPr/>
          <p:nvPr/>
        </p:nvSpPr>
        <p:spPr>
          <a:xfrm>
            <a:off x="1064402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6</a:t>
            </a:r>
          </a:p>
        </p:txBody>
      </p:sp>
      <p:cxnSp>
        <p:nvCxnSpPr>
          <p:cNvPr id="49" name="Connecteur droit 48">
            <a:extLst>
              <a:ext uri="{FF2B5EF4-FFF2-40B4-BE49-F238E27FC236}">
                <a16:creationId xmlns:a16="http://schemas.microsoft.com/office/drawing/2014/main" id="{827D097D-2071-ACB9-16BA-2F7C7F9E373A}"/>
              </a:ext>
            </a:extLst>
          </p:cNvPr>
          <p:cNvCxnSpPr>
            <a:endCxn id="25" idx="2"/>
          </p:cNvCxnSpPr>
          <p:nvPr/>
        </p:nvCxnSpPr>
        <p:spPr>
          <a:xfrm flipV="1">
            <a:off x="387416" y="331905"/>
            <a:ext cx="10476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D6003128-4BB1-603D-2B9C-2B21C1F43467}"/>
              </a:ext>
            </a:extLst>
          </p:cNvPr>
          <p:cNvCxnSpPr>
            <a:stCxn id="25" idx="6"/>
            <a:endCxn id="39" idx="2"/>
          </p:cNvCxnSpPr>
          <p:nvPr/>
        </p:nvCxnSpPr>
        <p:spPr>
          <a:xfrm flipV="1">
            <a:off x="1681162"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9129D3AD-50B4-2FB7-0559-F24792C1DC23}"/>
              </a:ext>
            </a:extLst>
          </p:cNvPr>
          <p:cNvCxnSpPr>
            <a:stCxn id="39" idx="6"/>
            <a:endCxn id="41" idx="2"/>
          </p:cNvCxnSpPr>
          <p:nvPr/>
        </p:nvCxnSpPr>
        <p:spPr>
          <a:xfrm>
            <a:off x="3522948"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5" name="Connecteur droit 54">
            <a:extLst>
              <a:ext uri="{FF2B5EF4-FFF2-40B4-BE49-F238E27FC236}">
                <a16:creationId xmlns:a16="http://schemas.microsoft.com/office/drawing/2014/main" id="{951F67FF-0BFF-F5D5-56E2-FAC78BF4AE02}"/>
              </a:ext>
            </a:extLst>
          </p:cNvPr>
          <p:cNvCxnSpPr>
            <a:stCxn id="41" idx="6"/>
            <a:endCxn id="43" idx="2"/>
          </p:cNvCxnSpPr>
          <p:nvPr/>
        </p:nvCxnSpPr>
        <p:spPr>
          <a:xfrm>
            <a:off x="5364734"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7" name="Connecteur droit 56">
            <a:extLst>
              <a:ext uri="{FF2B5EF4-FFF2-40B4-BE49-F238E27FC236}">
                <a16:creationId xmlns:a16="http://schemas.microsoft.com/office/drawing/2014/main" id="{94824706-4F79-D323-8DAD-D206034B66B7}"/>
              </a:ext>
            </a:extLst>
          </p:cNvPr>
          <p:cNvCxnSpPr>
            <a:stCxn id="43" idx="6"/>
            <a:endCxn id="45" idx="2"/>
          </p:cNvCxnSpPr>
          <p:nvPr/>
        </p:nvCxnSpPr>
        <p:spPr>
          <a:xfrm>
            <a:off x="7206520"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161631E6-7DD4-55D8-A765-7727EF449CD8}"/>
              </a:ext>
            </a:extLst>
          </p:cNvPr>
          <p:cNvCxnSpPr>
            <a:stCxn id="45" idx="6"/>
            <a:endCxn id="47" idx="2"/>
          </p:cNvCxnSpPr>
          <p:nvPr/>
        </p:nvCxnSpPr>
        <p:spPr>
          <a:xfrm flipV="1">
            <a:off x="9048306" y="331905"/>
            <a:ext cx="15957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365E2FD6-8CFD-2C4D-1DF9-22AA97EA6B45}"/>
              </a:ext>
            </a:extLst>
          </p:cNvPr>
          <p:cNvCxnSpPr>
            <a:stCxn id="47" idx="6"/>
          </p:cNvCxnSpPr>
          <p:nvPr/>
        </p:nvCxnSpPr>
        <p:spPr>
          <a:xfrm>
            <a:off x="10890090" y="331905"/>
            <a:ext cx="130191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2BD6718C-A540-DD4F-1B7D-E9AE40A35F35}"/>
              </a:ext>
            </a:extLst>
          </p:cNvPr>
          <p:cNvSpPr txBox="1"/>
          <p:nvPr/>
        </p:nvSpPr>
        <p:spPr>
          <a:xfrm>
            <a:off x="624823" y="479710"/>
            <a:ext cx="1965977" cy="600164"/>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a:t>
            </a:r>
            <a:r>
              <a:rPr lang="fr-FR" sz="1100" b="1" dirty="0">
                <a:latin typeface="Montserrat"/>
              </a:rPr>
              <a:t> </a:t>
            </a:r>
            <a:r>
              <a:rPr lang="fr-FR" sz="1100" b="1" dirty="0">
                <a:latin typeface="Montserrat"/>
                <a:cs typeface="Montserrat"/>
              </a:rPr>
              <a:t>STRUCTURE D’ACCUEIL</a:t>
            </a:r>
          </a:p>
        </p:txBody>
      </p:sp>
      <p:sp>
        <p:nvSpPr>
          <p:cNvPr id="8" name="ZoneTexte 7">
            <a:extLst>
              <a:ext uri="{FF2B5EF4-FFF2-40B4-BE49-F238E27FC236}">
                <a16:creationId xmlns:a16="http://schemas.microsoft.com/office/drawing/2014/main" id="{69A0DE04-9BA6-4A9D-B9AD-963A55F043CA}"/>
              </a:ext>
            </a:extLst>
          </p:cNvPr>
          <p:cNvSpPr txBox="1"/>
          <p:nvPr/>
        </p:nvSpPr>
        <p:spPr>
          <a:xfrm>
            <a:off x="2643588" y="417161"/>
            <a:ext cx="1481708" cy="430887"/>
          </a:xfrm>
          <a:prstGeom prst="rect">
            <a:avLst/>
          </a:prstGeom>
          <a:noFill/>
        </p:spPr>
        <p:txBody>
          <a:bodyPr wrap="square" rtlCol="0">
            <a:spAutoFit/>
          </a:bodyPr>
          <a:lstStyle/>
          <a:p>
            <a:r>
              <a:rPr lang="fr-FR" sz="1100" b="1" dirty="0">
                <a:latin typeface="Montserrat"/>
                <a:cs typeface="Montserrat"/>
              </a:rPr>
              <a:t>CONTEXTE ET </a:t>
            </a:r>
          </a:p>
          <a:p>
            <a:r>
              <a:rPr lang="fr-FR" sz="1100" b="1" dirty="0">
                <a:latin typeface="Montserrat"/>
                <a:cs typeface="Montserrat"/>
              </a:rPr>
              <a:t>PROBLÉMATIQUE</a:t>
            </a:r>
          </a:p>
        </p:txBody>
      </p:sp>
      <p:sp>
        <p:nvSpPr>
          <p:cNvPr id="10" name="ZoneTexte 9">
            <a:extLst>
              <a:ext uri="{FF2B5EF4-FFF2-40B4-BE49-F238E27FC236}">
                <a16:creationId xmlns:a16="http://schemas.microsoft.com/office/drawing/2014/main" id="{18331F1D-C2CD-0436-8BA1-EB86DD48F927}"/>
              </a:ext>
            </a:extLst>
          </p:cNvPr>
          <p:cNvSpPr txBox="1"/>
          <p:nvPr/>
        </p:nvSpPr>
        <p:spPr>
          <a:xfrm>
            <a:off x="4178084" y="501799"/>
            <a:ext cx="1921727" cy="261610"/>
          </a:xfrm>
          <a:prstGeom prst="rect">
            <a:avLst/>
          </a:prstGeom>
          <a:noFill/>
        </p:spPr>
        <p:txBody>
          <a:bodyPr wrap="square" rtlCol="0">
            <a:spAutoFit/>
          </a:bodyPr>
          <a:lstStyle/>
          <a:p>
            <a:r>
              <a:rPr lang="fr-FR" sz="1100" b="1" dirty="0">
                <a:solidFill>
                  <a:srgbClr val="F96A09"/>
                </a:solidFill>
                <a:latin typeface="Montserrat"/>
                <a:cs typeface="Montserrat"/>
              </a:rPr>
              <a:t>ÉTUDE CONCEPTUELLE</a:t>
            </a:r>
          </a:p>
        </p:txBody>
      </p:sp>
      <p:sp>
        <p:nvSpPr>
          <p:cNvPr id="13" name="ZoneTexte 12">
            <a:extLst>
              <a:ext uri="{FF2B5EF4-FFF2-40B4-BE49-F238E27FC236}">
                <a16:creationId xmlns:a16="http://schemas.microsoft.com/office/drawing/2014/main" id="{F88F246C-BFDE-058A-F000-7BF7D20E60F7}"/>
              </a:ext>
            </a:extLst>
          </p:cNvPr>
          <p:cNvSpPr txBox="1"/>
          <p:nvPr/>
        </p:nvSpPr>
        <p:spPr>
          <a:xfrm>
            <a:off x="6152599" y="425597"/>
            <a:ext cx="1595723"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fr-FR" sz="1100" b="1" dirty="0">
                <a:latin typeface="Montserrat"/>
                <a:cs typeface="Montserrat"/>
              </a:rPr>
              <a:t>PRÉSENTATION DE </a:t>
            </a:r>
          </a:p>
          <a:p>
            <a:r>
              <a:rPr lang="fr-FR" sz="1100" b="1" dirty="0">
                <a:latin typeface="Montserrat"/>
                <a:cs typeface="Montserrat"/>
              </a:rPr>
              <a:t>LA SOLUTION</a:t>
            </a:r>
          </a:p>
        </p:txBody>
      </p:sp>
      <p:sp>
        <p:nvSpPr>
          <p:cNvPr id="15" name="ZoneTexte 14">
            <a:extLst>
              <a:ext uri="{FF2B5EF4-FFF2-40B4-BE49-F238E27FC236}">
                <a16:creationId xmlns:a16="http://schemas.microsoft.com/office/drawing/2014/main" id="{08225219-1A1B-46F3-23F1-E9EE833355C9}"/>
              </a:ext>
            </a:extLst>
          </p:cNvPr>
          <p:cNvSpPr txBox="1"/>
          <p:nvPr/>
        </p:nvSpPr>
        <p:spPr>
          <a:xfrm>
            <a:off x="7801110" y="458786"/>
            <a:ext cx="1860500" cy="430887"/>
          </a:xfrm>
          <a:prstGeom prst="rect">
            <a:avLst/>
          </a:prstGeom>
          <a:noFill/>
        </p:spPr>
        <p:txBody>
          <a:bodyPr wrap="square" rtlCol="0">
            <a:spAutoFit/>
          </a:bodyPr>
          <a:lstStyle/>
          <a:p>
            <a:r>
              <a:rPr lang="fr-FR" sz="1100" b="1" dirty="0">
                <a:latin typeface="Montserrat"/>
                <a:cs typeface="Montserrat"/>
              </a:rPr>
              <a:t>RÉSULTATS ET VALIDATION</a:t>
            </a:r>
          </a:p>
        </p:txBody>
      </p:sp>
      <p:sp>
        <p:nvSpPr>
          <p:cNvPr id="17" name="ZoneTexte 16">
            <a:extLst>
              <a:ext uri="{FF2B5EF4-FFF2-40B4-BE49-F238E27FC236}">
                <a16:creationId xmlns:a16="http://schemas.microsoft.com/office/drawing/2014/main" id="{94667155-492C-5732-B600-6ED10E86772C}"/>
              </a:ext>
            </a:extLst>
          </p:cNvPr>
          <p:cNvSpPr txBox="1"/>
          <p:nvPr/>
        </p:nvSpPr>
        <p:spPr>
          <a:xfrm>
            <a:off x="9716922" y="479710"/>
            <a:ext cx="2346335" cy="261610"/>
          </a:xfrm>
          <a:prstGeom prst="rect">
            <a:avLst/>
          </a:prstGeom>
          <a:noFill/>
        </p:spPr>
        <p:txBody>
          <a:bodyPr wrap="square" rtlCol="0">
            <a:spAutoFit/>
          </a:bodyPr>
          <a:lstStyle/>
          <a:p>
            <a:r>
              <a:rPr lang="fr-FR" sz="1100" b="1" dirty="0">
                <a:latin typeface="Montserrat"/>
                <a:cs typeface="Montserrat"/>
              </a:rPr>
              <a:t>LIMITES ET PERSPECTIVES</a:t>
            </a:r>
          </a:p>
        </p:txBody>
      </p:sp>
      <p:sp>
        <p:nvSpPr>
          <p:cNvPr id="4" name="Rectangle 3">
            <a:extLst>
              <a:ext uri="{FF2B5EF4-FFF2-40B4-BE49-F238E27FC236}">
                <a16:creationId xmlns:a16="http://schemas.microsoft.com/office/drawing/2014/main" id="{BE429ED6-4E0C-B2BB-0467-0B3CF5F2E9A0}"/>
              </a:ext>
            </a:extLst>
          </p:cNvPr>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001" name="ArchTitle"/>
          <p:cNvSpPr txBox="1"/>
          <p:nvPr/>
        </p:nvSpPr>
        <p:spPr>
          <a:xfrm>
            <a:off x="905256" y="1115568"/>
            <a:ext cx="8229600" cy="438912"/>
          </a:xfrm>
          <a:prstGeom prst="rect">
            <a:avLst/>
          </a:prstGeom>
          <a:noFill/>
          <a:ln>
            <a:noFill/>
          </a:ln>
        </p:spPr>
        <p:txBody>
          <a:bodyPr wrap="square" lIns="0" tIns="0" rIns="0" bIns="0" rtlCol="0" anchor="t">
            <a:noAutofit/>
          </a:bodyPr>
          <a:lstStyle/>
          <a:p>
            <a:pPr algn="l">
              <a:spcBef>
                <a:spcPts val="0"/>
              </a:spcBef>
              <a:spcAft>
                <a:spcPts val="0"/>
              </a:spcAft>
              <a:buNone/>
            </a:pPr>
            <a:r>
              <a:rPr lang="fr-FR" sz="2200" b="1" spc="100" dirty="0">
                <a:solidFill>
                  <a:srgbClr val="1F1B18"/>
                </a:solidFill>
                <a:latin typeface="Montserrat"/>
                <a:cs typeface="Montserrat"/>
              </a:rPr>
              <a:t>ARCHITECTURE DE L’AGENT</a:t>
            </a:r>
          </a:p>
        </p:txBody>
      </p:sp>
      <p:sp>
        <p:nvSpPr>
          <p:cNvPr id="3002" name="UserCard"/>
          <p:cNvSpPr/>
          <p:nvPr/>
        </p:nvSpPr>
        <p:spPr>
          <a:xfrm>
            <a:off x="905256" y="2103120"/>
            <a:ext cx="1572768" cy="2286000"/>
          </a:xfrm>
          <a:prstGeom prst="roundRect">
            <a:avLst>
              <a:gd name="adj" fmla="val 10000"/>
            </a:avLst>
          </a:prstGeom>
          <a:solidFill>
            <a:srgbClr val="EDF0F5"/>
          </a:solidFill>
          <a:ln>
            <a:noFill/>
          </a:ln>
          <a:effectLst>
            <a:outerShdw blurRad="101600" dist="25400" dir="5400000" algn="t" rotWithShape="0">
              <a:srgbClr val="16294A">
                <a:alpha val="16000"/>
              </a:srgbClr>
            </a:outerShdw>
          </a:effectLst>
        </p:spPr>
        <p:txBody>
          <a:bodyPr/>
          <a:lstStyle/>
          <a:p>
            <a:endParaRPr lang="fr-FR"/>
          </a:p>
        </p:txBody>
      </p:sp>
      <p:sp>
        <p:nvSpPr>
          <p:cNvPr id="3003" name="UserIconBg"/>
          <p:cNvSpPr/>
          <p:nvPr/>
        </p:nvSpPr>
        <p:spPr>
          <a:xfrm>
            <a:off x="1280160" y="2286000"/>
            <a:ext cx="822960" cy="822960"/>
          </a:xfrm>
          <a:prstGeom prst="ellipse">
            <a:avLst/>
          </a:prstGeom>
          <a:solidFill>
            <a:srgbClr val="FFFFFF"/>
          </a:solidFill>
          <a:ln>
            <a:noFill/>
          </a:ln>
        </p:spPr>
        <p:txBody>
          <a:bodyPr/>
          <a:lstStyle/>
          <a:p>
            <a:endParaRPr lang="fr-FR"/>
          </a:p>
        </p:txBody>
      </p:sp>
      <p:pic>
        <p:nvPicPr>
          <p:cNvPr id="28" name="Image 0" descr="preencoded.png">
            <a:extLst>
              <a:ext uri="{FF2B5EF4-FFF2-40B4-BE49-F238E27FC236}">
                <a16:creationId xmlns:a16="http://schemas.microsoft.com/office/drawing/2014/main" id="{98FEB06D-1C00-0DA7-03BF-CB239FFBEC83}"/>
              </a:ext>
            </a:extLst>
          </p:cNvPr>
          <p:cNvPicPr>
            <a:picLocks noChangeAspect="1"/>
          </p:cNvPicPr>
          <p:nvPr/>
        </p:nvPicPr>
        <p:blipFill>
          <a:blip r:embed="rId3"/>
          <a:stretch>
            <a:fillRect/>
          </a:stretch>
        </p:blipFill>
        <p:spPr>
          <a:xfrm>
            <a:off x="1463040" y="2468880"/>
            <a:ext cx="457200" cy="457200"/>
          </a:xfrm>
          <a:prstGeom prst="rect">
            <a:avLst/>
          </a:prstGeom>
        </p:spPr>
      </p:pic>
      <p:sp>
        <p:nvSpPr>
          <p:cNvPr id="3004" name="UserTitle"/>
          <p:cNvSpPr txBox="1"/>
          <p:nvPr/>
        </p:nvSpPr>
        <p:spPr>
          <a:xfrm>
            <a:off x="905256" y="3246120"/>
            <a:ext cx="1572768" cy="310896"/>
          </a:xfrm>
          <a:prstGeom prst="rect">
            <a:avLst/>
          </a:prstGeom>
          <a:noFill/>
          <a:ln>
            <a:noFill/>
          </a:ln>
        </p:spPr>
        <p:txBody>
          <a:bodyPr wrap="square" lIns="0" tIns="0" rIns="0" bIns="0" rtlCol="0" anchor="t">
            <a:noAutofit/>
          </a:bodyPr>
          <a:lstStyle/>
          <a:p>
            <a:pPr algn="ctr">
              <a:spcBef>
                <a:spcPts val="0"/>
              </a:spcBef>
              <a:spcAft>
                <a:spcPts val="0"/>
              </a:spcAft>
              <a:buNone/>
            </a:pPr>
            <a:r>
              <a:rPr lang="fr-FR" sz="1300" b="1" dirty="0">
                <a:solidFill>
                  <a:srgbClr val="1F1B18"/>
                </a:solidFill>
                <a:latin typeface="Montserrat"/>
                <a:cs typeface="Montserrat"/>
              </a:rPr>
              <a:t>UTILISATEUR</a:t>
            </a:r>
          </a:p>
        </p:txBody>
      </p:sp>
      <p:sp>
        <p:nvSpPr>
          <p:cNvPr id="3005" name="UserDesc"/>
          <p:cNvSpPr txBox="1"/>
          <p:nvPr/>
        </p:nvSpPr>
        <p:spPr>
          <a:xfrm>
            <a:off x="978408" y="3584448"/>
            <a:ext cx="1426464" cy="640080"/>
          </a:xfrm>
          <a:prstGeom prst="rect">
            <a:avLst/>
          </a:prstGeom>
          <a:noFill/>
          <a:ln>
            <a:noFill/>
          </a:ln>
        </p:spPr>
        <p:txBody>
          <a:bodyPr wrap="square" lIns="0" tIns="0" rIns="0" bIns="0" rtlCol="0" anchor="t">
            <a:noAutofit/>
          </a:bodyPr>
          <a:lstStyle/>
          <a:p>
            <a:pPr algn="ctr">
              <a:spcBef>
                <a:spcPts val="0"/>
              </a:spcBef>
              <a:spcAft>
                <a:spcPts val="0"/>
              </a:spcAft>
              <a:buNone/>
            </a:pPr>
            <a:r>
              <a:rPr lang="fr-FR" sz="1300" dirty="0">
                <a:solidFill>
                  <a:srgbClr val="5A5550"/>
                </a:solidFill>
                <a:latin typeface="Montserrat"/>
                <a:cs typeface="Montserrat"/>
              </a:rPr>
              <a:t>Exprime un besoin</a:t>
            </a:r>
          </a:p>
        </p:txBody>
      </p:sp>
      <p:sp>
        <p:nvSpPr>
          <p:cNvPr id="3006" name="ReqArrow"/>
          <p:cNvSpPr/>
          <p:nvPr/>
        </p:nvSpPr>
        <p:spPr>
          <a:xfrm>
            <a:off x="2560320" y="2926080"/>
            <a:ext cx="658368" cy="0"/>
          </a:xfrm>
          <a:prstGeom prst="line">
            <a:avLst/>
          </a:prstGeom>
          <a:noFill/>
          <a:ln w="31750">
            <a:solidFill>
              <a:srgbClr val="16294A"/>
            </a:solidFill>
            <a:tailEnd type="triangle" w="med" len="med"/>
          </a:ln>
        </p:spPr>
        <p:txBody>
          <a:bodyPr/>
          <a:lstStyle/>
          <a:p>
            <a:endParaRPr lang="fr-FR"/>
          </a:p>
        </p:txBody>
      </p:sp>
      <p:sp>
        <p:nvSpPr>
          <p:cNvPr id="3007" name="ReqLbl"/>
          <p:cNvSpPr txBox="1"/>
          <p:nvPr/>
        </p:nvSpPr>
        <p:spPr>
          <a:xfrm>
            <a:off x="2478024" y="2615184"/>
            <a:ext cx="822960" cy="256032"/>
          </a:xfrm>
          <a:prstGeom prst="rect">
            <a:avLst/>
          </a:prstGeom>
          <a:noFill/>
          <a:ln>
            <a:noFill/>
          </a:ln>
        </p:spPr>
        <p:txBody>
          <a:bodyPr wrap="square" lIns="0" tIns="0" rIns="0" bIns="0" rtlCol="0" anchor="t">
            <a:noAutofit/>
          </a:bodyPr>
          <a:lstStyle/>
          <a:p>
            <a:pPr algn="ctr">
              <a:spcBef>
                <a:spcPts val="0"/>
              </a:spcBef>
              <a:spcAft>
                <a:spcPts val="0"/>
              </a:spcAft>
              <a:buNone/>
            </a:pPr>
            <a:r>
              <a:rPr lang="fr-FR" sz="1200" dirty="0">
                <a:solidFill>
                  <a:srgbClr val="5A5550"/>
                </a:solidFill>
                <a:latin typeface="Montserrat"/>
                <a:cs typeface="Montserrat"/>
              </a:rPr>
              <a:t>requête</a:t>
            </a:r>
          </a:p>
        </p:txBody>
      </p:sp>
      <p:sp>
        <p:nvSpPr>
          <p:cNvPr id="3008" name="RespArrow"/>
          <p:cNvSpPr/>
          <p:nvPr/>
        </p:nvSpPr>
        <p:spPr>
          <a:xfrm>
            <a:off x="2560320" y="3657600"/>
            <a:ext cx="658368" cy="0"/>
          </a:xfrm>
          <a:prstGeom prst="line">
            <a:avLst/>
          </a:prstGeom>
          <a:noFill/>
          <a:ln w="31750">
            <a:solidFill>
              <a:srgbClr val="F96A09"/>
            </a:solidFill>
            <a:headEnd type="triangle" w="med" len="med"/>
          </a:ln>
        </p:spPr>
        <p:txBody>
          <a:bodyPr/>
          <a:lstStyle/>
          <a:p>
            <a:endParaRPr lang="fr-FR"/>
          </a:p>
        </p:txBody>
      </p:sp>
      <p:sp>
        <p:nvSpPr>
          <p:cNvPr id="3009" name="RespLbl"/>
          <p:cNvSpPr txBox="1"/>
          <p:nvPr/>
        </p:nvSpPr>
        <p:spPr>
          <a:xfrm>
            <a:off x="2478024" y="3712464"/>
            <a:ext cx="822960" cy="256032"/>
          </a:xfrm>
          <a:prstGeom prst="rect">
            <a:avLst/>
          </a:prstGeom>
          <a:noFill/>
          <a:ln>
            <a:noFill/>
          </a:ln>
        </p:spPr>
        <p:txBody>
          <a:bodyPr wrap="square" lIns="0" tIns="0" rIns="0" bIns="0" rtlCol="0" anchor="t">
            <a:noAutofit/>
          </a:bodyPr>
          <a:lstStyle/>
          <a:p>
            <a:pPr algn="ctr">
              <a:spcBef>
                <a:spcPts val="0"/>
              </a:spcBef>
              <a:spcAft>
                <a:spcPts val="0"/>
              </a:spcAft>
              <a:buNone/>
            </a:pPr>
            <a:r>
              <a:rPr lang="fr-FR" sz="1200" b="1" dirty="0">
                <a:solidFill>
                  <a:srgbClr val="F96A09"/>
                </a:solidFill>
                <a:latin typeface="Montserrat"/>
                <a:cs typeface="Montserrat"/>
              </a:rPr>
              <a:t>réponse</a:t>
            </a:r>
          </a:p>
        </p:txBody>
      </p:sp>
      <p:sp>
        <p:nvSpPr>
          <p:cNvPr id="3010" name="AgentBox"/>
          <p:cNvSpPr/>
          <p:nvPr/>
        </p:nvSpPr>
        <p:spPr>
          <a:xfrm>
            <a:off x="3291840" y="1737360"/>
            <a:ext cx="5257800" cy="3108960"/>
          </a:xfrm>
          <a:prstGeom prst="roundRect">
            <a:avLst>
              <a:gd name="adj" fmla="val 5000"/>
            </a:avLst>
          </a:prstGeom>
          <a:solidFill>
            <a:srgbClr val="16294A"/>
          </a:solidFill>
          <a:ln>
            <a:noFill/>
          </a:ln>
          <a:effectLst>
            <a:outerShdw blurRad="101600" dist="25400" dir="5400000" algn="t" rotWithShape="0">
              <a:srgbClr val="16294A">
                <a:alpha val="16000"/>
              </a:srgbClr>
            </a:outerShdw>
          </a:effectLst>
        </p:spPr>
        <p:txBody>
          <a:bodyPr/>
          <a:lstStyle/>
          <a:p>
            <a:endParaRPr lang="fr-FR"/>
          </a:p>
        </p:txBody>
      </p:sp>
      <p:sp>
        <p:nvSpPr>
          <p:cNvPr id="3011" name="AgentEyebrow"/>
          <p:cNvSpPr txBox="1"/>
          <p:nvPr/>
        </p:nvSpPr>
        <p:spPr>
          <a:xfrm>
            <a:off x="3493008" y="1847088"/>
            <a:ext cx="4846320" cy="310896"/>
          </a:xfrm>
          <a:prstGeom prst="rect">
            <a:avLst/>
          </a:prstGeom>
          <a:noFill/>
          <a:ln>
            <a:noFill/>
          </a:ln>
        </p:spPr>
        <p:txBody>
          <a:bodyPr wrap="square" lIns="0" tIns="0" rIns="0" bIns="0" rtlCol="0" anchor="t">
            <a:noAutofit/>
          </a:bodyPr>
          <a:lstStyle/>
          <a:p>
            <a:pPr algn="l">
              <a:spcBef>
                <a:spcPts val="0"/>
              </a:spcBef>
              <a:spcAft>
                <a:spcPts val="0"/>
              </a:spcAft>
              <a:buNone/>
            </a:pPr>
            <a:r>
              <a:rPr lang="fr-FR" sz="1200" b="1" spc="200" dirty="0">
                <a:solidFill>
                  <a:srgbClr val="F96A09"/>
                </a:solidFill>
                <a:latin typeface="Montserrat"/>
                <a:cs typeface="Montserrat"/>
              </a:rPr>
              <a:t>AGENT CONVERSATIONNEL</a:t>
            </a:r>
          </a:p>
        </p:txBody>
      </p:sp>
      <p:sp>
        <p:nvSpPr>
          <p:cNvPr id="3012" name="Stage0"/>
          <p:cNvSpPr/>
          <p:nvPr/>
        </p:nvSpPr>
        <p:spPr>
          <a:xfrm>
            <a:off x="3438144" y="2267712"/>
            <a:ext cx="1545336" cy="1901952"/>
          </a:xfrm>
          <a:prstGeom prst="roundRect">
            <a:avLst>
              <a:gd name="adj" fmla="val 9000"/>
            </a:avLst>
          </a:prstGeom>
          <a:solidFill>
            <a:srgbClr val="FFFFFF"/>
          </a:solidFill>
          <a:ln>
            <a:noFill/>
          </a:ln>
        </p:spPr>
        <p:txBody>
          <a:bodyPr/>
          <a:lstStyle/>
          <a:p>
            <a:endParaRPr lang="fr-FR"/>
          </a:p>
        </p:txBody>
      </p:sp>
      <p:sp>
        <p:nvSpPr>
          <p:cNvPr id="3013" name="StageNum0"/>
          <p:cNvSpPr/>
          <p:nvPr/>
        </p:nvSpPr>
        <p:spPr>
          <a:xfrm>
            <a:off x="3566160" y="2395728"/>
            <a:ext cx="402336" cy="402336"/>
          </a:xfrm>
          <a:prstGeom prst="ellipse">
            <a:avLst/>
          </a:prstGeom>
          <a:solidFill>
            <a:srgbClr val="F96A09"/>
          </a:solidFill>
          <a:ln>
            <a:noFill/>
          </a:ln>
        </p:spPr>
        <p:txBody>
          <a:bodyPr wrap="square" lIns="0" tIns="0" rIns="0" bIns="0" rtlCol="0" anchor="ctr">
            <a:noAutofit/>
          </a:bodyPr>
          <a:lstStyle/>
          <a:p>
            <a:pPr algn="ctr">
              <a:spcBef>
                <a:spcPts val="0"/>
              </a:spcBef>
              <a:spcAft>
                <a:spcPts val="0"/>
              </a:spcAft>
              <a:buNone/>
            </a:pPr>
            <a:r>
              <a:rPr lang="fr-FR" sz="1400" b="1" dirty="0">
                <a:solidFill>
                  <a:srgbClr val="FFFFFF"/>
                </a:solidFill>
                <a:latin typeface="Montserrat"/>
                <a:cs typeface="Montserrat"/>
              </a:rPr>
              <a:t>1</a:t>
            </a:r>
          </a:p>
        </p:txBody>
      </p:sp>
      <p:sp>
        <p:nvSpPr>
          <p:cNvPr id="3014" name="StageTitle0"/>
          <p:cNvSpPr txBox="1"/>
          <p:nvPr/>
        </p:nvSpPr>
        <p:spPr>
          <a:xfrm>
            <a:off x="3547872" y="2898648"/>
            <a:ext cx="1371600" cy="292608"/>
          </a:xfrm>
          <a:prstGeom prst="rect">
            <a:avLst/>
          </a:prstGeom>
          <a:noFill/>
          <a:ln>
            <a:noFill/>
          </a:ln>
        </p:spPr>
        <p:txBody>
          <a:bodyPr wrap="square" lIns="0" tIns="0" rIns="0" bIns="0" rtlCol="0" anchor="t">
            <a:noAutofit/>
          </a:bodyPr>
          <a:lstStyle/>
          <a:p>
            <a:pPr algn="l">
              <a:spcBef>
                <a:spcPts val="0"/>
              </a:spcBef>
              <a:spcAft>
                <a:spcPts val="0"/>
              </a:spcAft>
              <a:buNone/>
            </a:pPr>
            <a:r>
              <a:rPr lang="fr-FR" sz="1200" b="1" dirty="0">
                <a:solidFill>
                  <a:srgbClr val="16294A"/>
                </a:solidFill>
                <a:latin typeface="Montserrat"/>
                <a:cs typeface="Montserrat"/>
              </a:rPr>
              <a:t>PERCEPTION</a:t>
            </a:r>
          </a:p>
        </p:txBody>
      </p:sp>
      <p:sp>
        <p:nvSpPr>
          <p:cNvPr id="3015" name="StageDesc0"/>
          <p:cNvSpPr txBox="1"/>
          <p:nvPr/>
        </p:nvSpPr>
        <p:spPr>
          <a:xfrm>
            <a:off x="3547872" y="3218688"/>
            <a:ext cx="1353312" cy="914400"/>
          </a:xfrm>
          <a:prstGeom prst="rect">
            <a:avLst/>
          </a:prstGeom>
          <a:noFill/>
          <a:ln>
            <a:noFill/>
          </a:ln>
        </p:spPr>
        <p:txBody>
          <a:bodyPr wrap="square" lIns="0" tIns="0" rIns="0" bIns="0" rtlCol="0" anchor="t">
            <a:noAutofit/>
          </a:bodyPr>
          <a:lstStyle/>
          <a:p>
            <a:pPr algn="l">
              <a:lnSpc>
                <a:spcPct val="95000"/>
              </a:lnSpc>
              <a:spcBef>
                <a:spcPts val="0"/>
              </a:spcBef>
              <a:spcAft>
                <a:spcPts val="0"/>
              </a:spcAft>
              <a:buNone/>
            </a:pPr>
            <a:r>
              <a:rPr lang="fr-FR" sz="1200" dirty="0">
                <a:solidFill>
                  <a:srgbClr val="5A5550"/>
                </a:solidFill>
                <a:latin typeface="Montserrat"/>
                <a:cs typeface="Montserrat"/>
              </a:rPr>
              <a:t>Réception et prétraitement du message</a:t>
            </a:r>
          </a:p>
        </p:txBody>
      </p:sp>
      <p:sp>
        <p:nvSpPr>
          <p:cNvPr id="3016" name="StageChevron0"/>
          <p:cNvSpPr/>
          <p:nvPr/>
        </p:nvSpPr>
        <p:spPr>
          <a:xfrm>
            <a:off x="5006340" y="3108960"/>
            <a:ext cx="146304" cy="201168"/>
          </a:xfrm>
          <a:prstGeom prst="rightArrow">
            <a:avLst/>
          </a:prstGeom>
          <a:solidFill>
            <a:srgbClr val="F96A09"/>
          </a:solidFill>
          <a:ln>
            <a:noFill/>
          </a:ln>
        </p:spPr>
        <p:txBody>
          <a:bodyPr/>
          <a:lstStyle/>
          <a:p>
            <a:endParaRPr lang="fr-FR"/>
          </a:p>
        </p:txBody>
      </p:sp>
      <p:sp>
        <p:nvSpPr>
          <p:cNvPr id="3017" name="Stage1"/>
          <p:cNvSpPr/>
          <p:nvPr/>
        </p:nvSpPr>
        <p:spPr>
          <a:xfrm>
            <a:off x="5166360" y="2267712"/>
            <a:ext cx="1545336" cy="1901952"/>
          </a:xfrm>
          <a:prstGeom prst="roundRect">
            <a:avLst>
              <a:gd name="adj" fmla="val 9000"/>
            </a:avLst>
          </a:prstGeom>
          <a:solidFill>
            <a:srgbClr val="FFFFFF"/>
          </a:solidFill>
          <a:ln>
            <a:noFill/>
          </a:ln>
        </p:spPr>
        <p:txBody>
          <a:bodyPr/>
          <a:lstStyle/>
          <a:p>
            <a:endParaRPr lang="fr-FR"/>
          </a:p>
        </p:txBody>
      </p:sp>
      <p:sp>
        <p:nvSpPr>
          <p:cNvPr id="3018" name="StageNum1"/>
          <p:cNvSpPr/>
          <p:nvPr/>
        </p:nvSpPr>
        <p:spPr>
          <a:xfrm>
            <a:off x="5294376" y="2395728"/>
            <a:ext cx="402336" cy="402336"/>
          </a:xfrm>
          <a:prstGeom prst="ellipse">
            <a:avLst/>
          </a:prstGeom>
          <a:solidFill>
            <a:srgbClr val="F96A09"/>
          </a:solidFill>
          <a:ln>
            <a:noFill/>
          </a:ln>
        </p:spPr>
        <p:txBody>
          <a:bodyPr wrap="square" lIns="0" tIns="0" rIns="0" bIns="0" rtlCol="0" anchor="ctr">
            <a:noAutofit/>
          </a:bodyPr>
          <a:lstStyle/>
          <a:p>
            <a:pPr algn="ctr">
              <a:spcBef>
                <a:spcPts val="0"/>
              </a:spcBef>
              <a:spcAft>
                <a:spcPts val="0"/>
              </a:spcAft>
              <a:buNone/>
            </a:pPr>
            <a:r>
              <a:rPr lang="fr-FR" sz="1400" b="1" dirty="0">
                <a:solidFill>
                  <a:srgbClr val="FFFFFF"/>
                </a:solidFill>
                <a:latin typeface="Montserrat"/>
                <a:cs typeface="Montserrat"/>
              </a:rPr>
              <a:t>2</a:t>
            </a:r>
          </a:p>
        </p:txBody>
      </p:sp>
      <p:sp>
        <p:nvSpPr>
          <p:cNvPr id="3019" name="StageTitle1"/>
          <p:cNvSpPr txBox="1"/>
          <p:nvPr/>
        </p:nvSpPr>
        <p:spPr>
          <a:xfrm>
            <a:off x="5199888" y="2898648"/>
            <a:ext cx="1490472" cy="292608"/>
          </a:xfrm>
          <a:prstGeom prst="rect">
            <a:avLst/>
          </a:prstGeom>
          <a:noFill/>
          <a:ln>
            <a:noFill/>
          </a:ln>
        </p:spPr>
        <p:txBody>
          <a:bodyPr wrap="square" lIns="0" tIns="0" rIns="0" bIns="0" rtlCol="0" anchor="t">
            <a:noAutofit/>
          </a:bodyPr>
          <a:lstStyle/>
          <a:p>
            <a:pPr algn="l">
              <a:spcBef>
                <a:spcPts val="0"/>
              </a:spcBef>
              <a:spcAft>
                <a:spcPts val="0"/>
              </a:spcAft>
              <a:buNone/>
            </a:pPr>
            <a:r>
              <a:rPr lang="fr-FR" sz="1200" b="1" dirty="0">
                <a:solidFill>
                  <a:srgbClr val="16294A"/>
                </a:solidFill>
                <a:latin typeface="Montserrat"/>
                <a:cs typeface="Montserrat"/>
              </a:rPr>
              <a:t>COMPRÉHENSION</a:t>
            </a:r>
          </a:p>
        </p:txBody>
      </p:sp>
      <p:sp>
        <p:nvSpPr>
          <p:cNvPr id="3020" name="StageDesc1"/>
          <p:cNvSpPr txBox="1"/>
          <p:nvPr/>
        </p:nvSpPr>
        <p:spPr>
          <a:xfrm>
            <a:off x="5276088" y="3218688"/>
            <a:ext cx="1353312" cy="914400"/>
          </a:xfrm>
          <a:prstGeom prst="rect">
            <a:avLst/>
          </a:prstGeom>
          <a:noFill/>
          <a:ln>
            <a:noFill/>
          </a:ln>
        </p:spPr>
        <p:txBody>
          <a:bodyPr wrap="square" lIns="0" tIns="0" rIns="0" bIns="0" rtlCol="0" anchor="t">
            <a:noAutofit/>
          </a:bodyPr>
          <a:lstStyle/>
          <a:p>
            <a:pPr algn="l">
              <a:lnSpc>
                <a:spcPct val="95000"/>
              </a:lnSpc>
              <a:spcBef>
                <a:spcPts val="0"/>
              </a:spcBef>
              <a:spcAft>
                <a:spcPts val="0"/>
              </a:spcAft>
              <a:buNone/>
            </a:pPr>
            <a:r>
              <a:rPr lang="fr-FR" sz="1200" dirty="0">
                <a:solidFill>
                  <a:srgbClr val="5A5550"/>
                </a:solidFill>
                <a:latin typeface="Montserrat"/>
                <a:cs typeface="Montserrat"/>
              </a:rPr>
              <a:t>Identification de l’intention et du contexte</a:t>
            </a:r>
          </a:p>
        </p:txBody>
      </p:sp>
      <p:sp>
        <p:nvSpPr>
          <p:cNvPr id="3021" name="StageChevron1"/>
          <p:cNvSpPr/>
          <p:nvPr/>
        </p:nvSpPr>
        <p:spPr>
          <a:xfrm>
            <a:off x="6734556" y="3108960"/>
            <a:ext cx="146304" cy="201168"/>
          </a:xfrm>
          <a:prstGeom prst="rightArrow">
            <a:avLst/>
          </a:prstGeom>
          <a:solidFill>
            <a:srgbClr val="F96A09"/>
          </a:solidFill>
          <a:ln>
            <a:noFill/>
          </a:ln>
        </p:spPr>
        <p:txBody>
          <a:bodyPr/>
          <a:lstStyle/>
          <a:p>
            <a:endParaRPr lang="fr-FR"/>
          </a:p>
        </p:txBody>
      </p:sp>
      <p:sp>
        <p:nvSpPr>
          <p:cNvPr id="3022" name="Stage2"/>
          <p:cNvSpPr/>
          <p:nvPr/>
        </p:nvSpPr>
        <p:spPr>
          <a:xfrm>
            <a:off x="6894576" y="2267712"/>
            <a:ext cx="1545336" cy="1901952"/>
          </a:xfrm>
          <a:prstGeom prst="roundRect">
            <a:avLst>
              <a:gd name="adj" fmla="val 9000"/>
            </a:avLst>
          </a:prstGeom>
          <a:solidFill>
            <a:srgbClr val="FFFFFF"/>
          </a:solidFill>
          <a:ln>
            <a:noFill/>
          </a:ln>
        </p:spPr>
        <p:txBody>
          <a:bodyPr/>
          <a:lstStyle/>
          <a:p>
            <a:endParaRPr lang="fr-FR"/>
          </a:p>
        </p:txBody>
      </p:sp>
      <p:sp>
        <p:nvSpPr>
          <p:cNvPr id="3023" name="StageNum2"/>
          <p:cNvSpPr/>
          <p:nvPr/>
        </p:nvSpPr>
        <p:spPr>
          <a:xfrm>
            <a:off x="7022592" y="2395728"/>
            <a:ext cx="402336" cy="402336"/>
          </a:xfrm>
          <a:prstGeom prst="ellipse">
            <a:avLst/>
          </a:prstGeom>
          <a:solidFill>
            <a:srgbClr val="F96A09"/>
          </a:solidFill>
          <a:ln>
            <a:noFill/>
          </a:ln>
        </p:spPr>
        <p:txBody>
          <a:bodyPr wrap="square" lIns="0" tIns="0" rIns="0" bIns="0" rtlCol="0" anchor="ctr">
            <a:noAutofit/>
          </a:bodyPr>
          <a:lstStyle/>
          <a:p>
            <a:pPr algn="ctr">
              <a:spcBef>
                <a:spcPts val="0"/>
              </a:spcBef>
              <a:spcAft>
                <a:spcPts val="0"/>
              </a:spcAft>
              <a:buNone/>
            </a:pPr>
            <a:r>
              <a:rPr lang="fr-FR" sz="1400" b="1" dirty="0">
                <a:solidFill>
                  <a:srgbClr val="FFFFFF"/>
                </a:solidFill>
                <a:latin typeface="Montserrat"/>
                <a:cs typeface="Montserrat"/>
              </a:rPr>
              <a:t>3</a:t>
            </a:r>
          </a:p>
        </p:txBody>
      </p:sp>
      <p:sp>
        <p:nvSpPr>
          <p:cNvPr id="3024" name="StageTitle2"/>
          <p:cNvSpPr txBox="1"/>
          <p:nvPr/>
        </p:nvSpPr>
        <p:spPr>
          <a:xfrm>
            <a:off x="7004304" y="2898648"/>
            <a:ext cx="1371600" cy="292608"/>
          </a:xfrm>
          <a:prstGeom prst="rect">
            <a:avLst/>
          </a:prstGeom>
          <a:noFill/>
          <a:ln>
            <a:noFill/>
          </a:ln>
        </p:spPr>
        <p:txBody>
          <a:bodyPr wrap="square" lIns="0" tIns="0" rIns="0" bIns="0" rtlCol="0" anchor="t">
            <a:noAutofit/>
          </a:bodyPr>
          <a:lstStyle/>
          <a:p>
            <a:pPr algn="l">
              <a:spcBef>
                <a:spcPts val="0"/>
              </a:spcBef>
              <a:spcAft>
                <a:spcPts val="0"/>
              </a:spcAft>
              <a:buNone/>
            </a:pPr>
            <a:r>
              <a:rPr lang="fr-FR" sz="1200" b="1" dirty="0">
                <a:solidFill>
                  <a:srgbClr val="16294A"/>
                </a:solidFill>
                <a:latin typeface="Montserrat"/>
                <a:cs typeface="Montserrat"/>
              </a:rPr>
              <a:t>ACTION</a:t>
            </a:r>
          </a:p>
        </p:txBody>
      </p:sp>
      <p:sp>
        <p:nvSpPr>
          <p:cNvPr id="3025" name="StageDesc2"/>
          <p:cNvSpPr txBox="1"/>
          <p:nvPr/>
        </p:nvSpPr>
        <p:spPr>
          <a:xfrm>
            <a:off x="7004304" y="3218688"/>
            <a:ext cx="1353312" cy="914400"/>
          </a:xfrm>
          <a:prstGeom prst="rect">
            <a:avLst/>
          </a:prstGeom>
          <a:noFill/>
          <a:ln>
            <a:noFill/>
          </a:ln>
        </p:spPr>
        <p:txBody>
          <a:bodyPr wrap="square" lIns="0" tIns="0" rIns="0" bIns="0" rtlCol="0" anchor="t">
            <a:noAutofit/>
          </a:bodyPr>
          <a:lstStyle/>
          <a:p>
            <a:pPr algn="l">
              <a:lnSpc>
                <a:spcPct val="95000"/>
              </a:lnSpc>
              <a:spcBef>
                <a:spcPts val="0"/>
              </a:spcBef>
              <a:spcAft>
                <a:spcPts val="0"/>
              </a:spcAft>
              <a:buNone/>
            </a:pPr>
            <a:r>
              <a:rPr lang="fr-FR" sz="1200" dirty="0">
                <a:solidFill>
                  <a:srgbClr val="5A5550"/>
                </a:solidFill>
                <a:latin typeface="Montserrat"/>
                <a:cs typeface="Montserrat"/>
              </a:rPr>
              <a:t>Détermination et exécution du traitement approprié</a:t>
            </a:r>
          </a:p>
        </p:txBody>
      </p:sp>
      <p:sp>
        <p:nvSpPr>
          <p:cNvPr id="3026" name="ModelLine"/>
          <p:cNvSpPr txBox="1"/>
          <p:nvPr/>
        </p:nvSpPr>
        <p:spPr>
          <a:xfrm>
            <a:off x="3438144" y="4261104"/>
            <a:ext cx="4983480" cy="457200"/>
          </a:xfrm>
          <a:prstGeom prst="rect">
            <a:avLst/>
          </a:prstGeom>
          <a:noFill/>
          <a:ln>
            <a:noFill/>
          </a:ln>
        </p:spPr>
        <p:txBody>
          <a:bodyPr wrap="square" lIns="0" tIns="0" rIns="0" bIns="0" rtlCol="0" anchor="ctr">
            <a:noAutofit/>
          </a:bodyPr>
          <a:lstStyle/>
          <a:p>
            <a:pPr algn="l">
              <a:spcBef>
                <a:spcPts val="0"/>
              </a:spcBef>
              <a:spcAft>
                <a:spcPts val="0"/>
              </a:spcAft>
              <a:buNone/>
            </a:pPr>
            <a:r>
              <a:rPr lang="fr-FR" sz="1150" b="1" dirty="0">
                <a:solidFill>
                  <a:srgbClr val="F96A09"/>
                </a:solidFill>
                <a:latin typeface="Montserrat"/>
                <a:cs typeface="Montserrat"/>
              </a:rPr>
              <a:t>Modèle NLU  </a:t>
            </a:r>
            <a:r>
              <a:rPr lang="fr-FR" sz="1150" dirty="0">
                <a:solidFill>
                  <a:srgbClr val="FFFFFF"/>
                </a:solidFill>
                <a:latin typeface="Montserrat"/>
                <a:cs typeface="Montserrat"/>
              </a:rPr>
              <a:t>BGE-M3 (embedding) + régression logistique multinomiale</a:t>
            </a:r>
          </a:p>
        </p:txBody>
      </p:sp>
      <p:sp>
        <p:nvSpPr>
          <p:cNvPr id="3027" name="ResArrow"/>
          <p:cNvSpPr/>
          <p:nvPr/>
        </p:nvSpPr>
        <p:spPr>
          <a:xfrm>
            <a:off x="8595360" y="3291840"/>
            <a:ext cx="274320" cy="0"/>
          </a:xfrm>
          <a:prstGeom prst="line">
            <a:avLst/>
          </a:prstGeom>
          <a:noFill/>
          <a:ln w="31750">
            <a:solidFill>
              <a:srgbClr val="16294A"/>
            </a:solidFill>
            <a:tailEnd type="triangle" w="med" len="med"/>
          </a:ln>
        </p:spPr>
        <p:txBody>
          <a:bodyPr/>
          <a:lstStyle/>
          <a:p>
            <a:endParaRPr lang="fr-FR"/>
          </a:p>
        </p:txBody>
      </p:sp>
      <p:sp>
        <p:nvSpPr>
          <p:cNvPr id="3028" name="ResEyebrow"/>
          <p:cNvSpPr txBox="1"/>
          <p:nvPr/>
        </p:nvSpPr>
        <p:spPr>
          <a:xfrm>
            <a:off x="8924544" y="1737360"/>
            <a:ext cx="2386584" cy="292608"/>
          </a:xfrm>
          <a:prstGeom prst="rect">
            <a:avLst/>
          </a:prstGeom>
          <a:noFill/>
          <a:ln>
            <a:noFill/>
          </a:ln>
        </p:spPr>
        <p:txBody>
          <a:bodyPr wrap="square" lIns="0" tIns="0" rIns="0" bIns="0" rtlCol="0" anchor="t">
            <a:noAutofit/>
          </a:bodyPr>
          <a:lstStyle/>
          <a:p>
            <a:pPr algn="l">
              <a:spcBef>
                <a:spcPts val="0"/>
              </a:spcBef>
              <a:spcAft>
                <a:spcPts val="0"/>
              </a:spcAft>
              <a:buNone/>
            </a:pPr>
            <a:r>
              <a:rPr lang="fr-FR" sz="1300" b="1" spc="200" dirty="0">
                <a:solidFill>
                  <a:srgbClr val="16294A"/>
                </a:solidFill>
                <a:latin typeface="Montserrat"/>
                <a:cs typeface="Montserrat"/>
              </a:rPr>
              <a:t>RESSOURCES</a:t>
            </a:r>
          </a:p>
        </p:txBody>
      </p:sp>
      <p:sp>
        <p:nvSpPr>
          <p:cNvPr id="3029" name="Res0"/>
          <p:cNvSpPr/>
          <p:nvPr/>
        </p:nvSpPr>
        <p:spPr>
          <a:xfrm>
            <a:off x="8924544" y="2103120"/>
            <a:ext cx="2386584" cy="859536"/>
          </a:xfrm>
          <a:prstGeom prst="roundRect">
            <a:avLst>
              <a:gd name="adj" fmla="val 12000"/>
            </a:avLst>
          </a:prstGeom>
          <a:solidFill>
            <a:srgbClr val="EDF0F5"/>
          </a:solidFill>
          <a:ln>
            <a:noFill/>
          </a:ln>
          <a:effectLst>
            <a:outerShdw blurRad="101600" dist="25400" dir="5400000" algn="t" rotWithShape="0">
              <a:srgbClr val="16294A">
                <a:alpha val="16000"/>
              </a:srgbClr>
            </a:outerShdw>
          </a:effectLst>
        </p:spPr>
        <p:txBody>
          <a:bodyPr/>
          <a:lstStyle/>
          <a:p>
            <a:endParaRPr lang="fr-FR"/>
          </a:p>
        </p:txBody>
      </p:sp>
      <p:sp>
        <p:nvSpPr>
          <p:cNvPr id="3030" name="ResIconBg0"/>
          <p:cNvSpPr/>
          <p:nvPr/>
        </p:nvSpPr>
        <p:spPr>
          <a:xfrm>
            <a:off x="9015984" y="2286000"/>
            <a:ext cx="493776" cy="493776"/>
          </a:xfrm>
          <a:prstGeom prst="ellipse">
            <a:avLst/>
          </a:prstGeom>
          <a:solidFill>
            <a:srgbClr val="FFFFFF"/>
          </a:solidFill>
          <a:ln>
            <a:noFill/>
          </a:ln>
        </p:spPr>
        <p:txBody>
          <a:bodyPr/>
          <a:lstStyle/>
          <a:p>
            <a:endParaRPr lang="fr-FR"/>
          </a:p>
        </p:txBody>
      </p:sp>
      <p:pic>
        <p:nvPicPr>
          <p:cNvPr id="906" name="Graphic 906" descr="Base de données">
            <a:extLst>
              <a:ext uri="{FF2B5EF4-FFF2-40B4-BE49-F238E27FC236}">
                <a16:creationId xmlns:a16="http://schemas.microsoft.com/office/drawing/2014/main" id="{01A3DC90-E153-8EB7-D7C8-56D46E374A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16568" y="2386584"/>
            <a:ext cx="292608" cy="292608"/>
          </a:xfrm>
          <a:prstGeom prst="rect">
            <a:avLst/>
          </a:prstGeom>
        </p:spPr>
      </p:pic>
      <p:sp>
        <p:nvSpPr>
          <p:cNvPr id="3031" name="ResTitle0"/>
          <p:cNvSpPr txBox="1"/>
          <p:nvPr/>
        </p:nvSpPr>
        <p:spPr>
          <a:xfrm>
            <a:off x="9601200" y="2167128"/>
            <a:ext cx="1664208" cy="731520"/>
          </a:xfrm>
          <a:prstGeom prst="rect">
            <a:avLst/>
          </a:prstGeom>
          <a:noFill/>
          <a:ln>
            <a:noFill/>
          </a:ln>
        </p:spPr>
        <p:txBody>
          <a:bodyPr wrap="square" lIns="0" tIns="0" rIns="0" bIns="0" rtlCol="0" anchor="ctr">
            <a:noAutofit/>
          </a:bodyPr>
          <a:lstStyle/>
          <a:p>
            <a:pPr algn="l">
              <a:lnSpc>
                <a:spcPct val="95000"/>
              </a:lnSpc>
              <a:spcBef>
                <a:spcPts val="0"/>
              </a:spcBef>
              <a:spcAft>
                <a:spcPts val="0"/>
              </a:spcAft>
              <a:buNone/>
            </a:pPr>
            <a:r>
              <a:rPr lang="fr-FR" sz="1400" b="1" dirty="0">
                <a:solidFill>
                  <a:srgbClr val="1F1B18"/>
                </a:solidFill>
                <a:latin typeface="Montserrat"/>
                <a:cs typeface="Montserrat"/>
              </a:rPr>
              <a:t>Base de données</a:t>
            </a:r>
          </a:p>
        </p:txBody>
      </p:sp>
      <p:sp>
        <p:nvSpPr>
          <p:cNvPr id="3032" name="Res1"/>
          <p:cNvSpPr/>
          <p:nvPr/>
        </p:nvSpPr>
        <p:spPr>
          <a:xfrm>
            <a:off x="8924544" y="3044952"/>
            <a:ext cx="2386584" cy="859536"/>
          </a:xfrm>
          <a:prstGeom prst="roundRect">
            <a:avLst>
              <a:gd name="adj" fmla="val 12000"/>
            </a:avLst>
          </a:prstGeom>
          <a:solidFill>
            <a:srgbClr val="EDF0F5"/>
          </a:solidFill>
          <a:ln>
            <a:noFill/>
          </a:ln>
          <a:effectLst>
            <a:outerShdw blurRad="101600" dist="25400" dir="5400000" algn="t" rotWithShape="0">
              <a:srgbClr val="16294A">
                <a:alpha val="16000"/>
              </a:srgbClr>
            </a:outerShdw>
          </a:effectLst>
        </p:spPr>
        <p:txBody>
          <a:bodyPr/>
          <a:lstStyle/>
          <a:p>
            <a:endParaRPr lang="fr-FR"/>
          </a:p>
        </p:txBody>
      </p:sp>
      <p:sp>
        <p:nvSpPr>
          <p:cNvPr id="3033" name="ResIconBg1"/>
          <p:cNvSpPr/>
          <p:nvPr/>
        </p:nvSpPr>
        <p:spPr>
          <a:xfrm>
            <a:off x="9015984" y="3227832"/>
            <a:ext cx="493776" cy="493776"/>
          </a:xfrm>
          <a:prstGeom prst="ellipse">
            <a:avLst/>
          </a:prstGeom>
          <a:solidFill>
            <a:srgbClr val="FFFFFF"/>
          </a:solidFill>
          <a:ln>
            <a:noFill/>
          </a:ln>
        </p:spPr>
        <p:txBody>
          <a:bodyPr/>
          <a:lstStyle/>
          <a:p>
            <a:endParaRPr lang="fr-FR"/>
          </a:p>
        </p:txBody>
      </p:sp>
      <p:pic>
        <p:nvPicPr>
          <p:cNvPr id="907" name="Graphic 907" descr="Centre de diagnostic">
            <a:extLst>
              <a:ext uri="{FF2B5EF4-FFF2-40B4-BE49-F238E27FC236}">
                <a16:creationId xmlns:a16="http://schemas.microsoft.com/office/drawing/2014/main" id="{071EC108-1B6D-FB1B-5568-4A76CD755EA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16568" y="3328416"/>
            <a:ext cx="292608" cy="292608"/>
          </a:xfrm>
          <a:prstGeom prst="rect">
            <a:avLst/>
          </a:prstGeom>
        </p:spPr>
      </p:pic>
      <p:sp>
        <p:nvSpPr>
          <p:cNvPr id="3034" name="ResTitle1"/>
          <p:cNvSpPr txBox="1"/>
          <p:nvPr/>
        </p:nvSpPr>
        <p:spPr>
          <a:xfrm>
            <a:off x="9601200" y="3108960"/>
            <a:ext cx="1664208" cy="731520"/>
          </a:xfrm>
          <a:prstGeom prst="rect">
            <a:avLst/>
          </a:prstGeom>
          <a:noFill/>
          <a:ln>
            <a:noFill/>
          </a:ln>
        </p:spPr>
        <p:txBody>
          <a:bodyPr wrap="square" lIns="0" tIns="0" rIns="0" bIns="0" rtlCol="0" anchor="ctr">
            <a:noAutofit/>
          </a:bodyPr>
          <a:lstStyle/>
          <a:p>
            <a:pPr algn="l">
              <a:lnSpc>
                <a:spcPct val="95000"/>
              </a:lnSpc>
              <a:spcBef>
                <a:spcPts val="0"/>
              </a:spcBef>
              <a:spcAft>
                <a:spcPts val="0"/>
              </a:spcAft>
              <a:buNone/>
            </a:pPr>
            <a:r>
              <a:rPr lang="fr-FR" sz="1400" b="1" dirty="0">
                <a:solidFill>
                  <a:srgbClr val="1F1B18"/>
                </a:solidFill>
                <a:latin typeface="Montserrat"/>
                <a:cs typeface="Montserrat"/>
              </a:rPr>
              <a:t>Centre de diagnostic</a:t>
            </a:r>
          </a:p>
        </p:txBody>
      </p:sp>
      <p:sp>
        <p:nvSpPr>
          <p:cNvPr id="3035" name="Res2"/>
          <p:cNvSpPr/>
          <p:nvPr/>
        </p:nvSpPr>
        <p:spPr>
          <a:xfrm>
            <a:off x="8924544" y="3986784"/>
            <a:ext cx="2386584" cy="859536"/>
          </a:xfrm>
          <a:prstGeom prst="roundRect">
            <a:avLst>
              <a:gd name="adj" fmla="val 12000"/>
            </a:avLst>
          </a:prstGeom>
          <a:solidFill>
            <a:srgbClr val="EDF0F5"/>
          </a:solidFill>
          <a:ln>
            <a:noFill/>
          </a:ln>
          <a:effectLst>
            <a:outerShdw blurRad="101600" dist="25400" dir="5400000" algn="t" rotWithShape="0">
              <a:srgbClr val="16294A">
                <a:alpha val="16000"/>
              </a:srgbClr>
            </a:outerShdw>
          </a:effectLst>
        </p:spPr>
        <p:txBody>
          <a:bodyPr/>
          <a:lstStyle/>
          <a:p>
            <a:endParaRPr lang="fr-FR"/>
          </a:p>
        </p:txBody>
      </p:sp>
      <p:sp>
        <p:nvSpPr>
          <p:cNvPr id="3036" name="ResIconBg2"/>
          <p:cNvSpPr/>
          <p:nvPr/>
        </p:nvSpPr>
        <p:spPr>
          <a:xfrm>
            <a:off x="9015984" y="4169664"/>
            <a:ext cx="493776" cy="493776"/>
          </a:xfrm>
          <a:prstGeom prst="ellipse">
            <a:avLst/>
          </a:prstGeom>
          <a:solidFill>
            <a:srgbClr val="FFFFFF"/>
          </a:solidFill>
          <a:ln>
            <a:noFill/>
          </a:ln>
        </p:spPr>
        <p:txBody>
          <a:bodyPr/>
          <a:lstStyle/>
          <a:p>
            <a:endParaRPr lang="fr-FR"/>
          </a:p>
        </p:txBody>
      </p:sp>
      <p:pic>
        <p:nvPicPr>
          <p:cNvPr id="294" name="Image 6" descr="preencoded.png">
            <a:extLst>
              <a:ext uri="{FF2B5EF4-FFF2-40B4-BE49-F238E27FC236}">
                <a16:creationId xmlns:a16="http://schemas.microsoft.com/office/drawing/2014/main" id="{76B29BA1-1995-9AFB-E21A-BD888C4740A0}"/>
              </a:ext>
            </a:extLst>
          </p:cNvPr>
          <p:cNvPicPr>
            <a:picLocks noChangeAspect="1"/>
          </p:cNvPicPr>
          <p:nvPr/>
        </p:nvPicPr>
        <p:blipFill>
          <a:blip r:embed="rId6"/>
          <a:stretch>
            <a:fillRect/>
          </a:stretch>
        </p:blipFill>
        <p:spPr>
          <a:xfrm>
            <a:off x="9116568" y="4270248"/>
            <a:ext cx="292608" cy="292608"/>
          </a:xfrm>
          <a:prstGeom prst="rect">
            <a:avLst/>
          </a:prstGeom>
        </p:spPr>
      </p:pic>
      <p:sp>
        <p:nvSpPr>
          <p:cNvPr id="3037" name="ResTitle2"/>
          <p:cNvSpPr txBox="1"/>
          <p:nvPr/>
        </p:nvSpPr>
        <p:spPr>
          <a:xfrm>
            <a:off x="9601200" y="4050792"/>
            <a:ext cx="1664208" cy="731520"/>
          </a:xfrm>
          <a:prstGeom prst="rect">
            <a:avLst/>
          </a:prstGeom>
          <a:noFill/>
          <a:ln>
            <a:noFill/>
          </a:ln>
        </p:spPr>
        <p:txBody>
          <a:bodyPr wrap="square" lIns="0" tIns="0" rIns="0" bIns="0" rtlCol="0" anchor="ctr">
            <a:noAutofit/>
          </a:bodyPr>
          <a:lstStyle/>
          <a:p>
            <a:pPr algn="l">
              <a:lnSpc>
                <a:spcPct val="95000"/>
              </a:lnSpc>
              <a:spcBef>
                <a:spcPts val="0"/>
              </a:spcBef>
              <a:spcAft>
                <a:spcPts val="0"/>
              </a:spcAft>
              <a:buNone/>
            </a:pPr>
            <a:r>
              <a:rPr lang="fr-FR" sz="1400" b="1" dirty="0">
                <a:solidFill>
                  <a:srgbClr val="1F1B18"/>
                </a:solidFill>
                <a:latin typeface="Montserrat"/>
                <a:cs typeface="Montserrat"/>
              </a:rPr>
              <a:t>Notifications</a:t>
            </a:r>
          </a:p>
        </p:txBody>
      </p:sp>
      <p:sp>
        <p:nvSpPr>
          <p:cNvPr id="3038" name="FallbackLine"/>
          <p:cNvSpPr/>
          <p:nvPr/>
        </p:nvSpPr>
        <p:spPr>
          <a:xfrm>
            <a:off x="5920740" y="4846320"/>
            <a:ext cx="0" cy="502920"/>
          </a:xfrm>
          <a:prstGeom prst="line">
            <a:avLst/>
          </a:prstGeom>
          <a:noFill/>
          <a:ln w="25400">
            <a:solidFill>
              <a:srgbClr val="F96A09"/>
            </a:solidFill>
            <a:prstDash val="dash"/>
            <a:tailEnd type="triangle" w="med" len="med"/>
          </a:ln>
        </p:spPr>
        <p:txBody>
          <a:bodyPr/>
          <a:lstStyle/>
          <a:p>
            <a:endParaRPr lang="fr-FR"/>
          </a:p>
        </p:txBody>
      </p:sp>
      <p:sp>
        <p:nvSpPr>
          <p:cNvPr id="3039" name="FallbackLbl"/>
          <p:cNvSpPr txBox="1"/>
          <p:nvPr/>
        </p:nvSpPr>
        <p:spPr>
          <a:xfrm>
            <a:off x="6053328" y="4919472"/>
            <a:ext cx="3566160" cy="292608"/>
          </a:xfrm>
          <a:prstGeom prst="rect">
            <a:avLst/>
          </a:prstGeom>
          <a:noFill/>
          <a:ln>
            <a:noFill/>
          </a:ln>
        </p:spPr>
        <p:txBody>
          <a:bodyPr wrap="square" lIns="0" tIns="0" rIns="0" bIns="0" rtlCol="0" anchor="t">
            <a:noAutofit/>
          </a:bodyPr>
          <a:lstStyle/>
          <a:p>
            <a:pPr algn="l">
              <a:spcBef>
                <a:spcPts val="0"/>
              </a:spcBef>
              <a:spcAft>
                <a:spcPts val="0"/>
              </a:spcAft>
              <a:buNone/>
            </a:pPr>
            <a:r>
              <a:rPr lang="fr-FR" sz="1200" i="1" dirty="0">
                <a:solidFill>
                  <a:srgbClr val="5A5550"/>
                </a:solidFill>
                <a:latin typeface="Montserrat"/>
                <a:cs typeface="Montserrat"/>
              </a:rPr>
              <a:t>Si l’agent ne peut pas traiter la demande</a:t>
            </a:r>
          </a:p>
        </p:txBody>
      </p:sp>
      <p:sp>
        <p:nvSpPr>
          <p:cNvPr id="3040" name="HumanCard"/>
          <p:cNvSpPr/>
          <p:nvPr/>
        </p:nvSpPr>
        <p:spPr>
          <a:xfrm>
            <a:off x="4553712" y="5349240"/>
            <a:ext cx="3200400" cy="914400"/>
          </a:xfrm>
          <a:prstGeom prst="roundRect">
            <a:avLst>
              <a:gd name="adj" fmla="val 14000"/>
            </a:avLst>
          </a:prstGeom>
          <a:solidFill>
            <a:srgbClr val="EDF0F5"/>
          </a:solidFill>
          <a:ln w="25400">
            <a:solidFill>
              <a:srgbClr val="F96A09"/>
            </a:solidFill>
            <a:prstDash val="dash"/>
          </a:ln>
        </p:spPr>
        <p:txBody>
          <a:bodyPr/>
          <a:lstStyle/>
          <a:p>
            <a:endParaRPr lang="fr-FR"/>
          </a:p>
        </p:txBody>
      </p:sp>
      <p:sp>
        <p:nvSpPr>
          <p:cNvPr id="3041" name="HumanIconBg"/>
          <p:cNvSpPr/>
          <p:nvPr/>
        </p:nvSpPr>
        <p:spPr>
          <a:xfrm>
            <a:off x="4690872" y="5532120"/>
            <a:ext cx="548640" cy="548640"/>
          </a:xfrm>
          <a:prstGeom prst="ellipse">
            <a:avLst/>
          </a:prstGeom>
          <a:solidFill>
            <a:srgbClr val="FFFFFF"/>
          </a:solidFill>
          <a:ln>
            <a:noFill/>
          </a:ln>
        </p:spPr>
        <p:txBody>
          <a:bodyPr/>
          <a:lstStyle/>
          <a:p>
            <a:endParaRPr lang="fr-FR"/>
          </a:p>
        </p:txBody>
      </p:sp>
      <p:pic>
        <p:nvPicPr>
          <p:cNvPr id="908" name="Graphic 908" descr="Agent humain">
            <a:extLst>
              <a:ext uri="{FF2B5EF4-FFF2-40B4-BE49-F238E27FC236}">
                <a16:creationId xmlns:a16="http://schemas.microsoft.com/office/drawing/2014/main" id="{B19DB07E-224B-B921-83F3-3D419B2F1FB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00600" y="5641848"/>
            <a:ext cx="329184" cy="329184"/>
          </a:xfrm>
          <a:prstGeom prst="rect">
            <a:avLst/>
          </a:prstGeom>
        </p:spPr>
      </p:pic>
      <p:sp>
        <p:nvSpPr>
          <p:cNvPr id="3042" name="HumanTitle"/>
          <p:cNvSpPr txBox="1"/>
          <p:nvPr/>
        </p:nvSpPr>
        <p:spPr>
          <a:xfrm>
            <a:off x="5376672" y="5486400"/>
            <a:ext cx="2286000" cy="310896"/>
          </a:xfrm>
          <a:prstGeom prst="rect">
            <a:avLst/>
          </a:prstGeom>
          <a:noFill/>
          <a:ln>
            <a:noFill/>
          </a:ln>
        </p:spPr>
        <p:txBody>
          <a:bodyPr wrap="square" lIns="0" tIns="0" rIns="0" bIns="0" rtlCol="0" anchor="t">
            <a:noAutofit/>
          </a:bodyPr>
          <a:lstStyle/>
          <a:p>
            <a:pPr algn="l">
              <a:spcBef>
                <a:spcPts val="0"/>
              </a:spcBef>
              <a:spcAft>
                <a:spcPts val="0"/>
              </a:spcAft>
              <a:buNone/>
            </a:pPr>
            <a:r>
              <a:rPr lang="fr-FR" sz="1300" b="1" dirty="0">
                <a:solidFill>
                  <a:srgbClr val="1F1B18"/>
                </a:solidFill>
                <a:latin typeface="Montserrat"/>
                <a:cs typeface="Montserrat"/>
              </a:rPr>
              <a:t>AGENT HUMAIN</a:t>
            </a:r>
          </a:p>
        </p:txBody>
      </p:sp>
      <p:sp>
        <p:nvSpPr>
          <p:cNvPr id="3043" name="HumanDesc"/>
          <p:cNvSpPr txBox="1"/>
          <p:nvPr/>
        </p:nvSpPr>
        <p:spPr>
          <a:xfrm>
            <a:off x="5376672" y="5797296"/>
            <a:ext cx="2286000" cy="365760"/>
          </a:xfrm>
          <a:prstGeom prst="rect">
            <a:avLst/>
          </a:prstGeom>
          <a:noFill/>
          <a:ln>
            <a:noFill/>
          </a:ln>
        </p:spPr>
        <p:txBody>
          <a:bodyPr wrap="square" lIns="0" tIns="0" rIns="0" bIns="0" rtlCol="0" anchor="t">
            <a:noAutofit/>
          </a:bodyPr>
          <a:lstStyle/>
          <a:p>
            <a:pPr algn="l">
              <a:spcBef>
                <a:spcPts val="0"/>
              </a:spcBef>
              <a:spcAft>
                <a:spcPts val="0"/>
              </a:spcAft>
              <a:buNone/>
            </a:pPr>
            <a:r>
              <a:rPr lang="fr-FR" sz="1200" dirty="0">
                <a:solidFill>
                  <a:srgbClr val="5A5550"/>
                </a:solidFill>
                <a:latin typeface="Montserrat"/>
                <a:cs typeface="Montserrat"/>
              </a:rPr>
              <a:t>Prend le relais si nécessaire</a:t>
            </a:r>
          </a:p>
        </p:txBody>
      </p:sp>
      <p:sp>
        <p:nvSpPr>
          <p:cNvPr id="3044" name="HumanReturnH"/>
          <p:cNvSpPr/>
          <p:nvPr/>
        </p:nvSpPr>
        <p:spPr>
          <a:xfrm>
            <a:off x="1691640" y="5806440"/>
            <a:ext cx="2862072" cy="0"/>
          </a:xfrm>
          <a:prstGeom prst="line">
            <a:avLst/>
          </a:prstGeom>
          <a:noFill/>
          <a:ln w="25400">
            <a:solidFill>
              <a:srgbClr val="16294A"/>
            </a:solidFill>
            <a:prstDash val="dash"/>
          </a:ln>
        </p:spPr>
        <p:txBody>
          <a:bodyPr/>
          <a:lstStyle/>
          <a:p>
            <a:endParaRPr lang="fr-FR"/>
          </a:p>
        </p:txBody>
      </p:sp>
      <p:sp>
        <p:nvSpPr>
          <p:cNvPr id="3045" name="HumanReturnV"/>
          <p:cNvSpPr/>
          <p:nvPr/>
        </p:nvSpPr>
        <p:spPr>
          <a:xfrm>
            <a:off x="1691640" y="4407408"/>
            <a:ext cx="0" cy="1399032"/>
          </a:xfrm>
          <a:prstGeom prst="line">
            <a:avLst/>
          </a:prstGeom>
          <a:noFill/>
          <a:ln w="25400">
            <a:solidFill>
              <a:srgbClr val="16294A"/>
            </a:solidFill>
            <a:prstDash val="dash"/>
            <a:headEnd type="triangle" w="med" len="med"/>
          </a:ln>
        </p:spPr>
        <p:txBody>
          <a:bodyPr/>
          <a:lstStyle/>
          <a:p>
            <a:endParaRPr lang="fr-FR"/>
          </a:p>
        </p:txBody>
      </p:sp>
      <p:sp>
        <p:nvSpPr>
          <p:cNvPr id="3046" name="HumanReturnLbl"/>
          <p:cNvSpPr txBox="1"/>
          <p:nvPr/>
        </p:nvSpPr>
        <p:spPr>
          <a:xfrm>
            <a:off x="1810512" y="5449824"/>
            <a:ext cx="2743200" cy="310896"/>
          </a:xfrm>
          <a:prstGeom prst="rect">
            <a:avLst/>
          </a:prstGeom>
          <a:noFill/>
          <a:ln>
            <a:noFill/>
          </a:ln>
        </p:spPr>
        <p:txBody>
          <a:bodyPr wrap="square" lIns="0" tIns="0" rIns="0" bIns="0" rtlCol="0" anchor="t">
            <a:noAutofit/>
          </a:bodyPr>
          <a:lstStyle/>
          <a:p>
            <a:pPr algn="l">
              <a:spcBef>
                <a:spcPts val="0"/>
              </a:spcBef>
              <a:spcAft>
                <a:spcPts val="0"/>
              </a:spcAft>
              <a:buNone/>
            </a:pPr>
            <a:r>
              <a:rPr lang="fr-FR" sz="1200" i="1" dirty="0">
                <a:solidFill>
                  <a:srgbClr val="5A5550"/>
                </a:solidFill>
                <a:latin typeface="Montserrat"/>
                <a:cs typeface="Montserrat"/>
              </a:rPr>
              <a:t>Échange direct avec l’agent humain</a:t>
            </a:r>
          </a:p>
        </p:txBody>
      </p:sp>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F246B8F4-59FF-4B45-9AE5-7B70E8F84D06}" type="slidenum">
              <a:rPr lang="fr-FR" sz="1600" b="1" dirty="0">
                <a:solidFill>
                  <a:srgbClr val="FFFFFF"/>
                </a:solidFill>
                <a:latin typeface="Montserrat"/>
              </a:rPr>
              <a:t>10</a:t>
            </a:fld>
            <a:endParaRPr lang="fr-FR" sz="1600" b="1" dirty="0">
              <a:solidFill>
                <a:srgbClr val="FFFFFF"/>
              </a:solidFill>
              <a:latin typeface="Montserrat"/>
            </a:endParaRPr>
          </a:p>
        </p:txBody>
      </p:sp>
    </p:spTree>
    <p:extLst>
      <p:ext uri="{BB962C8B-B14F-4D97-AF65-F5344CB8AC3E}">
        <p14:creationId xmlns:p14="http://schemas.microsoft.com/office/powerpoint/2010/main" val="780557107"/>
      </p:ext>
    </p:extLst>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001"/>
                                        </p:tgtEl>
                                        <p:attrNameLst>
                                          <p:attrName>style.visibility</p:attrName>
                                        </p:attrNameLst>
                                      </p:cBhvr>
                                      <p:to>
                                        <p:strVal val="visible"/>
                                      </p:to>
                                    </p:set>
                                    <p:animEffect transition="in" filter="fade">
                                      <p:cBhvr>
                                        <p:cTn id="7" dur="450"/>
                                        <p:tgtEl>
                                          <p:spTgt spid="3001"/>
                                        </p:tgtEl>
                                      </p:cBhvr>
                                    </p:animEffect>
                                    <p:anim calcmode="lin" valueType="num">
                                      <p:cBhvr>
                                        <p:cTn id="8" dur="450" fill="hold"/>
                                        <p:tgtEl>
                                          <p:spTgt spid="3001"/>
                                        </p:tgtEl>
                                        <p:attrNameLst>
                                          <p:attrName>ppt_x</p:attrName>
                                        </p:attrNameLst>
                                      </p:cBhvr>
                                      <p:tavLst>
                                        <p:tav tm="0">
                                          <p:val>
                                            <p:strVal val="#ppt_x"/>
                                          </p:val>
                                        </p:tav>
                                        <p:tav tm="100000">
                                          <p:val>
                                            <p:strVal val="#ppt_x"/>
                                          </p:val>
                                        </p:tav>
                                      </p:tavLst>
                                    </p:anim>
                                    <p:anim calcmode="lin" valueType="num">
                                      <p:cBhvr>
                                        <p:cTn id="9" dur="450" fill="hold"/>
                                        <p:tgtEl>
                                          <p:spTgt spid="3001"/>
                                        </p:tgtEl>
                                        <p:attrNameLst>
                                          <p:attrName>ppt_y</p:attrName>
                                        </p:attrNameLst>
                                      </p:cBhvr>
                                      <p:tavLst>
                                        <p:tav tm="0">
                                          <p:val>
                                            <p:strVal val="#ppt_y+.03"/>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002"/>
                                        </p:tgtEl>
                                        <p:attrNameLst>
                                          <p:attrName>style.visibility</p:attrName>
                                        </p:attrNameLst>
                                      </p:cBhvr>
                                      <p:to>
                                        <p:strVal val="visible"/>
                                      </p:to>
                                    </p:set>
                                    <p:animEffect transition="in" filter="fade">
                                      <p:cBhvr>
                                        <p:cTn id="14" dur="450"/>
                                        <p:tgtEl>
                                          <p:spTgt spid="3002"/>
                                        </p:tgtEl>
                                      </p:cBhvr>
                                    </p:animEffect>
                                    <p:anim calcmode="lin" valueType="num">
                                      <p:cBhvr>
                                        <p:cTn id="15" dur="450" fill="hold"/>
                                        <p:tgtEl>
                                          <p:spTgt spid="3002"/>
                                        </p:tgtEl>
                                        <p:attrNameLst>
                                          <p:attrName>ppt_x</p:attrName>
                                        </p:attrNameLst>
                                      </p:cBhvr>
                                      <p:tavLst>
                                        <p:tav tm="0">
                                          <p:val>
                                            <p:strVal val="#ppt_x"/>
                                          </p:val>
                                        </p:tav>
                                        <p:tav tm="100000">
                                          <p:val>
                                            <p:strVal val="#ppt_x"/>
                                          </p:val>
                                        </p:tav>
                                      </p:tavLst>
                                    </p:anim>
                                    <p:anim calcmode="lin" valueType="num">
                                      <p:cBhvr>
                                        <p:cTn id="16" dur="450" fill="hold"/>
                                        <p:tgtEl>
                                          <p:spTgt spid="3002"/>
                                        </p:tgtEl>
                                        <p:attrNameLst>
                                          <p:attrName>ppt_y</p:attrName>
                                        </p:attrNameLst>
                                      </p:cBhvr>
                                      <p:tavLst>
                                        <p:tav tm="0">
                                          <p:val>
                                            <p:strVal val="#ppt_y+.03"/>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003"/>
                                        </p:tgtEl>
                                        <p:attrNameLst>
                                          <p:attrName>style.visibility</p:attrName>
                                        </p:attrNameLst>
                                      </p:cBhvr>
                                      <p:to>
                                        <p:strVal val="visible"/>
                                      </p:to>
                                    </p:set>
                                    <p:animEffect transition="in" filter="fade">
                                      <p:cBhvr>
                                        <p:cTn id="19" dur="450"/>
                                        <p:tgtEl>
                                          <p:spTgt spid="3003"/>
                                        </p:tgtEl>
                                      </p:cBhvr>
                                    </p:animEffect>
                                    <p:anim calcmode="lin" valueType="num">
                                      <p:cBhvr>
                                        <p:cTn id="20" dur="450" fill="hold"/>
                                        <p:tgtEl>
                                          <p:spTgt spid="3003"/>
                                        </p:tgtEl>
                                        <p:attrNameLst>
                                          <p:attrName>ppt_x</p:attrName>
                                        </p:attrNameLst>
                                      </p:cBhvr>
                                      <p:tavLst>
                                        <p:tav tm="0">
                                          <p:val>
                                            <p:strVal val="#ppt_x"/>
                                          </p:val>
                                        </p:tav>
                                        <p:tav tm="100000">
                                          <p:val>
                                            <p:strVal val="#ppt_x"/>
                                          </p:val>
                                        </p:tav>
                                      </p:tavLst>
                                    </p:anim>
                                    <p:anim calcmode="lin" valueType="num">
                                      <p:cBhvr>
                                        <p:cTn id="21" dur="450" fill="hold"/>
                                        <p:tgtEl>
                                          <p:spTgt spid="3003"/>
                                        </p:tgtEl>
                                        <p:attrNameLst>
                                          <p:attrName>ppt_y</p:attrName>
                                        </p:attrNameLst>
                                      </p:cBhvr>
                                      <p:tavLst>
                                        <p:tav tm="0">
                                          <p:val>
                                            <p:strVal val="#ppt_y+.03"/>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50"/>
                                        <p:tgtEl>
                                          <p:spTgt spid="28"/>
                                        </p:tgtEl>
                                      </p:cBhvr>
                                    </p:animEffect>
                                    <p:anim calcmode="lin" valueType="num">
                                      <p:cBhvr>
                                        <p:cTn id="25" dur="450" fill="hold"/>
                                        <p:tgtEl>
                                          <p:spTgt spid="28"/>
                                        </p:tgtEl>
                                        <p:attrNameLst>
                                          <p:attrName>ppt_x</p:attrName>
                                        </p:attrNameLst>
                                      </p:cBhvr>
                                      <p:tavLst>
                                        <p:tav tm="0">
                                          <p:val>
                                            <p:strVal val="#ppt_x"/>
                                          </p:val>
                                        </p:tav>
                                        <p:tav tm="100000">
                                          <p:val>
                                            <p:strVal val="#ppt_x"/>
                                          </p:val>
                                        </p:tav>
                                      </p:tavLst>
                                    </p:anim>
                                    <p:anim calcmode="lin" valueType="num">
                                      <p:cBhvr>
                                        <p:cTn id="26" dur="450" fill="hold"/>
                                        <p:tgtEl>
                                          <p:spTgt spid="28"/>
                                        </p:tgtEl>
                                        <p:attrNameLst>
                                          <p:attrName>ppt_y</p:attrName>
                                        </p:attrNameLst>
                                      </p:cBhvr>
                                      <p:tavLst>
                                        <p:tav tm="0">
                                          <p:val>
                                            <p:strVal val="#ppt_y+.03"/>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004"/>
                                        </p:tgtEl>
                                        <p:attrNameLst>
                                          <p:attrName>style.visibility</p:attrName>
                                        </p:attrNameLst>
                                      </p:cBhvr>
                                      <p:to>
                                        <p:strVal val="visible"/>
                                      </p:to>
                                    </p:set>
                                    <p:animEffect transition="in" filter="fade">
                                      <p:cBhvr>
                                        <p:cTn id="29" dur="450"/>
                                        <p:tgtEl>
                                          <p:spTgt spid="3004"/>
                                        </p:tgtEl>
                                      </p:cBhvr>
                                    </p:animEffect>
                                    <p:anim calcmode="lin" valueType="num">
                                      <p:cBhvr>
                                        <p:cTn id="30" dur="450" fill="hold"/>
                                        <p:tgtEl>
                                          <p:spTgt spid="3004"/>
                                        </p:tgtEl>
                                        <p:attrNameLst>
                                          <p:attrName>ppt_x</p:attrName>
                                        </p:attrNameLst>
                                      </p:cBhvr>
                                      <p:tavLst>
                                        <p:tav tm="0">
                                          <p:val>
                                            <p:strVal val="#ppt_x"/>
                                          </p:val>
                                        </p:tav>
                                        <p:tav tm="100000">
                                          <p:val>
                                            <p:strVal val="#ppt_x"/>
                                          </p:val>
                                        </p:tav>
                                      </p:tavLst>
                                    </p:anim>
                                    <p:anim calcmode="lin" valueType="num">
                                      <p:cBhvr>
                                        <p:cTn id="31" dur="450" fill="hold"/>
                                        <p:tgtEl>
                                          <p:spTgt spid="3004"/>
                                        </p:tgtEl>
                                        <p:attrNameLst>
                                          <p:attrName>ppt_y</p:attrName>
                                        </p:attrNameLst>
                                      </p:cBhvr>
                                      <p:tavLst>
                                        <p:tav tm="0">
                                          <p:val>
                                            <p:strVal val="#ppt_y+.03"/>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3005"/>
                                        </p:tgtEl>
                                        <p:attrNameLst>
                                          <p:attrName>style.visibility</p:attrName>
                                        </p:attrNameLst>
                                      </p:cBhvr>
                                      <p:to>
                                        <p:strVal val="visible"/>
                                      </p:to>
                                    </p:set>
                                    <p:animEffect transition="in" filter="fade">
                                      <p:cBhvr>
                                        <p:cTn id="34" dur="450"/>
                                        <p:tgtEl>
                                          <p:spTgt spid="3005"/>
                                        </p:tgtEl>
                                      </p:cBhvr>
                                    </p:animEffect>
                                    <p:anim calcmode="lin" valueType="num">
                                      <p:cBhvr>
                                        <p:cTn id="35" dur="450" fill="hold"/>
                                        <p:tgtEl>
                                          <p:spTgt spid="3005"/>
                                        </p:tgtEl>
                                        <p:attrNameLst>
                                          <p:attrName>ppt_x</p:attrName>
                                        </p:attrNameLst>
                                      </p:cBhvr>
                                      <p:tavLst>
                                        <p:tav tm="0">
                                          <p:val>
                                            <p:strVal val="#ppt_x"/>
                                          </p:val>
                                        </p:tav>
                                        <p:tav tm="100000">
                                          <p:val>
                                            <p:strVal val="#ppt_x"/>
                                          </p:val>
                                        </p:tav>
                                      </p:tavLst>
                                    </p:anim>
                                    <p:anim calcmode="lin" valueType="num">
                                      <p:cBhvr>
                                        <p:cTn id="36" dur="450" fill="hold"/>
                                        <p:tgtEl>
                                          <p:spTgt spid="3005"/>
                                        </p:tgtEl>
                                        <p:attrNameLst>
                                          <p:attrName>ppt_y</p:attrName>
                                        </p:attrNameLst>
                                      </p:cBhvr>
                                      <p:tavLst>
                                        <p:tav tm="0">
                                          <p:val>
                                            <p:strVal val="#ppt_y+.03"/>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3006"/>
                                        </p:tgtEl>
                                        <p:attrNameLst>
                                          <p:attrName>style.visibility</p:attrName>
                                        </p:attrNameLst>
                                      </p:cBhvr>
                                      <p:to>
                                        <p:strVal val="visible"/>
                                      </p:to>
                                    </p:set>
                                    <p:animEffect transition="in" filter="wipe(left)">
                                      <p:cBhvr>
                                        <p:cTn id="41" dur="400"/>
                                        <p:tgtEl>
                                          <p:spTgt spid="3006"/>
                                        </p:tgtEl>
                                      </p:cBhvr>
                                    </p:animEffect>
                                  </p:childTnLst>
                                </p:cTn>
                              </p:par>
                              <p:par>
                                <p:cTn id="42" presetID="10" presetClass="entr" presetSubtype="0" fill="hold" grpId="0" nodeType="withEffect">
                                  <p:stCondLst>
                                    <p:cond delay="140"/>
                                  </p:stCondLst>
                                  <p:childTnLst>
                                    <p:set>
                                      <p:cBhvr>
                                        <p:cTn id="43" dur="1" fill="hold">
                                          <p:stCondLst>
                                            <p:cond delay="0"/>
                                          </p:stCondLst>
                                        </p:cTn>
                                        <p:tgtEl>
                                          <p:spTgt spid="3007"/>
                                        </p:tgtEl>
                                        <p:attrNameLst>
                                          <p:attrName>style.visibility</p:attrName>
                                        </p:attrNameLst>
                                      </p:cBhvr>
                                      <p:to>
                                        <p:strVal val="visible"/>
                                      </p:to>
                                    </p:set>
                                    <p:animEffect transition="in" filter="fade">
                                      <p:cBhvr>
                                        <p:cTn id="44" dur="450"/>
                                        <p:tgtEl>
                                          <p:spTgt spid="3007"/>
                                        </p:tgtEl>
                                      </p:cBhvr>
                                    </p:animEffect>
                                  </p:childTnLst>
                                </p:cTn>
                              </p:par>
                              <p:par>
                                <p:cTn id="45" presetID="10" presetClass="entr" presetSubtype="0" fill="hold" grpId="0" nodeType="withEffect">
                                  <p:stCondLst>
                                    <p:cond delay="280"/>
                                  </p:stCondLst>
                                  <p:childTnLst>
                                    <p:set>
                                      <p:cBhvr>
                                        <p:cTn id="46" dur="1" fill="hold">
                                          <p:stCondLst>
                                            <p:cond delay="0"/>
                                          </p:stCondLst>
                                        </p:cTn>
                                        <p:tgtEl>
                                          <p:spTgt spid="3010"/>
                                        </p:tgtEl>
                                        <p:attrNameLst>
                                          <p:attrName>style.visibility</p:attrName>
                                        </p:attrNameLst>
                                      </p:cBhvr>
                                      <p:to>
                                        <p:strVal val="visible"/>
                                      </p:to>
                                    </p:set>
                                    <p:animEffect transition="in" filter="fade">
                                      <p:cBhvr>
                                        <p:cTn id="47" dur="450"/>
                                        <p:tgtEl>
                                          <p:spTgt spid="3010"/>
                                        </p:tgtEl>
                                      </p:cBhvr>
                                    </p:animEffect>
                                  </p:childTnLst>
                                </p:cTn>
                              </p:par>
                              <p:par>
                                <p:cTn id="48" presetID="42" presetClass="entr" presetSubtype="0" fill="hold" grpId="0" nodeType="withEffect">
                                  <p:stCondLst>
                                    <p:cond delay="420"/>
                                  </p:stCondLst>
                                  <p:childTnLst>
                                    <p:set>
                                      <p:cBhvr>
                                        <p:cTn id="49" dur="1" fill="hold">
                                          <p:stCondLst>
                                            <p:cond delay="0"/>
                                          </p:stCondLst>
                                        </p:cTn>
                                        <p:tgtEl>
                                          <p:spTgt spid="3011"/>
                                        </p:tgtEl>
                                        <p:attrNameLst>
                                          <p:attrName>style.visibility</p:attrName>
                                        </p:attrNameLst>
                                      </p:cBhvr>
                                      <p:to>
                                        <p:strVal val="visible"/>
                                      </p:to>
                                    </p:set>
                                    <p:animEffect transition="in" filter="fade">
                                      <p:cBhvr>
                                        <p:cTn id="50" dur="450"/>
                                        <p:tgtEl>
                                          <p:spTgt spid="3011"/>
                                        </p:tgtEl>
                                      </p:cBhvr>
                                    </p:animEffect>
                                    <p:anim calcmode="lin" valueType="num">
                                      <p:cBhvr>
                                        <p:cTn id="51" dur="450" fill="hold"/>
                                        <p:tgtEl>
                                          <p:spTgt spid="3011"/>
                                        </p:tgtEl>
                                        <p:attrNameLst>
                                          <p:attrName>ppt_x</p:attrName>
                                        </p:attrNameLst>
                                      </p:cBhvr>
                                      <p:tavLst>
                                        <p:tav tm="0">
                                          <p:val>
                                            <p:strVal val="#ppt_x"/>
                                          </p:val>
                                        </p:tav>
                                        <p:tav tm="100000">
                                          <p:val>
                                            <p:strVal val="#ppt_x"/>
                                          </p:val>
                                        </p:tav>
                                      </p:tavLst>
                                    </p:anim>
                                    <p:anim calcmode="lin" valueType="num">
                                      <p:cBhvr>
                                        <p:cTn id="52" dur="450" fill="hold"/>
                                        <p:tgtEl>
                                          <p:spTgt spid="3011"/>
                                        </p:tgtEl>
                                        <p:attrNameLst>
                                          <p:attrName>ppt_y</p:attrName>
                                        </p:attrNameLst>
                                      </p:cBhvr>
                                      <p:tavLst>
                                        <p:tav tm="0">
                                          <p:val>
                                            <p:strVal val="#ppt_y+.03"/>
                                          </p:val>
                                        </p:tav>
                                        <p:tav tm="100000">
                                          <p:val>
                                            <p:strVal val="#ppt_y"/>
                                          </p:val>
                                        </p:tav>
                                      </p:tavLst>
                                    </p:anim>
                                  </p:childTnLst>
                                </p:cTn>
                              </p:par>
                              <p:par>
                                <p:cTn id="53" presetID="42" presetClass="entr" presetSubtype="0" fill="hold" grpId="0" nodeType="withEffect">
                                  <p:stCondLst>
                                    <p:cond delay="560"/>
                                  </p:stCondLst>
                                  <p:childTnLst>
                                    <p:set>
                                      <p:cBhvr>
                                        <p:cTn id="54" dur="1" fill="hold">
                                          <p:stCondLst>
                                            <p:cond delay="0"/>
                                          </p:stCondLst>
                                        </p:cTn>
                                        <p:tgtEl>
                                          <p:spTgt spid="3012"/>
                                        </p:tgtEl>
                                        <p:attrNameLst>
                                          <p:attrName>style.visibility</p:attrName>
                                        </p:attrNameLst>
                                      </p:cBhvr>
                                      <p:to>
                                        <p:strVal val="visible"/>
                                      </p:to>
                                    </p:set>
                                    <p:animEffect transition="in" filter="fade">
                                      <p:cBhvr>
                                        <p:cTn id="55" dur="500"/>
                                        <p:tgtEl>
                                          <p:spTgt spid="3012"/>
                                        </p:tgtEl>
                                      </p:cBhvr>
                                    </p:animEffect>
                                    <p:anim calcmode="lin" valueType="num">
                                      <p:cBhvr>
                                        <p:cTn id="56" dur="500" fill="hold"/>
                                        <p:tgtEl>
                                          <p:spTgt spid="3012"/>
                                        </p:tgtEl>
                                        <p:attrNameLst>
                                          <p:attrName>ppt_x</p:attrName>
                                        </p:attrNameLst>
                                      </p:cBhvr>
                                      <p:tavLst>
                                        <p:tav tm="0">
                                          <p:val>
                                            <p:strVal val="#ppt_x-.035"/>
                                          </p:val>
                                        </p:tav>
                                        <p:tav tm="100000">
                                          <p:val>
                                            <p:strVal val="#ppt_x"/>
                                          </p:val>
                                        </p:tav>
                                      </p:tavLst>
                                    </p:anim>
                                    <p:anim calcmode="lin" valueType="num">
                                      <p:cBhvr>
                                        <p:cTn id="57" dur="500" fill="hold"/>
                                        <p:tgtEl>
                                          <p:spTgt spid="3012"/>
                                        </p:tgtEl>
                                        <p:attrNameLst>
                                          <p:attrName>ppt_y</p:attrName>
                                        </p:attrNameLst>
                                      </p:cBhvr>
                                      <p:tavLst>
                                        <p:tav tm="0">
                                          <p:val>
                                            <p:strVal val="#ppt_y"/>
                                          </p:val>
                                        </p:tav>
                                        <p:tav tm="100000">
                                          <p:val>
                                            <p:strVal val="#ppt_y"/>
                                          </p:val>
                                        </p:tav>
                                      </p:tavLst>
                                    </p:anim>
                                  </p:childTnLst>
                                </p:cTn>
                              </p:par>
                              <p:par>
                                <p:cTn id="58" presetID="42" presetClass="entr" presetSubtype="0" fill="hold" grpId="0" nodeType="withEffect">
                                  <p:stCondLst>
                                    <p:cond delay="560"/>
                                  </p:stCondLst>
                                  <p:childTnLst>
                                    <p:set>
                                      <p:cBhvr>
                                        <p:cTn id="59" dur="1" fill="hold">
                                          <p:stCondLst>
                                            <p:cond delay="0"/>
                                          </p:stCondLst>
                                        </p:cTn>
                                        <p:tgtEl>
                                          <p:spTgt spid="3013"/>
                                        </p:tgtEl>
                                        <p:attrNameLst>
                                          <p:attrName>style.visibility</p:attrName>
                                        </p:attrNameLst>
                                      </p:cBhvr>
                                      <p:to>
                                        <p:strVal val="visible"/>
                                      </p:to>
                                    </p:set>
                                    <p:animEffect transition="in" filter="fade">
                                      <p:cBhvr>
                                        <p:cTn id="60" dur="500"/>
                                        <p:tgtEl>
                                          <p:spTgt spid="3013"/>
                                        </p:tgtEl>
                                      </p:cBhvr>
                                    </p:animEffect>
                                    <p:anim calcmode="lin" valueType="num">
                                      <p:cBhvr>
                                        <p:cTn id="61" dur="500" fill="hold"/>
                                        <p:tgtEl>
                                          <p:spTgt spid="3013"/>
                                        </p:tgtEl>
                                        <p:attrNameLst>
                                          <p:attrName>ppt_x</p:attrName>
                                        </p:attrNameLst>
                                      </p:cBhvr>
                                      <p:tavLst>
                                        <p:tav tm="0">
                                          <p:val>
                                            <p:strVal val="#ppt_x-.035"/>
                                          </p:val>
                                        </p:tav>
                                        <p:tav tm="100000">
                                          <p:val>
                                            <p:strVal val="#ppt_x"/>
                                          </p:val>
                                        </p:tav>
                                      </p:tavLst>
                                    </p:anim>
                                    <p:anim calcmode="lin" valueType="num">
                                      <p:cBhvr>
                                        <p:cTn id="62" dur="500" fill="hold"/>
                                        <p:tgtEl>
                                          <p:spTgt spid="3013"/>
                                        </p:tgtEl>
                                        <p:attrNameLst>
                                          <p:attrName>ppt_y</p:attrName>
                                        </p:attrNameLst>
                                      </p:cBhvr>
                                      <p:tavLst>
                                        <p:tav tm="0">
                                          <p:val>
                                            <p:strVal val="#ppt_y"/>
                                          </p:val>
                                        </p:tav>
                                        <p:tav tm="100000">
                                          <p:val>
                                            <p:strVal val="#ppt_y"/>
                                          </p:val>
                                        </p:tav>
                                      </p:tavLst>
                                    </p:anim>
                                  </p:childTnLst>
                                </p:cTn>
                              </p:par>
                              <p:par>
                                <p:cTn id="63" presetID="42" presetClass="entr" presetSubtype="0" fill="hold" grpId="0" nodeType="withEffect">
                                  <p:stCondLst>
                                    <p:cond delay="560"/>
                                  </p:stCondLst>
                                  <p:childTnLst>
                                    <p:set>
                                      <p:cBhvr>
                                        <p:cTn id="64" dur="1" fill="hold">
                                          <p:stCondLst>
                                            <p:cond delay="0"/>
                                          </p:stCondLst>
                                        </p:cTn>
                                        <p:tgtEl>
                                          <p:spTgt spid="3014"/>
                                        </p:tgtEl>
                                        <p:attrNameLst>
                                          <p:attrName>style.visibility</p:attrName>
                                        </p:attrNameLst>
                                      </p:cBhvr>
                                      <p:to>
                                        <p:strVal val="visible"/>
                                      </p:to>
                                    </p:set>
                                    <p:animEffect transition="in" filter="fade">
                                      <p:cBhvr>
                                        <p:cTn id="65" dur="500"/>
                                        <p:tgtEl>
                                          <p:spTgt spid="3014"/>
                                        </p:tgtEl>
                                      </p:cBhvr>
                                    </p:animEffect>
                                    <p:anim calcmode="lin" valueType="num">
                                      <p:cBhvr>
                                        <p:cTn id="66" dur="500" fill="hold"/>
                                        <p:tgtEl>
                                          <p:spTgt spid="3014"/>
                                        </p:tgtEl>
                                        <p:attrNameLst>
                                          <p:attrName>ppt_x</p:attrName>
                                        </p:attrNameLst>
                                      </p:cBhvr>
                                      <p:tavLst>
                                        <p:tav tm="0">
                                          <p:val>
                                            <p:strVal val="#ppt_x-.035"/>
                                          </p:val>
                                        </p:tav>
                                        <p:tav tm="100000">
                                          <p:val>
                                            <p:strVal val="#ppt_x"/>
                                          </p:val>
                                        </p:tav>
                                      </p:tavLst>
                                    </p:anim>
                                    <p:anim calcmode="lin" valueType="num">
                                      <p:cBhvr>
                                        <p:cTn id="67" dur="500" fill="hold"/>
                                        <p:tgtEl>
                                          <p:spTgt spid="3014"/>
                                        </p:tgtEl>
                                        <p:attrNameLst>
                                          <p:attrName>ppt_y</p:attrName>
                                        </p:attrNameLst>
                                      </p:cBhvr>
                                      <p:tavLst>
                                        <p:tav tm="0">
                                          <p:val>
                                            <p:strVal val="#ppt_y"/>
                                          </p:val>
                                        </p:tav>
                                        <p:tav tm="100000">
                                          <p:val>
                                            <p:strVal val="#ppt_y"/>
                                          </p:val>
                                        </p:tav>
                                      </p:tavLst>
                                    </p:anim>
                                  </p:childTnLst>
                                </p:cTn>
                              </p:par>
                              <p:par>
                                <p:cTn id="68" presetID="42" presetClass="entr" presetSubtype="0" fill="hold" grpId="0" nodeType="withEffect">
                                  <p:stCondLst>
                                    <p:cond delay="560"/>
                                  </p:stCondLst>
                                  <p:childTnLst>
                                    <p:set>
                                      <p:cBhvr>
                                        <p:cTn id="69" dur="1" fill="hold">
                                          <p:stCondLst>
                                            <p:cond delay="0"/>
                                          </p:stCondLst>
                                        </p:cTn>
                                        <p:tgtEl>
                                          <p:spTgt spid="3015"/>
                                        </p:tgtEl>
                                        <p:attrNameLst>
                                          <p:attrName>style.visibility</p:attrName>
                                        </p:attrNameLst>
                                      </p:cBhvr>
                                      <p:to>
                                        <p:strVal val="visible"/>
                                      </p:to>
                                    </p:set>
                                    <p:animEffect transition="in" filter="fade">
                                      <p:cBhvr>
                                        <p:cTn id="70" dur="500"/>
                                        <p:tgtEl>
                                          <p:spTgt spid="3015"/>
                                        </p:tgtEl>
                                      </p:cBhvr>
                                    </p:animEffect>
                                    <p:anim calcmode="lin" valueType="num">
                                      <p:cBhvr>
                                        <p:cTn id="71" dur="500" fill="hold"/>
                                        <p:tgtEl>
                                          <p:spTgt spid="3015"/>
                                        </p:tgtEl>
                                        <p:attrNameLst>
                                          <p:attrName>ppt_x</p:attrName>
                                        </p:attrNameLst>
                                      </p:cBhvr>
                                      <p:tavLst>
                                        <p:tav tm="0">
                                          <p:val>
                                            <p:strVal val="#ppt_x-.035"/>
                                          </p:val>
                                        </p:tav>
                                        <p:tav tm="100000">
                                          <p:val>
                                            <p:strVal val="#ppt_x"/>
                                          </p:val>
                                        </p:tav>
                                      </p:tavLst>
                                    </p:anim>
                                    <p:anim calcmode="lin" valueType="num">
                                      <p:cBhvr>
                                        <p:cTn id="72" dur="500" fill="hold"/>
                                        <p:tgtEl>
                                          <p:spTgt spid="3015"/>
                                        </p:tgtEl>
                                        <p:attrNameLst>
                                          <p:attrName>ppt_y</p:attrName>
                                        </p:attrNameLst>
                                      </p:cBhvr>
                                      <p:tavLst>
                                        <p:tav tm="0">
                                          <p:val>
                                            <p:strVal val="#ppt_y"/>
                                          </p:val>
                                        </p:tav>
                                        <p:tav tm="100000">
                                          <p:val>
                                            <p:strVal val="#ppt_y"/>
                                          </p:val>
                                        </p:tav>
                                      </p:tavLst>
                                    </p:anim>
                                  </p:childTnLst>
                                </p:cTn>
                              </p:par>
                              <p:par>
                                <p:cTn id="73" presetID="10" presetClass="entr" presetSubtype="0" fill="hold" grpId="0" nodeType="withEffect">
                                  <p:stCondLst>
                                    <p:cond delay="700"/>
                                  </p:stCondLst>
                                  <p:childTnLst>
                                    <p:set>
                                      <p:cBhvr>
                                        <p:cTn id="74" dur="1" fill="hold">
                                          <p:stCondLst>
                                            <p:cond delay="0"/>
                                          </p:stCondLst>
                                        </p:cTn>
                                        <p:tgtEl>
                                          <p:spTgt spid="3016"/>
                                        </p:tgtEl>
                                        <p:attrNameLst>
                                          <p:attrName>style.visibility</p:attrName>
                                        </p:attrNameLst>
                                      </p:cBhvr>
                                      <p:to>
                                        <p:strVal val="visible"/>
                                      </p:to>
                                    </p:set>
                                    <p:animEffect transition="in" filter="fade">
                                      <p:cBhvr>
                                        <p:cTn id="75" dur="450"/>
                                        <p:tgtEl>
                                          <p:spTgt spid="3016"/>
                                        </p:tgtEl>
                                      </p:cBhvr>
                                    </p:animEffect>
                                  </p:childTnLst>
                                </p:cTn>
                              </p:par>
                              <p:par>
                                <p:cTn id="76" presetID="42" presetClass="entr" presetSubtype="0" fill="hold" grpId="0" nodeType="withEffect">
                                  <p:stCondLst>
                                    <p:cond delay="840"/>
                                  </p:stCondLst>
                                  <p:childTnLst>
                                    <p:set>
                                      <p:cBhvr>
                                        <p:cTn id="77" dur="1" fill="hold">
                                          <p:stCondLst>
                                            <p:cond delay="0"/>
                                          </p:stCondLst>
                                        </p:cTn>
                                        <p:tgtEl>
                                          <p:spTgt spid="3017"/>
                                        </p:tgtEl>
                                        <p:attrNameLst>
                                          <p:attrName>style.visibility</p:attrName>
                                        </p:attrNameLst>
                                      </p:cBhvr>
                                      <p:to>
                                        <p:strVal val="visible"/>
                                      </p:to>
                                    </p:set>
                                    <p:animEffect transition="in" filter="fade">
                                      <p:cBhvr>
                                        <p:cTn id="78" dur="500"/>
                                        <p:tgtEl>
                                          <p:spTgt spid="3017"/>
                                        </p:tgtEl>
                                      </p:cBhvr>
                                    </p:animEffect>
                                    <p:anim calcmode="lin" valueType="num">
                                      <p:cBhvr>
                                        <p:cTn id="79" dur="500" fill="hold"/>
                                        <p:tgtEl>
                                          <p:spTgt spid="3017"/>
                                        </p:tgtEl>
                                        <p:attrNameLst>
                                          <p:attrName>ppt_x</p:attrName>
                                        </p:attrNameLst>
                                      </p:cBhvr>
                                      <p:tavLst>
                                        <p:tav tm="0">
                                          <p:val>
                                            <p:strVal val="#ppt_x-.035"/>
                                          </p:val>
                                        </p:tav>
                                        <p:tav tm="100000">
                                          <p:val>
                                            <p:strVal val="#ppt_x"/>
                                          </p:val>
                                        </p:tav>
                                      </p:tavLst>
                                    </p:anim>
                                    <p:anim calcmode="lin" valueType="num">
                                      <p:cBhvr>
                                        <p:cTn id="80" dur="500" fill="hold"/>
                                        <p:tgtEl>
                                          <p:spTgt spid="3017"/>
                                        </p:tgtEl>
                                        <p:attrNameLst>
                                          <p:attrName>ppt_y</p:attrName>
                                        </p:attrNameLst>
                                      </p:cBhvr>
                                      <p:tavLst>
                                        <p:tav tm="0">
                                          <p:val>
                                            <p:strVal val="#ppt_y"/>
                                          </p:val>
                                        </p:tav>
                                        <p:tav tm="100000">
                                          <p:val>
                                            <p:strVal val="#ppt_y"/>
                                          </p:val>
                                        </p:tav>
                                      </p:tavLst>
                                    </p:anim>
                                  </p:childTnLst>
                                </p:cTn>
                              </p:par>
                              <p:par>
                                <p:cTn id="81" presetID="42" presetClass="entr" presetSubtype="0" fill="hold" grpId="0" nodeType="withEffect">
                                  <p:stCondLst>
                                    <p:cond delay="840"/>
                                  </p:stCondLst>
                                  <p:childTnLst>
                                    <p:set>
                                      <p:cBhvr>
                                        <p:cTn id="82" dur="1" fill="hold">
                                          <p:stCondLst>
                                            <p:cond delay="0"/>
                                          </p:stCondLst>
                                        </p:cTn>
                                        <p:tgtEl>
                                          <p:spTgt spid="3018"/>
                                        </p:tgtEl>
                                        <p:attrNameLst>
                                          <p:attrName>style.visibility</p:attrName>
                                        </p:attrNameLst>
                                      </p:cBhvr>
                                      <p:to>
                                        <p:strVal val="visible"/>
                                      </p:to>
                                    </p:set>
                                    <p:animEffect transition="in" filter="fade">
                                      <p:cBhvr>
                                        <p:cTn id="83" dur="500"/>
                                        <p:tgtEl>
                                          <p:spTgt spid="3018"/>
                                        </p:tgtEl>
                                      </p:cBhvr>
                                    </p:animEffect>
                                    <p:anim calcmode="lin" valueType="num">
                                      <p:cBhvr>
                                        <p:cTn id="84" dur="500" fill="hold"/>
                                        <p:tgtEl>
                                          <p:spTgt spid="3018"/>
                                        </p:tgtEl>
                                        <p:attrNameLst>
                                          <p:attrName>ppt_x</p:attrName>
                                        </p:attrNameLst>
                                      </p:cBhvr>
                                      <p:tavLst>
                                        <p:tav tm="0">
                                          <p:val>
                                            <p:strVal val="#ppt_x-.035"/>
                                          </p:val>
                                        </p:tav>
                                        <p:tav tm="100000">
                                          <p:val>
                                            <p:strVal val="#ppt_x"/>
                                          </p:val>
                                        </p:tav>
                                      </p:tavLst>
                                    </p:anim>
                                    <p:anim calcmode="lin" valueType="num">
                                      <p:cBhvr>
                                        <p:cTn id="85" dur="500" fill="hold"/>
                                        <p:tgtEl>
                                          <p:spTgt spid="3018"/>
                                        </p:tgtEl>
                                        <p:attrNameLst>
                                          <p:attrName>ppt_y</p:attrName>
                                        </p:attrNameLst>
                                      </p:cBhvr>
                                      <p:tavLst>
                                        <p:tav tm="0">
                                          <p:val>
                                            <p:strVal val="#ppt_y"/>
                                          </p:val>
                                        </p:tav>
                                        <p:tav tm="100000">
                                          <p:val>
                                            <p:strVal val="#ppt_y"/>
                                          </p:val>
                                        </p:tav>
                                      </p:tavLst>
                                    </p:anim>
                                  </p:childTnLst>
                                </p:cTn>
                              </p:par>
                              <p:par>
                                <p:cTn id="86" presetID="42" presetClass="entr" presetSubtype="0" fill="hold" grpId="0" nodeType="withEffect">
                                  <p:stCondLst>
                                    <p:cond delay="840"/>
                                  </p:stCondLst>
                                  <p:childTnLst>
                                    <p:set>
                                      <p:cBhvr>
                                        <p:cTn id="87" dur="1" fill="hold">
                                          <p:stCondLst>
                                            <p:cond delay="0"/>
                                          </p:stCondLst>
                                        </p:cTn>
                                        <p:tgtEl>
                                          <p:spTgt spid="3019"/>
                                        </p:tgtEl>
                                        <p:attrNameLst>
                                          <p:attrName>style.visibility</p:attrName>
                                        </p:attrNameLst>
                                      </p:cBhvr>
                                      <p:to>
                                        <p:strVal val="visible"/>
                                      </p:to>
                                    </p:set>
                                    <p:animEffect transition="in" filter="fade">
                                      <p:cBhvr>
                                        <p:cTn id="88" dur="500"/>
                                        <p:tgtEl>
                                          <p:spTgt spid="3019"/>
                                        </p:tgtEl>
                                      </p:cBhvr>
                                    </p:animEffect>
                                    <p:anim calcmode="lin" valueType="num">
                                      <p:cBhvr>
                                        <p:cTn id="89" dur="500" fill="hold"/>
                                        <p:tgtEl>
                                          <p:spTgt spid="3019"/>
                                        </p:tgtEl>
                                        <p:attrNameLst>
                                          <p:attrName>ppt_x</p:attrName>
                                        </p:attrNameLst>
                                      </p:cBhvr>
                                      <p:tavLst>
                                        <p:tav tm="0">
                                          <p:val>
                                            <p:strVal val="#ppt_x-.035"/>
                                          </p:val>
                                        </p:tav>
                                        <p:tav tm="100000">
                                          <p:val>
                                            <p:strVal val="#ppt_x"/>
                                          </p:val>
                                        </p:tav>
                                      </p:tavLst>
                                    </p:anim>
                                    <p:anim calcmode="lin" valueType="num">
                                      <p:cBhvr>
                                        <p:cTn id="90" dur="500" fill="hold"/>
                                        <p:tgtEl>
                                          <p:spTgt spid="3019"/>
                                        </p:tgtEl>
                                        <p:attrNameLst>
                                          <p:attrName>ppt_y</p:attrName>
                                        </p:attrNameLst>
                                      </p:cBhvr>
                                      <p:tavLst>
                                        <p:tav tm="0">
                                          <p:val>
                                            <p:strVal val="#ppt_y"/>
                                          </p:val>
                                        </p:tav>
                                        <p:tav tm="100000">
                                          <p:val>
                                            <p:strVal val="#ppt_y"/>
                                          </p:val>
                                        </p:tav>
                                      </p:tavLst>
                                    </p:anim>
                                  </p:childTnLst>
                                </p:cTn>
                              </p:par>
                              <p:par>
                                <p:cTn id="91" presetID="42" presetClass="entr" presetSubtype="0" fill="hold" grpId="0" nodeType="withEffect">
                                  <p:stCondLst>
                                    <p:cond delay="840"/>
                                  </p:stCondLst>
                                  <p:childTnLst>
                                    <p:set>
                                      <p:cBhvr>
                                        <p:cTn id="92" dur="1" fill="hold">
                                          <p:stCondLst>
                                            <p:cond delay="0"/>
                                          </p:stCondLst>
                                        </p:cTn>
                                        <p:tgtEl>
                                          <p:spTgt spid="3020"/>
                                        </p:tgtEl>
                                        <p:attrNameLst>
                                          <p:attrName>style.visibility</p:attrName>
                                        </p:attrNameLst>
                                      </p:cBhvr>
                                      <p:to>
                                        <p:strVal val="visible"/>
                                      </p:to>
                                    </p:set>
                                    <p:animEffect transition="in" filter="fade">
                                      <p:cBhvr>
                                        <p:cTn id="93" dur="500"/>
                                        <p:tgtEl>
                                          <p:spTgt spid="3020"/>
                                        </p:tgtEl>
                                      </p:cBhvr>
                                    </p:animEffect>
                                    <p:anim calcmode="lin" valueType="num">
                                      <p:cBhvr>
                                        <p:cTn id="94" dur="500" fill="hold"/>
                                        <p:tgtEl>
                                          <p:spTgt spid="3020"/>
                                        </p:tgtEl>
                                        <p:attrNameLst>
                                          <p:attrName>ppt_x</p:attrName>
                                        </p:attrNameLst>
                                      </p:cBhvr>
                                      <p:tavLst>
                                        <p:tav tm="0">
                                          <p:val>
                                            <p:strVal val="#ppt_x-.035"/>
                                          </p:val>
                                        </p:tav>
                                        <p:tav tm="100000">
                                          <p:val>
                                            <p:strVal val="#ppt_x"/>
                                          </p:val>
                                        </p:tav>
                                      </p:tavLst>
                                    </p:anim>
                                    <p:anim calcmode="lin" valueType="num">
                                      <p:cBhvr>
                                        <p:cTn id="95" dur="500" fill="hold"/>
                                        <p:tgtEl>
                                          <p:spTgt spid="3020"/>
                                        </p:tgtEl>
                                        <p:attrNameLst>
                                          <p:attrName>ppt_y</p:attrName>
                                        </p:attrNameLst>
                                      </p:cBhvr>
                                      <p:tavLst>
                                        <p:tav tm="0">
                                          <p:val>
                                            <p:strVal val="#ppt_y"/>
                                          </p:val>
                                        </p:tav>
                                        <p:tav tm="100000">
                                          <p:val>
                                            <p:strVal val="#ppt_y"/>
                                          </p:val>
                                        </p:tav>
                                      </p:tavLst>
                                    </p:anim>
                                  </p:childTnLst>
                                </p:cTn>
                              </p:par>
                              <p:par>
                                <p:cTn id="96" presetID="10" presetClass="entr" presetSubtype="0" fill="hold" grpId="0" nodeType="withEffect">
                                  <p:stCondLst>
                                    <p:cond delay="980"/>
                                  </p:stCondLst>
                                  <p:childTnLst>
                                    <p:set>
                                      <p:cBhvr>
                                        <p:cTn id="97" dur="1" fill="hold">
                                          <p:stCondLst>
                                            <p:cond delay="0"/>
                                          </p:stCondLst>
                                        </p:cTn>
                                        <p:tgtEl>
                                          <p:spTgt spid="3021"/>
                                        </p:tgtEl>
                                        <p:attrNameLst>
                                          <p:attrName>style.visibility</p:attrName>
                                        </p:attrNameLst>
                                      </p:cBhvr>
                                      <p:to>
                                        <p:strVal val="visible"/>
                                      </p:to>
                                    </p:set>
                                    <p:animEffect transition="in" filter="fade">
                                      <p:cBhvr>
                                        <p:cTn id="98" dur="450"/>
                                        <p:tgtEl>
                                          <p:spTgt spid="3021"/>
                                        </p:tgtEl>
                                      </p:cBhvr>
                                    </p:animEffect>
                                  </p:childTnLst>
                                </p:cTn>
                              </p:par>
                              <p:par>
                                <p:cTn id="99" presetID="42" presetClass="entr" presetSubtype="0" fill="hold" grpId="0" nodeType="withEffect">
                                  <p:stCondLst>
                                    <p:cond delay="1120"/>
                                  </p:stCondLst>
                                  <p:childTnLst>
                                    <p:set>
                                      <p:cBhvr>
                                        <p:cTn id="100" dur="1" fill="hold">
                                          <p:stCondLst>
                                            <p:cond delay="0"/>
                                          </p:stCondLst>
                                        </p:cTn>
                                        <p:tgtEl>
                                          <p:spTgt spid="3022"/>
                                        </p:tgtEl>
                                        <p:attrNameLst>
                                          <p:attrName>style.visibility</p:attrName>
                                        </p:attrNameLst>
                                      </p:cBhvr>
                                      <p:to>
                                        <p:strVal val="visible"/>
                                      </p:to>
                                    </p:set>
                                    <p:animEffect transition="in" filter="fade">
                                      <p:cBhvr>
                                        <p:cTn id="101" dur="500"/>
                                        <p:tgtEl>
                                          <p:spTgt spid="3022"/>
                                        </p:tgtEl>
                                      </p:cBhvr>
                                    </p:animEffect>
                                    <p:anim calcmode="lin" valueType="num">
                                      <p:cBhvr>
                                        <p:cTn id="102" dur="500" fill="hold"/>
                                        <p:tgtEl>
                                          <p:spTgt spid="3022"/>
                                        </p:tgtEl>
                                        <p:attrNameLst>
                                          <p:attrName>ppt_x</p:attrName>
                                        </p:attrNameLst>
                                      </p:cBhvr>
                                      <p:tavLst>
                                        <p:tav tm="0">
                                          <p:val>
                                            <p:strVal val="#ppt_x-.035"/>
                                          </p:val>
                                        </p:tav>
                                        <p:tav tm="100000">
                                          <p:val>
                                            <p:strVal val="#ppt_x"/>
                                          </p:val>
                                        </p:tav>
                                      </p:tavLst>
                                    </p:anim>
                                    <p:anim calcmode="lin" valueType="num">
                                      <p:cBhvr>
                                        <p:cTn id="103" dur="500" fill="hold"/>
                                        <p:tgtEl>
                                          <p:spTgt spid="3022"/>
                                        </p:tgtEl>
                                        <p:attrNameLst>
                                          <p:attrName>ppt_y</p:attrName>
                                        </p:attrNameLst>
                                      </p:cBhvr>
                                      <p:tavLst>
                                        <p:tav tm="0">
                                          <p:val>
                                            <p:strVal val="#ppt_y"/>
                                          </p:val>
                                        </p:tav>
                                        <p:tav tm="100000">
                                          <p:val>
                                            <p:strVal val="#ppt_y"/>
                                          </p:val>
                                        </p:tav>
                                      </p:tavLst>
                                    </p:anim>
                                  </p:childTnLst>
                                </p:cTn>
                              </p:par>
                              <p:par>
                                <p:cTn id="104" presetID="42" presetClass="entr" presetSubtype="0" fill="hold" grpId="0" nodeType="withEffect">
                                  <p:stCondLst>
                                    <p:cond delay="1120"/>
                                  </p:stCondLst>
                                  <p:childTnLst>
                                    <p:set>
                                      <p:cBhvr>
                                        <p:cTn id="105" dur="1" fill="hold">
                                          <p:stCondLst>
                                            <p:cond delay="0"/>
                                          </p:stCondLst>
                                        </p:cTn>
                                        <p:tgtEl>
                                          <p:spTgt spid="3023"/>
                                        </p:tgtEl>
                                        <p:attrNameLst>
                                          <p:attrName>style.visibility</p:attrName>
                                        </p:attrNameLst>
                                      </p:cBhvr>
                                      <p:to>
                                        <p:strVal val="visible"/>
                                      </p:to>
                                    </p:set>
                                    <p:animEffect transition="in" filter="fade">
                                      <p:cBhvr>
                                        <p:cTn id="106" dur="500"/>
                                        <p:tgtEl>
                                          <p:spTgt spid="3023"/>
                                        </p:tgtEl>
                                      </p:cBhvr>
                                    </p:animEffect>
                                    <p:anim calcmode="lin" valueType="num">
                                      <p:cBhvr>
                                        <p:cTn id="107" dur="500" fill="hold"/>
                                        <p:tgtEl>
                                          <p:spTgt spid="3023"/>
                                        </p:tgtEl>
                                        <p:attrNameLst>
                                          <p:attrName>ppt_x</p:attrName>
                                        </p:attrNameLst>
                                      </p:cBhvr>
                                      <p:tavLst>
                                        <p:tav tm="0">
                                          <p:val>
                                            <p:strVal val="#ppt_x-.035"/>
                                          </p:val>
                                        </p:tav>
                                        <p:tav tm="100000">
                                          <p:val>
                                            <p:strVal val="#ppt_x"/>
                                          </p:val>
                                        </p:tav>
                                      </p:tavLst>
                                    </p:anim>
                                    <p:anim calcmode="lin" valueType="num">
                                      <p:cBhvr>
                                        <p:cTn id="108" dur="500" fill="hold"/>
                                        <p:tgtEl>
                                          <p:spTgt spid="3023"/>
                                        </p:tgtEl>
                                        <p:attrNameLst>
                                          <p:attrName>ppt_y</p:attrName>
                                        </p:attrNameLst>
                                      </p:cBhvr>
                                      <p:tavLst>
                                        <p:tav tm="0">
                                          <p:val>
                                            <p:strVal val="#ppt_y"/>
                                          </p:val>
                                        </p:tav>
                                        <p:tav tm="100000">
                                          <p:val>
                                            <p:strVal val="#ppt_y"/>
                                          </p:val>
                                        </p:tav>
                                      </p:tavLst>
                                    </p:anim>
                                  </p:childTnLst>
                                </p:cTn>
                              </p:par>
                              <p:par>
                                <p:cTn id="109" presetID="42" presetClass="entr" presetSubtype="0" fill="hold" grpId="0" nodeType="withEffect">
                                  <p:stCondLst>
                                    <p:cond delay="1120"/>
                                  </p:stCondLst>
                                  <p:childTnLst>
                                    <p:set>
                                      <p:cBhvr>
                                        <p:cTn id="110" dur="1" fill="hold">
                                          <p:stCondLst>
                                            <p:cond delay="0"/>
                                          </p:stCondLst>
                                        </p:cTn>
                                        <p:tgtEl>
                                          <p:spTgt spid="3024"/>
                                        </p:tgtEl>
                                        <p:attrNameLst>
                                          <p:attrName>style.visibility</p:attrName>
                                        </p:attrNameLst>
                                      </p:cBhvr>
                                      <p:to>
                                        <p:strVal val="visible"/>
                                      </p:to>
                                    </p:set>
                                    <p:animEffect transition="in" filter="fade">
                                      <p:cBhvr>
                                        <p:cTn id="111" dur="500"/>
                                        <p:tgtEl>
                                          <p:spTgt spid="3024"/>
                                        </p:tgtEl>
                                      </p:cBhvr>
                                    </p:animEffect>
                                    <p:anim calcmode="lin" valueType="num">
                                      <p:cBhvr>
                                        <p:cTn id="112" dur="500" fill="hold"/>
                                        <p:tgtEl>
                                          <p:spTgt spid="3024"/>
                                        </p:tgtEl>
                                        <p:attrNameLst>
                                          <p:attrName>ppt_x</p:attrName>
                                        </p:attrNameLst>
                                      </p:cBhvr>
                                      <p:tavLst>
                                        <p:tav tm="0">
                                          <p:val>
                                            <p:strVal val="#ppt_x-.035"/>
                                          </p:val>
                                        </p:tav>
                                        <p:tav tm="100000">
                                          <p:val>
                                            <p:strVal val="#ppt_x"/>
                                          </p:val>
                                        </p:tav>
                                      </p:tavLst>
                                    </p:anim>
                                    <p:anim calcmode="lin" valueType="num">
                                      <p:cBhvr>
                                        <p:cTn id="113" dur="500" fill="hold"/>
                                        <p:tgtEl>
                                          <p:spTgt spid="3024"/>
                                        </p:tgtEl>
                                        <p:attrNameLst>
                                          <p:attrName>ppt_y</p:attrName>
                                        </p:attrNameLst>
                                      </p:cBhvr>
                                      <p:tavLst>
                                        <p:tav tm="0">
                                          <p:val>
                                            <p:strVal val="#ppt_y"/>
                                          </p:val>
                                        </p:tav>
                                        <p:tav tm="100000">
                                          <p:val>
                                            <p:strVal val="#ppt_y"/>
                                          </p:val>
                                        </p:tav>
                                      </p:tavLst>
                                    </p:anim>
                                  </p:childTnLst>
                                </p:cTn>
                              </p:par>
                              <p:par>
                                <p:cTn id="114" presetID="42" presetClass="entr" presetSubtype="0" fill="hold" grpId="0" nodeType="withEffect">
                                  <p:stCondLst>
                                    <p:cond delay="1120"/>
                                  </p:stCondLst>
                                  <p:childTnLst>
                                    <p:set>
                                      <p:cBhvr>
                                        <p:cTn id="115" dur="1" fill="hold">
                                          <p:stCondLst>
                                            <p:cond delay="0"/>
                                          </p:stCondLst>
                                        </p:cTn>
                                        <p:tgtEl>
                                          <p:spTgt spid="3025"/>
                                        </p:tgtEl>
                                        <p:attrNameLst>
                                          <p:attrName>style.visibility</p:attrName>
                                        </p:attrNameLst>
                                      </p:cBhvr>
                                      <p:to>
                                        <p:strVal val="visible"/>
                                      </p:to>
                                    </p:set>
                                    <p:animEffect transition="in" filter="fade">
                                      <p:cBhvr>
                                        <p:cTn id="116" dur="500"/>
                                        <p:tgtEl>
                                          <p:spTgt spid="3025"/>
                                        </p:tgtEl>
                                      </p:cBhvr>
                                    </p:animEffect>
                                    <p:anim calcmode="lin" valueType="num">
                                      <p:cBhvr>
                                        <p:cTn id="117" dur="500" fill="hold"/>
                                        <p:tgtEl>
                                          <p:spTgt spid="3025"/>
                                        </p:tgtEl>
                                        <p:attrNameLst>
                                          <p:attrName>ppt_x</p:attrName>
                                        </p:attrNameLst>
                                      </p:cBhvr>
                                      <p:tavLst>
                                        <p:tav tm="0">
                                          <p:val>
                                            <p:strVal val="#ppt_x-.035"/>
                                          </p:val>
                                        </p:tav>
                                        <p:tav tm="100000">
                                          <p:val>
                                            <p:strVal val="#ppt_x"/>
                                          </p:val>
                                        </p:tav>
                                      </p:tavLst>
                                    </p:anim>
                                    <p:anim calcmode="lin" valueType="num">
                                      <p:cBhvr>
                                        <p:cTn id="118" dur="500" fill="hold"/>
                                        <p:tgtEl>
                                          <p:spTgt spid="3025"/>
                                        </p:tgtEl>
                                        <p:attrNameLst>
                                          <p:attrName>ppt_y</p:attrName>
                                        </p:attrNameLst>
                                      </p:cBhvr>
                                      <p:tavLst>
                                        <p:tav tm="0">
                                          <p:val>
                                            <p:strVal val="#ppt_y"/>
                                          </p:val>
                                        </p:tav>
                                        <p:tav tm="100000">
                                          <p:val>
                                            <p:strVal val="#ppt_y"/>
                                          </p:val>
                                        </p:tav>
                                      </p:tavLst>
                                    </p:anim>
                                  </p:childTnLst>
                                </p:cTn>
                              </p:par>
                              <p:par>
                                <p:cTn id="119" presetID="42" presetClass="entr" presetSubtype="0" fill="hold" grpId="0" nodeType="withEffect">
                                  <p:stCondLst>
                                    <p:cond delay="1260"/>
                                  </p:stCondLst>
                                  <p:childTnLst>
                                    <p:set>
                                      <p:cBhvr>
                                        <p:cTn id="120" dur="1" fill="hold">
                                          <p:stCondLst>
                                            <p:cond delay="0"/>
                                          </p:stCondLst>
                                        </p:cTn>
                                        <p:tgtEl>
                                          <p:spTgt spid="3026"/>
                                        </p:tgtEl>
                                        <p:attrNameLst>
                                          <p:attrName>style.visibility</p:attrName>
                                        </p:attrNameLst>
                                      </p:cBhvr>
                                      <p:to>
                                        <p:strVal val="visible"/>
                                      </p:to>
                                    </p:set>
                                    <p:animEffect transition="in" filter="fade">
                                      <p:cBhvr>
                                        <p:cTn id="121" dur="450"/>
                                        <p:tgtEl>
                                          <p:spTgt spid="3026"/>
                                        </p:tgtEl>
                                      </p:cBhvr>
                                    </p:animEffect>
                                    <p:anim calcmode="lin" valueType="num">
                                      <p:cBhvr>
                                        <p:cTn id="122" dur="450" fill="hold"/>
                                        <p:tgtEl>
                                          <p:spTgt spid="3026"/>
                                        </p:tgtEl>
                                        <p:attrNameLst>
                                          <p:attrName>ppt_x</p:attrName>
                                        </p:attrNameLst>
                                      </p:cBhvr>
                                      <p:tavLst>
                                        <p:tav tm="0">
                                          <p:val>
                                            <p:strVal val="#ppt_x"/>
                                          </p:val>
                                        </p:tav>
                                        <p:tav tm="100000">
                                          <p:val>
                                            <p:strVal val="#ppt_x"/>
                                          </p:val>
                                        </p:tav>
                                      </p:tavLst>
                                    </p:anim>
                                    <p:anim calcmode="lin" valueType="num">
                                      <p:cBhvr>
                                        <p:cTn id="123" dur="450" fill="hold"/>
                                        <p:tgtEl>
                                          <p:spTgt spid="3026"/>
                                        </p:tgtEl>
                                        <p:attrNameLst>
                                          <p:attrName>ppt_y</p:attrName>
                                        </p:attrNameLst>
                                      </p:cBhvr>
                                      <p:tavLst>
                                        <p:tav tm="0">
                                          <p:val>
                                            <p:strVal val="#ppt_y+.03"/>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3027"/>
                                        </p:tgtEl>
                                        <p:attrNameLst>
                                          <p:attrName>style.visibility</p:attrName>
                                        </p:attrNameLst>
                                      </p:cBhvr>
                                      <p:to>
                                        <p:strVal val="visible"/>
                                      </p:to>
                                    </p:set>
                                    <p:animEffect transition="in" filter="wipe(left)">
                                      <p:cBhvr>
                                        <p:cTn id="128" dur="400"/>
                                        <p:tgtEl>
                                          <p:spTgt spid="3027"/>
                                        </p:tgtEl>
                                      </p:cBhvr>
                                    </p:animEffect>
                                  </p:childTnLst>
                                </p:cTn>
                              </p:par>
                              <p:par>
                                <p:cTn id="129" presetID="10" presetClass="entr" presetSubtype="0" fill="hold" grpId="0" nodeType="withEffect">
                                  <p:stCondLst>
                                    <p:cond delay="140"/>
                                  </p:stCondLst>
                                  <p:childTnLst>
                                    <p:set>
                                      <p:cBhvr>
                                        <p:cTn id="130" dur="1" fill="hold">
                                          <p:stCondLst>
                                            <p:cond delay="0"/>
                                          </p:stCondLst>
                                        </p:cTn>
                                        <p:tgtEl>
                                          <p:spTgt spid="3028"/>
                                        </p:tgtEl>
                                        <p:attrNameLst>
                                          <p:attrName>style.visibility</p:attrName>
                                        </p:attrNameLst>
                                      </p:cBhvr>
                                      <p:to>
                                        <p:strVal val="visible"/>
                                      </p:to>
                                    </p:set>
                                    <p:animEffect transition="in" filter="fade">
                                      <p:cBhvr>
                                        <p:cTn id="131" dur="450"/>
                                        <p:tgtEl>
                                          <p:spTgt spid="3028"/>
                                        </p:tgtEl>
                                      </p:cBhvr>
                                    </p:animEffect>
                                  </p:childTnLst>
                                </p:cTn>
                              </p:par>
                              <p:par>
                                <p:cTn id="132" presetID="42" presetClass="entr" presetSubtype="0" fill="hold" grpId="0" nodeType="withEffect">
                                  <p:stCondLst>
                                    <p:cond delay="280"/>
                                  </p:stCondLst>
                                  <p:childTnLst>
                                    <p:set>
                                      <p:cBhvr>
                                        <p:cTn id="133" dur="1" fill="hold">
                                          <p:stCondLst>
                                            <p:cond delay="0"/>
                                          </p:stCondLst>
                                        </p:cTn>
                                        <p:tgtEl>
                                          <p:spTgt spid="3029"/>
                                        </p:tgtEl>
                                        <p:attrNameLst>
                                          <p:attrName>style.visibility</p:attrName>
                                        </p:attrNameLst>
                                      </p:cBhvr>
                                      <p:to>
                                        <p:strVal val="visible"/>
                                      </p:to>
                                    </p:set>
                                    <p:animEffect transition="in" filter="fade">
                                      <p:cBhvr>
                                        <p:cTn id="134" dur="500"/>
                                        <p:tgtEl>
                                          <p:spTgt spid="3029"/>
                                        </p:tgtEl>
                                      </p:cBhvr>
                                    </p:animEffect>
                                    <p:anim calcmode="lin" valueType="num">
                                      <p:cBhvr>
                                        <p:cTn id="135" dur="500" fill="hold"/>
                                        <p:tgtEl>
                                          <p:spTgt spid="3029"/>
                                        </p:tgtEl>
                                        <p:attrNameLst>
                                          <p:attrName>ppt_x</p:attrName>
                                        </p:attrNameLst>
                                      </p:cBhvr>
                                      <p:tavLst>
                                        <p:tav tm="0">
                                          <p:val>
                                            <p:strVal val="#ppt_x-.035"/>
                                          </p:val>
                                        </p:tav>
                                        <p:tav tm="100000">
                                          <p:val>
                                            <p:strVal val="#ppt_x"/>
                                          </p:val>
                                        </p:tav>
                                      </p:tavLst>
                                    </p:anim>
                                    <p:anim calcmode="lin" valueType="num">
                                      <p:cBhvr>
                                        <p:cTn id="136" dur="500" fill="hold"/>
                                        <p:tgtEl>
                                          <p:spTgt spid="3029"/>
                                        </p:tgtEl>
                                        <p:attrNameLst>
                                          <p:attrName>ppt_y</p:attrName>
                                        </p:attrNameLst>
                                      </p:cBhvr>
                                      <p:tavLst>
                                        <p:tav tm="0">
                                          <p:val>
                                            <p:strVal val="#ppt_y"/>
                                          </p:val>
                                        </p:tav>
                                        <p:tav tm="100000">
                                          <p:val>
                                            <p:strVal val="#ppt_y"/>
                                          </p:val>
                                        </p:tav>
                                      </p:tavLst>
                                    </p:anim>
                                  </p:childTnLst>
                                </p:cTn>
                              </p:par>
                              <p:par>
                                <p:cTn id="137" presetID="42" presetClass="entr" presetSubtype="0" fill="hold" grpId="0" nodeType="withEffect">
                                  <p:stCondLst>
                                    <p:cond delay="280"/>
                                  </p:stCondLst>
                                  <p:childTnLst>
                                    <p:set>
                                      <p:cBhvr>
                                        <p:cTn id="138" dur="1" fill="hold">
                                          <p:stCondLst>
                                            <p:cond delay="0"/>
                                          </p:stCondLst>
                                        </p:cTn>
                                        <p:tgtEl>
                                          <p:spTgt spid="3030"/>
                                        </p:tgtEl>
                                        <p:attrNameLst>
                                          <p:attrName>style.visibility</p:attrName>
                                        </p:attrNameLst>
                                      </p:cBhvr>
                                      <p:to>
                                        <p:strVal val="visible"/>
                                      </p:to>
                                    </p:set>
                                    <p:animEffect transition="in" filter="fade">
                                      <p:cBhvr>
                                        <p:cTn id="139" dur="500"/>
                                        <p:tgtEl>
                                          <p:spTgt spid="3030"/>
                                        </p:tgtEl>
                                      </p:cBhvr>
                                    </p:animEffect>
                                    <p:anim calcmode="lin" valueType="num">
                                      <p:cBhvr>
                                        <p:cTn id="140" dur="500" fill="hold"/>
                                        <p:tgtEl>
                                          <p:spTgt spid="3030"/>
                                        </p:tgtEl>
                                        <p:attrNameLst>
                                          <p:attrName>ppt_x</p:attrName>
                                        </p:attrNameLst>
                                      </p:cBhvr>
                                      <p:tavLst>
                                        <p:tav tm="0">
                                          <p:val>
                                            <p:strVal val="#ppt_x-.035"/>
                                          </p:val>
                                        </p:tav>
                                        <p:tav tm="100000">
                                          <p:val>
                                            <p:strVal val="#ppt_x"/>
                                          </p:val>
                                        </p:tav>
                                      </p:tavLst>
                                    </p:anim>
                                    <p:anim calcmode="lin" valueType="num">
                                      <p:cBhvr>
                                        <p:cTn id="141" dur="500" fill="hold"/>
                                        <p:tgtEl>
                                          <p:spTgt spid="3030"/>
                                        </p:tgtEl>
                                        <p:attrNameLst>
                                          <p:attrName>ppt_y</p:attrName>
                                        </p:attrNameLst>
                                      </p:cBhvr>
                                      <p:tavLst>
                                        <p:tav tm="0">
                                          <p:val>
                                            <p:strVal val="#ppt_y"/>
                                          </p:val>
                                        </p:tav>
                                        <p:tav tm="100000">
                                          <p:val>
                                            <p:strVal val="#ppt_y"/>
                                          </p:val>
                                        </p:tav>
                                      </p:tavLst>
                                    </p:anim>
                                  </p:childTnLst>
                                </p:cTn>
                              </p:par>
                              <p:par>
                                <p:cTn id="142" presetID="42" presetClass="entr" presetSubtype="0" fill="hold" nodeType="withEffect">
                                  <p:stCondLst>
                                    <p:cond delay="280"/>
                                  </p:stCondLst>
                                  <p:childTnLst>
                                    <p:set>
                                      <p:cBhvr>
                                        <p:cTn id="143" dur="1" fill="hold">
                                          <p:stCondLst>
                                            <p:cond delay="0"/>
                                          </p:stCondLst>
                                        </p:cTn>
                                        <p:tgtEl>
                                          <p:spTgt spid="906"/>
                                        </p:tgtEl>
                                        <p:attrNameLst>
                                          <p:attrName>style.visibility</p:attrName>
                                        </p:attrNameLst>
                                      </p:cBhvr>
                                      <p:to>
                                        <p:strVal val="visible"/>
                                      </p:to>
                                    </p:set>
                                    <p:animEffect transition="in" filter="fade">
                                      <p:cBhvr>
                                        <p:cTn id="144" dur="500"/>
                                        <p:tgtEl>
                                          <p:spTgt spid="906"/>
                                        </p:tgtEl>
                                      </p:cBhvr>
                                    </p:animEffect>
                                    <p:anim calcmode="lin" valueType="num">
                                      <p:cBhvr>
                                        <p:cTn id="145" dur="500" fill="hold"/>
                                        <p:tgtEl>
                                          <p:spTgt spid="906"/>
                                        </p:tgtEl>
                                        <p:attrNameLst>
                                          <p:attrName>ppt_x</p:attrName>
                                        </p:attrNameLst>
                                      </p:cBhvr>
                                      <p:tavLst>
                                        <p:tav tm="0">
                                          <p:val>
                                            <p:strVal val="#ppt_x-.035"/>
                                          </p:val>
                                        </p:tav>
                                        <p:tav tm="100000">
                                          <p:val>
                                            <p:strVal val="#ppt_x"/>
                                          </p:val>
                                        </p:tav>
                                      </p:tavLst>
                                    </p:anim>
                                    <p:anim calcmode="lin" valueType="num">
                                      <p:cBhvr>
                                        <p:cTn id="146" dur="500" fill="hold"/>
                                        <p:tgtEl>
                                          <p:spTgt spid="906"/>
                                        </p:tgtEl>
                                        <p:attrNameLst>
                                          <p:attrName>ppt_y</p:attrName>
                                        </p:attrNameLst>
                                      </p:cBhvr>
                                      <p:tavLst>
                                        <p:tav tm="0">
                                          <p:val>
                                            <p:strVal val="#ppt_y"/>
                                          </p:val>
                                        </p:tav>
                                        <p:tav tm="100000">
                                          <p:val>
                                            <p:strVal val="#ppt_y"/>
                                          </p:val>
                                        </p:tav>
                                      </p:tavLst>
                                    </p:anim>
                                  </p:childTnLst>
                                </p:cTn>
                              </p:par>
                              <p:par>
                                <p:cTn id="147" presetID="42" presetClass="entr" presetSubtype="0" fill="hold" grpId="0" nodeType="withEffect">
                                  <p:stCondLst>
                                    <p:cond delay="280"/>
                                  </p:stCondLst>
                                  <p:childTnLst>
                                    <p:set>
                                      <p:cBhvr>
                                        <p:cTn id="148" dur="1" fill="hold">
                                          <p:stCondLst>
                                            <p:cond delay="0"/>
                                          </p:stCondLst>
                                        </p:cTn>
                                        <p:tgtEl>
                                          <p:spTgt spid="3031"/>
                                        </p:tgtEl>
                                        <p:attrNameLst>
                                          <p:attrName>style.visibility</p:attrName>
                                        </p:attrNameLst>
                                      </p:cBhvr>
                                      <p:to>
                                        <p:strVal val="visible"/>
                                      </p:to>
                                    </p:set>
                                    <p:animEffect transition="in" filter="fade">
                                      <p:cBhvr>
                                        <p:cTn id="149" dur="500"/>
                                        <p:tgtEl>
                                          <p:spTgt spid="3031"/>
                                        </p:tgtEl>
                                      </p:cBhvr>
                                    </p:animEffect>
                                    <p:anim calcmode="lin" valueType="num">
                                      <p:cBhvr>
                                        <p:cTn id="150" dur="500" fill="hold"/>
                                        <p:tgtEl>
                                          <p:spTgt spid="3031"/>
                                        </p:tgtEl>
                                        <p:attrNameLst>
                                          <p:attrName>ppt_x</p:attrName>
                                        </p:attrNameLst>
                                      </p:cBhvr>
                                      <p:tavLst>
                                        <p:tav tm="0">
                                          <p:val>
                                            <p:strVal val="#ppt_x-.035"/>
                                          </p:val>
                                        </p:tav>
                                        <p:tav tm="100000">
                                          <p:val>
                                            <p:strVal val="#ppt_x"/>
                                          </p:val>
                                        </p:tav>
                                      </p:tavLst>
                                    </p:anim>
                                    <p:anim calcmode="lin" valueType="num">
                                      <p:cBhvr>
                                        <p:cTn id="151" dur="500" fill="hold"/>
                                        <p:tgtEl>
                                          <p:spTgt spid="3031"/>
                                        </p:tgtEl>
                                        <p:attrNameLst>
                                          <p:attrName>ppt_y</p:attrName>
                                        </p:attrNameLst>
                                      </p:cBhvr>
                                      <p:tavLst>
                                        <p:tav tm="0">
                                          <p:val>
                                            <p:strVal val="#ppt_y"/>
                                          </p:val>
                                        </p:tav>
                                        <p:tav tm="100000">
                                          <p:val>
                                            <p:strVal val="#ppt_y"/>
                                          </p:val>
                                        </p:tav>
                                      </p:tavLst>
                                    </p:anim>
                                  </p:childTnLst>
                                </p:cTn>
                              </p:par>
                              <p:par>
                                <p:cTn id="152" presetID="42" presetClass="entr" presetSubtype="0" fill="hold" grpId="0" nodeType="withEffect">
                                  <p:stCondLst>
                                    <p:cond delay="420"/>
                                  </p:stCondLst>
                                  <p:childTnLst>
                                    <p:set>
                                      <p:cBhvr>
                                        <p:cTn id="153" dur="1" fill="hold">
                                          <p:stCondLst>
                                            <p:cond delay="0"/>
                                          </p:stCondLst>
                                        </p:cTn>
                                        <p:tgtEl>
                                          <p:spTgt spid="3032"/>
                                        </p:tgtEl>
                                        <p:attrNameLst>
                                          <p:attrName>style.visibility</p:attrName>
                                        </p:attrNameLst>
                                      </p:cBhvr>
                                      <p:to>
                                        <p:strVal val="visible"/>
                                      </p:to>
                                    </p:set>
                                    <p:animEffect transition="in" filter="fade">
                                      <p:cBhvr>
                                        <p:cTn id="154" dur="500"/>
                                        <p:tgtEl>
                                          <p:spTgt spid="3032"/>
                                        </p:tgtEl>
                                      </p:cBhvr>
                                    </p:animEffect>
                                    <p:anim calcmode="lin" valueType="num">
                                      <p:cBhvr>
                                        <p:cTn id="155" dur="500" fill="hold"/>
                                        <p:tgtEl>
                                          <p:spTgt spid="3032"/>
                                        </p:tgtEl>
                                        <p:attrNameLst>
                                          <p:attrName>ppt_x</p:attrName>
                                        </p:attrNameLst>
                                      </p:cBhvr>
                                      <p:tavLst>
                                        <p:tav tm="0">
                                          <p:val>
                                            <p:strVal val="#ppt_x-.035"/>
                                          </p:val>
                                        </p:tav>
                                        <p:tav tm="100000">
                                          <p:val>
                                            <p:strVal val="#ppt_x"/>
                                          </p:val>
                                        </p:tav>
                                      </p:tavLst>
                                    </p:anim>
                                    <p:anim calcmode="lin" valueType="num">
                                      <p:cBhvr>
                                        <p:cTn id="156" dur="500" fill="hold"/>
                                        <p:tgtEl>
                                          <p:spTgt spid="3032"/>
                                        </p:tgtEl>
                                        <p:attrNameLst>
                                          <p:attrName>ppt_y</p:attrName>
                                        </p:attrNameLst>
                                      </p:cBhvr>
                                      <p:tavLst>
                                        <p:tav tm="0">
                                          <p:val>
                                            <p:strVal val="#ppt_y"/>
                                          </p:val>
                                        </p:tav>
                                        <p:tav tm="100000">
                                          <p:val>
                                            <p:strVal val="#ppt_y"/>
                                          </p:val>
                                        </p:tav>
                                      </p:tavLst>
                                    </p:anim>
                                  </p:childTnLst>
                                </p:cTn>
                              </p:par>
                              <p:par>
                                <p:cTn id="157" presetID="42" presetClass="entr" presetSubtype="0" fill="hold" grpId="0" nodeType="withEffect">
                                  <p:stCondLst>
                                    <p:cond delay="420"/>
                                  </p:stCondLst>
                                  <p:childTnLst>
                                    <p:set>
                                      <p:cBhvr>
                                        <p:cTn id="158" dur="1" fill="hold">
                                          <p:stCondLst>
                                            <p:cond delay="0"/>
                                          </p:stCondLst>
                                        </p:cTn>
                                        <p:tgtEl>
                                          <p:spTgt spid="3033"/>
                                        </p:tgtEl>
                                        <p:attrNameLst>
                                          <p:attrName>style.visibility</p:attrName>
                                        </p:attrNameLst>
                                      </p:cBhvr>
                                      <p:to>
                                        <p:strVal val="visible"/>
                                      </p:to>
                                    </p:set>
                                    <p:animEffect transition="in" filter="fade">
                                      <p:cBhvr>
                                        <p:cTn id="159" dur="500"/>
                                        <p:tgtEl>
                                          <p:spTgt spid="3033"/>
                                        </p:tgtEl>
                                      </p:cBhvr>
                                    </p:animEffect>
                                    <p:anim calcmode="lin" valueType="num">
                                      <p:cBhvr>
                                        <p:cTn id="160" dur="500" fill="hold"/>
                                        <p:tgtEl>
                                          <p:spTgt spid="3033"/>
                                        </p:tgtEl>
                                        <p:attrNameLst>
                                          <p:attrName>ppt_x</p:attrName>
                                        </p:attrNameLst>
                                      </p:cBhvr>
                                      <p:tavLst>
                                        <p:tav tm="0">
                                          <p:val>
                                            <p:strVal val="#ppt_x-.035"/>
                                          </p:val>
                                        </p:tav>
                                        <p:tav tm="100000">
                                          <p:val>
                                            <p:strVal val="#ppt_x"/>
                                          </p:val>
                                        </p:tav>
                                      </p:tavLst>
                                    </p:anim>
                                    <p:anim calcmode="lin" valueType="num">
                                      <p:cBhvr>
                                        <p:cTn id="161" dur="500" fill="hold"/>
                                        <p:tgtEl>
                                          <p:spTgt spid="3033"/>
                                        </p:tgtEl>
                                        <p:attrNameLst>
                                          <p:attrName>ppt_y</p:attrName>
                                        </p:attrNameLst>
                                      </p:cBhvr>
                                      <p:tavLst>
                                        <p:tav tm="0">
                                          <p:val>
                                            <p:strVal val="#ppt_y"/>
                                          </p:val>
                                        </p:tav>
                                        <p:tav tm="100000">
                                          <p:val>
                                            <p:strVal val="#ppt_y"/>
                                          </p:val>
                                        </p:tav>
                                      </p:tavLst>
                                    </p:anim>
                                  </p:childTnLst>
                                </p:cTn>
                              </p:par>
                              <p:par>
                                <p:cTn id="162" presetID="42" presetClass="entr" presetSubtype="0" fill="hold" nodeType="withEffect">
                                  <p:stCondLst>
                                    <p:cond delay="420"/>
                                  </p:stCondLst>
                                  <p:childTnLst>
                                    <p:set>
                                      <p:cBhvr>
                                        <p:cTn id="163" dur="1" fill="hold">
                                          <p:stCondLst>
                                            <p:cond delay="0"/>
                                          </p:stCondLst>
                                        </p:cTn>
                                        <p:tgtEl>
                                          <p:spTgt spid="907"/>
                                        </p:tgtEl>
                                        <p:attrNameLst>
                                          <p:attrName>style.visibility</p:attrName>
                                        </p:attrNameLst>
                                      </p:cBhvr>
                                      <p:to>
                                        <p:strVal val="visible"/>
                                      </p:to>
                                    </p:set>
                                    <p:animEffect transition="in" filter="fade">
                                      <p:cBhvr>
                                        <p:cTn id="164" dur="500"/>
                                        <p:tgtEl>
                                          <p:spTgt spid="907"/>
                                        </p:tgtEl>
                                      </p:cBhvr>
                                    </p:animEffect>
                                    <p:anim calcmode="lin" valueType="num">
                                      <p:cBhvr>
                                        <p:cTn id="165" dur="500" fill="hold"/>
                                        <p:tgtEl>
                                          <p:spTgt spid="907"/>
                                        </p:tgtEl>
                                        <p:attrNameLst>
                                          <p:attrName>ppt_x</p:attrName>
                                        </p:attrNameLst>
                                      </p:cBhvr>
                                      <p:tavLst>
                                        <p:tav tm="0">
                                          <p:val>
                                            <p:strVal val="#ppt_x-.035"/>
                                          </p:val>
                                        </p:tav>
                                        <p:tav tm="100000">
                                          <p:val>
                                            <p:strVal val="#ppt_x"/>
                                          </p:val>
                                        </p:tav>
                                      </p:tavLst>
                                    </p:anim>
                                    <p:anim calcmode="lin" valueType="num">
                                      <p:cBhvr>
                                        <p:cTn id="166" dur="500" fill="hold"/>
                                        <p:tgtEl>
                                          <p:spTgt spid="907"/>
                                        </p:tgtEl>
                                        <p:attrNameLst>
                                          <p:attrName>ppt_y</p:attrName>
                                        </p:attrNameLst>
                                      </p:cBhvr>
                                      <p:tavLst>
                                        <p:tav tm="0">
                                          <p:val>
                                            <p:strVal val="#ppt_y"/>
                                          </p:val>
                                        </p:tav>
                                        <p:tav tm="100000">
                                          <p:val>
                                            <p:strVal val="#ppt_y"/>
                                          </p:val>
                                        </p:tav>
                                      </p:tavLst>
                                    </p:anim>
                                  </p:childTnLst>
                                </p:cTn>
                              </p:par>
                              <p:par>
                                <p:cTn id="167" presetID="42" presetClass="entr" presetSubtype="0" fill="hold" grpId="0" nodeType="withEffect">
                                  <p:stCondLst>
                                    <p:cond delay="420"/>
                                  </p:stCondLst>
                                  <p:childTnLst>
                                    <p:set>
                                      <p:cBhvr>
                                        <p:cTn id="168" dur="1" fill="hold">
                                          <p:stCondLst>
                                            <p:cond delay="0"/>
                                          </p:stCondLst>
                                        </p:cTn>
                                        <p:tgtEl>
                                          <p:spTgt spid="3034"/>
                                        </p:tgtEl>
                                        <p:attrNameLst>
                                          <p:attrName>style.visibility</p:attrName>
                                        </p:attrNameLst>
                                      </p:cBhvr>
                                      <p:to>
                                        <p:strVal val="visible"/>
                                      </p:to>
                                    </p:set>
                                    <p:animEffect transition="in" filter="fade">
                                      <p:cBhvr>
                                        <p:cTn id="169" dur="500"/>
                                        <p:tgtEl>
                                          <p:spTgt spid="3034"/>
                                        </p:tgtEl>
                                      </p:cBhvr>
                                    </p:animEffect>
                                    <p:anim calcmode="lin" valueType="num">
                                      <p:cBhvr>
                                        <p:cTn id="170" dur="500" fill="hold"/>
                                        <p:tgtEl>
                                          <p:spTgt spid="3034"/>
                                        </p:tgtEl>
                                        <p:attrNameLst>
                                          <p:attrName>ppt_x</p:attrName>
                                        </p:attrNameLst>
                                      </p:cBhvr>
                                      <p:tavLst>
                                        <p:tav tm="0">
                                          <p:val>
                                            <p:strVal val="#ppt_x-.035"/>
                                          </p:val>
                                        </p:tav>
                                        <p:tav tm="100000">
                                          <p:val>
                                            <p:strVal val="#ppt_x"/>
                                          </p:val>
                                        </p:tav>
                                      </p:tavLst>
                                    </p:anim>
                                    <p:anim calcmode="lin" valueType="num">
                                      <p:cBhvr>
                                        <p:cTn id="171" dur="500" fill="hold"/>
                                        <p:tgtEl>
                                          <p:spTgt spid="3034"/>
                                        </p:tgtEl>
                                        <p:attrNameLst>
                                          <p:attrName>ppt_y</p:attrName>
                                        </p:attrNameLst>
                                      </p:cBhvr>
                                      <p:tavLst>
                                        <p:tav tm="0">
                                          <p:val>
                                            <p:strVal val="#ppt_y"/>
                                          </p:val>
                                        </p:tav>
                                        <p:tav tm="100000">
                                          <p:val>
                                            <p:strVal val="#ppt_y"/>
                                          </p:val>
                                        </p:tav>
                                      </p:tavLst>
                                    </p:anim>
                                  </p:childTnLst>
                                </p:cTn>
                              </p:par>
                              <p:par>
                                <p:cTn id="172" presetID="42" presetClass="entr" presetSubtype="0" fill="hold" grpId="0" nodeType="withEffect">
                                  <p:stCondLst>
                                    <p:cond delay="560"/>
                                  </p:stCondLst>
                                  <p:childTnLst>
                                    <p:set>
                                      <p:cBhvr>
                                        <p:cTn id="173" dur="1" fill="hold">
                                          <p:stCondLst>
                                            <p:cond delay="0"/>
                                          </p:stCondLst>
                                        </p:cTn>
                                        <p:tgtEl>
                                          <p:spTgt spid="3035"/>
                                        </p:tgtEl>
                                        <p:attrNameLst>
                                          <p:attrName>style.visibility</p:attrName>
                                        </p:attrNameLst>
                                      </p:cBhvr>
                                      <p:to>
                                        <p:strVal val="visible"/>
                                      </p:to>
                                    </p:set>
                                    <p:animEffect transition="in" filter="fade">
                                      <p:cBhvr>
                                        <p:cTn id="174" dur="500"/>
                                        <p:tgtEl>
                                          <p:spTgt spid="3035"/>
                                        </p:tgtEl>
                                      </p:cBhvr>
                                    </p:animEffect>
                                    <p:anim calcmode="lin" valueType="num">
                                      <p:cBhvr>
                                        <p:cTn id="175" dur="500" fill="hold"/>
                                        <p:tgtEl>
                                          <p:spTgt spid="3035"/>
                                        </p:tgtEl>
                                        <p:attrNameLst>
                                          <p:attrName>ppt_x</p:attrName>
                                        </p:attrNameLst>
                                      </p:cBhvr>
                                      <p:tavLst>
                                        <p:tav tm="0">
                                          <p:val>
                                            <p:strVal val="#ppt_x-.035"/>
                                          </p:val>
                                        </p:tav>
                                        <p:tav tm="100000">
                                          <p:val>
                                            <p:strVal val="#ppt_x"/>
                                          </p:val>
                                        </p:tav>
                                      </p:tavLst>
                                    </p:anim>
                                    <p:anim calcmode="lin" valueType="num">
                                      <p:cBhvr>
                                        <p:cTn id="176" dur="500" fill="hold"/>
                                        <p:tgtEl>
                                          <p:spTgt spid="3035"/>
                                        </p:tgtEl>
                                        <p:attrNameLst>
                                          <p:attrName>ppt_y</p:attrName>
                                        </p:attrNameLst>
                                      </p:cBhvr>
                                      <p:tavLst>
                                        <p:tav tm="0">
                                          <p:val>
                                            <p:strVal val="#ppt_y"/>
                                          </p:val>
                                        </p:tav>
                                        <p:tav tm="100000">
                                          <p:val>
                                            <p:strVal val="#ppt_y"/>
                                          </p:val>
                                        </p:tav>
                                      </p:tavLst>
                                    </p:anim>
                                  </p:childTnLst>
                                </p:cTn>
                              </p:par>
                              <p:par>
                                <p:cTn id="177" presetID="42" presetClass="entr" presetSubtype="0" fill="hold" grpId="0" nodeType="withEffect">
                                  <p:stCondLst>
                                    <p:cond delay="560"/>
                                  </p:stCondLst>
                                  <p:childTnLst>
                                    <p:set>
                                      <p:cBhvr>
                                        <p:cTn id="178" dur="1" fill="hold">
                                          <p:stCondLst>
                                            <p:cond delay="0"/>
                                          </p:stCondLst>
                                        </p:cTn>
                                        <p:tgtEl>
                                          <p:spTgt spid="3036"/>
                                        </p:tgtEl>
                                        <p:attrNameLst>
                                          <p:attrName>style.visibility</p:attrName>
                                        </p:attrNameLst>
                                      </p:cBhvr>
                                      <p:to>
                                        <p:strVal val="visible"/>
                                      </p:to>
                                    </p:set>
                                    <p:animEffect transition="in" filter="fade">
                                      <p:cBhvr>
                                        <p:cTn id="179" dur="500"/>
                                        <p:tgtEl>
                                          <p:spTgt spid="3036"/>
                                        </p:tgtEl>
                                      </p:cBhvr>
                                    </p:animEffect>
                                    <p:anim calcmode="lin" valueType="num">
                                      <p:cBhvr>
                                        <p:cTn id="180" dur="500" fill="hold"/>
                                        <p:tgtEl>
                                          <p:spTgt spid="3036"/>
                                        </p:tgtEl>
                                        <p:attrNameLst>
                                          <p:attrName>ppt_x</p:attrName>
                                        </p:attrNameLst>
                                      </p:cBhvr>
                                      <p:tavLst>
                                        <p:tav tm="0">
                                          <p:val>
                                            <p:strVal val="#ppt_x-.035"/>
                                          </p:val>
                                        </p:tav>
                                        <p:tav tm="100000">
                                          <p:val>
                                            <p:strVal val="#ppt_x"/>
                                          </p:val>
                                        </p:tav>
                                      </p:tavLst>
                                    </p:anim>
                                    <p:anim calcmode="lin" valueType="num">
                                      <p:cBhvr>
                                        <p:cTn id="181" dur="500" fill="hold"/>
                                        <p:tgtEl>
                                          <p:spTgt spid="3036"/>
                                        </p:tgtEl>
                                        <p:attrNameLst>
                                          <p:attrName>ppt_y</p:attrName>
                                        </p:attrNameLst>
                                      </p:cBhvr>
                                      <p:tavLst>
                                        <p:tav tm="0">
                                          <p:val>
                                            <p:strVal val="#ppt_y"/>
                                          </p:val>
                                        </p:tav>
                                        <p:tav tm="100000">
                                          <p:val>
                                            <p:strVal val="#ppt_y"/>
                                          </p:val>
                                        </p:tav>
                                      </p:tavLst>
                                    </p:anim>
                                  </p:childTnLst>
                                </p:cTn>
                              </p:par>
                              <p:par>
                                <p:cTn id="182" presetID="42" presetClass="entr" presetSubtype="0" fill="hold" nodeType="withEffect">
                                  <p:stCondLst>
                                    <p:cond delay="560"/>
                                  </p:stCondLst>
                                  <p:childTnLst>
                                    <p:set>
                                      <p:cBhvr>
                                        <p:cTn id="183" dur="1" fill="hold">
                                          <p:stCondLst>
                                            <p:cond delay="0"/>
                                          </p:stCondLst>
                                        </p:cTn>
                                        <p:tgtEl>
                                          <p:spTgt spid="294"/>
                                        </p:tgtEl>
                                        <p:attrNameLst>
                                          <p:attrName>style.visibility</p:attrName>
                                        </p:attrNameLst>
                                      </p:cBhvr>
                                      <p:to>
                                        <p:strVal val="visible"/>
                                      </p:to>
                                    </p:set>
                                    <p:animEffect transition="in" filter="fade">
                                      <p:cBhvr>
                                        <p:cTn id="184" dur="500"/>
                                        <p:tgtEl>
                                          <p:spTgt spid="294"/>
                                        </p:tgtEl>
                                      </p:cBhvr>
                                    </p:animEffect>
                                    <p:anim calcmode="lin" valueType="num">
                                      <p:cBhvr>
                                        <p:cTn id="185" dur="500" fill="hold"/>
                                        <p:tgtEl>
                                          <p:spTgt spid="294"/>
                                        </p:tgtEl>
                                        <p:attrNameLst>
                                          <p:attrName>ppt_x</p:attrName>
                                        </p:attrNameLst>
                                      </p:cBhvr>
                                      <p:tavLst>
                                        <p:tav tm="0">
                                          <p:val>
                                            <p:strVal val="#ppt_x-.035"/>
                                          </p:val>
                                        </p:tav>
                                        <p:tav tm="100000">
                                          <p:val>
                                            <p:strVal val="#ppt_x"/>
                                          </p:val>
                                        </p:tav>
                                      </p:tavLst>
                                    </p:anim>
                                    <p:anim calcmode="lin" valueType="num">
                                      <p:cBhvr>
                                        <p:cTn id="186" dur="500" fill="hold"/>
                                        <p:tgtEl>
                                          <p:spTgt spid="294"/>
                                        </p:tgtEl>
                                        <p:attrNameLst>
                                          <p:attrName>ppt_y</p:attrName>
                                        </p:attrNameLst>
                                      </p:cBhvr>
                                      <p:tavLst>
                                        <p:tav tm="0">
                                          <p:val>
                                            <p:strVal val="#ppt_y"/>
                                          </p:val>
                                        </p:tav>
                                        <p:tav tm="100000">
                                          <p:val>
                                            <p:strVal val="#ppt_y"/>
                                          </p:val>
                                        </p:tav>
                                      </p:tavLst>
                                    </p:anim>
                                  </p:childTnLst>
                                </p:cTn>
                              </p:par>
                              <p:par>
                                <p:cTn id="187" presetID="42" presetClass="entr" presetSubtype="0" fill="hold" grpId="0" nodeType="withEffect">
                                  <p:stCondLst>
                                    <p:cond delay="560"/>
                                  </p:stCondLst>
                                  <p:childTnLst>
                                    <p:set>
                                      <p:cBhvr>
                                        <p:cTn id="188" dur="1" fill="hold">
                                          <p:stCondLst>
                                            <p:cond delay="0"/>
                                          </p:stCondLst>
                                        </p:cTn>
                                        <p:tgtEl>
                                          <p:spTgt spid="3037"/>
                                        </p:tgtEl>
                                        <p:attrNameLst>
                                          <p:attrName>style.visibility</p:attrName>
                                        </p:attrNameLst>
                                      </p:cBhvr>
                                      <p:to>
                                        <p:strVal val="visible"/>
                                      </p:to>
                                    </p:set>
                                    <p:animEffect transition="in" filter="fade">
                                      <p:cBhvr>
                                        <p:cTn id="189" dur="500"/>
                                        <p:tgtEl>
                                          <p:spTgt spid="3037"/>
                                        </p:tgtEl>
                                      </p:cBhvr>
                                    </p:animEffect>
                                    <p:anim calcmode="lin" valueType="num">
                                      <p:cBhvr>
                                        <p:cTn id="190" dur="500" fill="hold"/>
                                        <p:tgtEl>
                                          <p:spTgt spid="3037"/>
                                        </p:tgtEl>
                                        <p:attrNameLst>
                                          <p:attrName>ppt_x</p:attrName>
                                        </p:attrNameLst>
                                      </p:cBhvr>
                                      <p:tavLst>
                                        <p:tav tm="0">
                                          <p:val>
                                            <p:strVal val="#ppt_x-.035"/>
                                          </p:val>
                                        </p:tav>
                                        <p:tav tm="100000">
                                          <p:val>
                                            <p:strVal val="#ppt_x"/>
                                          </p:val>
                                        </p:tav>
                                      </p:tavLst>
                                    </p:anim>
                                    <p:anim calcmode="lin" valueType="num">
                                      <p:cBhvr>
                                        <p:cTn id="191" dur="500" fill="hold"/>
                                        <p:tgtEl>
                                          <p:spTgt spid="3037"/>
                                        </p:tgtEl>
                                        <p:attrNameLst>
                                          <p:attrName>ppt_y</p:attrName>
                                        </p:attrNameLst>
                                      </p:cBhvr>
                                      <p:tavLst>
                                        <p:tav tm="0">
                                          <p:val>
                                            <p:strVal val="#ppt_y"/>
                                          </p:val>
                                        </p:tav>
                                        <p:tav tm="100000">
                                          <p:val>
                                            <p:strVal val="#ppt_y"/>
                                          </p:val>
                                        </p:tav>
                                      </p:tavLst>
                                    </p:anim>
                                  </p:childTnLst>
                                </p:cTn>
                              </p:par>
                            </p:childTnLst>
                          </p:cTn>
                        </p:par>
                      </p:childTnLst>
                    </p:cTn>
                  </p:par>
                  <p:par>
                    <p:cTn id="192" fill="hold">
                      <p:stCondLst>
                        <p:cond delay="indefinite"/>
                      </p:stCondLst>
                      <p:childTnLst>
                        <p:par>
                          <p:cTn id="193" fill="hold">
                            <p:stCondLst>
                              <p:cond delay="0"/>
                            </p:stCondLst>
                            <p:childTnLst>
                              <p:par>
                                <p:cTn id="194" presetID="10" presetClass="entr" presetSubtype="0" fill="hold" grpId="0" nodeType="clickEffect">
                                  <p:stCondLst>
                                    <p:cond delay="0"/>
                                  </p:stCondLst>
                                  <p:childTnLst>
                                    <p:set>
                                      <p:cBhvr>
                                        <p:cTn id="195" dur="1" fill="hold">
                                          <p:stCondLst>
                                            <p:cond delay="0"/>
                                          </p:stCondLst>
                                        </p:cTn>
                                        <p:tgtEl>
                                          <p:spTgt spid="3008"/>
                                        </p:tgtEl>
                                        <p:attrNameLst>
                                          <p:attrName>style.visibility</p:attrName>
                                        </p:attrNameLst>
                                      </p:cBhvr>
                                      <p:to>
                                        <p:strVal val="visible"/>
                                      </p:to>
                                    </p:set>
                                    <p:animEffect transition="in" filter="fade">
                                      <p:cBhvr>
                                        <p:cTn id="196" dur="450"/>
                                        <p:tgtEl>
                                          <p:spTgt spid="3008"/>
                                        </p:tgtEl>
                                      </p:cBhvr>
                                    </p:animEffect>
                                  </p:childTnLst>
                                </p:cTn>
                              </p:par>
                              <p:par>
                                <p:cTn id="197" presetID="10" presetClass="entr" presetSubtype="0" fill="hold" grpId="0" nodeType="withEffect">
                                  <p:stCondLst>
                                    <p:cond delay="0"/>
                                  </p:stCondLst>
                                  <p:childTnLst>
                                    <p:set>
                                      <p:cBhvr>
                                        <p:cTn id="198" dur="1" fill="hold">
                                          <p:stCondLst>
                                            <p:cond delay="0"/>
                                          </p:stCondLst>
                                        </p:cTn>
                                        <p:tgtEl>
                                          <p:spTgt spid="3009"/>
                                        </p:tgtEl>
                                        <p:attrNameLst>
                                          <p:attrName>style.visibility</p:attrName>
                                        </p:attrNameLst>
                                      </p:cBhvr>
                                      <p:to>
                                        <p:strVal val="visible"/>
                                      </p:to>
                                    </p:set>
                                    <p:animEffect transition="in" filter="fade">
                                      <p:cBhvr>
                                        <p:cTn id="199" dur="450"/>
                                        <p:tgtEl>
                                          <p:spTgt spid="3009"/>
                                        </p:tgtEl>
                                      </p:cBhvr>
                                    </p:animEffect>
                                  </p:childTnLst>
                                </p:cTn>
                              </p:par>
                            </p:childTnLst>
                          </p:cTn>
                        </p:par>
                      </p:childTnLst>
                    </p:cTn>
                  </p:par>
                  <p:par>
                    <p:cTn id="200" fill="hold">
                      <p:stCondLst>
                        <p:cond delay="indefinite"/>
                      </p:stCondLst>
                      <p:childTnLst>
                        <p:par>
                          <p:cTn id="201" fill="hold">
                            <p:stCondLst>
                              <p:cond delay="0"/>
                            </p:stCondLst>
                            <p:childTnLst>
                              <p:par>
                                <p:cTn id="202" presetID="22" presetClass="entr" presetSubtype="1" fill="hold" grpId="0" nodeType="clickEffect">
                                  <p:stCondLst>
                                    <p:cond delay="0"/>
                                  </p:stCondLst>
                                  <p:childTnLst>
                                    <p:set>
                                      <p:cBhvr>
                                        <p:cTn id="203" dur="1" fill="hold">
                                          <p:stCondLst>
                                            <p:cond delay="0"/>
                                          </p:stCondLst>
                                        </p:cTn>
                                        <p:tgtEl>
                                          <p:spTgt spid="3038"/>
                                        </p:tgtEl>
                                        <p:attrNameLst>
                                          <p:attrName>style.visibility</p:attrName>
                                        </p:attrNameLst>
                                      </p:cBhvr>
                                      <p:to>
                                        <p:strVal val="visible"/>
                                      </p:to>
                                    </p:set>
                                    <p:animEffect transition="in" filter="wipe(down)">
                                      <p:cBhvr>
                                        <p:cTn id="204" dur="600"/>
                                        <p:tgtEl>
                                          <p:spTgt spid="3038"/>
                                        </p:tgtEl>
                                      </p:cBhvr>
                                    </p:animEffect>
                                  </p:childTnLst>
                                </p:cTn>
                              </p:par>
                              <p:par>
                                <p:cTn id="205" presetID="10" presetClass="entr" presetSubtype="0" fill="hold" grpId="0" nodeType="withEffect">
                                  <p:stCondLst>
                                    <p:cond delay="140"/>
                                  </p:stCondLst>
                                  <p:childTnLst>
                                    <p:set>
                                      <p:cBhvr>
                                        <p:cTn id="206" dur="1" fill="hold">
                                          <p:stCondLst>
                                            <p:cond delay="0"/>
                                          </p:stCondLst>
                                        </p:cTn>
                                        <p:tgtEl>
                                          <p:spTgt spid="3039"/>
                                        </p:tgtEl>
                                        <p:attrNameLst>
                                          <p:attrName>style.visibility</p:attrName>
                                        </p:attrNameLst>
                                      </p:cBhvr>
                                      <p:to>
                                        <p:strVal val="visible"/>
                                      </p:to>
                                    </p:set>
                                    <p:animEffect transition="in" filter="fade">
                                      <p:cBhvr>
                                        <p:cTn id="207" dur="450"/>
                                        <p:tgtEl>
                                          <p:spTgt spid="3039"/>
                                        </p:tgtEl>
                                      </p:cBhvr>
                                    </p:animEffect>
                                  </p:childTnLst>
                                </p:cTn>
                              </p:par>
                              <p:par>
                                <p:cTn id="208" presetID="42" presetClass="entr" presetSubtype="0" fill="hold" grpId="0" nodeType="withEffect">
                                  <p:stCondLst>
                                    <p:cond delay="280"/>
                                  </p:stCondLst>
                                  <p:childTnLst>
                                    <p:set>
                                      <p:cBhvr>
                                        <p:cTn id="209" dur="1" fill="hold">
                                          <p:stCondLst>
                                            <p:cond delay="0"/>
                                          </p:stCondLst>
                                        </p:cTn>
                                        <p:tgtEl>
                                          <p:spTgt spid="3040"/>
                                        </p:tgtEl>
                                        <p:attrNameLst>
                                          <p:attrName>style.visibility</p:attrName>
                                        </p:attrNameLst>
                                      </p:cBhvr>
                                      <p:to>
                                        <p:strVal val="visible"/>
                                      </p:to>
                                    </p:set>
                                    <p:animEffect transition="in" filter="fade">
                                      <p:cBhvr>
                                        <p:cTn id="210" dur="450"/>
                                        <p:tgtEl>
                                          <p:spTgt spid="3040"/>
                                        </p:tgtEl>
                                      </p:cBhvr>
                                    </p:animEffect>
                                    <p:anim calcmode="lin" valueType="num">
                                      <p:cBhvr>
                                        <p:cTn id="211" dur="450" fill="hold"/>
                                        <p:tgtEl>
                                          <p:spTgt spid="3040"/>
                                        </p:tgtEl>
                                        <p:attrNameLst>
                                          <p:attrName>ppt_x</p:attrName>
                                        </p:attrNameLst>
                                      </p:cBhvr>
                                      <p:tavLst>
                                        <p:tav tm="0">
                                          <p:val>
                                            <p:strVal val="#ppt_x"/>
                                          </p:val>
                                        </p:tav>
                                        <p:tav tm="100000">
                                          <p:val>
                                            <p:strVal val="#ppt_x"/>
                                          </p:val>
                                        </p:tav>
                                      </p:tavLst>
                                    </p:anim>
                                    <p:anim calcmode="lin" valueType="num">
                                      <p:cBhvr>
                                        <p:cTn id="212" dur="450" fill="hold"/>
                                        <p:tgtEl>
                                          <p:spTgt spid="3040"/>
                                        </p:tgtEl>
                                        <p:attrNameLst>
                                          <p:attrName>ppt_y</p:attrName>
                                        </p:attrNameLst>
                                      </p:cBhvr>
                                      <p:tavLst>
                                        <p:tav tm="0">
                                          <p:val>
                                            <p:strVal val="#ppt_y+.03"/>
                                          </p:val>
                                        </p:tav>
                                        <p:tav tm="100000">
                                          <p:val>
                                            <p:strVal val="#ppt_y"/>
                                          </p:val>
                                        </p:tav>
                                      </p:tavLst>
                                    </p:anim>
                                  </p:childTnLst>
                                </p:cTn>
                              </p:par>
                              <p:par>
                                <p:cTn id="213" presetID="42" presetClass="entr" presetSubtype="0" fill="hold" grpId="0" nodeType="withEffect">
                                  <p:stCondLst>
                                    <p:cond delay="280"/>
                                  </p:stCondLst>
                                  <p:childTnLst>
                                    <p:set>
                                      <p:cBhvr>
                                        <p:cTn id="214" dur="1" fill="hold">
                                          <p:stCondLst>
                                            <p:cond delay="0"/>
                                          </p:stCondLst>
                                        </p:cTn>
                                        <p:tgtEl>
                                          <p:spTgt spid="3041"/>
                                        </p:tgtEl>
                                        <p:attrNameLst>
                                          <p:attrName>style.visibility</p:attrName>
                                        </p:attrNameLst>
                                      </p:cBhvr>
                                      <p:to>
                                        <p:strVal val="visible"/>
                                      </p:to>
                                    </p:set>
                                    <p:animEffect transition="in" filter="fade">
                                      <p:cBhvr>
                                        <p:cTn id="215" dur="450"/>
                                        <p:tgtEl>
                                          <p:spTgt spid="3041"/>
                                        </p:tgtEl>
                                      </p:cBhvr>
                                    </p:animEffect>
                                    <p:anim calcmode="lin" valueType="num">
                                      <p:cBhvr>
                                        <p:cTn id="216" dur="450" fill="hold"/>
                                        <p:tgtEl>
                                          <p:spTgt spid="3041"/>
                                        </p:tgtEl>
                                        <p:attrNameLst>
                                          <p:attrName>ppt_x</p:attrName>
                                        </p:attrNameLst>
                                      </p:cBhvr>
                                      <p:tavLst>
                                        <p:tav tm="0">
                                          <p:val>
                                            <p:strVal val="#ppt_x"/>
                                          </p:val>
                                        </p:tav>
                                        <p:tav tm="100000">
                                          <p:val>
                                            <p:strVal val="#ppt_x"/>
                                          </p:val>
                                        </p:tav>
                                      </p:tavLst>
                                    </p:anim>
                                    <p:anim calcmode="lin" valueType="num">
                                      <p:cBhvr>
                                        <p:cTn id="217" dur="450" fill="hold"/>
                                        <p:tgtEl>
                                          <p:spTgt spid="3041"/>
                                        </p:tgtEl>
                                        <p:attrNameLst>
                                          <p:attrName>ppt_y</p:attrName>
                                        </p:attrNameLst>
                                      </p:cBhvr>
                                      <p:tavLst>
                                        <p:tav tm="0">
                                          <p:val>
                                            <p:strVal val="#ppt_y+.03"/>
                                          </p:val>
                                        </p:tav>
                                        <p:tav tm="100000">
                                          <p:val>
                                            <p:strVal val="#ppt_y"/>
                                          </p:val>
                                        </p:tav>
                                      </p:tavLst>
                                    </p:anim>
                                  </p:childTnLst>
                                </p:cTn>
                              </p:par>
                              <p:par>
                                <p:cTn id="218" presetID="42" presetClass="entr" presetSubtype="0" fill="hold" nodeType="withEffect">
                                  <p:stCondLst>
                                    <p:cond delay="280"/>
                                  </p:stCondLst>
                                  <p:childTnLst>
                                    <p:set>
                                      <p:cBhvr>
                                        <p:cTn id="219" dur="1" fill="hold">
                                          <p:stCondLst>
                                            <p:cond delay="0"/>
                                          </p:stCondLst>
                                        </p:cTn>
                                        <p:tgtEl>
                                          <p:spTgt spid="908"/>
                                        </p:tgtEl>
                                        <p:attrNameLst>
                                          <p:attrName>style.visibility</p:attrName>
                                        </p:attrNameLst>
                                      </p:cBhvr>
                                      <p:to>
                                        <p:strVal val="visible"/>
                                      </p:to>
                                    </p:set>
                                    <p:animEffect transition="in" filter="fade">
                                      <p:cBhvr>
                                        <p:cTn id="220" dur="450"/>
                                        <p:tgtEl>
                                          <p:spTgt spid="908"/>
                                        </p:tgtEl>
                                      </p:cBhvr>
                                    </p:animEffect>
                                    <p:anim calcmode="lin" valueType="num">
                                      <p:cBhvr>
                                        <p:cTn id="221" dur="450" fill="hold"/>
                                        <p:tgtEl>
                                          <p:spTgt spid="908"/>
                                        </p:tgtEl>
                                        <p:attrNameLst>
                                          <p:attrName>ppt_x</p:attrName>
                                        </p:attrNameLst>
                                      </p:cBhvr>
                                      <p:tavLst>
                                        <p:tav tm="0">
                                          <p:val>
                                            <p:strVal val="#ppt_x"/>
                                          </p:val>
                                        </p:tav>
                                        <p:tav tm="100000">
                                          <p:val>
                                            <p:strVal val="#ppt_x"/>
                                          </p:val>
                                        </p:tav>
                                      </p:tavLst>
                                    </p:anim>
                                    <p:anim calcmode="lin" valueType="num">
                                      <p:cBhvr>
                                        <p:cTn id="222" dur="450" fill="hold"/>
                                        <p:tgtEl>
                                          <p:spTgt spid="908"/>
                                        </p:tgtEl>
                                        <p:attrNameLst>
                                          <p:attrName>ppt_y</p:attrName>
                                        </p:attrNameLst>
                                      </p:cBhvr>
                                      <p:tavLst>
                                        <p:tav tm="0">
                                          <p:val>
                                            <p:strVal val="#ppt_y+.03"/>
                                          </p:val>
                                        </p:tav>
                                        <p:tav tm="100000">
                                          <p:val>
                                            <p:strVal val="#ppt_y"/>
                                          </p:val>
                                        </p:tav>
                                      </p:tavLst>
                                    </p:anim>
                                  </p:childTnLst>
                                </p:cTn>
                              </p:par>
                              <p:par>
                                <p:cTn id="223" presetID="42" presetClass="entr" presetSubtype="0" fill="hold" grpId="0" nodeType="withEffect">
                                  <p:stCondLst>
                                    <p:cond delay="280"/>
                                  </p:stCondLst>
                                  <p:childTnLst>
                                    <p:set>
                                      <p:cBhvr>
                                        <p:cTn id="224" dur="1" fill="hold">
                                          <p:stCondLst>
                                            <p:cond delay="0"/>
                                          </p:stCondLst>
                                        </p:cTn>
                                        <p:tgtEl>
                                          <p:spTgt spid="3042"/>
                                        </p:tgtEl>
                                        <p:attrNameLst>
                                          <p:attrName>style.visibility</p:attrName>
                                        </p:attrNameLst>
                                      </p:cBhvr>
                                      <p:to>
                                        <p:strVal val="visible"/>
                                      </p:to>
                                    </p:set>
                                    <p:animEffect transition="in" filter="fade">
                                      <p:cBhvr>
                                        <p:cTn id="225" dur="450"/>
                                        <p:tgtEl>
                                          <p:spTgt spid="3042"/>
                                        </p:tgtEl>
                                      </p:cBhvr>
                                    </p:animEffect>
                                    <p:anim calcmode="lin" valueType="num">
                                      <p:cBhvr>
                                        <p:cTn id="226" dur="450" fill="hold"/>
                                        <p:tgtEl>
                                          <p:spTgt spid="3042"/>
                                        </p:tgtEl>
                                        <p:attrNameLst>
                                          <p:attrName>ppt_x</p:attrName>
                                        </p:attrNameLst>
                                      </p:cBhvr>
                                      <p:tavLst>
                                        <p:tav tm="0">
                                          <p:val>
                                            <p:strVal val="#ppt_x"/>
                                          </p:val>
                                        </p:tav>
                                        <p:tav tm="100000">
                                          <p:val>
                                            <p:strVal val="#ppt_x"/>
                                          </p:val>
                                        </p:tav>
                                      </p:tavLst>
                                    </p:anim>
                                    <p:anim calcmode="lin" valueType="num">
                                      <p:cBhvr>
                                        <p:cTn id="227" dur="450" fill="hold"/>
                                        <p:tgtEl>
                                          <p:spTgt spid="3042"/>
                                        </p:tgtEl>
                                        <p:attrNameLst>
                                          <p:attrName>ppt_y</p:attrName>
                                        </p:attrNameLst>
                                      </p:cBhvr>
                                      <p:tavLst>
                                        <p:tav tm="0">
                                          <p:val>
                                            <p:strVal val="#ppt_y+.03"/>
                                          </p:val>
                                        </p:tav>
                                        <p:tav tm="100000">
                                          <p:val>
                                            <p:strVal val="#ppt_y"/>
                                          </p:val>
                                        </p:tav>
                                      </p:tavLst>
                                    </p:anim>
                                  </p:childTnLst>
                                </p:cTn>
                              </p:par>
                              <p:par>
                                <p:cTn id="228" presetID="42" presetClass="entr" presetSubtype="0" fill="hold" grpId="0" nodeType="withEffect">
                                  <p:stCondLst>
                                    <p:cond delay="280"/>
                                  </p:stCondLst>
                                  <p:childTnLst>
                                    <p:set>
                                      <p:cBhvr>
                                        <p:cTn id="229" dur="1" fill="hold">
                                          <p:stCondLst>
                                            <p:cond delay="0"/>
                                          </p:stCondLst>
                                        </p:cTn>
                                        <p:tgtEl>
                                          <p:spTgt spid="3043"/>
                                        </p:tgtEl>
                                        <p:attrNameLst>
                                          <p:attrName>style.visibility</p:attrName>
                                        </p:attrNameLst>
                                      </p:cBhvr>
                                      <p:to>
                                        <p:strVal val="visible"/>
                                      </p:to>
                                    </p:set>
                                    <p:animEffect transition="in" filter="fade">
                                      <p:cBhvr>
                                        <p:cTn id="230" dur="450"/>
                                        <p:tgtEl>
                                          <p:spTgt spid="3043"/>
                                        </p:tgtEl>
                                      </p:cBhvr>
                                    </p:animEffect>
                                    <p:anim calcmode="lin" valueType="num">
                                      <p:cBhvr>
                                        <p:cTn id="231" dur="450" fill="hold"/>
                                        <p:tgtEl>
                                          <p:spTgt spid="3043"/>
                                        </p:tgtEl>
                                        <p:attrNameLst>
                                          <p:attrName>ppt_x</p:attrName>
                                        </p:attrNameLst>
                                      </p:cBhvr>
                                      <p:tavLst>
                                        <p:tav tm="0">
                                          <p:val>
                                            <p:strVal val="#ppt_x"/>
                                          </p:val>
                                        </p:tav>
                                        <p:tav tm="100000">
                                          <p:val>
                                            <p:strVal val="#ppt_x"/>
                                          </p:val>
                                        </p:tav>
                                      </p:tavLst>
                                    </p:anim>
                                    <p:anim calcmode="lin" valueType="num">
                                      <p:cBhvr>
                                        <p:cTn id="232" dur="450" fill="hold"/>
                                        <p:tgtEl>
                                          <p:spTgt spid="3043"/>
                                        </p:tgtEl>
                                        <p:attrNameLst>
                                          <p:attrName>ppt_y</p:attrName>
                                        </p:attrNameLst>
                                      </p:cBhvr>
                                      <p:tavLst>
                                        <p:tav tm="0">
                                          <p:val>
                                            <p:strVal val="#ppt_y+.03"/>
                                          </p:val>
                                        </p:tav>
                                        <p:tav tm="100000">
                                          <p:val>
                                            <p:strVal val="#ppt_y"/>
                                          </p:val>
                                        </p:tav>
                                      </p:tavLst>
                                    </p:anim>
                                  </p:childTnLst>
                                </p:cTn>
                              </p:par>
                              <p:par>
                                <p:cTn id="233" presetID="10" presetClass="entr" presetSubtype="0" fill="hold" grpId="0" nodeType="withEffect">
                                  <p:stCondLst>
                                    <p:cond delay="560"/>
                                  </p:stCondLst>
                                  <p:childTnLst>
                                    <p:set>
                                      <p:cBhvr>
                                        <p:cTn id="234" dur="1" fill="hold">
                                          <p:stCondLst>
                                            <p:cond delay="0"/>
                                          </p:stCondLst>
                                        </p:cTn>
                                        <p:tgtEl>
                                          <p:spTgt spid="3044"/>
                                        </p:tgtEl>
                                        <p:attrNameLst>
                                          <p:attrName>style.visibility</p:attrName>
                                        </p:attrNameLst>
                                      </p:cBhvr>
                                      <p:to>
                                        <p:strVal val="visible"/>
                                      </p:to>
                                    </p:set>
                                    <p:animEffect transition="in" filter="fade">
                                      <p:cBhvr>
                                        <p:cTn id="235" dur="450"/>
                                        <p:tgtEl>
                                          <p:spTgt spid="3044"/>
                                        </p:tgtEl>
                                      </p:cBhvr>
                                    </p:animEffect>
                                  </p:childTnLst>
                                </p:cTn>
                              </p:par>
                              <p:par>
                                <p:cTn id="236" presetID="10" presetClass="entr" presetSubtype="0" fill="hold" grpId="0" nodeType="withEffect">
                                  <p:stCondLst>
                                    <p:cond delay="560"/>
                                  </p:stCondLst>
                                  <p:childTnLst>
                                    <p:set>
                                      <p:cBhvr>
                                        <p:cTn id="237" dur="1" fill="hold">
                                          <p:stCondLst>
                                            <p:cond delay="0"/>
                                          </p:stCondLst>
                                        </p:cTn>
                                        <p:tgtEl>
                                          <p:spTgt spid="3045"/>
                                        </p:tgtEl>
                                        <p:attrNameLst>
                                          <p:attrName>style.visibility</p:attrName>
                                        </p:attrNameLst>
                                      </p:cBhvr>
                                      <p:to>
                                        <p:strVal val="visible"/>
                                      </p:to>
                                    </p:set>
                                    <p:animEffect transition="in" filter="fade">
                                      <p:cBhvr>
                                        <p:cTn id="238" dur="450"/>
                                        <p:tgtEl>
                                          <p:spTgt spid="3045"/>
                                        </p:tgtEl>
                                      </p:cBhvr>
                                    </p:animEffect>
                                  </p:childTnLst>
                                </p:cTn>
                              </p:par>
                              <p:par>
                                <p:cTn id="239" presetID="10" presetClass="entr" presetSubtype="0" fill="hold" grpId="0" nodeType="withEffect">
                                  <p:stCondLst>
                                    <p:cond delay="700"/>
                                  </p:stCondLst>
                                  <p:childTnLst>
                                    <p:set>
                                      <p:cBhvr>
                                        <p:cTn id="240" dur="1" fill="hold">
                                          <p:stCondLst>
                                            <p:cond delay="0"/>
                                          </p:stCondLst>
                                        </p:cTn>
                                        <p:tgtEl>
                                          <p:spTgt spid="3046"/>
                                        </p:tgtEl>
                                        <p:attrNameLst>
                                          <p:attrName>style.visibility</p:attrName>
                                        </p:attrNameLst>
                                      </p:cBhvr>
                                      <p:to>
                                        <p:strVal val="visible"/>
                                      </p:to>
                                    </p:set>
                                    <p:animEffect transition="in" filter="fade">
                                      <p:cBhvr>
                                        <p:cTn id="241" dur="450"/>
                                        <p:tgtEl>
                                          <p:spTgt spid="30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1" grpId="0" animBg="1"/>
      <p:bldP spid="3002" grpId="0" animBg="1"/>
      <p:bldP spid="3003" grpId="0" animBg="1"/>
      <p:bldP spid="3004" grpId="0" animBg="1"/>
      <p:bldP spid="3005" grpId="0" animBg="1"/>
      <p:bldP spid="3006" grpId="0" animBg="1"/>
      <p:bldP spid="3007" grpId="0" animBg="1"/>
      <p:bldP spid="3008" grpId="0" animBg="1"/>
      <p:bldP spid="3009" grpId="0" animBg="1"/>
      <p:bldP spid="3010" grpId="0" animBg="1"/>
      <p:bldP spid="3011" grpId="0" animBg="1"/>
      <p:bldP spid="3012" grpId="0" animBg="1"/>
      <p:bldP spid="3013" grpId="0" animBg="1"/>
      <p:bldP spid="3014" grpId="0" animBg="1"/>
      <p:bldP spid="3015" grpId="0" animBg="1"/>
      <p:bldP spid="3016" grpId="0" animBg="1"/>
      <p:bldP spid="3017" grpId="0" animBg="1"/>
      <p:bldP spid="3018" grpId="0" animBg="1"/>
      <p:bldP spid="3019" grpId="0" animBg="1"/>
      <p:bldP spid="3020" grpId="0" animBg="1"/>
      <p:bldP spid="3021" grpId="0" animBg="1"/>
      <p:bldP spid="3022" grpId="0" animBg="1"/>
      <p:bldP spid="3023" grpId="0" animBg="1"/>
      <p:bldP spid="3024" grpId="0" animBg="1"/>
      <p:bldP spid="3025" grpId="0" animBg="1"/>
      <p:bldP spid="3026" grpId="0" animBg="1"/>
      <p:bldP spid="3027" grpId="0" animBg="1"/>
      <p:bldP spid="3028" grpId="0" animBg="1"/>
      <p:bldP spid="3029" grpId="0" animBg="1"/>
      <p:bldP spid="3030" grpId="0" animBg="1"/>
      <p:bldP spid="3031" grpId="0" animBg="1"/>
      <p:bldP spid="3032" grpId="0" animBg="1"/>
      <p:bldP spid="3033" grpId="0" animBg="1"/>
      <p:bldP spid="3034" grpId="0" animBg="1"/>
      <p:bldP spid="3035" grpId="0" animBg="1"/>
      <p:bldP spid="3036" grpId="0" animBg="1"/>
      <p:bldP spid="3037" grpId="0" animBg="1"/>
      <p:bldP spid="3038" grpId="0" animBg="1"/>
      <p:bldP spid="3039" grpId="0" animBg="1"/>
      <p:bldP spid="3040" grpId="0" animBg="1"/>
      <p:bldP spid="3041" grpId="0" animBg="1"/>
      <p:bldP spid="3042" grpId="0" animBg="1"/>
      <p:bldP spid="3043" grpId="0" animBg="1"/>
      <p:bldP spid="3044" grpId="0" animBg="1"/>
      <p:bldP spid="3045" grpId="0" animBg="1"/>
      <p:bldP spid="304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432078-8FDE-3930-B1A8-741579BBBE96}"/>
            </a:ext>
          </a:extLst>
        </p:cNvPr>
        <p:cNvGrpSpPr/>
        <p:nvPr/>
      </p:nvGrpSpPr>
      <p:grpSpPr>
        <a:xfrm>
          <a:off x="0" y="0"/>
          <a:ext cx="0" cy="0"/>
          <a:chOff x="0" y="0"/>
          <a:chExt cx="0" cy="0"/>
        </a:xfrm>
      </p:grpSpPr>
      <p:pic>
        <p:nvPicPr>
          <p:cNvPr id="6" name="Image 5">
            <a:extLst>
              <a:ext uri="{FF2B5EF4-FFF2-40B4-BE49-F238E27FC236}">
                <a16:creationId xmlns:a16="http://schemas.microsoft.com/office/drawing/2014/main" id="{35DF25D3-A4D8-9573-6034-D17B10B92982}"/>
              </a:ext>
            </a:extLst>
          </p:cNvPr>
          <p:cNvPicPr>
            <a:picLocks noChangeAspect="1"/>
          </p:cNvPicPr>
          <p:nvPr/>
        </p:nvPicPr>
        <p:blipFill>
          <a:blip r:embed="rId2">
            <a:extLst>
              <a:ext uri="{28A0092B-C50C-407E-A947-70E740481C1C}">
                <a14:useLocalDpi xmlns:a14="http://schemas.microsoft.com/office/drawing/2010/main" val="0"/>
              </a:ext>
            </a:extLst>
          </a:blip>
          <a:srcRect l="1179" r="7834"/>
          <a:stretch>
            <a:fillRect/>
          </a:stretch>
        </p:blipFill>
        <p:spPr bwMode="auto">
          <a:xfrm>
            <a:off x="1146314" y="596209"/>
            <a:ext cx="8091218" cy="6261791"/>
          </a:xfrm>
          <a:prstGeom prst="rect">
            <a:avLst/>
          </a:prstGeom>
          <a:noFill/>
        </p:spPr>
      </p:pic>
      <p:sp>
        <p:nvSpPr>
          <p:cNvPr id="2" name="Rectangle 1">
            <a:extLst>
              <a:ext uri="{FF2B5EF4-FFF2-40B4-BE49-F238E27FC236}">
                <a16:creationId xmlns:a16="http://schemas.microsoft.com/office/drawing/2014/main" id="{508C7D92-0E13-C662-0FEE-E6C8198A2E61}"/>
              </a:ext>
            </a:extLst>
          </p:cNvPr>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DiagHdr">
            <a:extLst>
              <a:ext uri="{FF2B5EF4-FFF2-40B4-BE49-F238E27FC236}">
                <a16:creationId xmlns:a16="http://schemas.microsoft.com/office/drawing/2014/main" id="{671BBC73-7B10-4320-94D9-79A426F85583}"/>
              </a:ext>
            </a:extLst>
          </p:cNvPr>
          <p:cNvSpPr txBox="1"/>
          <p:nvPr/>
        </p:nvSpPr>
        <p:spPr>
          <a:xfrm>
            <a:off x="787400" y="304800"/>
            <a:ext cx="10414000" cy="400110"/>
          </a:xfrm>
          <a:prstGeom prst="rect">
            <a:avLst/>
          </a:prstGeom>
          <a:noFill/>
        </p:spPr>
        <p:txBody>
          <a:bodyPr vertOverflow="overflow" vert="horz" wrap="square" rtlCol="0" anchor="t">
            <a:spAutoFit/>
          </a:bodyPr>
          <a:lstStyle/>
          <a:p>
            <a:pPr algn="l">
              <a:spcBef>
                <a:spcPct val="0"/>
              </a:spcBef>
              <a:buNone/>
            </a:pPr>
            <a:r>
              <a:rPr lang="fr-FR" sz="2000" b="1" spc="60" dirty="0">
                <a:solidFill>
                  <a:srgbClr val="F96A09"/>
                </a:solidFill>
                <a:latin typeface="Montserrat"/>
              </a:rPr>
              <a:t>03</a:t>
            </a:r>
            <a:r>
              <a:rPr lang="fr-FR" sz="2000" b="1" spc="60" dirty="0">
                <a:solidFill>
                  <a:srgbClr val="16294A"/>
                </a:solidFill>
                <a:latin typeface="Montserrat"/>
              </a:rPr>
              <a:t>  |  DIAGRAMME DE CAS D’UTILISATION</a:t>
            </a:r>
          </a:p>
        </p:txBody>
      </p:sp>
      <p:sp>
        <p:nvSpPr>
          <p:cNvPr id="4" name="Rectangle 3">
            <a:extLst>
              <a:ext uri="{FF2B5EF4-FFF2-40B4-BE49-F238E27FC236}">
                <a16:creationId xmlns:a16="http://schemas.microsoft.com/office/drawing/2014/main" id="{FB587CE1-F86B-AD34-B9AA-C37175E59138}"/>
              </a:ext>
            </a:extLst>
          </p:cNvPr>
          <p:cNvSpPr>
            <a:spLocks/>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F8E2DF5D-F854-414E-8546-40E1FBC49EA4}" type="slidenum">
              <a:rPr lang="fr-FR" sz="1600" b="1" dirty="0">
                <a:solidFill>
                  <a:srgbClr val="FFFFFF"/>
                </a:solidFill>
                <a:latin typeface="Montserrat"/>
              </a:rPr>
              <a:t>11</a:t>
            </a:fld>
            <a:endParaRPr lang="fr-FR" sz="1600" b="1" dirty="0">
              <a:solidFill>
                <a:srgbClr val="FFFFFF"/>
              </a:solidFill>
              <a:latin typeface="Montserrat"/>
            </a:endParaRPr>
          </a:p>
        </p:txBody>
      </p:sp>
    </p:spTree>
    <p:extLst>
      <p:ext uri="{BB962C8B-B14F-4D97-AF65-F5344CB8AC3E}">
        <p14:creationId xmlns:p14="http://schemas.microsoft.com/office/powerpoint/2010/main" val="3446560056"/>
      </p:ext>
    </p:extLst>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50"/>
                                        <p:tgtEl>
                                          <p:spTgt spid="18"/>
                                        </p:tgtEl>
                                      </p:cBhvr>
                                    </p:animEffect>
                                    <p:anim calcmode="lin" valueType="num">
                                      <p:cBhvr>
                                        <p:cTn id="8" dur="450" fill="hold"/>
                                        <p:tgtEl>
                                          <p:spTgt spid="18"/>
                                        </p:tgtEl>
                                        <p:attrNameLst>
                                          <p:attrName>ppt_x</p:attrName>
                                        </p:attrNameLst>
                                      </p:cBhvr>
                                      <p:tavLst>
                                        <p:tav tm="0">
                                          <p:val>
                                            <p:strVal val="#ppt_x"/>
                                          </p:val>
                                        </p:tav>
                                        <p:tav tm="100000">
                                          <p:val>
                                            <p:strVal val="#ppt_x"/>
                                          </p:val>
                                        </p:tav>
                                      </p:tavLst>
                                    </p:anim>
                                    <p:anim calcmode="lin" valueType="num">
                                      <p:cBhvr>
                                        <p:cTn id="9" dur="450" fill="hold"/>
                                        <p:tgtEl>
                                          <p:spTgt spid="18"/>
                                        </p:tgtEl>
                                        <p:attrNameLst>
                                          <p:attrName>ppt_y</p:attrName>
                                        </p:attrNameLst>
                                      </p:cBhvr>
                                      <p:tavLst>
                                        <p:tav tm="0">
                                          <p:val>
                                            <p:strVal val="#ppt_y+.03"/>
                                          </p:val>
                                        </p:tav>
                                        <p:tav tm="100000">
                                          <p:val>
                                            <p:strVal val="#ppt_y"/>
                                          </p:val>
                                        </p:tav>
                                      </p:tavLst>
                                    </p:anim>
                                  </p:childTnLst>
                                </p:cTn>
                              </p:par>
                              <p:par>
                                <p:cTn id="10" presetID="10" presetClass="entr" presetSubtype="0" fill="hold" nodeType="withEffect">
                                  <p:stCondLst>
                                    <p:cond delay="14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32078-8FDE-3930-B1A8-741579BBBE96}"/>
            </a:ext>
          </a:extLst>
        </p:cNvPr>
        <p:cNvGrpSpPr/>
        <p:nvPr/>
      </p:nvGrpSpPr>
      <p:grpSpPr>
        <a:xfrm>
          <a:off x="0" y="0"/>
          <a:ext cx="0" cy="0"/>
          <a:chOff x="0" y="0"/>
          <a:chExt cx="0" cy="0"/>
        </a:xfrm>
      </p:grpSpPr>
      <p:pic>
        <p:nvPicPr>
          <p:cNvPr id="5" name="Image 4">
            <a:extLst>
              <a:ext uri="{FF2B5EF4-FFF2-40B4-BE49-F238E27FC236}">
                <a16:creationId xmlns:a16="http://schemas.microsoft.com/office/drawing/2014/main" id="{622DF4DD-9A5A-ADC5-63C1-38534BFE682E}"/>
              </a:ext>
            </a:extLst>
          </p:cNvPr>
          <p:cNvPicPr>
            <a:picLocks noChangeAspect="1"/>
          </p:cNvPicPr>
          <p:nvPr/>
        </p:nvPicPr>
        <p:blipFill>
          <a:blip r:embed="rId2">
            <a:extLst>
              <a:ext uri="{28A0092B-C50C-407E-A947-70E740481C1C}">
                <a14:useLocalDpi xmlns:a14="http://schemas.microsoft.com/office/drawing/2010/main" val="0"/>
              </a:ext>
            </a:extLst>
          </a:blip>
          <a:srcRect r="7058"/>
          <a:stretch>
            <a:fillRect/>
          </a:stretch>
        </p:blipFill>
        <p:spPr>
          <a:xfrm>
            <a:off x="328142" y="682050"/>
            <a:ext cx="11331582" cy="5848290"/>
          </a:xfrm>
          <a:prstGeom prst="rect">
            <a:avLst/>
          </a:prstGeom>
        </p:spPr>
      </p:pic>
      <p:sp>
        <p:nvSpPr>
          <p:cNvPr id="2" name="Rectangle 1">
            <a:extLst>
              <a:ext uri="{FF2B5EF4-FFF2-40B4-BE49-F238E27FC236}">
                <a16:creationId xmlns:a16="http://schemas.microsoft.com/office/drawing/2014/main" id="{508C7D92-0E13-C662-0FEE-E6C8198A2E61}"/>
              </a:ext>
            </a:extLst>
          </p:cNvPr>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DiagHdr">
            <a:extLst>
              <a:ext uri="{FF2B5EF4-FFF2-40B4-BE49-F238E27FC236}">
                <a16:creationId xmlns:a16="http://schemas.microsoft.com/office/drawing/2014/main" id="{260BD6A4-7B69-4C06-A1CB-F1E5638579B2}"/>
              </a:ext>
            </a:extLst>
          </p:cNvPr>
          <p:cNvSpPr txBox="1"/>
          <p:nvPr/>
        </p:nvSpPr>
        <p:spPr>
          <a:xfrm>
            <a:off x="787400" y="304800"/>
            <a:ext cx="10414000" cy="400110"/>
          </a:xfrm>
          <a:prstGeom prst="rect">
            <a:avLst/>
          </a:prstGeom>
          <a:noFill/>
        </p:spPr>
        <p:txBody>
          <a:bodyPr vertOverflow="overflow" vert="horz" wrap="square" rtlCol="0" anchor="t">
            <a:spAutoFit/>
          </a:bodyPr>
          <a:lstStyle/>
          <a:p>
            <a:pPr algn="l">
              <a:spcBef>
                <a:spcPct val="0"/>
              </a:spcBef>
              <a:buNone/>
            </a:pPr>
            <a:r>
              <a:rPr lang="fr-FR" sz="2000" b="1" spc="60" dirty="0">
                <a:solidFill>
                  <a:srgbClr val="F96A09"/>
                </a:solidFill>
                <a:latin typeface="Montserrat"/>
              </a:rPr>
              <a:t>03</a:t>
            </a:r>
            <a:r>
              <a:rPr lang="fr-FR" sz="2000" b="1" spc="60" dirty="0">
                <a:solidFill>
                  <a:srgbClr val="16294A"/>
                </a:solidFill>
                <a:latin typeface="Montserrat"/>
              </a:rPr>
              <a:t>  |  DIAGRAMME DE SÉQUENCE</a:t>
            </a:r>
          </a:p>
        </p:txBody>
      </p:sp>
      <p:sp>
        <p:nvSpPr>
          <p:cNvPr id="4" name="Rectangle 3">
            <a:extLst>
              <a:ext uri="{FF2B5EF4-FFF2-40B4-BE49-F238E27FC236}">
                <a16:creationId xmlns:a16="http://schemas.microsoft.com/office/drawing/2014/main" id="{73507F3A-983F-671E-8EC8-41497EBE2DF3}"/>
              </a:ext>
            </a:extLst>
          </p:cNvPr>
          <p:cNvSpPr>
            <a:spLocks/>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090E104E-E330-4529-8EA2-802AD5782D71}" type="slidenum">
              <a:rPr lang="fr-FR" sz="1600" b="1" dirty="0">
                <a:solidFill>
                  <a:srgbClr val="FFFFFF"/>
                </a:solidFill>
                <a:latin typeface="Montserrat"/>
              </a:rPr>
              <a:t>12</a:t>
            </a:fld>
            <a:endParaRPr lang="fr-FR" sz="1600" b="1" dirty="0">
              <a:solidFill>
                <a:srgbClr val="FFFFFF"/>
              </a:solidFill>
              <a:latin typeface="Montserrat"/>
            </a:endParaRPr>
          </a:p>
        </p:txBody>
      </p:sp>
    </p:spTree>
    <p:extLst>
      <p:ext uri="{BB962C8B-B14F-4D97-AF65-F5344CB8AC3E}">
        <p14:creationId xmlns:p14="http://schemas.microsoft.com/office/powerpoint/2010/main" val="1373734362"/>
      </p:ext>
    </p:extLst>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50"/>
                                        <p:tgtEl>
                                          <p:spTgt spid="18"/>
                                        </p:tgtEl>
                                      </p:cBhvr>
                                    </p:animEffect>
                                    <p:anim calcmode="lin" valueType="num">
                                      <p:cBhvr>
                                        <p:cTn id="8" dur="450" fill="hold"/>
                                        <p:tgtEl>
                                          <p:spTgt spid="18"/>
                                        </p:tgtEl>
                                        <p:attrNameLst>
                                          <p:attrName>ppt_x</p:attrName>
                                        </p:attrNameLst>
                                      </p:cBhvr>
                                      <p:tavLst>
                                        <p:tav tm="0">
                                          <p:val>
                                            <p:strVal val="#ppt_x"/>
                                          </p:val>
                                        </p:tav>
                                        <p:tav tm="100000">
                                          <p:val>
                                            <p:strVal val="#ppt_x"/>
                                          </p:val>
                                        </p:tav>
                                      </p:tavLst>
                                    </p:anim>
                                    <p:anim calcmode="lin" valueType="num">
                                      <p:cBhvr>
                                        <p:cTn id="9" dur="450" fill="hold"/>
                                        <p:tgtEl>
                                          <p:spTgt spid="18"/>
                                        </p:tgtEl>
                                        <p:attrNameLst>
                                          <p:attrName>ppt_y</p:attrName>
                                        </p:attrNameLst>
                                      </p:cBhvr>
                                      <p:tavLst>
                                        <p:tav tm="0">
                                          <p:val>
                                            <p:strVal val="#ppt_y+.03"/>
                                          </p:val>
                                        </p:tav>
                                        <p:tav tm="100000">
                                          <p:val>
                                            <p:strVal val="#ppt_y"/>
                                          </p:val>
                                        </p:tav>
                                      </p:tavLst>
                                    </p:anim>
                                  </p:childTnLst>
                                </p:cTn>
                              </p:par>
                              <p:par>
                                <p:cTn id="10" presetID="10" presetClass="entr" presetSubtype="0" fill="hold" nodeType="withEffect">
                                  <p:stCondLst>
                                    <p:cond delay="14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32078-8FDE-3930-B1A8-741579BBBE96}"/>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57D7C893-EA1C-01C9-37A0-8AE6AEF9E14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63959" y="539058"/>
            <a:ext cx="10037441" cy="6078911"/>
          </a:xfrm>
          <a:prstGeom prst="rect">
            <a:avLst/>
          </a:prstGeom>
          <a:noFill/>
          <a:ln>
            <a:noFill/>
          </a:ln>
        </p:spPr>
      </p:pic>
      <p:sp>
        <p:nvSpPr>
          <p:cNvPr id="2" name="Rectangle 1">
            <a:extLst>
              <a:ext uri="{FF2B5EF4-FFF2-40B4-BE49-F238E27FC236}">
                <a16:creationId xmlns:a16="http://schemas.microsoft.com/office/drawing/2014/main" id="{508C7D92-0E13-C662-0FEE-E6C8198A2E61}"/>
              </a:ext>
            </a:extLst>
          </p:cNvPr>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DiagHdr">
            <a:extLst>
              <a:ext uri="{FF2B5EF4-FFF2-40B4-BE49-F238E27FC236}">
                <a16:creationId xmlns:a16="http://schemas.microsoft.com/office/drawing/2014/main" id="{671BBC73-7B10-4320-94D9-79A426F85583}"/>
              </a:ext>
            </a:extLst>
          </p:cNvPr>
          <p:cNvSpPr txBox="1"/>
          <p:nvPr/>
        </p:nvSpPr>
        <p:spPr>
          <a:xfrm>
            <a:off x="787400" y="304800"/>
            <a:ext cx="10414000" cy="400110"/>
          </a:xfrm>
          <a:prstGeom prst="rect">
            <a:avLst/>
          </a:prstGeom>
          <a:noFill/>
        </p:spPr>
        <p:txBody>
          <a:bodyPr vertOverflow="overflow" vert="horz" wrap="square" rtlCol="0" anchor="t">
            <a:spAutoFit/>
          </a:bodyPr>
          <a:lstStyle/>
          <a:p>
            <a:pPr algn="l">
              <a:spcBef>
                <a:spcPct val="0"/>
              </a:spcBef>
              <a:buNone/>
            </a:pPr>
            <a:r>
              <a:rPr lang="fr-FR" sz="2000" b="1" spc="60" dirty="0">
                <a:solidFill>
                  <a:srgbClr val="F96A09"/>
                </a:solidFill>
                <a:latin typeface="Montserrat"/>
              </a:rPr>
              <a:t>03</a:t>
            </a:r>
            <a:r>
              <a:rPr lang="fr-FR" sz="2000" b="1" spc="60" dirty="0">
                <a:solidFill>
                  <a:srgbClr val="16294A"/>
                </a:solidFill>
                <a:latin typeface="Montserrat"/>
              </a:rPr>
              <a:t>  |  DIAGRAMME DE CLASSES</a:t>
            </a:r>
          </a:p>
        </p:txBody>
      </p:sp>
      <p:sp>
        <p:nvSpPr>
          <p:cNvPr id="5" name="Rectangle 4">
            <a:extLst>
              <a:ext uri="{FF2B5EF4-FFF2-40B4-BE49-F238E27FC236}">
                <a16:creationId xmlns:a16="http://schemas.microsoft.com/office/drawing/2014/main" id="{F1CD9172-4421-1672-EBD4-F5AC92CA30F9}"/>
              </a:ext>
            </a:extLst>
          </p:cNvPr>
          <p:cNvSpPr>
            <a:spLocks/>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79CDEB10-1B81-4BD0-882B-B8D5C2ACF9B6}" type="slidenum">
              <a:rPr lang="fr-FR" sz="1600" b="1" dirty="0">
                <a:solidFill>
                  <a:srgbClr val="FFFFFF"/>
                </a:solidFill>
                <a:latin typeface="Montserrat"/>
              </a:rPr>
              <a:t>13</a:t>
            </a:fld>
            <a:endParaRPr lang="fr-FR" sz="1600" b="1" dirty="0">
              <a:solidFill>
                <a:srgbClr val="FFFFFF"/>
              </a:solidFill>
              <a:latin typeface="Montserrat"/>
            </a:endParaRPr>
          </a:p>
        </p:txBody>
      </p:sp>
    </p:spTree>
    <p:extLst>
      <p:ext uri="{BB962C8B-B14F-4D97-AF65-F5344CB8AC3E}">
        <p14:creationId xmlns:p14="http://schemas.microsoft.com/office/powerpoint/2010/main" val="1106979835"/>
      </p:ext>
    </p:extLst>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50"/>
                                        <p:tgtEl>
                                          <p:spTgt spid="18"/>
                                        </p:tgtEl>
                                      </p:cBhvr>
                                    </p:animEffect>
                                    <p:anim calcmode="lin" valueType="num">
                                      <p:cBhvr>
                                        <p:cTn id="8" dur="450" fill="hold"/>
                                        <p:tgtEl>
                                          <p:spTgt spid="18"/>
                                        </p:tgtEl>
                                        <p:attrNameLst>
                                          <p:attrName>ppt_x</p:attrName>
                                        </p:attrNameLst>
                                      </p:cBhvr>
                                      <p:tavLst>
                                        <p:tav tm="0">
                                          <p:val>
                                            <p:strVal val="#ppt_x"/>
                                          </p:val>
                                        </p:tav>
                                        <p:tav tm="100000">
                                          <p:val>
                                            <p:strVal val="#ppt_x"/>
                                          </p:val>
                                        </p:tav>
                                      </p:tavLst>
                                    </p:anim>
                                    <p:anim calcmode="lin" valueType="num">
                                      <p:cBhvr>
                                        <p:cTn id="9" dur="450" fill="hold"/>
                                        <p:tgtEl>
                                          <p:spTgt spid="18"/>
                                        </p:tgtEl>
                                        <p:attrNameLst>
                                          <p:attrName>ppt_y</p:attrName>
                                        </p:attrNameLst>
                                      </p:cBhvr>
                                      <p:tavLst>
                                        <p:tav tm="0">
                                          <p:val>
                                            <p:strVal val="#ppt_y+.03"/>
                                          </p:val>
                                        </p:tav>
                                        <p:tav tm="100000">
                                          <p:val>
                                            <p:strVal val="#ppt_y"/>
                                          </p:val>
                                        </p:tav>
                                      </p:tavLst>
                                    </p:anim>
                                  </p:childTnLst>
                                </p:cTn>
                              </p:par>
                              <p:par>
                                <p:cTn id="10" presetID="10" presetClass="entr" presetSubtype="0" fill="hold" nodeType="withEffect">
                                  <p:stCondLst>
                                    <p:cond delay="14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B1B47-3EAB-47DE-C1DF-75176FD3981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2FA1453-CC26-BA03-142E-3A35DE06ABF9}"/>
              </a:ext>
            </a:extLst>
          </p:cNvPr>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95D57979-93B6-3EC3-6E9A-40394E6D8EC7}"/>
              </a:ext>
            </a:extLst>
          </p:cNvPr>
          <p:cNvSpPr/>
          <p:nvPr/>
        </p:nvSpPr>
        <p:spPr>
          <a:xfrm>
            <a:off x="1435099"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1</a:t>
            </a:r>
          </a:p>
        </p:txBody>
      </p:sp>
      <p:sp>
        <p:nvSpPr>
          <p:cNvPr id="39" name="Ellipse 38">
            <a:extLst>
              <a:ext uri="{FF2B5EF4-FFF2-40B4-BE49-F238E27FC236}">
                <a16:creationId xmlns:a16="http://schemas.microsoft.com/office/drawing/2014/main" id="{ACDF65C6-9F24-A166-A43F-124874EE284A}"/>
              </a:ext>
            </a:extLst>
          </p:cNvPr>
          <p:cNvSpPr/>
          <p:nvPr/>
        </p:nvSpPr>
        <p:spPr>
          <a:xfrm>
            <a:off x="3276885"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2</a:t>
            </a:r>
          </a:p>
        </p:txBody>
      </p:sp>
      <p:sp>
        <p:nvSpPr>
          <p:cNvPr id="41" name="Ellipse 40">
            <a:extLst>
              <a:ext uri="{FF2B5EF4-FFF2-40B4-BE49-F238E27FC236}">
                <a16:creationId xmlns:a16="http://schemas.microsoft.com/office/drawing/2014/main" id="{4AA58933-2840-AF26-90A6-D3898B262CF7}"/>
              </a:ext>
            </a:extLst>
          </p:cNvPr>
          <p:cNvSpPr/>
          <p:nvPr/>
        </p:nvSpPr>
        <p:spPr>
          <a:xfrm>
            <a:off x="5118671" y="205023"/>
            <a:ext cx="246063" cy="253765"/>
          </a:xfrm>
          <a:prstGeom prst="ellipse">
            <a:avLst/>
          </a:prstGeom>
          <a:noFill/>
          <a:ln>
            <a:solidFill>
              <a:srgbClr val="F96A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F96A09"/>
                </a:solidFill>
              </a:rPr>
              <a:t>3</a:t>
            </a:r>
          </a:p>
        </p:txBody>
      </p:sp>
      <p:sp>
        <p:nvSpPr>
          <p:cNvPr id="43" name="Ellipse 42">
            <a:extLst>
              <a:ext uri="{FF2B5EF4-FFF2-40B4-BE49-F238E27FC236}">
                <a16:creationId xmlns:a16="http://schemas.microsoft.com/office/drawing/2014/main" id="{51C6BA4F-8A13-F540-E8A5-0C1FCC445BF7}"/>
              </a:ext>
            </a:extLst>
          </p:cNvPr>
          <p:cNvSpPr/>
          <p:nvPr/>
        </p:nvSpPr>
        <p:spPr>
          <a:xfrm>
            <a:off x="696045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4</a:t>
            </a:r>
          </a:p>
        </p:txBody>
      </p:sp>
      <p:sp>
        <p:nvSpPr>
          <p:cNvPr id="45" name="Ellipse 44">
            <a:extLst>
              <a:ext uri="{FF2B5EF4-FFF2-40B4-BE49-F238E27FC236}">
                <a16:creationId xmlns:a16="http://schemas.microsoft.com/office/drawing/2014/main" id="{496935F6-F329-9569-329A-692C26A4F485}"/>
              </a:ext>
            </a:extLst>
          </p:cNvPr>
          <p:cNvSpPr/>
          <p:nvPr/>
        </p:nvSpPr>
        <p:spPr>
          <a:xfrm>
            <a:off x="8802243"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5</a:t>
            </a:r>
          </a:p>
        </p:txBody>
      </p:sp>
      <p:sp>
        <p:nvSpPr>
          <p:cNvPr id="47" name="Ellipse 46">
            <a:extLst>
              <a:ext uri="{FF2B5EF4-FFF2-40B4-BE49-F238E27FC236}">
                <a16:creationId xmlns:a16="http://schemas.microsoft.com/office/drawing/2014/main" id="{81925164-8ABA-A07E-DF0D-377F01A87331}"/>
              </a:ext>
            </a:extLst>
          </p:cNvPr>
          <p:cNvSpPr/>
          <p:nvPr/>
        </p:nvSpPr>
        <p:spPr>
          <a:xfrm>
            <a:off x="1064402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6</a:t>
            </a:r>
          </a:p>
        </p:txBody>
      </p:sp>
      <p:cxnSp>
        <p:nvCxnSpPr>
          <p:cNvPr id="49" name="Connecteur droit 48">
            <a:extLst>
              <a:ext uri="{FF2B5EF4-FFF2-40B4-BE49-F238E27FC236}">
                <a16:creationId xmlns:a16="http://schemas.microsoft.com/office/drawing/2014/main" id="{BEF5C2CE-DC30-4AD1-F3C8-538AC499428A}"/>
              </a:ext>
            </a:extLst>
          </p:cNvPr>
          <p:cNvCxnSpPr>
            <a:endCxn id="25" idx="2"/>
          </p:cNvCxnSpPr>
          <p:nvPr/>
        </p:nvCxnSpPr>
        <p:spPr>
          <a:xfrm flipV="1">
            <a:off x="387416" y="331905"/>
            <a:ext cx="10476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20A16FAF-C499-CF2A-93E4-778AA7AA6B44}"/>
              </a:ext>
            </a:extLst>
          </p:cNvPr>
          <p:cNvCxnSpPr>
            <a:stCxn id="25" idx="6"/>
            <a:endCxn id="39" idx="2"/>
          </p:cNvCxnSpPr>
          <p:nvPr/>
        </p:nvCxnSpPr>
        <p:spPr>
          <a:xfrm flipV="1">
            <a:off x="1681162"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BCEF7128-7839-ABD8-5FE1-D57E6F3EB716}"/>
              </a:ext>
            </a:extLst>
          </p:cNvPr>
          <p:cNvCxnSpPr>
            <a:stCxn id="39" idx="6"/>
            <a:endCxn id="41" idx="2"/>
          </p:cNvCxnSpPr>
          <p:nvPr/>
        </p:nvCxnSpPr>
        <p:spPr>
          <a:xfrm>
            <a:off x="3522948"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5" name="Connecteur droit 54">
            <a:extLst>
              <a:ext uri="{FF2B5EF4-FFF2-40B4-BE49-F238E27FC236}">
                <a16:creationId xmlns:a16="http://schemas.microsoft.com/office/drawing/2014/main" id="{BE83B6D8-9D8E-AC6C-8905-D25DEF9540FF}"/>
              </a:ext>
            </a:extLst>
          </p:cNvPr>
          <p:cNvCxnSpPr>
            <a:stCxn id="41" idx="6"/>
            <a:endCxn id="43" idx="2"/>
          </p:cNvCxnSpPr>
          <p:nvPr/>
        </p:nvCxnSpPr>
        <p:spPr>
          <a:xfrm>
            <a:off x="5364734"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7" name="Connecteur droit 56">
            <a:extLst>
              <a:ext uri="{FF2B5EF4-FFF2-40B4-BE49-F238E27FC236}">
                <a16:creationId xmlns:a16="http://schemas.microsoft.com/office/drawing/2014/main" id="{6662307B-57E2-7C0C-06A6-AFC807B1390C}"/>
              </a:ext>
            </a:extLst>
          </p:cNvPr>
          <p:cNvCxnSpPr>
            <a:stCxn id="43" idx="6"/>
            <a:endCxn id="45" idx="2"/>
          </p:cNvCxnSpPr>
          <p:nvPr/>
        </p:nvCxnSpPr>
        <p:spPr>
          <a:xfrm>
            <a:off x="7206520"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D1DBC9D8-6037-67F9-7370-3C0B20137691}"/>
              </a:ext>
            </a:extLst>
          </p:cNvPr>
          <p:cNvCxnSpPr>
            <a:stCxn id="45" idx="6"/>
            <a:endCxn id="47" idx="2"/>
          </p:cNvCxnSpPr>
          <p:nvPr/>
        </p:nvCxnSpPr>
        <p:spPr>
          <a:xfrm flipV="1">
            <a:off x="9048306" y="331905"/>
            <a:ext cx="15957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977215CE-ACB7-F524-DB02-215AFDB8D660}"/>
              </a:ext>
            </a:extLst>
          </p:cNvPr>
          <p:cNvCxnSpPr>
            <a:stCxn id="47" idx="6"/>
          </p:cNvCxnSpPr>
          <p:nvPr/>
        </p:nvCxnSpPr>
        <p:spPr>
          <a:xfrm>
            <a:off x="10890090" y="331905"/>
            <a:ext cx="130191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637E64C0-A50E-D7BB-C6AA-126847CBCEDD}"/>
              </a:ext>
            </a:extLst>
          </p:cNvPr>
          <p:cNvSpPr txBox="1"/>
          <p:nvPr/>
        </p:nvSpPr>
        <p:spPr>
          <a:xfrm>
            <a:off x="624823" y="479710"/>
            <a:ext cx="1965977" cy="600164"/>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a:t>
            </a:r>
            <a:r>
              <a:rPr lang="fr-FR" sz="1100" b="1" dirty="0">
                <a:latin typeface="Montserrat"/>
              </a:rPr>
              <a:t> </a:t>
            </a:r>
            <a:r>
              <a:rPr lang="fr-FR" sz="1100" b="1" dirty="0">
                <a:latin typeface="Montserrat"/>
                <a:cs typeface="Montserrat"/>
              </a:rPr>
              <a:t>STRUCTURE D’ACCUEIL</a:t>
            </a:r>
          </a:p>
        </p:txBody>
      </p:sp>
      <p:sp>
        <p:nvSpPr>
          <p:cNvPr id="8" name="ZoneTexte 7">
            <a:extLst>
              <a:ext uri="{FF2B5EF4-FFF2-40B4-BE49-F238E27FC236}">
                <a16:creationId xmlns:a16="http://schemas.microsoft.com/office/drawing/2014/main" id="{9F7141B5-AFF7-47D5-704A-56FC1E782713}"/>
              </a:ext>
            </a:extLst>
          </p:cNvPr>
          <p:cNvSpPr txBox="1"/>
          <p:nvPr/>
        </p:nvSpPr>
        <p:spPr>
          <a:xfrm>
            <a:off x="2643588" y="417161"/>
            <a:ext cx="1481708" cy="430887"/>
          </a:xfrm>
          <a:prstGeom prst="rect">
            <a:avLst/>
          </a:prstGeom>
          <a:noFill/>
        </p:spPr>
        <p:txBody>
          <a:bodyPr wrap="square" rtlCol="0">
            <a:spAutoFit/>
          </a:bodyPr>
          <a:lstStyle/>
          <a:p>
            <a:r>
              <a:rPr lang="fr-FR" sz="1100" b="1" dirty="0">
                <a:latin typeface="Montserrat"/>
                <a:cs typeface="Montserrat"/>
              </a:rPr>
              <a:t>CONTEXTE ET </a:t>
            </a:r>
          </a:p>
          <a:p>
            <a:r>
              <a:rPr lang="fr-FR" sz="1100" b="1" dirty="0">
                <a:latin typeface="Montserrat"/>
                <a:cs typeface="Montserrat"/>
              </a:rPr>
              <a:t>PROBLÉMATIQUE</a:t>
            </a:r>
          </a:p>
        </p:txBody>
      </p:sp>
      <p:sp>
        <p:nvSpPr>
          <p:cNvPr id="10" name="ZoneTexte 9">
            <a:extLst>
              <a:ext uri="{FF2B5EF4-FFF2-40B4-BE49-F238E27FC236}">
                <a16:creationId xmlns:a16="http://schemas.microsoft.com/office/drawing/2014/main" id="{978569B0-E812-8EE4-7BCE-FB7116F2858B}"/>
              </a:ext>
            </a:extLst>
          </p:cNvPr>
          <p:cNvSpPr txBox="1"/>
          <p:nvPr/>
        </p:nvSpPr>
        <p:spPr>
          <a:xfrm>
            <a:off x="4178084" y="501799"/>
            <a:ext cx="1921727" cy="261610"/>
          </a:xfrm>
          <a:prstGeom prst="rect">
            <a:avLst/>
          </a:prstGeom>
          <a:noFill/>
        </p:spPr>
        <p:txBody>
          <a:bodyPr wrap="square" rtlCol="0">
            <a:spAutoFit/>
          </a:bodyPr>
          <a:lstStyle/>
          <a:p>
            <a:r>
              <a:rPr lang="fr-FR" sz="1100" b="1" dirty="0">
                <a:solidFill>
                  <a:srgbClr val="F96A09"/>
                </a:solidFill>
                <a:latin typeface="Montserrat"/>
                <a:cs typeface="Montserrat"/>
              </a:rPr>
              <a:t>ÉTUDE CONCEPTUELLE</a:t>
            </a:r>
          </a:p>
        </p:txBody>
      </p:sp>
      <p:sp>
        <p:nvSpPr>
          <p:cNvPr id="13" name="ZoneTexte 12">
            <a:extLst>
              <a:ext uri="{FF2B5EF4-FFF2-40B4-BE49-F238E27FC236}">
                <a16:creationId xmlns:a16="http://schemas.microsoft.com/office/drawing/2014/main" id="{F59C1729-095D-560C-717C-B2DB6970A312}"/>
              </a:ext>
            </a:extLst>
          </p:cNvPr>
          <p:cNvSpPr txBox="1"/>
          <p:nvPr/>
        </p:nvSpPr>
        <p:spPr>
          <a:xfrm>
            <a:off x="6152599" y="425597"/>
            <a:ext cx="1595723" cy="430887"/>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 SOLUTION</a:t>
            </a:r>
          </a:p>
        </p:txBody>
      </p:sp>
      <p:sp>
        <p:nvSpPr>
          <p:cNvPr id="15" name="ZoneTexte 14">
            <a:extLst>
              <a:ext uri="{FF2B5EF4-FFF2-40B4-BE49-F238E27FC236}">
                <a16:creationId xmlns:a16="http://schemas.microsoft.com/office/drawing/2014/main" id="{E3B9DCD5-6124-7640-EA47-6AFB3ED13A8E}"/>
              </a:ext>
            </a:extLst>
          </p:cNvPr>
          <p:cNvSpPr txBox="1"/>
          <p:nvPr/>
        </p:nvSpPr>
        <p:spPr>
          <a:xfrm>
            <a:off x="7801110" y="458786"/>
            <a:ext cx="1860500" cy="430887"/>
          </a:xfrm>
          <a:prstGeom prst="rect">
            <a:avLst/>
          </a:prstGeom>
          <a:noFill/>
        </p:spPr>
        <p:txBody>
          <a:bodyPr wrap="square" rtlCol="0">
            <a:spAutoFit/>
          </a:bodyPr>
          <a:lstStyle/>
          <a:p>
            <a:r>
              <a:rPr lang="fr-FR" sz="1100" b="1" dirty="0">
                <a:latin typeface="Montserrat"/>
                <a:cs typeface="Montserrat"/>
              </a:rPr>
              <a:t>RÉSULTATS ET VALIDATION</a:t>
            </a:r>
          </a:p>
        </p:txBody>
      </p:sp>
      <p:sp>
        <p:nvSpPr>
          <p:cNvPr id="17" name="ZoneTexte 16">
            <a:extLst>
              <a:ext uri="{FF2B5EF4-FFF2-40B4-BE49-F238E27FC236}">
                <a16:creationId xmlns:a16="http://schemas.microsoft.com/office/drawing/2014/main" id="{D284DB53-38F0-23CC-7780-4AE474C1C4A6}"/>
              </a:ext>
            </a:extLst>
          </p:cNvPr>
          <p:cNvSpPr txBox="1"/>
          <p:nvPr/>
        </p:nvSpPr>
        <p:spPr>
          <a:xfrm>
            <a:off x="9716922" y="479710"/>
            <a:ext cx="2346335" cy="261610"/>
          </a:xfrm>
          <a:prstGeom prst="rect">
            <a:avLst/>
          </a:prstGeom>
          <a:noFill/>
        </p:spPr>
        <p:txBody>
          <a:bodyPr wrap="square" rtlCol="0">
            <a:spAutoFit/>
          </a:bodyPr>
          <a:lstStyle/>
          <a:p>
            <a:r>
              <a:rPr lang="fr-FR" sz="1100" b="1" dirty="0">
                <a:latin typeface="Montserrat"/>
                <a:cs typeface="Montserrat"/>
              </a:rPr>
              <a:t>LIMITES ET PERSPECTIVES</a:t>
            </a:r>
          </a:p>
        </p:txBody>
      </p:sp>
      <p:sp>
        <p:nvSpPr>
          <p:cNvPr id="12" name="HdrTitle">
            <a:extLst>
              <a:ext uri="{FF2B5EF4-FFF2-40B4-BE49-F238E27FC236}">
                <a16:creationId xmlns:a16="http://schemas.microsoft.com/office/drawing/2014/main" id="{C18C671C-00AE-4790-9C89-2C48DCDC76FE}"/>
              </a:ext>
            </a:extLst>
          </p:cNvPr>
          <p:cNvSpPr txBox="1"/>
          <p:nvPr/>
        </p:nvSpPr>
        <p:spPr>
          <a:xfrm>
            <a:off x="511358" y="934578"/>
            <a:ext cx="5334000" cy="456920"/>
          </a:xfrm>
          <a:prstGeom prst="rect">
            <a:avLst/>
          </a:prstGeom>
          <a:noFill/>
        </p:spPr>
        <p:txBody>
          <a:bodyPr vertOverflow="overflow" vert="horz" wrap="square" rtlCol="0" anchor="t">
            <a:spAutoFit/>
          </a:bodyPr>
          <a:lstStyle/>
          <a:p>
            <a:pPr algn="l">
              <a:lnSpc>
                <a:spcPts val="3000"/>
              </a:lnSpc>
              <a:spcBef>
                <a:spcPct val="0"/>
              </a:spcBef>
              <a:buNone/>
            </a:pPr>
            <a:r>
              <a:rPr lang="fr-FR" sz="2400" b="1" spc="60" dirty="0">
                <a:solidFill>
                  <a:srgbClr val="16294A"/>
                </a:solidFill>
                <a:latin typeface="Montserrat"/>
              </a:rPr>
              <a:t>Outils et technologies utilisés</a:t>
            </a:r>
          </a:p>
        </p:txBody>
      </p:sp>
      <p:grpSp>
        <p:nvGrpSpPr>
          <p:cNvPr id="63" name="Groupe 62">
            <a:extLst>
              <a:ext uri="{FF2B5EF4-FFF2-40B4-BE49-F238E27FC236}">
                <a16:creationId xmlns:a16="http://schemas.microsoft.com/office/drawing/2014/main" id="{6FD03CAC-DFDF-B9CA-9DEA-DCA394C16E75}"/>
              </a:ext>
            </a:extLst>
          </p:cNvPr>
          <p:cNvGrpSpPr/>
          <p:nvPr/>
        </p:nvGrpSpPr>
        <p:grpSpPr>
          <a:xfrm>
            <a:off x="756524" y="1806583"/>
            <a:ext cx="2503270" cy="2424887"/>
            <a:chOff x="756524" y="1806583"/>
            <a:chExt cx="2503270" cy="2424887"/>
          </a:xfrm>
        </p:grpSpPr>
        <p:grpSp>
          <p:nvGrpSpPr>
            <p:cNvPr id="23" name="Groupe 22">
              <a:extLst>
                <a:ext uri="{FF2B5EF4-FFF2-40B4-BE49-F238E27FC236}">
                  <a16:creationId xmlns:a16="http://schemas.microsoft.com/office/drawing/2014/main" id="{A455A9B2-B04C-086C-79D0-FE91982C46BA}"/>
                </a:ext>
              </a:extLst>
            </p:cNvPr>
            <p:cNvGrpSpPr/>
            <p:nvPr/>
          </p:nvGrpSpPr>
          <p:grpSpPr>
            <a:xfrm>
              <a:off x="756524" y="1806583"/>
              <a:ext cx="2354764" cy="1741094"/>
              <a:chOff x="756524" y="1806583"/>
              <a:chExt cx="2567522" cy="1554134"/>
            </a:xfrm>
          </p:grpSpPr>
          <p:pic>
            <p:nvPicPr>
              <p:cNvPr id="3" name="Image 2" descr="Oracle to Kafka: 2 Easy Methods for Real-Time Data Streaming">
                <a:extLst>
                  <a:ext uri="{FF2B5EF4-FFF2-40B4-BE49-F238E27FC236}">
                    <a16:creationId xmlns:a16="http://schemas.microsoft.com/office/drawing/2014/main" id="{D310EAEE-CE01-B4A8-1F81-11EB36C6AEF2}"/>
                  </a:ext>
                </a:extLst>
              </p:cNvPr>
              <p:cNvPicPr>
                <a:picLocks noChangeAspect="1"/>
              </p:cNvPicPr>
              <p:nvPr/>
            </p:nvPicPr>
            <p:blipFill>
              <a:blip r:embed="rId3"/>
              <a:srcRect l="-7033" t="234" r="70262" b="-244"/>
              <a:stretch>
                <a:fillRect/>
              </a:stretch>
            </p:blipFill>
            <p:spPr>
              <a:xfrm>
                <a:off x="756524" y="1806583"/>
                <a:ext cx="1205577" cy="1503718"/>
              </a:xfrm>
              <a:prstGeom prst="rect">
                <a:avLst/>
              </a:prstGeom>
            </p:spPr>
          </p:pic>
          <p:pic>
            <p:nvPicPr>
              <p:cNvPr id="14" name="Image 13">
                <a:extLst>
                  <a:ext uri="{FF2B5EF4-FFF2-40B4-BE49-F238E27FC236}">
                    <a16:creationId xmlns:a16="http://schemas.microsoft.com/office/drawing/2014/main" id="{45A0686C-DF7D-2E4F-3E32-D013EAA8CCAE}"/>
                  </a:ext>
                </a:extLst>
              </p:cNvPr>
              <p:cNvPicPr>
                <a:picLocks noChangeAspect="1"/>
              </p:cNvPicPr>
              <p:nvPr/>
            </p:nvPicPr>
            <p:blipFill>
              <a:blip r:embed="rId4"/>
              <a:srcRect l="24676" r="25472" b="20793"/>
              <a:stretch>
                <a:fillRect/>
              </a:stretch>
            </p:blipFill>
            <p:spPr>
              <a:xfrm>
                <a:off x="1984222" y="1912051"/>
                <a:ext cx="1339824" cy="1448666"/>
              </a:xfrm>
              <a:prstGeom prst="rect">
                <a:avLst/>
              </a:prstGeom>
            </p:spPr>
          </p:pic>
        </p:grpSp>
        <p:sp>
          <p:nvSpPr>
            <p:cNvPr id="33" name="P2Agent">
              <a:extLst>
                <a:ext uri="{FF2B5EF4-FFF2-40B4-BE49-F238E27FC236}">
                  <a16:creationId xmlns:a16="http://schemas.microsoft.com/office/drawing/2014/main" id="{4EEFFB5F-1BFC-F196-B93D-BA4CA6AD3FD1}"/>
                </a:ext>
              </a:extLst>
            </p:cNvPr>
            <p:cNvSpPr/>
            <p:nvPr/>
          </p:nvSpPr>
          <p:spPr>
            <a:xfrm>
              <a:off x="888252" y="3590397"/>
              <a:ext cx="2371542" cy="641073"/>
            </a:xfrm>
            <a:prstGeom prst="roundRect">
              <a:avLst/>
            </a:prstGeom>
            <a:solidFill>
              <a:srgbClr val="1629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lnSpc>
                  <a:spcPts val="1800"/>
                </a:lnSpc>
                <a:spcBef>
                  <a:spcPct val="0"/>
                </a:spcBef>
                <a:buNone/>
              </a:pPr>
              <a:r>
                <a:rPr lang="fr-FR" sz="1400" b="1" spc="200" dirty="0">
                  <a:solidFill>
                    <a:srgbClr val="FFFFFF"/>
                  </a:solidFill>
                  <a:latin typeface="Montserrat"/>
                </a:rPr>
                <a:t>Source de données</a:t>
              </a:r>
            </a:p>
          </p:txBody>
        </p:sp>
      </p:grpSp>
      <p:grpSp>
        <p:nvGrpSpPr>
          <p:cNvPr id="60" name="Groupe 59">
            <a:extLst>
              <a:ext uri="{FF2B5EF4-FFF2-40B4-BE49-F238E27FC236}">
                <a16:creationId xmlns:a16="http://schemas.microsoft.com/office/drawing/2014/main" id="{0ABB46B7-E01C-0708-3683-7EBC7B0A7D4B}"/>
              </a:ext>
            </a:extLst>
          </p:cNvPr>
          <p:cNvGrpSpPr/>
          <p:nvPr/>
        </p:nvGrpSpPr>
        <p:grpSpPr>
          <a:xfrm>
            <a:off x="4460271" y="1752927"/>
            <a:ext cx="2785567" cy="2245145"/>
            <a:chOff x="4142771" y="1752927"/>
            <a:chExt cx="2785567" cy="2245145"/>
          </a:xfrm>
        </p:grpSpPr>
        <p:grpSp>
          <p:nvGrpSpPr>
            <p:cNvPr id="24" name="Groupe 23">
              <a:extLst>
                <a:ext uri="{FF2B5EF4-FFF2-40B4-BE49-F238E27FC236}">
                  <a16:creationId xmlns:a16="http://schemas.microsoft.com/office/drawing/2014/main" id="{4F6FA309-E1AC-94AE-029A-48A82F9A531B}"/>
                </a:ext>
              </a:extLst>
            </p:cNvPr>
            <p:cNvGrpSpPr/>
            <p:nvPr/>
          </p:nvGrpSpPr>
          <p:grpSpPr>
            <a:xfrm>
              <a:off x="4142771" y="1752927"/>
              <a:ext cx="2785567" cy="1691565"/>
              <a:chOff x="4420953" y="1799625"/>
              <a:chExt cx="3428086" cy="1408474"/>
            </a:xfrm>
          </p:grpSpPr>
          <p:pic>
            <p:nvPicPr>
              <p:cNvPr id="16" name="Image 15">
                <a:extLst>
                  <a:ext uri="{FF2B5EF4-FFF2-40B4-BE49-F238E27FC236}">
                    <a16:creationId xmlns:a16="http://schemas.microsoft.com/office/drawing/2014/main" id="{E5F98428-631F-EA49-4C6C-19BEE0B60B10}"/>
                  </a:ext>
                </a:extLst>
              </p:cNvPr>
              <p:cNvPicPr>
                <a:picLocks noChangeAspect="1"/>
              </p:cNvPicPr>
              <p:nvPr/>
            </p:nvPicPr>
            <p:blipFill>
              <a:blip r:embed="rId5"/>
              <a:stretch>
                <a:fillRect/>
              </a:stretch>
            </p:blipFill>
            <p:spPr>
              <a:xfrm>
                <a:off x="4420953" y="1928729"/>
                <a:ext cx="1324419" cy="1279370"/>
              </a:xfrm>
              <a:prstGeom prst="rect">
                <a:avLst/>
              </a:prstGeom>
            </p:spPr>
          </p:pic>
          <p:pic>
            <p:nvPicPr>
              <p:cNvPr id="18" name="Image 17">
                <a:extLst>
                  <a:ext uri="{FF2B5EF4-FFF2-40B4-BE49-F238E27FC236}">
                    <a16:creationId xmlns:a16="http://schemas.microsoft.com/office/drawing/2014/main" id="{9196460D-C9BC-8BAD-B6EF-50010F8992A7}"/>
                  </a:ext>
                </a:extLst>
              </p:cNvPr>
              <p:cNvPicPr>
                <a:picLocks noChangeAspect="1"/>
              </p:cNvPicPr>
              <p:nvPr/>
            </p:nvPicPr>
            <p:blipFill>
              <a:blip r:embed="rId6"/>
              <a:srcRect l="16514" t="1" r="15725" b="29680"/>
              <a:stretch>
                <a:fillRect/>
              </a:stretch>
            </p:blipFill>
            <p:spPr>
              <a:xfrm>
                <a:off x="6051880" y="1799625"/>
                <a:ext cx="1797159" cy="1279371"/>
              </a:xfrm>
              <a:prstGeom prst="rect">
                <a:avLst/>
              </a:prstGeom>
            </p:spPr>
          </p:pic>
        </p:grpSp>
        <p:sp>
          <p:nvSpPr>
            <p:cNvPr id="35" name="P2Agent">
              <a:extLst>
                <a:ext uri="{FF2B5EF4-FFF2-40B4-BE49-F238E27FC236}">
                  <a16:creationId xmlns:a16="http://schemas.microsoft.com/office/drawing/2014/main" id="{C2135FA3-284E-4BEB-CF4F-44EE2FF29F90}"/>
                </a:ext>
              </a:extLst>
            </p:cNvPr>
            <p:cNvSpPr/>
            <p:nvPr/>
          </p:nvSpPr>
          <p:spPr>
            <a:xfrm>
              <a:off x="4369085" y="3590398"/>
              <a:ext cx="2371542" cy="407674"/>
            </a:xfrm>
            <a:prstGeom prst="roundRect">
              <a:avLst/>
            </a:prstGeom>
            <a:solidFill>
              <a:srgbClr val="1629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lnSpc>
                  <a:spcPct val="100000"/>
                </a:lnSpc>
                <a:spcBef>
                  <a:spcPct val="0"/>
                </a:spcBef>
                <a:buNone/>
              </a:pPr>
              <a:r>
                <a:rPr lang="fr-FR" sz="1400" b="1" spc="200" dirty="0">
                  <a:solidFill>
                    <a:srgbClr val="FFFFFF"/>
                  </a:solidFill>
                  <a:latin typeface="Montserrat"/>
                </a:rPr>
                <a:t>Déploiement</a:t>
              </a:r>
            </a:p>
          </p:txBody>
        </p:sp>
      </p:grpSp>
      <p:grpSp>
        <p:nvGrpSpPr>
          <p:cNvPr id="56" name="Groupe 55">
            <a:extLst>
              <a:ext uri="{FF2B5EF4-FFF2-40B4-BE49-F238E27FC236}">
                <a16:creationId xmlns:a16="http://schemas.microsoft.com/office/drawing/2014/main" id="{3957AC66-635F-6708-C117-04A7194A118A}"/>
              </a:ext>
            </a:extLst>
          </p:cNvPr>
          <p:cNvGrpSpPr/>
          <p:nvPr/>
        </p:nvGrpSpPr>
        <p:grpSpPr>
          <a:xfrm>
            <a:off x="958148" y="4543095"/>
            <a:ext cx="2371542" cy="1463364"/>
            <a:chOff x="958148" y="4771695"/>
            <a:chExt cx="2371542" cy="1463364"/>
          </a:xfrm>
        </p:grpSpPr>
        <p:grpSp>
          <p:nvGrpSpPr>
            <p:cNvPr id="40" name="Groupe 39">
              <a:extLst>
                <a:ext uri="{FF2B5EF4-FFF2-40B4-BE49-F238E27FC236}">
                  <a16:creationId xmlns:a16="http://schemas.microsoft.com/office/drawing/2014/main" id="{217582E6-1616-AB92-4ADA-6B98E097A895}"/>
                </a:ext>
              </a:extLst>
            </p:cNvPr>
            <p:cNvGrpSpPr/>
            <p:nvPr/>
          </p:nvGrpSpPr>
          <p:grpSpPr>
            <a:xfrm>
              <a:off x="958148" y="4771695"/>
              <a:ext cx="2208881" cy="1051402"/>
              <a:chOff x="8177425" y="2222388"/>
              <a:chExt cx="2208881" cy="1051402"/>
            </a:xfrm>
          </p:grpSpPr>
          <p:pic>
            <p:nvPicPr>
              <p:cNvPr id="5" name="Image 4">
                <a:extLst>
                  <a:ext uri="{FF2B5EF4-FFF2-40B4-BE49-F238E27FC236}">
                    <a16:creationId xmlns:a16="http://schemas.microsoft.com/office/drawing/2014/main" id="{A64D917A-B088-A911-8A34-0D4305A66D14}"/>
                  </a:ext>
                </a:extLst>
              </p:cNvPr>
              <p:cNvPicPr>
                <a:picLocks noChangeAspect="1"/>
              </p:cNvPicPr>
              <p:nvPr/>
            </p:nvPicPr>
            <p:blipFill>
              <a:blip r:embed="rId7"/>
              <a:stretch>
                <a:fillRect/>
              </a:stretch>
            </p:blipFill>
            <p:spPr>
              <a:xfrm>
                <a:off x="8177425" y="2297845"/>
                <a:ext cx="877389" cy="877389"/>
              </a:xfrm>
              <a:prstGeom prst="rect">
                <a:avLst/>
              </a:prstGeom>
            </p:spPr>
          </p:pic>
          <p:pic>
            <p:nvPicPr>
              <p:cNvPr id="7" name="Image 6">
                <a:extLst>
                  <a:ext uri="{FF2B5EF4-FFF2-40B4-BE49-F238E27FC236}">
                    <a16:creationId xmlns:a16="http://schemas.microsoft.com/office/drawing/2014/main" id="{4435A579-767F-FE87-193A-978EF7251350}"/>
                  </a:ext>
                </a:extLst>
              </p:cNvPr>
              <p:cNvPicPr>
                <a:picLocks noChangeAspect="1"/>
              </p:cNvPicPr>
              <p:nvPr/>
            </p:nvPicPr>
            <p:blipFill>
              <a:blip r:embed="rId8"/>
              <a:stretch>
                <a:fillRect/>
              </a:stretch>
            </p:blipFill>
            <p:spPr>
              <a:xfrm>
                <a:off x="9179415" y="2222388"/>
                <a:ext cx="1206891" cy="1051402"/>
              </a:xfrm>
              <a:prstGeom prst="rect">
                <a:avLst/>
              </a:prstGeom>
            </p:spPr>
          </p:pic>
        </p:grpSp>
        <p:sp>
          <p:nvSpPr>
            <p:cNvPr id="37" name="P2Agent">
              <a:extLst>
                <a:ext uri="{FF2B5EF4-FFF2-40B4-BE49-F238E27FC236}">
                  <a16:creationId xmlns:a16="http://schemas.microsoft.com/office/drawing/2014/main" id="{80B1742D-7301-DE07-F242-35118E1B2709}"/>
                </a:ext>
              </a:extLst>
            </p:cNvPr>
            <p:cNvSpPr/>
            <p:nvPr/>
          </p:nvSpPr>
          <p:spPr>
            <a:xfrm>
              <a:off x="958148" y="5827385"/>
              <a:ext cx="2371542" cy="407674"/>
            </a:xfrm>
            <a:prstGeom prst="roundRect">
              <a:avLst/>
            </a:prstGeom>
            <a:solidFill>
              <a:srgbClr val="1629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lnSpc>
                  <a:spcPts val="1800"/>
                </a:lnSpc>
                <a:spcBef>
                  <a:spcPct val="0"/>
                </a:spcBef>
                <a:buNone/>
              </a:pPr>
              <a:r>
                <a:rPr lang="fr-FR" sz="1400" b="1" spc="200" dirty="0">
                  <a:solidFill>
                    <a:srgbClr val="FFFFFF"/>
                  </a:solidFill>
                  <a:latin typeface="Montserrat"/>
                </a:rPr>
                <a:t>Interface</a:t>
              </a:r>
            </a:p>
          </p:txBody>
        </p:sp>
      </p:grpSp>
      <p:grpSp>
        <p:nvGrpSpPr>
          <p:cNvPr id="61" name="Groupe 60">
            <a:extLst>
              <a:ext uri="{FF2B5EF4-FFF2-40B4-BE49-F238E27FC236}">
                <a16:creationId xmlns:a16="http://schemas.microsoft.com/office/drawing/2014/main" id="{7F459EED-B398-C110-CF3F-B8C7969A630E}"/>
              </a:ext>
            </a:extLst>
          </p:cNvPr>
          <p:cNvGrpSpPr/>
          <p:nvPr/>
        </p:nvGrpSpPr>
        <p:grpSpPr>
          <a:xfrm>
            <a:off x="7967037" y="1846097"/>
            <a:ext cx="4041902" cy="2130542"/>
            <a:chOff x="7967037" y="1846097"/>
            <a:chExt cx="4041902" cy="2130542"/>
          </a:xfrm>
        </p:grpSpPr>
        <p:grpSp>
          <p:nvGrpSpPr>
            <p:cNvPr id="38" name="Groupe 37">
              <a:extLst>
                <a:ext uri="{FF2B5EF4-FFF2-40B4-BE49-F238E27FC236}">
                  <a16:creationId xmlns:a16="http://schemas.microsoft.com/office/drawing/2014/main" id="{A2AD5503-41A8-F670-46B4-4601FD69901F}"/>
                </a:ext>
              </a:extLst>
            </p:cNvPr>
            <p:cNvGrpSpPr/>
            <p:nvPr/>
          </p:nvGrpSpPr>
          <p:grpSpPr>
            <a:xfrm>
              <a:off x="7967037" y="1846097"/>
              <a:ext cx="4041902" cy="1503718"/>
              <a:chOff x="517570" y="4419704"/>
              <a:chExt cx="4041902" cy="1503718"/>
            </a:xfrm>
          </p:grpSpPr>
          <p:grpSp>
            <p:nvGrpSpPr>
              <p:cNvPr id="11" name="Groupe 10">
                <a:extLst>
                  <a:ext uri="{FF2B5EF4-FFF2-40B4-BE49-F238E27FC236}">
                    <a16:creationId xmlns:a16="http://schemas.microsoft.com/office/drawing/2014/main" id="{E8F63395-D298-326C-1359-24F4989753CC}"/>
                  </a:ext>
                </a:extLst>
              </p:cNvPr>
              <p:cNvGrpSpPr/>
              <p:nvPr/>
            </p:nvGrpSpPr>
            <p:grpSpPr>
              <a:xfrm>
                <a:off x="517570" y="4541522"/>
                <a:ext cx="2702078" cy="1302614"/>
                <a:chOff x="930122" y="4574698"/>
                <a:chExt cx="3644495" cy="1210039"/>
              </a:xfrm>
            </p:grpSpPr>
            <p:pic>
              <p:nvPicPr>
                <p:cNvPr id="21" name="Image 20">
                  <a:extLst>
                    <a:ext uri="{FF2B5EF4-FFF2-40B4-BE49-F238E27FC236}">
                      <a16:creationId xmlns:a16="http://schemas.microsoft.com/office/drawing/2014/main" id="{88AA38CE-3866-156B-0048-52F7ED0088D2}"/>
                    </a:ext>
                  </a:extLst>
                </p:cNvPr>
                <p:cNvPicPr>
                  <a:picLocks noChangeAspect="1"/>
                </p:cNvPicPr>
                <p:nvPr/>
              </p:nvPicPr>
              <p:blipFill>
                <a:blip r:embed="rId9"/>
                <a:srcRect l="30980" t="7280" r="21828" b="33418"/>
                <a:stretch>
                  <a:fillRect/>
                </a:stretch>
              </p:blipFill>
              <p:spPr>
                <a:xfrm>
                  <a:off x="930122" y="4574698"/>
                  <a:ext cx="1231953" cy="1210039"/>
                </a:xfrm>
                <a:prstGeom prst="rect">
                  <a:avLst/>
                </a:prstGeom>
              </p:spPr>
            </p:pic>
            <p:pic>
              <p:nvPicPr>
                <p:cNvPr id="22" name="Image 21">
                  <a:extLst>
                    <a:ext uri="{FF2B5EF4-FFF2-40B4-BE49-F238E27FC236}">
                      <a16:creationId xmlns:a16="http://schemas.microsoft.com/office/drawing/2014/main" id="{23BE0BCA-99D3-A8AE-5EE5-E0866A7C82E5}"/>
                    </a:ext>
                  </a:extLst>
                </p:cNvPr>
                <p:cNvPicPr>
                  <a:picLocks noChangeAspect="1"/>
                </p:cNvPicPr>
                <p:nvPr/>
              </p:nvPicPr>
              <p:blipFill>
                <a:blip r:embed="rId10"/>
                <a:stretch>
                  <a:fillRect/>
                </a:stretch>
              </p:blipFill>
              <p:spPr>
                <a:xfrm>
                  <a:off x="2364189" y="4730151"/>
                  <a:ext cx="2210428" cy="1051402"/>
                </a:xfrm>
                <a:prstGeom prst="rect">
                  <a:avLst/>
                </a:prstGeom>
              </p:spPr>
            </p:pic>
          </p:grpSp>
          <p:pic>
            <p:nvPicPr>
              <p:cNvPr id="20" name="Image 19">
                <a:extLst>
                  <a:ext uri="{FF2B5EF4-FFF2-40B4-BE49-F238E27FC236}">
                    <a16:creationId xmlns:a16="http://schemas.microsoft.com/office/drawing/2014/main" id="{61E02DA1-205D-47CE-E722-1C43E789ADEE}"/>
                  </a:ext>
                </a:extLst>
              </p:cNvPr>
              <p:cNvPicPr>
                <a:picLocks noChangeAspect="1"/>
              </p:cNvPicPr>
              <p:nvPr/>
            </p:nvPicPr>
            <p:blipFill>
              <a:blip r:embed="rId11"/>
              <a:srcRect t="36212" r="76111" b="38801"/>
              <a:stretch>
                <a:fillRect/>
              </a:stretch>
            </p:blipFill>
            <p:spPr>
              <a:xfrm>
                <a:off x="3219648" y="4419704"/>
                <a:ext cx="1339824" cy="1503718"/>
              </a:xfrm>
              <a:prstGeom prst="rect">
                <a:avLst/>
              </a:prstGeom>
            </p:spPr>
          </p:pic>
        </p:grpSp>
        <p:sp>
          <p:nvSpPr>
            <p:cNvPr id="44" name="P2Agent">
              <a:extLst>
                <a:ext uri="{FF2B5EF4-FFF2-40B4-BE49-F238E27FC236}">
                  <a16:creationId xmlns:a16="http://schemas.microsoft.com/office/drawing/2014/main" id="{FCEFD580-8B3E-492D-3C7F-C4D1420D0EB4}"/>
                </a:ext>
              </a:extLst>
            </p:cNvPr>
            <p:cNvSpPr/>
            <p:nvPr/>
          </p:nvSpPr>
          <p:spPr>
            <a:xfrm>
              <a:off x="8598317" y="3568965"/>
              <a:ext cx="3188705" cy="407674"/>
            </a:xfrm>
            <a:prstGeom prst="roundRect">
              <a:avLst/>
            </a:prstGeom>
            <a:solidFill>
              <a:srgbClr val="1629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lnSpc>
                  <a:spcPts val="1800"/>
                </a:lnSpc>
                <a:spcBef>
                  <a:spcPct val="0"/>
                </a:spcBef>
                <a:buNone/>
              </a:pPr>
              <a:r>
                <a:rPr lang="fr-FR" sz="1400" b="1" spc="200" dirty="0">
                  <a:solidFill>
                    <a:srgbClr val="FFFFFF"/>
                  </a:solidFill>
                  <a:latin typeface="Montserrat"/>
                </a:rPr>
                <a:t>Gestion de dialogue</a:t>
              </a:r>
            </a:p>
          </p:txBody>
        </p:sp>
      </p:grpSp>
      <p:grpSp>
        <p:nvGrpSpPr>
          <p:cNvPr id="54" name="Groupe 53">
            <a:extLst>
              <a:ext uri="{FF2B5EF4-FFF2-40B4-BE49-F238E27FC236}">
                <a16:creationId xmlns:a16="http://schemas.microsoft.com/office/drawing/2014/main" id="{BFD5B11C-8B52-2794-5894-691EF37D5CE2}"/>
              </a:ext>
            </a:extLst>
          </p:cNvPr>
          <p:cNvGrpSpPr/>
          <p:nvPr/>
        </p:nvGrpSpPr>
        <p:grpSpPr>
          <a:xfrm>
            <a:off x="4178084" y="4363171"/>
            <a:ext cx="3691325" cy="1792167"/>
            <a:chOff x="4178084" y="4883871"/>
            <a:chExt cx="3691325" cy="1792167"/>
          </a:xfrm>
        </p:grpSpPr>
        <p:grpSp>
          <p:nvGrpSpPr>
            <p:cNvPr id="27" name="Groupe 26">
              <a:extLst>
                <a:ext uri="{FF2B5EF4-FFF2-40B4-BE49-F238E27FC236}">
                  <a16:creationId xmlns:a16="http://schemas.microsoft.com/office/drawing/2014/main" id="{B1825754-6F29-22CE-37F7-518561E9A6B6}"/>
                </a:ext>
              </a:extLst>
            </p:cNvPr>
            <p:cNvGrpSpPr/>
            <p:nvPr/>
          </p:nvGrpSpPr>
          <p:grpSpPr>
            <a:xfrm>
              <a:off x="4178084" y="4883871"/>
              <a:ext cx="3691325" cy="1071788"/>
              <a:chOff x="4628265" y="4716286"/>
              <a:chExt cx="3691325" cy="1071788"/>
            </a:xfrm>
          </p:grpSpPr>
          <p:pic>
            <p:nvPicPr>
              <p:cNvPr id="19" name="Image 18">
                <a:extLst>
                  <a:ext uri="{FF2B5EF4-FFF2-40B4-BE49-F238E27FC236}">
                    <a16:creationId xmlns:a16="http://schemas.microsoft.com/office/drawing/2014/main" id="{9D250A73-ABB2-A8F3-A178-54926FE0A38F}"/>
                  </a:ext>
                </a:extLst>
              </p:cNvPr>
              <p:cNvPicPr>
                <a:picLocks noChangeAspect="1"/>
              </p:cNvPicPr>
              <p:nvPr/>
            </p:nvPicPr>
            <p:blipFill>
              <a:blip r:embed="rId12"/>
              <a:srcRect l="16980" t="8154" r="17748" b="23865"/>
              <a:stretch>
                <a:fillRect/>
              </a:stretch>
            </p:blipFill>
            <p:spPr>
              <a:xfrm>
                <a:off x="4628265" y="4716286"/>
                <a:ext cx="1029063" cy="1071788"/>
              </a:xfrm>
              <a:prstGeom prst="rect">
                <a:avLst/>
              </a:prstGeom>
            </p:spPr>
          </p:pic>
          <p:pic>
            <p:nvPicPr>
              <p:cNvPr id="9" name="Image 8">
                <a:extLst>
                  <a:ext uri="{FF2B5EF4-FFF2-40B4-BE49-F238E27FC236}">
                    <a16:creationId xmlns:a16="http://schemas.microsoft.com/office/drawing/2014/main" id="{AEA8BE18-3513-E8A1-38EE-634BDE8DED17}"/>
                  </a:ext>
                </a:extLst>
              </p:cNvPr>
              <p:cNvPicPr>
                <a:picLocks noChangeAspect="1"/>
              </p:cNvPicPr>
              <p:nvPr/>
            </p:nvPicPr>
            <p:blipFill>
              <a:blip r:embed="rId13"/>
              <a:srcRect t="36255" b="34543"/>
              <a:stretch>
                <a:fillRect/>
              </a:stretch>
            </p:blipFill>
            <p:spPr>
              <a:xfrm>
                <a:off x="5847385" y="4931888"/>
                <a:ext cx="2472205" cy="685800"/>
              </a:xfrm>
              <a:prstGeom prst="rect">
                <a:avLst/>
              </a:prstGeom>
            </p:spPr>
          </p:pic>
        </p:grpSp>
        <p:sp>
          <p:nvSpPr>
            <p:cNvPr id="48" name="P2Agent">
              <a:extLst>
                <a:ext uri="{FF2B5EF4-FFF2-40B4-BE49-F238E27FC236}">
                  <a16:creationId xmlns:a16="http://schemas.microsoft.com/office/drawing/2014/main" id="{D91352B5-06D1-F5E1-32F7-A48F22172258}"/>
                </a:ext>
              </a:extLst>
            </p:cNvPr>
            <p:cNvSpPr/>
            <p:nvPr/>
          </p:nvSpPr>
          <p:spPr>
            <a:xfrm>
              <a:off x="4834978" y="5955659"/>
              <a:ext cx="2371542" cy="720379"/>
            </a:xfrm>
            <a:prstGeom prst="roundRect">
              <a:avLst/>
            </a:prstGeom>
            <a:solidFill>
              <a:srgbClr val="1629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lnSpc>
                  <a:spcPts val="1800"/>
                </a:lnSpc>
                <a:spcBef>
                  <a:spcPct val="0"/>
                </a:spcBef>
                <a:buNone/>
              </a:pPr>
              <a:r>
                <a:rPr lang="fr-FR" sz="1400" b="1" spc="200" dirty="0">
                  <a:solidFill>
                    <a:srgbClr val="FFFFFF"/>
                  </a:solidFill>
                  <a:latin typeface="Montserrat"/>
                </a:rPr>
                <a:t>Visualisation de données</a:t>
              </a:r>
            </a:p>
          </p:txBody>
        </p:sp>
      </p:grpSp>
      <p:grpSp>
        <p:nvGrpSpPr>
          <p:cNvPr id="58" name="Groupe 57">
            <a:extLst>
              <a:ext uri="{FF2B5EF4-FFF2-40B4-BE49-F238E27FC236}">
                <a16:creationId xmlns:a16="http://schemas.microsoft.com/office/drawing/2014/main" id="{D57C5519-9088-761B-84D6-33FB4A7C6F19}"/>
              </a:ext>
            </a:extLst>
          </p:cNvPr>
          <p:cNvGrpSpPr/>
          <p:nvPr/>
        </p:nvGrpSpPr>
        <p:grpSpPr>
          <a:xfrm>
            <a:off x="8598317" y="4377995"/>
            <a:ext cx="2548302" cy="1742977"/>
            <a:chOff x="8802243" y="4802319"/>
            <a:chExt cx="2548302" cy="1742977"/>
          </a:xfrm>
        </p:grpSpPr>
        <p:grpSp>
          <p:nvGrpSpPr>
            <p:cNvPr id="30" name="Groupe 29">
              <a:extLst>
                <a:ext uri="{FF2B5EF4-FFF2-40B4-BE49-F238E27FC236}">
                  <a16:creationId xmlns:a16="http://schemas.microsoft.com/office/drawing/2014/main" id="{2E2015E2-BAE0-FD26-4EEB-E0EBEDC10B44}"/>
                </a:ext>
              </a:extLst>
            </p:cNvPr>
            <p:cNvGrpSpPr/>
            <p:nvPr/>
          </p:nvGrpSpPr>
          <p:grpSpPr>
            <a:xfrm>
              <a:off x="8802243" y="4802319"/>
              <a:ext cx="2290167" cy="1302614"/>
              <a:chOff x="9054814" y="4485460"/>
              <a:chExt cx="2290167" cy="1302614"/>
            </a:xfrm>
          </p:grpSpPr>
          <p:pic>
            <p:nvPicPr>
              <p:cNvPr id="28" name="Image 27">
                <a:extLst>
                  <a:ext uri="{FF2B5EF4-FFF2-40B4-BE49-F238E27FC236}">
                    <a16:creationId xmlns:a16="http://schemas.microsoft.com/office/drawing/2014/main" id="{3D52DD37-F2DA-FAC7-E1E1-B5F875C0CF12}"/>
                  </a:ext>
                </a:extLst>
              </p:cNvPr>
              <p:cNvPicPr>
                <a:picLocks noChangeAspect="1"/>
              </p:cNvPicPr>
              <p:nvPr/>
            </p:nvPicPr>
            <p:blipFill>
              <a:blip r:embed="rId14"/>
              <a:stretch>
                <a:fillRect/>
              </a:stretch>
            </p:blipFill>
            <p:spPr>
              <a:xfrm>
                <a:off x="9054814" y="4485460"/>
                <a:ext cx="1220054" cy="1302614"/>
              </a:xfrm>
              <a:prstGeom prst="rect">
                <a:avLst/>
              </a:prstGeom>
            </p:spPr>
          </p:pic>
          <p:pic>
            <p:nvPicPr>
              <p:cNvPr id="29" name="Image 28">
                <a:extLst>
                  <a:ext uri="{FF2B5EF4-FFF2-40B4-BE49-F238E27FC236}">
                    <a16:creationId xmlns:a16="http://schemas.microsoft.com/office/drawing/2014/main" id="{D0E02FAC-0770-C28D-9DDF-D2F4947A1C6A}"/>
                  </a:ext>
                </a:extLst>
              </p:cNvPr>
              <p:cNvPicPr>
                <a:picLocks noChangeAspect="1"/>
              </p:cNvPicPr>
              <p:nvPr/>
            </p:nvPicPr>
            <p:blipFill>
              <a:blip r:embed="rId15"/>
              <a:stretch>
                <a:fillRect/>
              </a:stretch>
            </p:blipFill>
            <p:spPr>
              <a:xfrm>
                <a:off x="10342029" y="4485460"/>
                <a:ext cx="1002952" cy="1302614"/>
              </a:xfrm>
              <a:prstGeom prst="rect">
                <a:avLst/>
              </a:prstGeom>
            </p:spPr>
          </p:pic>
        </p:grpSp>
        <p:sp>
          <p:nvSpPr>
            <p:cNvPr id="52" name="P2Agent">
              <a:extLst>
                <a:ext uri="{FF2B5EF4-FFF2-40B4-BE49-F238E27FC236}">
                  <a16:creationId xmlns:a16="http://schemas.microsoft.com/office/drawing/2014/main" id="{B704F615-FAF5-B6FB-06BE-AD53A49A198D}"/>
                </a:ext>
              </a:extLst>
            </p:cNvPr>
            <p:cNvSpPr/>
            <p:nvPr/>
          </p:nvSpPr>
          <p:spPr>
            <a:xfrm>
              <a:off x="8979003" y="6137621"/>
              <a:ext cx="2371542" cy="407675"/>
            </a:xfrm>
            <a:prstGeom prst="roundRect">
              <a:avLst/>
            </a:prstGeom>
            <a:solidFill>
              <a:srgbClr val="1629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lnSpc>
                  <a:spcPts val="1800"/>
                </a:lnSpc>
                <a:spcBef>
                  <a:spcPct val="0"/>
                </a:spcBef>
                <a:buNone/>
              </a:pPr>
              <a:r>
                <a:rPr lang="fr-FR" sz="1400" b="1" spc="200" dirty="0">
                  <a:solidFill>
                    <a:srgbClr val="FFFFFF"/>
                  </a:solidFill>
                  <a:latin typeface="Montserrat"/>
                </a:rPr>
                <a:t>Environnement</a:t>
              </a:r>
            </a:p>
          </p:txBody>
        </p:sp>
      </p:grpSp>
      <p:sp>
        <p:nvSpPr>
          <p:cNvPr id="66" name="Rectangle 65">
            <a:extLst>
              <a:ext uri="{FF2B5EF4-FFF2-40B4-BE49-F238E27FC236}">
                <a16:creationId xmlns:a16="http://schemas.microsoft.com/office/drawing/2014/main" id="{71E2368D-4434-6DFB-6C97-113675BE4431}"/>
              </a:ext>
            </a:extLst>
          </p:cNvPr>
          <p:cNvSpPr>
            <a:spLocks/>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1CC317D0-C261-44C3-AF66-633ED4B691EE}" type="slidenum">
              <a:rPr lang="fr-FR" sz="1600" b="1" dirty="0">
                <a:solidFill>
                  <a:srgbClr val="FFFFFF"/>
                </a:solidFill>
                <a:latin typeface="Montserrat"/>
              </a:rPr>
              <a:t>14</a:t>
            </a:fld>
            <a:endParaRPr lang="fr-FR" sz="1600" b="1" dirty="0">
              <a:solidFill>
                <a:srgbClr val="FFFFFF"/>
              </a:solidFill>
              <a:latin typeface="Montserrat"/>
            </a:endParaRPr>
          </a:p>
        </p:txBody>
      </p:sp>
    </p:spTree>
    <p:extLst>
      <p:ext uri="{BB962C8B-B14F-4D97-AF65-F5344CB8AC3E}">
        <p14:creationId xmlns:p14="http://schemas.microsoft.com/office/powerpoint/2010/main" val="3283797713"/>
      </p:ext>
    </p:extLst>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50"/>
                                        <p:tgtEl>
                                          <p:spTgt spid="12"/>
                                        </p:tgtEl>
                                      </p:cBhvr>
                                    </p:animEffect>
                                    <p:anim calcmode="lin" valueType="num">
                                      <p:cBhvr>
                                        <p:cTn id="8" dur="450" fill="hold"/>
                                        <p:tgtEl>
                                          <p:spTgt spid="12"/>
                                        </p:tgtEl>
                                        <p:attrNameLst>
                                          <p:attrName>ppt_x</p:attrName>
                                        </p:attrNameLst>
                                      </p:cBhvr>
                                      <p:tavLst>
                                        <p:tav tm="0">
                                          <p:val>
                                            <p:strVal val="#ppt_x"/>
                                          </p:val>
                                        </p:tav>
                                        <p:tav tm="100000">
                                          <p:val>
                                            <p:strVal val="#ppt_x"/>
                                          </p:val>
                                        </p:tav>
                                      </p:tavLst>
                                    </p:anim>
                                    <p:anim calcmode="lin" valueType="num">
                                      <p:cBhvr>
                                        <p:cTn id="9" dur="450" fill="hold"/>
                                        <p:tgtEl>
                                          <p:spTgt spid="12"/>
                                        </p:tgtEl>
                                        <p:attrNameLst>
                                          <p:attrName>ppt_y</p:attrName>
                                        </p:attrNameLst>
                                      </p:cBhvr>
                                      <p:tavLst>
                                        <p:tav tm="0">
                                          <p:val>
                                            <p:strVal val="#ppt_y+.03"/>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3"/>
                                        </p:tgtEl>
                                        <p:attrNameLst>
                                          <p:attrName>style.visibility</p:attrName>
                                        </p:attrNameLst>
                                      </p:cBhvr>
                                      <p:to>
                                        <p:strVal val="visible"/>
                                      </p:to>
                                    </p:set>
                                    <p:anim calcmode="lin" valueType="num">
                                      <p:cBhvr>
                                        <p:cTn id="14" dur="500" fill="hold"/>
                                        <p:tgtEl>
                                          <p:spTgt spid="63"/>
                                        </p:tgtEl>
                                        <p:attrNameLst>
                                          <p:attrName>ppt_w</p:attrName>
                                        </p:attrNameLst>
                                      </p:cBhvr>
                                      <p:tavLst>
                                        <p:tav tm="0">
                                          <p:val>
                                            <p:strVal val="#ppt_w*0.85"/>
                                          </p:val>
                                        </p:tav>
                                        <p:tav tm="100000">
                                          <p:val>
                                            <p:strVal val="#ppt_w"/>
                                          </p:val>
                                        </p:tav>
                                      </p:tavLst>
                                    </p:anim>
                                    <p:anim calcmode="lin" valueType="num">
                                      <p:cBhvr>
                                        <p:cTn id="15" dur="500" fill="hold"/>
                                        <p:tgtEl>
                                          <p:spTgt spid="63"/>
                                        </p:tgtEl>
                                        <p:attrNameLst>
                                          <p:attrName>ppt_h</p:attrName>
                                        </p:attrNameLst>
                                      </p:cBhvr>
                                      <p:tavLst>
                                        <p:tav tm="0">
                                          <p:val>
                                            <p:strVal val="#ppt_h*0.85"/>
                                          </p:val>
                                        </p:tav>
                                        <p:tav tm="100000">
                                          <p:val>
                                            <p:strVal val="#ppt_h"/>
                                          </p:val>
                                        </p:tav>
                                      </p:tavLst>
                                    </p:anim>
                                    <p:animEffect transition="in" filter="fade">
                                      <p:cBhvr>
                                        <p:cTn id="16" dur="500"/>
                                        <p:tgtEl>
                                          <p:spTgt spid="6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60"/>
                                        </p:tgtEl>
                                        <p:attrNameLst>
                                          <p:attrName>style.visibility</p:attrName>
                                        </p:attrNameLst>
                                      </p:cBhvr>
                                      <p:to>
                                        <p:strVal val="visible"/>
                                      </p:to>
                                    </p:set>
                                    <p:anim calcmode="lin" valueType="num">
                                      <p:cBhvr>
                                        <p:cTn id="21" dur="500" fill="hold"/>
                                        <p:tgtEl>
                                          <p:spTgt spid="60"/>
                                        </p:tgtEl>
                                        <p:attrNameLst>
                                          <p:attrName>ppt_w</p:attrName>
                                        </p:attrNameLst>
                                      </p:cBhvr>
                                      <p:tavLst>
                                        <p:tav tm="0">
                                          <p:val>
                                            <p:strVal val="#ppt_w*0.85"/>
                                          </p:val>
                                        </p:tav>
                                        <p:tav tm="100000">
                                          <p:val>
                                            <p:strVal val="#ppt_w"/>
                                          </p:val>
                                        </p:tav>
                                      </p:tavLst>
                                    </p:anim>
                                    <p:anim calcmode="lin" valueType="num">
                                      <p:cBhvr>
                                        <p:cTn id="22" dur="500" fill="hold"/>
                                        <p:tgtEl>
                                          <p:spTgt spid="60"/>
                                        </p:tgtEl>
                                        <p:attrNameLst>
                                          <p:attrName>ppt_h</p:attrName>
                                        </p:attrNameLst>
                                      </p:cBhvr>
                                      <p:tavLst>
                                        <p:tav tm="0">
                                          <p:val>
                                            <p:strVal val="#ppt_h*0.85"/>
                                          </p:val>
                                        </p:tav>
                                        <p:tav tm="100000">
                                          <p:val>
                                            <p:strVal val="#ppt_h"/>
                                          </p:val>
                                        </p:tav>
                                      </p:tavLst>
                                    </p:anim>
                                    <p:animEffect transition="in" filter="fade">
                                      <p:cBhvr>
                                        <p:cTn id="23" dur="500"/>
                                        <p:tgtEl>
                                          <p:spTgt spid="60"/>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61"/>
                                        </p:tgtEl>
                                        <p:attrNameLst>
                                          <p:attrName>style.visibility</p:attrName>
                                        </p:attrNameLst>
                                      </p:cBhvr>
                                      <p:to>
                                        <p:strVal val="visible"/>
                                      </p:to>
                                    </p:set>
                                    <p:anim calcmode="lin" valueType="num">
                                      <p:cBhvr>
                                        <p:cTn id="28" dur="500" fill="hold"/>
                                        <p:tgtEl>
                                          <p:spTgt spid="61"/>
                                        </p:tgtEl>
                                        <p:attrNameLst>
                                          <p:attrName>ppt_w</p:attrName>
                                        </p:attrNameLst>
                                      </p:cBhvr>
                                      <p:tavLst>
                                        <p:tav tm="0">
                                          <p:val>
                                            <p:strVal val="#ppt_w*0.85"/>
                                          </p:val>
                                        </p:tav>
                                        <p:tav tm="100000">
                                          <p:val>
                                            <p:strVal val="#ppt_w"/>
                                          </p:val>
                                        </p:tav>
                                      </p:tavLst>
                                    </p:anim>
                                    <p:anim calcmode="lin" valueType="num">
                                      <p:cBhvr>
                                        <p:cTn id="29" dur="500" fill="hold"/>
                                        <p:tgtEl>
                                          <p:spTgt spid="61"/>
                                        </p:tgtEl>
                                        <p:attrNameLst>
                                          <p:attrName>ppt_h</p:attrName>
                                        </p:attrNameLst>
                                      </p:cBhvr>
                                      <p:tavLst>
                                        <p:tav tm="0">
                                          <p:val>
                                            <p:strVal val="#ppt_h*0.85"/>
                                          </p:val>
                                        </p:tav>
                                        <p:tav tm="100000">
                                          <p:val>
                                            <p:strVal val="#ppt_h"/>
                                          </p:val>
                                        </p:tav>
                                      </p:tavLst>
                                    </p:anim>
                                    <p:animEffect transition="in" filter="fade">
                                      <p:cBhvr>
                                        <p:cTn id="30" dur="500"/>
                                        <p:tgtEl>
                                          <p:spTgt spid="61"/>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56"/>
                                        </p:tgtEl>
                                        <p:attrNameLst>
                                          <p:attrName>style.visibility</p:attrName>
                                        </p:attrNameLst>
                                      </p:cBhvr>
                                      <p:to>
                                        <p:strVal val="visible"/>
                                      </p:to>
                                    </p:set>
                                    <p:anim calcmode="lin" valueType="num">
                                      <p:cBhvr>
                                        <p:cTn id="35" dur="500" fill="hold"/>
                                        <p:tgtEl>
                                          <p:spTgt spid="56"/>
                                        </p:tgtEl>
                                        <p:attrNameLst>
                                          <p:attrName>ppt_w</p:attrName>
                                        </p:attrNameLst>
                                      </p:cBhvr>
                                      <p:tavLst>
                                        <p:tav tm="0">
                                          <p:val>
                                            <p:strVal val="#ppt_w*0.85"/>
                                          </p:val>
                                        </p:tav>
                                        <p:tav tm="100000">
                                          <p:val>
                                            <p:strVal val="#ppt_w"/>
                                          </p:val>
                                        </p:tav>
                                      </p:tavLst>
                                    </p:anim>
                                    <p:anim calcmode="lin" valueType="num">
                                      <p:cBhvr>
                                        <p:cTn id="36" dur="500" fill="hold"/>
                                        <p:tgtEl>
                                          <p:spTgt spid="56"/>
                                        </p:tgtEl>
                                        <p:attrNameLst>
                                          <p:attrName>ppt_h</p:attrName>
                                        </p:attrNameLst>
                                      </p:cBhvr>
                                      <p:tavLst>
                                        <p:tav tm="0">
                                          <p:val>
                                            <p:strVal val="#ppt_h*0.85"/>
                                          </p:val>
                                        </p:tav>
                                        <p:tav tm="100000">
                                          <p:val>
                                            <p:strVal val="#ppt_h"/>
                                          </p:val>
                                        </p:tav>
                                      </p:tavLst>
                                    </p:anim>
                                    <p:animEffect transition="in" filter="fade">
                                      <p:cBhvr>
                                        <p:cTn id="37" dur="500"/>
                                        <p:tgtEl>
                                          <p:spTgt spid="56"/>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54"/>
                                        </p:tgtEl>
                                        <p:attrNameLst>
                                          <p:attrName>style.visibility</p:attrName>
                                        </p:attrNameLst>
                                      </p:cBhvr>
                                      <p:to>
                                        <p:strVal val="visible"/>
                                      </p:to>
                                    </p:set>
                                    <p:anim calcmode="lin" valueType="num">
                                      <p:cBhvr>
                                        <p:cTn id="42" dur="500" fill="hold"/>
                                        <p:tgtEl>
                                          <p:spTgt spid="54"/>
                                        </p:tgtEl>
                                        <p:attrNameLst>
                                          <p:attrName>ppt_w</p:attrName>
                                        </p:attrNameLst>
                                      </p:cBhvr>
                                      <p:tavLst>
                                        <p:tav tm="0">
                                          <p:val>
                                            <p:strVal val="#ppt_w*0.85"/>
                                          </p:val>
                                        </p:tav>
                                        <p:tav tm="100000">
                                          <p:val>
                                            <p:strVal val="#ppt_w"/>
                                          </p:val>
                                        </p:tav>
                                      </p:tavLst>
                                    </p:anim>
                                    <p:anim calcmode="lin" valueType="num">
                                      <p:cBhvr>
                                        <p:cTn id="43" dur="500" fill="hold"/>
                                        <p:tgtEl>
                                          <p:spTgt spid="54"/>
                                        </p:tgtEl>
                                        <p:attrNameLst>
                                          <p:attrName>ppt_h</p:attrName>
                                        </p:attrNameLst>
                                      </p:cBhvr>
                                      <p:tavLst>
                                        <p:tav tm="0">
                                          <p:val>
                                            <p:strVal val="#ppt_h*0.85"/>
                                          </p:val>
                                        </p:tav>
                                        <p:tav tm="100000">
                                          <p:val>
                                            <p:strVal val="#ppt_h"/>
                                          </p:val>
                                        </p:tav>
                                      </p:tavLst>
                                    </p:anim>
                                    <p:animEffect transition="in" filter="fade">
                                      <p:cBhvr>
                                        <p:cTn id="44" dur="500"/>
                                        <p:tgtEl>
                                          <p:spTgt spid="54"/>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58"/>
                                        </p:tgtEl>
                                        <p:attrNameLst>
                                          <p:attrName>style.visibility</p:attrName>
                                        </p:attrNameLst>
                                      </p:cBhvr>
                                      <p:to>
                                        <p:strVal val="visible"/>
                                      </p:to>
                                    </p:set>
                                    <p:anim calcmode="lin" valueType="num">
                                      <p:cBhvr>
                                        <p:cTn id="49" dur="500" fill="hold"/>
                                        <p:tgtEl>
                                          <p:spTgt spid="58"/>
                                        </p:tgtEl>
                                        <p:attrNameLst>
                                          <p:attrName>ppt_w</p:attrName>
                                        </p:attrNameLst>
                                      </p:cBhvr>
                                      <p:tavLst>
                                        <p:tav tm="0">
                                          <p:val>
                                            <p:strVal val="#ppt_w*0.85"/>
                                          </p:val>
                                        </p:tav>
                                        <p:tav tm="100000">
                                          <p:val>
                                            <p:strVal val="#ppt_w"/>
                                          </p:val>
                                        </p:tav>
                                      </p:tavLst>
                                    </p:anim>
                                    <p:anim calcmode="lin" valueType="num">
                                      <p:cBhvr>
                                        <p:cTn id="50" dur="500" fill="hold"/>
                                        <p:tgtEl>
                                          <p:spTgt spid="58"/>
                                        </p:tgtEl>
                                        <p:attrNameLst>
                                          <p:attrName>ppt_h</p:attrName>
                                        </p:attrNameLst>
                                      </p:cBhvr>
                                      <p:tavLst>
                                        <p:tav tm="0">
                                          <p:val>
                                            <p:strVal val="#ppt_h*0.85"/>
                                          </p:val>
                                        </p:tav>
                                        <p:tav tm="100000">
                                          <p:val>
                                            <p:strVal val="#ppt_h"/>
                                          </p:val>
                                        </p:tav>
                                      </p:tavLst>
                                    </p:anim>
                                    <p:animEffect transition="in" filter="fade">
                                      <p:cBhvr>
                                        <p:cTn id="51"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DF8F4"/>
        </a:solidFill>
        <a:effectLst/>
      </p:bgPr>
    </p:bg>
    <p:spTree>
      <p:nvGrpSpPr>
        <p:cNvPr id="1" name="">
          <a:extLst>
            <a:ext uri="{FF2B5EF4-FFF2-40B4-BE49-F238E27FC236}">
              <a16:creationId xmlns:a16="http://schemas.microsoft.com/office/drawing/2014/main" id="{C36B1B47-3EAB-47DE-C1DF-75176FD3981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2FA1453-CC26-BA03-142E-3A35DE06ABF9}"/>
              </a:ext>
            </a:extLst>
          </p:cNvPr>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95D57979-93B6-3EC3-6E9A-40394E6D8EC7}"/>
              </a:ext>
            </a:extLst>
          </p:cNvPr>
          <p:cNvSpPr/>
          <p:nvPr/>
        </p:nvSpPr>
        <p:spPr>
          <a:xfrm>
            <a:off x="1435099"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1</a:t>
            </a:r>
          </a:p>
        </p:txBody>
      </p:sp>
      <p:sp>
        <p:nvSpPr>
          <p:cNvPr id="39" name="Ellipse 38">
            <a:extLst>
              <a:ext uri="{FF2B5EF4-FFF2-40B4-BE49-F238E27FC236}">
                <a16:creationId xmlns:a16="http://schemas.microsoft.com/office/drawing/2014/main" id="{ACDF65C6-9F24-A166-A43F-124874EE284A}"/>
              </a:ext>
            </a:extLst>
          </p:cNvPr>
          <p:cNvSpPr/>
          <p:nvPr/>
        </p:nvSpPr>
        <p:spPr>
          <a:xfrm>
            <a:off x="3276885"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2</a:t>
            </a:r>
          </a:p>
        </p:txBody>
      </p:sp>
      <p:sp>
        <p:nvSpPr>
          <p:cNvPr id="41" name="Ellipse 40">
            <a:extLst>
              <a:ext uri="{FF2B5EF4-FFF2-40B4-BE49-F238E27FC236}">
                <a16:creationId xmlns:a16="http://schemas.microsoft.com/office/drawing/2014/main" id="{4AA58933-2840-AF26-90A6-D3898B262CF7}"/>
              </a:ext>
            </a:extLst>
          </p:cNvPr>
          <p:cNvSpPr/>
          <p:nvPr/>
        </p:nvSpPr>
        <p:spPr>
          <a:xfrm>
            <a:off x="5118671"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3</a:t>
            </a:r>
          </a:p>
        </p:txBody>
      </p:sp>
      <p:sp>
        <p:nvSpPr>
          <p:cNvPr id="43" name="Ellipse 42">
            <a:extLst>
              <a:ext uri="{FF2B5EF4-FFF2-40B4-BE49-F238E27FC236}">
                <a16:creationId xmlns:a16="http://schemas.microsoft.com/office/drawing/2014/main" id="{51C6BA4F-8A13-F540-E8A5-0C1FCC445BF7}"/>
              </a:ext>
            </a:extLst>
          </p:cNvPr>
          <p:cNvSpPr/>
          <p:nvPr/>
        </p:nvSpPr>
        <p:spPr>
          <a:xfrm>
            <a:off x="6960457" y="205023"/>
            <a:ext cx="246063" cy="253765"/>
          </a:xfrm>
          <a:prstGeom prst="ellipse">
            <a:avLst/>
          </a:prstGeom>
          <a:noFill/>
          <a:ln>
            <a:solidFill>
              <a:srgbClr val="F96A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F96A09"/>
                </a:solidFill>
              </a:rPr>
              <a:t>4</a:t>
            </a:r>
          </a:p>
        </p:txBody>
      </p:sp>
      <p:sp>
        <p:nvSpPr>
          <p:cNvPr id="45" name="Ellipse 44">
            <a:extLst>
              <a:ext uri="{FF2B5EF4-FFF2-40B4-BE49-F238E27FC236}">
                <a16:creationId xmlns:a16="http://schemas.microsoft.com/office/drawing/2014/main" id="{496935F6-F329-9569-329A-692C26A4F485}"/>
              </a:ext>
            </a:extLst>
          </p:cNvPr>
          <p:cNvSpPr/>
          <p:nvPr/>
        </p:nvSpPr>
        <p:spPr>
          <a:xfrm>
            <a:off x="8802243"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5</a:t>
            </a:r>
          </a:p>
        </p:txBody>
      </p:sp>
      <p:sp>
        <p:nvSpPr>
          <p:cNvPr id="47" name="Ellipse 46">
            <a:extLst>
              <a:ext uri="{FF2B5EF4-FFF2-40B4-BE49-F238E27FC236}">
                <a16:creationId xmlns:a16="http://schemas.microsoft.com/office/drawing/2014/main" id="{81925164-8ABA-A07E-DF0D-377F01A87331}"/>
              </a:ext>
            </a:extLst>
          </p:cNvPr>
          <p:cNvSpPr/>
          <p:nvPr/>
        </p:nvSpPr>
        <p:spPr>
          <a:xfrm>
            <a:off x="1064402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6</a:t>
            </a:r>
          </a:p>
        </p:txBody>
      </p:sp>
      <p:cxnSp>
        <p:nvCxnSpPr>
          <p:cNvPr id="49" name="Connecteur droit 48">
            <a:extLst>
              <a:ext uri="{FF2B5EF4-FFF2-40B4-BE49-F238E27FC236}">
                <a16:creationId xmlns:a16="http://schemas.microsoft.com/office/drawing/2014/main" id="{BEF5C2CE-DC30-4AD1-F3C8-538AC499428A}"/>
              </a:ext>
            </a:extLst>
          </p:cNvPr>
          <p:cNvCxnSpPr>
            <a:endCxn id="25" idx="2"/>
          </p:cNvCxnSpPr>
          <p:nvPr/>
        </p:nvCxnSpPr>
        <p:spPr>
          <a:xfrm flipV="1">
            <a:off x="387416" y="331905"/>
            <a:ext cx="10476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20A16FAF-C499-CF2A-93E4-778AA7AA6B44}"/>
              </a:ext>
            </a:extLst>
          </p:cNvPr>
          <p:cNvCxnSpPr>
            <a:stCxn id="25" idx="6"/>
            <a:endCxn id="39" idx="2"/>
          </p:cNvCxnSpPr>
          <p:nvPr/>
        </p:nvCxnSpPr>
        <p:spPr>
          <a:xfrm flipV="1">
            <a:off x="1681162"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BCEF7128-7839-ABD8-5FE1-D57E6F3EB716}"/>
              </a:ext>
            </a:extLst>
          </p:cNvPr>
          <p:cNvCxnSpPr>
            <a:stCxn id="39" idx="6"/>
            <a:endCxn id="41" idx="2"/>
          </p:cNvCxnSpPr>
          <p:nvPr/>
        </p:nvCxnSpPr>
        <p:spPr>
          <a:xfrm>
            <a:off x="3522948"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Connecteur droit 54">
            <a:extLst>
              <a:ext uri="{FF2B5EF4-FFF2-40B4-BE49-F238E27FC236}">
                <a16:creationId xmlns:a16="http://schemas.microsoft.com/office/drawing/2014/main" id="{BE83B6D8-9D8E-AC6C-8905-D25DEF9540FF}"/>
              </a:ext>
            </a:extLst>
          </p:cNvPr>
          <p:cNvCxnSpPr>
            <a:stCxn id="41" idx="6"/>
            <a:endCxn id="43" idx="2"/>
          </p:cNvCxnSpPr>
          <p:nvPr/>
        </p:nvCxnSpPr>
        <p:spPr>
          <a:xfrm>
            <a:off x="5364734"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7" name="Connecteur droit 56">
            <a:extLst>
              <a:ext uri="{FF2B5EF4-FFF2-40B4-BE49-F238E27FC236}">
                <a16:creationId xmlns:a16="http://schemas.microsoft.com/office/drawing/2014/main" id="{6662307B-57E2-7C0C-06A6-AFC807B1390C}"/>
              </a:ext>
            </a:extLst>
          </p:cNvPr>
          <p:cNvCxnSpPr>
            <a:stCxn id="43" idx="6"/>
            <a:endCxn id="45" idx="2"/>
          </p:cNvCxnSpPr>
          <p:nvPr/>
        </p:nvCxnSpPr>
        <p:spPr>
          <a:xfrm>
            <a:off x="7206520"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9" name="Connecteur droit 58">
            <a:extLst>
              <a:ext uri="{FF2B5EF4-FFF2-40B4-BE49-F238E27FC236}">
                <a16:creationId xmlns:a16="http://schemas.microsoft.com/office/drawing/2014/main" id="{D1DBC9D8-6037-67F9-7370-3C0B20137691}"/>
              </a:ext>
            </a:extLst>
          </p:cNvPr>
          <p:cNvCxnSpPr>
            <a:stCxn id="45" idx="6"/>
            <a:endCxn id="47" idx="2"/>
          </p:cNvCxnSpPr>
          <p:nvPr/>
        </p:nvCxnSpPr>
        <p:spPr>
          <a:xfrm flipV="1">
            <a:off x="9048306" y="331905"/>
            <a:ext cx="15957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977215CE-ACB7-F524-DB02-215AFDB8D660}"/>
              </a:ext>
            </a:extLst>
          </p:cNvPr>
          <p:cNvCxnSpPr>
            <a:stCxn id="47" idx="6"/>
          </p:cNvCxnSpPr>
          <p:nvPr/>
        </p:nvCxnSpPr>
        <p:spPr>
          <a:xfrm>
            <a:off x="10890090" y="331905"/>
            <a:ext cx="130191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637E64C0-A50E-D7BB-C6AA-126847CBCEDD}"/>
              </a:ext>
            </a:extLst>
          </p:cNvPr>
          <p:cNvSpPr txBox="1"/>
          <p:nvPr/>
        </p:nvSpPr>
        <p:spPr>
          <a:xfrm>
            <a:off x="624823" y="479710"/>
            <a:ext cx="1965977" cy="600164"/>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 STRUCTURE D’ACCUEIL</a:t>
            </a:r>
          </a:p>
        </p:txBody>
      </p:sp>
      <p:sp>
        <p:nvSpPr>
          <p:cNvPr id="8" name="ZoneTexte 7">
            <a:extLst>
              <a:ext uri="{FF2B5EF4-FFF2-40B4-BE49-F238E27FC236}">
                <a16:creationId xmlns:a16="http://schemas.microsoft.com/office/drawing/2014/main" id="{9F7141B5-AFF7-47D5-704A-56FC1E782713}"/>
              </a:ext>
            </a:extLst>
          </p:cNvPr>
          <p:cNvSpPr txBox="1"/>
          <p:nvPr/>
        </p:nvSpPr>
        <p:spPr>
          <a:xfrm>
            <a:off x="2643588" y="417161"/>
            <a:ext cx="1481708" cy="430887"/>
          </a:xfrm>
          <a:prstGeom prst="rect">
            <a:avLst/>
          </a:prstGeom>
          <a:noFill/>
        </p:spPr>
        <p:txBody>
          <a:bodyPr wrap="square" rtlCol="0">
            <a:spAutoFit/>
          </a:bodyPr>
          <a:lstStyle/>
          <a:p>
            <a:r>
              <a:rPr lang="fr-FR" sz="1100" b="1" dirty="0">
                <a:latin typeface="Montserrat"/>
                <a:cs typeface="Montserrat"/>
              </a:rPr>
              <a:t>CONTEXTE ET </a:t>
            </a:r>
          </a:p>
          <a:p>
            <a:r>
              <a:rPr lang="fr-FR" sz="1100" b="1" dirty="0">
                <a:latin typeface="Montserrat"/>
                <a:cs typeface="Montserrat"/>
              </a:rPr>
              <a:t>PROBLÉMATIQUE</a:t>
            </a:r>
          </a:p>
        </p:txBody>
      </p:sp>
      <p:sp>
        <p:nvSpPr>
          <p:cNvPr id="10" name="ZoneTexte 9">
            <a:extLst>
              <a:ext uri="{FF2B5EF4-FFF2-40B4-BE49-F238E27FC236}">
                <a16:creationId xmlns:a16="http://schemas.microsoft.com/office/drawing/2014/main" id="{978569B0-E812-8EE4-7BCE-FB7116F2858B}"/>
              </a:ext>
            </a:extLst>
          </p:cNvPr>
          <p:cNvSpPr txBox="1"/>
          <p:nvPr/>
        </p:nvSpPr>
        <p:spPr>
          <a:xfrm>
            <a:off x="4178084" y="501799"/>
            <a:ext cx="1921727" cy="261610"/>
          </a:xfrm>
          <a:prstGeom prst="rect">
            <a:avLst/>
          </a:prstGeom>
          <a:noFill/>
        </p:spPr>
        <p:txBody>
          <a:bodyPr wrap="square" rtlCol="0">
            <a:spAutoFit/>
          </a:bodyPr>
          <a:lstStyle/>
          <a:p>
            <a:r>
              <a:rPr lang="fr-FR" sz="1100" b="1" dirty="0">
                <a:latin typeface="Montserrat"/>
                <a:cs typeface="Montserrat"/>
              </a:rPr>
              <a:t>ÉTUDE CONCEPTUELLE</a:t>
            </a:r>
          </a:p>
        </p:txBody>
      </p:sp>
      <p:sp>
        <p:nvSpPr>
          <p:cNvPr id="13" name="ZoneTexte 12">
            <a:extLst>
              <a:ext uri="{FF2B5EF4-FFF2-40B4-BE49-F238E27FC236}">
                <a16:creationId xmlns:a16="http://schemas.microsoft.com/office/drawing/2014/main" id="{F59C1729-095D-560C-717C-B2DB6970A312}"/>
              </a:ext>
            </a:extLst>
          </p:cNvPr>
          <p:cNvSpPr txBox="1"/>
          <p:nvPr/>
        </p:nvSpPr>
        <p:spPr>
          <a:xfrm>
            <a:off x="6152599" y="425597"/>
            <a:ext cx="1595723" cy="430887"/>
          </a:xfrm>
          <a:prstGeom prst="rect">
            <a:avLst/>
          </a:prstGeom>
          <a:noFill/>
        </p:spPr>
        <p:txBody>
          <a:bodyPr wrap="square" rtlCol="0">
            <a:spAutoFit/>
          </a:bodyPr>
          <a:lstStyle/>
          <a:p>
            <a:r>
              <a:rPr lang="fr-FR" sz="1100" b="1" dirty="0">
                <a:solidFill>
                  <a:srgbClr val="F96A09"/>
                </a:solidFill>
                <a:latin typeface="Montserrat"/>
                <a:cs typeface="Montserrat"/>
              </a:rPr>
              <a:t>PRÉSENTATION DE </a:t>
            </a:r>
          </a:p>
          <a:p>
            <a:r>
              <a:rPr lang="fr-FR" sz="1100" b="1" dirty="0">
                <a:solidFill>
                  <a:srgbClr val="F96A09"/>
                </a:solidFill>
                <a:latin typeface="Montserrat"/>
                <a:cs typeface="Montserrat"/>
              </a:rPr>
              <a:t>LA SOLUTION</a:t>
            </a:r>
          </a:p>
        </p:txBody>
      </p:sp>
      <p:sp>
        <p:nvSpPr>
          <p:cNvPr id="15" name="ZoneTexte 14">
            <a:extLst>
              <a:ext uri="{FF2B5EF4-FFF2-40B4-BE49-F238E27FC236}">
                <a16:creationId xmlns:a16="http://schemas.microsoft.com/office/drawing/2014/main" id="{E3B9DCD5-6124-7640-EA47-6AFB3ED13A8E}"/>
              </a:ext>
            </a:extLst>
          </p:cNvPr>
          <p:cNvSpPr txBox="1"/>
          <p:nvPr/>
        </p:nvSpPr>
        <p:spPr>
          <a:xfrm>
            <a:off x="7801110" y="458786"/>
            <a:ext cx="1860500" cy="430887"/>
          </a:xfrm>
          <a:prstGeom prst="rect">
            <a:avLst/>
          </a:prstGeom>
          <a:noFill/>
        </p:spPr>
        <p:txBody>
          <a:bodyPr wrap="square" rtlCol="0">
            <a:spAutoFit/>
          </a:bodyPr>
          <a:lstStyle/>
          <a:p>
            <a:r>
              <a:rPr lang="fr-FR" sz="1100" b="1" dirty="0">
                <a:latin typeface="Montserrat"/>
                <a:cs typeface="Montserrat"/>
              </a:rPr>
              <a:t>RÉSULTATS ET VALIDATION</a:t>
            </a:r>
          </a:p>
        </p:txBody>
      </p:sp>
      <p:sp>
        <p:nvSpPr>
          <p:cNvPr id="17" name="ZoneTexte 16">
            <a:extLst>
              <a:ext uri="{FF2B5EF4-FFF2-40B4-BE49-F238E27FC236}">
                <a16:creationId xmlns:a16="http://schemas.microsoft.com/office/drawing/2014/main" id="{D284DB53-38F0-23CC-7780-4AE474C1C4A6}"/>
              </a:ext>
            </a:extLst>
          </p:cNvPr>
          <p:cNvSpPr txBox="1"/>
          <p:nvPr/>
        </p:nvSpPr>
        <p:spPr>
          <a:xfrm>
            <a:off x="9716922" y="479710"/>
            <a:ext cx="2346335" cy="261610"/>
          </a:xfrm>
          <a:prstGeom prst="rect">
            <a:avLst/>
          </a:prstGeom>
          <a:noFill/>
        </p:spPr>
        <p:txBody>
          <a:bodyPr wrap="square" rtlCol="0">
            <a:spAutoFit/>
          </a:bodyPr>
          <a:lstStyle/>
          <a:p>
            <a:r>
              <a:rPr lang="fr-FR" sz="1100" b="1" dirty="0">
                <a:latin typeface="Montserrat"/>
                <a:cs typeface="Montserrat"/>
              </a:rPr>
              <a:t>LIMITES ET PERSPECTIVES</a:t>
            </a:r>
          </a:p>
        </p:txBody>
      </p:sp>
      <p:sp>
        <p:nvSpPr>
          <p:cNvPr id="12" name="HdrTitle">
            <a:extLst>
              <a:ext uri="{FF2B5EF4-FFF2-40B4-BE49-F238E27FC236}">
                <a16:creationId xmlns:a16="http://schemas.microsoft.com/office/drawing/2014/main" id="{C18C671C-00AE-4790-9C89-2C48DCDC76FE}"/>
              </a:ext>
            </a:extLst>
          </p:cNvPr>
          <p:cNvSpPr txBox="1"/>
          <p:nvPr/>
        </p:nvSpPr>
        <p:spPr>
          <a:xfrm>
            <a:off x="511358" y="934578"/>
            <a:ext cx="5334000" cy="456920"/>
          </a:xfrm>
          <a:prstGeom prst="rect">
            <a:avLst/>
          </a:prstGeom>
          <a:noFill/>
        </p:spPr>
        <p:txBody>
          <a:bodyPr vertOverflow="overflow" vert="horz" wrap="square" rtlCol="0" anchor="t">
            <a:spAutoFit/>
          </a:bodyPr>
          <a:lstStyle/>
          <a:p>
            <a:pPr algn="l">
              <a:lnSpc>
                <a:spcPts val="3000"/>
              </a:lnSpc>
              <a:spcBef>
                <a:spcPct val="0"/>
              </a:spcBef>
              <a:buNone/>
            </a:pPr>
            <a:endParaRPr/>
          </a:p>
        </p:txBody>
      </p:sp>
      <p:sp>
        <p:nvSpPr>
          <p:cNvPr id="66" name="Rectangle 65">
            <a:extLst>
              <a:ext uri="{FF2B5EF4-FFF2-40B4-BE49-F238E27FC236}">
                <a16:creationId xmlns:a16="http://schemas.microsoft.com/office/drawing/2014/main" id="{71E2368D-4434-6DFB-6C97-113675BE4431}"/>
              </a:ext>
            </a:extLst>
          </p:cNvPr>
          <p:cNvSpPr>
            <a:spLocks/>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7B003184-3A00-0234-FF5D-C15B6F8A8785}"/>
              </a:ext>
            </a:extLst>
          </p:cNvPr>
          <p:cNvSpPr txBox="1"/>
          <p:nvPr/>
        </p:nvSpPr>
        <p:spPr>
          <a:xfrm>
            <a:off x="4448223" y="787733"/>
            <a:ext cx="3286027" cy="3154710"/>
          </a:xfrm>
          <a:prstGeom prst="rect">
            <a:avLst/>
          </a:prstGeom>
          <a:noFill/>
        </p:spPr>
        <p:txBody>
          <a:bodyPr wrap="square" rtlCol="0">
            <a:spAutoFit/>
          </a:bodyPr>
          <a:lstStyle/>
          <a:p>
            <a:r>
              <a:rPr lang="fr-FR" sz="19900" dirty="0">
                <a:solidFill>
                  <a:srgbClr val="F96A09"/>
                </a:solidFill>
                <a:latin typeface="Times New Roman" panose="02020603050405020304" pitchFamily="18" charset="0"/>
                <a:cs typeface="Times New Roman" panose="02020603050405020304" pitchFamily="18" charset="0"/>
              </a:rPr>
              <a:t>04</a:t>
            </a:r>
          </a:p>
        </p:txBody>
      </p:sp>
      <p:cxnSp>
        <p:nvCxnSpPr>
          <p:cNvPr id="9" name="Connecteur droit 8">
            <a:extLst>
              <a:ext uri="{FF2B5EF4-FFF2-40B4-BE49-F238E27FC236}">
                <a16:creationId xmlns:a16="http://schemas.microsoft.com/office/drawing/2014/main" id="{F4CB2EDC-37A7-9742-12A9-4082782551D1}"/>
              </a:ext>
            </a:extLst>
          </p:cNvPr>
          <p:cNvCxnSpPr/>
          <p:nvPr/>
        </p:nvCxnSpPr>
        <p:spPr>
          <a:xfrm>
            <a:off x="5272397" y="3404675"/>
            <a:ext cx="1376780" cy="0"/>
          </a:xfrm>
          <a:prstGeom prst="line">
            <a:avLst/>
          </a:prstGeom>
          <a:ln w="38100">
            <a:solidFill>
              <a:srgbClr val="F96A09"/>
            </a:solidFill>
          </a:ln>
        </p:spPr>
        <p:style>
          <a:lnRef idx="1">
            <a:schemeClr val="accent1"/>
          </a:lnRef>
          <a:fillRef idx="0">
            <a:schemeClr val="accent1"/>
          </a:fillRef>
          <a:effectRef idx="0">
            <a:schemeClr val="accent1"/>
          </a:effectRef>
          <a:fontRef idx="minor">
            <a:schemeClr val="tx1"/>
          </a:fontRef>
        </p:style>
      </p:cxnSp>
      <p:sp>
        <p:nvSpPr>
          <p:cNvPr id="14" name="ZoneTexte 13">
            <a:extLst>
              <a:ext uri="{FF2B5EF4-FFF2-40B4-BE49-F238E27FC236}">
                <a16:creationId xmlns:a16="http://schemas.microsoft.com/office/drawing/2014/main" id="{7C16ACED-A4D7-BA69-DD08-87A25BA085D0}"/>
              </a:ext>
            </a:extLst>
          </p:cNvPr>
          <p:cNvSpPr txBox="1"/>
          <p:nvPr/>
        </p:nvSpPr>
        <p:spPr>
          <a:xfrm>
            <a:off x="3276885" y="3565185"/>
            <a:ext cx="7377441" cy="1569660"/>
          </a:xfrm>
          <a:prstGeom prst="rect">
            <a:avLst/>
          </a:prstGeom>
          <a:solidFill>
            <a:srgbClr val="FDF8F4"/>
          </a:solidFill>
        </p:spPr>
        <p:txBody>
          <a:bodyPr wrap="square" rtlCol="0">
            <a:spAutoFit/>
          </a:bodyPr>
          <a:lstStyle/>
          <a:p>
            <a:r>
              <a:rPr lang="fr-FR" sz="4800" b="1" dirty="0">
                <a:solidFill>
                  <a:srgbClr val="062042"/>
                </a:solidFill>
                <a:latin typeface="Montserrat" panose="00000500000000000000" pitchFamily="2" charset="0"/>
                <a:cs typeface="Times New Roman" panose="02020603050405020304" pitchFamily="18" charset="0"/>
              </a:rPr>
              <a:t>PRÉSENTATION</a:t>
            </a:r>
          </a:p>
          <a:p>
            <a:r>
              <a:rPr lang="fr-FR" sz="4800" b="1" dirty="0">
                <a:solidFill>
                  <a:srgbClr val="062042"/>
                </a:solidFill>
                <a:latin typeface="Montserrat" panose="00000500000000000000" pitchFamily="2" charset="0"/>
                <a:cs typeface="Times New Roman" panose="02020603050405020304" pitchFamily="18" charset="0"/>
              </a:rPr>
              <a:t>DE LA SOLUTION</a:t>
            </a:r>
          </a:p>
        </p:txBody>
      </p:sp>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1FAC4E29-82D8-465C-A5AA-04D8A8240ABD}" type="slidenum">
              <a:rPr lang="fr-FR" sz="1600" b="1" dirty="0">
                <a:solidFill>
                  <a:srgbClr val="FFFFFF"/>
                </a:solidFill>
                <a:latin typeface="Montserrat"/>
              </a:rPr>
              <a:t>15</a:t>
            </a:fld>
            <a:endParaRPr lang="fr-FR" sz="1600" b="1" dirty="0">
              <a:solidFill>
                <a:srgbClr val="FFFFFF"/>
              </a:solidFill>
              <a:latin typeface="Montserrat"/>
            </a:endParaRPr>
          </a:p>
        </p:txBody>
      </p:sp>
    </p:spTree>
    <p:extLst>
      <p:ext uri="{BB962C8B-B14F-4D97-AF65-F5344CB8AC3E}">
        <p14:creationId xmlns:p14="http://schemas.microsoft.com/office/powerpoint/2010/main" val="737909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strVal val="#ppt_w*0.85"/>
                                          </p:val>
                                        </p:tav>
                                        <p:tav tm="100000">
                                          <p:val>
                                            <p:strVal val="#ppt_w"/>
                                          </p:val>
                                        </p:tav>
                                      </p:tavLst>
                                    </p:anim>
                                    <p:anim calcmode="lin" valueType="num">
                                      <p:cBhvr>
                                        <p:cTn id="8" dur="500" fill="hold"/>
                                        <p:tgtEl>
                                          <p:spTgt spid="5"/>
                                        </p:tgtEl>
                                        <p:attrNameLst>
                                          <p:attrName>ppt_h</p:attrName>
                                        </p:attrNameLst>
                                      </p:cBhvr>
                                      <p:tavLst>
                                        <p:tav tm="0">
                                          <p:val>
                                            <p:strVal val="#ppt_h*0.85"/>
                                          </p:val>
                                        </p:tav>
                                        <p:tav tm="100000">
                                          <p:val>
                                            <p:strVal val="#ppt_h"/>
                                          </p:val>
                                        </p:tav>
                                      </p:tavLst>
                                    </p:anim>
                                    <p:animEffect transition="in" filter="fade">
                                      <p:cBhvr>
                                        <p:cTn id="9" dur="500"/>
                                        <p:tgtEl>
                                          <p:spTgt spid="5"/>
                                        </p:tgtEl>
                                      </p:cBhvr>
                                    </p:animEffect>
                                  </p:childTnLst>
                                </p:cTn>
                              </p:par>
                              <p:par>
                                <p:cTn id="10" presetID="22" presetClass="entr" presetSubtype="8" fill="hold" nodeType="withEffect">
                                  <p:stCondLst>
                                    <p:cond delay="14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400"/>
                                        <p:tgtEl>
                                          <p:spTgt spid="9"/>
                                        </p:tgtEl>
                                      </p:cBhvr>
                                    </p:animEffect>
                                  </p:childTnLst>
                                </p:cTn>
                              </p:par>
                              <p:par>
                                <p:cTn id="13" presetID="42" presetClass="entr" presetSubtype="0" fill="hold" grpId="0" nodeType="withEffect">
                                  <p:stCondLst>
                                    <p:cond delay="28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50"/>
                                        <p:tgtEl>
                                          <p:spTgt spid="14"/>
                                        </p:tgtEl>
                                      </p:cBhvr>
                                    </p:animEffect>
                                    <p:anim calcmode="lin" valueType="num">
                                      <p:cBhvr>
                                        <p:cTn id="16" dur="450" fill="hold"/>
                                        <p:tgtEl>
                                          <p:spTgt spid="14"/>
                                        </p:tgtEl>
                                        <p:attrNameLst>
                                          <p:attrName>ppt_x</p:attrName>
                                        </p:attrNameLst>
                                      </p:cBhvr>
                                      <p:tavLst>
                                        <p:tav tm="0">
                                          <p:val>
                                            <p:strVal val="#ppt_x"/>
                                          </p:val>
                                        </p:tav>
                                        <p:tav tm="100000">
                                          <p:val>
                                            <p:strVal val="#ppt_x"/>
                                          </p:val>
                                        </p:tav>
                                      </p:tavLst>
                                    </p:anim>
                                    <p:anim calcmode="lin" valueType="num">
                                      <p:cBhvr>
                                        <p:cTn id="17" dur="450" fill="hold"/>
                                        <p:tgtEl>
                                          <p:spTgt spid="1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C9315-0251-E2F6-7DB8-F31C8E043C5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2F8F447-AAFB-916E-864E-332099251416}"/>
              </a:ext>
            </a:extLst>
          </p:cNvPr>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demo-ngoni-v4">
            <a:hlinkClick r:id="" action="ppaction://media"/>
            <a:extLst>
              <a:ext uri="{FF2B5EF4-FFF2-40B4-BE49-F238E27FC236}">
                <a16:creationId xmlns:a16="http://schemas.microsoft.com/office/drawing/2014/main" id="{1E90440A-C40F-5E80-BBE4-C67E7DD7061F}"/>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3615532645"/>
      </p:ext>
    </p:extLst>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276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6B1B47-3EAB-47DE-C1DF-75176FD3981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2FA1453-CC26-BA03-142E-3A35DE06ABF9}"/>
              </a:ext>
            </a:extLst>
          </p:cNvPr>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95D57979-93B6-3EC3-6E9A-40394E6D8EC7}"/>
              </a:ext>
            </a:extLst>
          </p:cNvPr>
          <p:cNvSpPr/>
          <p:nvPr/>
        </p:nvSpPr>
        <p:spPr>
          <a:xfrm>
            <a:off x="1435099"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1</a:t>
            </a:r>
          </a:p>
        </p:txBody>
      </p:sp>
      <p:sp>
        <p:nvSpPr>
          <p:cNvPr id="39" name="Ellipse 38">
            <a:extLst>
              <a:ext uri="{FF2B5EF4-FFF2-40B4-BE49-F238E27FC236}">
                <a16:creationId xmlns:a16="http://schemas.microsoft.com/office/drawing/2014/main" id="{ACDF65C6-9F24-A166-A43F-124874EE284A}"/>
              </a:ext>
            </a:extLst>
          </p:cNvPr>
          <p:cNvSpPr/>
          <p:nvPr/>
        </p:nvSpPr>
        <p:spPr>
          <a:xfrm>
            <a:off x="3276885"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2</a:t>
            </a:r>
          </a:p>
        </p:txBody>
      </p:sp>
      <p:sp>
        <p:nvSpPr>
          <p:cNvPr id="41" name="Ellipse 40">
            <a:extLst>
              <a:ext uri="{FF2B5EF4-FFF2-40B4-BE49-F238E27FC236}">
                <a16:creationId xmlns:a16="http://schemas.microsoft.com/office/drawing/2014/main" id="{4AA58933-2840-AF26-90A6-D3898B262CF7}"/>
              </a:ext>
            </a:extLst>
          </p:cNvPr>
          <p:cNvSpPr/>
          <p:nvPr/>
        </p:nvSpPr>
        <p:spPr>
          <a:xfrm>
            <a:off x="5118671"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3</a:t>
            </a:r>
          </a:p>
        </p:txBody>
      </p:sp>
      <p:sp>
        <p:nvSpPr>
          <p:cNvPr id="43" name="Ellipse 42">
            <a:extLst>
              <a:ext uri="{FF2B5EF4-FFF2-40B4-BE49-F238E27FC236}">
                <a16:creationId xmlns:a16="http://schemas.microsoft.com/office/drawing/2014/main" id="{51C6BA4F-8A13-F540-E8A5-0C1FCC445BF7}"/>
              </a:ext>
            </a:extLst>
          </p:cNvPr>
          <p:cNvSpPr/>
          <p:nvPr/>
        </p:nvSpPr>
        <p:spPr>
          <a:xfrm>
            <a:off x="6960457" y="205023"/>
            <a:ext cx="246063" cy="253765"/>
          </a:xfrm>
          <a:prstGeom prst="ellipse">
            <a:avLst/>
          </a:prstGeom>
          <a:noFill/>
          <a:ln>
            <a:solidFill>
              <a:srgbClr val="F96A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F96A09"/>
                </a:solidFill>
              </a:rPr>
              <a:t>4</a:t>
            </a:r>
          </a:p>
        </p:txBody>
      </p:sp>
      <p:sp>
        <p:nvSpPr>
          <p:cNvPr id="45" name="Ellipse 44">
            <a:extLst>
              <a:ext uri="{FF2B5EF4-FFF2-40B4-BE49-F238E27FC236}">
                <a16:creationId xmlns:a16="http://schemas.microsoft.com/office/drawing/2014/main" id="{496935F6-F329-9569-329A-692C26A4F485}"/>
              </a:ext>
            </a:extLst>
          </p:cNvPr>
          <p:cNvSpPr/>
          <p:nvPr/>
        </p:nvSpPr>
        <p:spPr>
          <a:xfrm>
            <a:off x="8802243"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5</a:t>
            </a:r>
          </a:p>
        </p:txBody>
      </p:sp>
      <p:sp>
        <p:nvSpPr>
          <p:cNvPr id="47" name="Ellipse 46">
            <a:extLst>
              <a:ext uri="{FF2B5EF4-FFF2-40B4-BE49-F238E27FC236}">
                <a16:creationId xmlns:a16="http://schemas.microsoft.com/office/drawing/2014/main" id="{81925164-8ABA-A07E-DF0D-377F01A87331}"/>
              </a:ext>
            </a:extLst>
          </p:cNvPr>
          <p:cNvSpPr/>
          <p:nvPr/>
        </p:nvSpPr>
        <p:spPr>
          <a:xfrm>
            <a:off x="1064402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6</a:t>
            </a:r>
          </a:p>
        </p:txBody>
      </p:sp>
      <p:cxnSp>
        <p:nvCxnSpPr>
          <p:cNvPr id="49" name="Connecteur droit 48">
            <a:extLst>
              <a:ext uri="{FF2B5EF4-FFF2-40B4-BE49-F238E27FC236}">
                <a16:creationId xmlns:a16="http://schemas.microsoft.com/office/drawing/2014/main" id="{BEF5C2CE-DC30-4AD1-F3C8-538AC499428A}"/>
              </a:ext>
            </a:extLst>
          </p:cNvPr>
          <p:cNvCxnSpPr>
            <a:endCxn id="25" idx="2"/>
          </p:cNvCxnSpPr>
          <p:nvPr/>
        </p:nvCxnSpPr>
        <p:spPr>
          <a:xfrm flipV="1">
            <a:off x="387416" y="331905"/>
            <a:ext cx="10476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20A16FAF-C499-CF2A-93E4-778AA7AA6B44}"/>
              </a:ext>
            </a:extLst>
          </p:cNvPr>
          <p:cNvCxnSpPr>
            <a:stCxn id="25" idx="6"/>
            <a:endCxn id="39" idx="2"/>
          </p:cNvCxnSpPr>
          <p:nvPr/>
        </p:nvCxnSpPr>
        <p:spPr>
          <a:xfrm flipV="1">
            <a:off x="1681162"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BCEF7128-7839-ABD8-5FE1-D57E6F3EB716}"/>
              </a:ext>
            </a:extLst>
          </p:cNvPr>
          <p:cNvCxnSpPr>
            <a:stCxn id="39" idx="6"/>
            <a:endCxn id="41" idx="2"/>
          </p:cNvCxnSpPr>
          <p:nvPr/>
        </p:nvCxnSpPr>
        <p:spPr>
          <a:xfrm>
            <a:off x="3522948"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Connecteur droit 54">
            <a:extLst>
              <a:ext uri="{FF2B5EF4-FFF2-40B4-BE49-F238E27FC236}">
                <a16:creationId xmlns:a16="http://schemas.microsoft.com/office/drawing/2014/main" id="{BE83B6D8-9D8E-AC6C-8905-D25DEF9540FF}"/>
              </a:ext>
            </a:extLst>
          </p:cNvPr>
          <p:cNvCxnSpPr>
            <a:stCxn id="41" idx="6"/>
            <a:endCxn id="43" idx="2"/>
          </p:cNvCxnSpPr>
          <p:nvPr/>
        </p:nvCxnSpPr>
        <p:spPr>
          <a:xfrm>
            <a:off x="5364734"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7" name="Connecteur droit 56">
            <a:extLst>
              <a:ext uri="{FF2B5EF4-FFF2-40B4-BE49-F238E27FC236}">
                <a16:creationId xmlns:a16="http://schemas.microsoft.com/office/drawing/2014/main" id="{6662307B-57E2-7C0C-06A6-AFC807B1390C}"/>
              </a:ext>
            </a:extLst>
          </p:cNvPr>
          <p:cNvCxnSpPr>
            <a:stCxn id="43" idx="6"/>
            <a:endCxn id="45" idx="2"/>
          </p:cNvCxnSpPr>
          <p:nvPr/>
        </p:nvCxnSpPr>
        <p:spPr>
          <a:xfrm>
            <a:off x="7206520"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9" name="Connecteur droit 58">
            <a:extLst>
              <a:ext uri="{FF2B5EF4-FFF2-40B4-BE49-F238E27FC236}">
                <a16:creationId xmlns:a16="http://schemas.microsoft.com/office/drawing/2014/main" id="{D1DBC9D8-6037-67F9-7370-3C0B20137691}"/>
              </a:ext>
            </a:extLst>
          </p:cNvPr>
          <p:cNvCxnSpPr>
            <a:stCxn id="45" idx="6"/>
            <a:endCxn id="47" idx="2"/>
          </p:cNvCxnSpPr>
          <p:nvPr/>
        </p:nvCxnSpPr>
        <p:spPr>
          <a:xfrm flipV="1">
            <a:off x="9048306" y="331905"/>
            <a:ext cx="159572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Connecteur droit 61">
            <a:extLst>
              <a:ext uri="{FF2B5EF4-FFF2-40B4-BE49-F238E27FC236}">
                <a16:creationId xmlns:a16="http://schemas.microsoft.com/office/drawing/2014/main" id="{977215CE-ACB7-F524-DB02-215AFDB8D660}"/>
              </a:ext>
            </a:extLst>
          </p:cNvPr>
          <p:cNvCxnSpPr>
            <a:stCxn id="47" idx="6"/>
          </p:cNvCxnSpPr>
          <p:nvPr/>
        </p:nvCxnSpPr>
        <p:spPr>
          <a:xfrm>
            <a:off x="10890090" y="331905"/>
            <a:ext cx="130191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637E64C0-A50E-D7BB-C6AA-126847CBCEDD}"/>
              </a:ext>
            </a:extLst>
          </p:cNvPr>
          <p:cNvSpPr txBox="1"/>
          <p:nvPr/>
        </p:nvSpPr>
        <p:spPr>
          <a:xfrm>
            <a:off x="624823" y="479710"/>
            <a:ext cx="1965977" cy="600164"/>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a:t>
            </a:r>
            <a:r>
              <a:rPr lang="fr-FR" sz="1100" b="1" dirty="0">
                <a:latin typeface="Montserrat"/>
              </a:rPr>
              <a:t> </a:t>
            </a:r>
            <a:r>
              <a:rPr lang="fr-FR" sz="1100" b="1" dirty="0">
                <a:latin typeface="Montserrat"/>
                <a:cs typeface="Montserrat"/>
              </a:rPr>
              <a:t>STRUCTURE D’ACCUEIL</a:t>
            </a:r>
          </a:p>
        </p:txBody>
      </p:sp>
      <p:sp>
        <p:nvSpPr>
          <p:cNvPr id="8" name="ZoneTexte 7">
            <a:extLst>
              <a:ext uri="{FF2B5EF4-FFF2-40B4-BE49-F238E27FC236}">
                <a16:creationId xmlns:a16="http://schemas.microsoft.com/office/drawing/2014/main" id="{9F7141B5-AFF7-47D5-704A-56FC1E782713}"/>
              </a:ext>
            </a:extLst>
          </p:cNvPr>
          <p:cNvSpPr txBox="1"/>
          <p:nvPr/>
        </p:nvSpPr>
        <p:spPr>
          <a:xfrm>
            <a:off x="2643588" y="417161"/>
            <a:ext cx="1481708" cy="430887"/>
          </a:xfrm>
          <a:prstGeom prst="rect">
            <a:avLst/>
          </a:prstGeom>
          <a:noFill/>
        </p:spPr>
        <p:txBody>
          <a:bodyPr wrap="square" rtlCol="0">
            <a:spAutoFit/>
          </a:bodyPr>
          <a:lstStyle/>
          <a:p>
            <a:r>
              <a:rPr lang="fr-FR" sz="1100" b="1" dirty="0">
                <a:latin typeface="Montserrat"/>
                <a:cs typeface="Montserrat"/>
              </a:rPr>
              <a:t>CONTEXTE ET </a:t>
            </a:r>
          </a:p>
          <a:p>
            <a:r>
              <a:rPr lang="fr-FR" sz="1100" b="1" dirty="0">
                <a:latin typeface="Montserrat"/>
                <a:cs typeface="Montserrat"/>
              </a:rPr>
              <a:t>PROBLÉMATIQUE</a:t>
            </a:r>
          </a:p>
        </p:txBody>
      </p:sp>
      <p:sp>
        <p:nvSpPr>
          <p:cNvPr id="10" name="ZoneTexte 9">
            <a:extLst>
              <a:ext uri="{FF2B5EF4-FFF2-40B4-BE49-F238E27FC236}">
                <a16:creationId xmlns:a16="http://schemas.microsoft.com/office/drawing/2014/main" id="{978569B0-E812-8EE4-7BCE-FB7116F2858B}"/>
              </a:ext>
            </a:extLst>
          </p:cNvPr>
          <p:cNvSpPr txBox="1"/>
          <p:nvPr/>
        </p:nvSpPr>
        <p:spPr>
          <a:xfrm>
            <a:off x="4178084" y="501799"/>
            <a:ext cx="1921727" cy="261610"/>
          </a:xfrm>
          <a:prstGeom prst="rect">
            <a:avLst/>
          </a:prstGeom>
          <a:noFill/>
        </p:spPr>
        <p:txBody>
          <a:bodyPr wrap="square" rtlCol="0">
            <a:spAutoFit/>
          </a:bodyPr>
          <a:lstStyle/>
          <a:p>
            <a:r>
              <a:rPr lang="fr-FR" sz="1100" b="1" dirty="0">
                <a:latin typeface="Montserrat"/>
                <a:cs typeface="Montserrat"/>
              </a:rPr>
              <a:t>ÉTUDE CONCEPTUELLE</a:t>
            </a:r>
          </a:p>
        </p:txBody>
      </p:sp>
      <p:sp>
        <p:nvSpPr>
          <p:cNvPr id="13" name="ZoneTexte 12">
            <a:extLst>
              <a:ext uri="{FF2B5EF4-FFF2-40B4-BE49-F238E27FC236}">
                <a16:creationId xmlns:a16="http://schemas.microsoft.com/office/drawing/2014/main" id="{F59C1729-095D-560C-717C-B2DB6970A312}"/>
              </a:ext>
            </a:extLst>
          </p:cNvPr>
          <p:cNvSpPr txBox="1"/>
          <p:nvPr/>
        </p:nvSpPr>
        <p:spPr>
          <a:xfrm>
            <a:off x="6152599" y="425597"/>
            <a:ext cx="1595723" cy="430887"/>
          </a:xfrm>
          <a:prstGeom prst="rect">
            <a:avLst/>
          </a:prstGeom>
          <a:noFill/>
        </p:spPr>
        <p:txBody>
          <a:bodyPr wrap="square" rtlCol="0">
            <a:spAutoFit/>
          </a:bodyPr>
          <a:lstStyle/>
          <a:p>
            <a:r>
              <a:rPr lang="fr-FR" sz="1100" b="1" dirty="0">
                <a:solidFill>
                  <a:srgbClr val="F96A09"/>
                </a:solidFill>
                <a:latin typeface="Montserrat"/>
                <a:cs typeface="Montserrat"/>
              </a:rPr>
              <a:t>PRÉSENTATION DE </a:t>
            </a:r>
          </a:p>
          <a:p>
            <a:r>
              <a:rPr lang="fr-FR" sz="1100" b="1" dirty="0">
                <a:solidFill>
                  <a:srgbClr val="F96A09"/>
                </a:solidFill>
                <a:latin typeface="Montserrat"/>
                <a:cs typeface="Montserrat"/>
              </a:rPr>
              <a:t>LA SOLUTION</a:t>
            </a:r>
          </a:p>
        </p:txBody>
      </p:sp>
      <p:sp>
        <p:nvSpPr>
          <p:cNvPr id="15" name="ZoneTexte 14">
            <a:extLst>
              <a:ext uri="{FF2B5EF4-FFF2-40B4-BE49-F238E27FC236}">
                <a16:creationId xmlns:a16="http://schemas.microsoft.com/office/drawing/2014/main" id="{E3B9DCD5-6124-7640-EA47-6AFB3ED13A8E}"/>
              </a:ext>
            </a:extLst>
          </p:cNvPr>
          <p:cNvSpPr txBox="1"/>
          <p:nvPr/>
        </p:nvSpPr>
        <p:spPr>
          <a:xfrm>
            <a:off x="7801110" y="458786"/>
            <a:ext cx="1860500" cy="430887"/>
          </a:xfrm>
          <a:prstGeom prst="rect">
            <a:avLst/>
          </a:prstGeom>
          <a:noFill/>
        </p:spPr>
        <p:txBody>
          <a:bodyPr wrap="square" rtlCol="0">
            <a:spAutoFit/>
          </a:bodyPr>
          <a:lstStyle/>
          <a:p>
            <a:r>
              <a:rPr lang="fr-FR" sz="1100" b="1" dirty="0">
                <a:latin typeface="Montserrat"/>
                <a:cs typeface="Montserrat"/>
              </a:rPr>
              <a:t>RÉSULTATS ET VALIDATION</a:t>
            </a:r>
          </a:p>
        </p:txBody>
      </p:sp>
      <p:sp>
        <p:nvSpPr>
          <p:cNvPr id="17" name="ZoneTexte 16">
            <a:extLst>
              <a:ext uri="{FF2B5EF4-FFF2-40B4-BE49-F238E27FC236}">
                <a16:creationId xmlns:a16="http://schemas.microsoft.com/office/drawing/2014/main" id="{D284DB53-38F0-23CC-7780-4AE474C1C4A6}"/>
              </a:ext>
            </a:extLst>
          </p:cNvPr>
          <p:cNvSpPr txBox="1"/>
          <p:nvPr/>
        </p:nvSpPr>
        <p:spPr>
          <a:xfrm>
            <a:off x="9716922" y="479710"/>
            <a:ext cx="2346335" cy="261610"/>
          </a:xfrm>
          <a:prstGeom prst="rect">
            <a:avLst/>
          </a:prstGeom>
          <a:noFill/>
        </p:spPr>
        <p:txBody>
          <a:bodyPr wrap="square" rtlCol="0">
            <a:spAutoFit/>
          </a:bodyPr>
          <a:lstStyle/>
          <a:p>
            <a:r>
              <a:rPr lang="fr-FR" sz="1100" b="1" dirty="0">
                <a:latin typeface="Montserrat"/>
                <a:cs typeface="Montserrat"/>
              </a:rPr>
              <a:t>LIMITES ET PERSPECTIVES</a:t>
            </a:r>
          </a:p>
        </p:txBody>
      </p:sp>
      <p:sp>
        <p:nvSpPr>
          <p:cNvPr id="9" name="CostTitle">
            <a:extLst>
              <a:ext uri="{FF2B5EF4-FFF2-40B4-BE49-F238E27FC236}">
                <a16:creationId xmlns:a16="http://schemas.microsoft.com/office/drawing/2014/main" id="{A9AE1223-4093-443E-9FAA-5B182F0496CE}"/>
              </a:ext>
            </a:extLst>
          </p:cNvPr>
          <p:cNvSpPr txBox="1"/>
          <p:nvPr/>
        </p:nvSpPr>
        <p:spPr>
          <a:xfrm>
            <a:off x="905256" y="1188720"/>
            <a:ext cx="7315200" cy="402336"/>
          </a:xfrm>
          <a:prstGeom prst="rect">
            <a:avLst/>
          </a:prstGeom>
          <a:noFill/>
        </p:spPr>
        <p:txBody>
          <a:bodyPr vertOverflow="overflow" vert="horz" wrap="square" lIns="0" tIns="0" rIns="0" bIns="0" rtlCol="0" anchor="ctr">
            <a:spAutoFit/>
          </a:bodyPr>
          <a:lstStyle/>
          <a:p>
            <a:pPr algn="l">
              <a:lnSpc>
                <a:spcPct val="100000"/>
              </a:lnSpc>
              <a:spcBef>
                <a:spcPts val="0"/>
              </a:spcBef>
              <a:buNone/>
            </a:pPr>
            <a:r>
              <a:rPr lang="fr-FR" sz="2200" b="1" spc="100" dirty="0">
                <a:solidFill>
                  <a:srgbClr val="1F1B18"/>
                </a:solidFill>
                <a:latin typeface="Montserrat"/>
              </a:rPr>
              <a:t>SÉCURITÉ ET CONFORMITÉ</a:t>
            </a:r>
          </a:p>
        </p:txBody>
      </p:sp>
      <p:sp>
        <p:nvSpPr>
          <p:cNvPr id="12" name="Rectangle 11">
            <a:extLst>
              <a:ext uri="{FF2B5EF4-FFF2-40B4-BE49-F238E27FC236}">
                <a16:creationId xmlns:a16="http://schemas.microsoft.com/office/drawing/2014/main" id="{68D5D90F-D2E0-AEF0-8B43-EB262BE76BCC}"/>
              </a:ext>
            </a:extLst>
          </p:cNvPr>
          <p:cNvSpPr>
            <a:spLocks/>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1" name="ConfPanel"/>
          <p:cNvSpPr/>
          <p:nvPr/>
        </p:nvSpPr>
        <p:spPr>
          <a:xfrm>
            <a:off x="905256" y="1810512"/>
            <a:ext cx="3794760" cy="4544568"/>
          </a:xfrm>
          <a:prstGeom prst="roundRect">
            <a:avLst>
              <a:gd name="adj" fmla="val 5000"/>
            </a:avLst>
          </a:prstGeom>
          <a:solidFill>
            <a:srgbClr val="16294A"/>
          </a:solidFill>
          <a:ln>
            <a:noFill/>
          </a:ln>
        </p:spPr>
        <p:txBody>
          <a:bodyPr/>
          <a:lstStyle/>
          <a:p>
            <a:endParaRPr lang="fr-FR"/>
          </a:p>
        </p:txBody>
      </p:sp>
      <p:sp>
        <p:nvSpPr>
          <p:cNvPr id="2002" name="ConfEyebrow"/>
          <p:cNvSpPr txBox="1"/>
          <p:nvPr/>
        </p:nvSpPr>
        <p:spPr>
          <a:xfrm>
            <a:off x="1252728" y="2084832"/>
            <a:ext cx="3200400"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050" b="1" spc="200" dirty="0">
                <a:solidFill>
                  <a:srgbClr val="F96A09"/>
                </a:solidFill>
                <a:latin typeface="Montserrat"/>
                <a:cs typeface="Montserrat"/>
              </a:rPr>
              <a:t>CONFORMITÉ</a:t>
            </a:r>
          </a:p>
        </p:txBody>
      </p:sp>
      <p:sp>
        <p:nvSpPr>
          <p:cNvPr id="2003" name="ConfIcon1"/>
          <p:cNvSpPr/>
          <p:nvPr/>
        </p:nvSpPr>
        <p:spPr>
          <a:xfrm>
            <a:off x="1252728" y="2542032"/>
            <a:ext cx="603504" cy="603504"/>
          </a:xfrm>
          <a:prstGeom prst="ellipse">
            <a:avLst/>
          </a:prstGeom>
          <a:solidFill>
            <a:srgbClr val="FFFFFF"/>
          </a:solidFill>
          <a:ln>
            <a:noFill/>
          </a:ln>
        </p:spPr>
        <p:txBody>
          <a:bodyPr/>
          <a:lstStyle/>
          <a:p>
            <a:endParaRPr lang="fr-FR"/>
          </a:p>
        </p:txBody>
      </p:sp>
      <p:pic>
        <p:nvPicPr>
          <p:cNvPr id="508" name="Graphic 508" descr="Loi"/>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80744" y="2670048"/>
            <a:ext cx="347472" cy="347472"/>
          </a:xfrm>
          <a:prstGeom prst="rect">
            <a:avLst/>
          </a:prstGeom>
        </p:spPr>
      </p:pic>
      <p:sp>
        <p:nvSpPr>
          <p:cNvPr id="2004" name="LawTitle"/>
          <p:cNvSpPr txBox="1"/>
          <p:nvPr/>
        </p:nvSpPr>
        <p:spPr>
          <a:xfrm>
            <a:off x="1252728" y="3291840"/>
            <a:ext cx="3200400" cy="384048"/>
          </a:xfrm>
          <a:prstGeom prst="rect">
            <a:avLst/>
          </a:prstGeom>
          <a:noFill/>
          <a:ln>
            <a:noFill/>
          </a:ln>
        </p:spPr>
        <p:txBody>
          <a:bodyPr wrap="square" lIns="0" tIns="0" rIns="0" bIns="0" rtlCol="0" anchor="t">
            <a:noAutofit/>
          </a:bodyPr>
          <a:lstStyle/>
          <a:p>
            <a:pPr algn="l">
              <a:spcBef>
                <a:spcPts val="0"/>
              </a:spcBef>
              <a:spcAft>
                <a:spcPts val="0"/>
              </a:spcAft>
              <a:buNone/>
            </a:pPr>
            <a:r>
              <a:rPr lang="fr-FR" sz="2000" b="1" dirty="0">
                <a:solidFill>
                  <a:srgbClr val="FFFFFF"/>
                </a:solidFill>
                <a:latin typeface="Montserrat"/>
                <a:cs typeface="Montserrat"/>
              </a:rPr>
              <a:t>Loi n° 2013-450</a:t>
            </a:r>
          </a:p>
        </p:txBody>
      </p:sp>
      <p:sp>
        <p:nvSpPr>
          <p:cNvPr id="2005" name="LawDesc"/>
          <p:cNvSpPr txBox="1"/>
          <p:nvPr/>
        </p:nvSpPr>
        <p:spPr>
          <a:xfrm>
            <a:off x="1252728" y="3694176"/>
            <a:ext cx="3200400" cy="502920"/>
          </a:xfrm>
          <a:prstGeom prst="rect">
            <a:avLst/>
          </a:prstGeom>
          <a:noFill/>
          <a:ln>
            <a:noFill/>
          </a:ln>
        </p:spPr>
        <p:txBody>
          <a:bodyPr wrap="square" lIns="0" tIns="0" rIns="0" bIns="0" rtlCol="0" anchor="t">
            <a:noAutofit/>
          </a:bodyPr>
          <a:lstStyle/>
          <a:p>
            <a:pPr algn="l">
              <a:lnSpc>
                <a:spcPct val="110000"/>
              </a:lnSpc>
              <a:spcBef>
                <a:spcPts val="0"/>
              </a:spcBef>
              <a:spcAft>
                <a:spcPts val="0"/>
              </a:spcAft>
              <a:buNone/>
            </a:pPr>
            <a:r>
              <a:rPr lang="fr-FR" sz="1150" dirty="0">
                <a:solidFill>
                  <a:srgbClr val="C9D2E0"/>
                </a:solidFill>
                <a:latin typeface="Montserrat"/>
                <a:cs typeface="Montserrat"/>
              </a:rPr>
              <a:t>relative à la protection des données à caractère personnel</a:t>
            </a:r>
          </a:p>
        </p:txBody>
      </p:sp>
      <p:sp>
        <p:nvSpPr>
          <p:cNvPr id="2006" name="ConfDivider"/>
          <p:cNvSpPr/>
          <p:nvPr/>
        </p:nvSpPr>
        <p:spPr>
          <a:xfrm>
            <a:off x="1252728" y="4416552"/>
            <a:ext cx="3108960" cy="0"/>
          </a:xfrm>
          <a:prstGeom prst="line">
            <a:avLst/>
          </a:prstGeom>
          <a:noFill/>
          <a:ln w="12700">
            <a:solidFill>
              <a:srgbClr val="2E4468"/>
            </a:solidFill>
          </a:ln>
        </p:spPr>
        <p:txBody>
          <a:bodyPr/>
          <a:lstStyle/>
          <a:p>
            <a:endParaRPr lang="fr-FR"/>
          </a:p>
        </p:txBody>
      </p:sp>
      <p:sp>
        <p:nvSpPr>
          <p:cNvPr id="2007" name="ConfIcon2"/>
          <p:cNvSpPr/>
          <p:nvPr/>
        </p:nvSpPr>
        <p:spPr>
          <a:xfrm>
            <a:off x="1252728" y="4617720"/>
            <a:ext cx="603504" cy="603504"/>
          </a:xfrm>
          <a:prstGeom prst="ellipse">
            <a:avLst/>
          </a:prstGeom>
          <a:solidFill>
            <a:srgbClr val="FFFFFF"/>
          </a:solidFill>
          <a:ln>
            <a:noFill/>
          </a:ln>
        </p:spPr>
        <p:txBody>
          <a:bodyPr/>
          <a:lstStyle/>
          <a:p>
            <a:endParaRPr lang="fr-FR"/>
          </a:p>
        </p:txBody>
      </p:sp>
      <p:pic>
        <p:nvPicPr>
          <p:cNvPr id="509" name="Graphic 509" descr="Sécurité"/>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9032" y="4754880"/>
            <a:ext cx="310896" cy="329184"/>
          </a:xfrm>
          <a:prstGeom prst="rect">
            <a:avLst/>
          </a:prstGeom>
        </p:spPr>
      </p:pic>
      <p:sp>
        <p:nvSpPr>
          <p:cNvPr id="2008" name="NlpTitle"/>
          <p:cNvSpPr txBox="1"/>
          <p:nvPr/>
        </p:nvSpPr>
        <p:spPr>
          <a:xfrm>
            <a:off x="1252728" y="5340096"/>
            <a:ext cx="3200400" cy="329184"/>
          </a:xfrm>
          <a:prstGeom prst="rect">
            <a:avLst/>
          </a:prstGeom>
          <a:noFill/>
          <a:ln>
            <a:noFill/>
          </a:ln>
        </p:spPr>
        <p:txBody>
          <a:bodyPr wrap="square" lIns="0" tIns="0" rIns="0" bIns="0" rtlCol="0" anchor="t">
            <a:noAutofit/>
          </a:bodyPr>
          <a:lstStyle/>
          <a:p>
            <a:pPr algn="l">
              <a:spcBef>
                <a:spcPts val="0"/>
              </a:spcBef>
              <a:spcAft>
                <a:spcPts val="0"/>
              </a:spcAft>
              <a:buNone/>
            </a:pPr>
            <a:r>
              <a:rPr lang="fr-FR" sz="1500" b="1" dirty="0">
                <a:solidFill>
                  <a:srgbClr val="FFFFFF"/>
                </a:solidFill>
                <a:latin typeface="Montserrat"/>
                <a:cs typeface="Montserrat"/>
              </a:rPr>
              <a:t>Approche NLP déterministe</a:t>
            </a:r>
          </a:p>
        </p:txBody>
      </p:sp>
      <p:sp>
        <p:nvSpPr>
          <p:cNvPr id="2009" name="NlpDesc"/>
          <p:cNvSpPr txBox="1"/>
          <p:nvPr/>
        </p:nvSpPr>
        <p:spPr>
          <a:xfrm>
            <a:off x="1252728" y="5669280"/>
            <a:ext cx="3246120" cy="566928"/>
          </a:xfrm>
          <a:prstGeom prst="rect">
            <a:avLst/>
          </a:prstGeom>
          <a:noFill/>
          <a:ln>
            <a:noFill/>
          </a:ln>
        </p:spPr>
        <p:txBody>
          <a:bodyPr wrap="square" lIns="0" tIns="0" rIns="0" bIns="0" rtlCol="0" anchor="t">
            <a:noAutofit/>
          </a:bodyPr>
          <a:lstStyle/>
          <a:p>
            <a:pPr algn="l">
              <a:lnSpc>
                <a:spcPct val="110000"/>
              </a:lnSpc>
              <a:spcBef>
                <a:spcPts val="0"/>
              </a:spcBef>
              <a:spcAft>
                <a:spcPts val="0"/>
              </a:spcAft>
              <a:buNone/>
            </a:pPr>
            <a:r>
              <a:rPr lang="fr-FR" sz="1100" dirty="0">
                <a:solidFill>
                  <a:srgbClr val="C9D2E0"/>
                </a:solidFill>
                <a:latin typeface="Montserrat"/>
                <a:cs typeface="Montserrat"/>
              </a:rPr>
              <a:t>Pas de LLM génératif : aucune exposition aux attaques par prompt injection.</a:t>
            </a:r>
          </a:p>
        </p:txBody>
      </p:sp>
      <p:sp>
        <p:nvSpPr>
          <p:cNvPr id="2010" name="DepthEyebrow"/>
          <p:cNvSpPr txBox="1"/>
          <p:nvPr/>
        </p:nvSpPr>
        <p:spPr>
          <a:xfrm>
            <a:off x="4983480" y="1810512"/>
            <a:ext cx="6309360"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050" b="1" spc="200" dirty="0">
                <a:solidFill>
                  <a:srgbClr val="16294A"/>
                </a:solidFill>
                <a:latin typeface="Montserrat"/>
                <a:cs typeface="Montserrat"/>
              </a:rPr>
              <a:t>DÉFENSE EN PROFONDEUR</a:t>
            </a:r>
            <a:r>
              <a:rPr lang="fr-FR" sz="1050" dirty="0">
                <a:solidFill>
                  <a:srgbClr val="6B6560"/>
                </a:solidFill>
                <a:latin typeface="Montserrat"/>
                <a:cs typeface="Montserrat"/>
              </a:rPr>
              <a:t>   ·   du client aux microservices</a:t>
            </a:r>
          </a:p>
        </p:txBody>
      </p:sp>
      <p:sp>
        <p:nvSpPr>
          <p:cNvPr id="2011" name="DepthTrack"/>
          <p:cNvSpPr/>
          <p:nvPr/>
        </p:nvSpPr>
        <p:spPr>
          <a:xfrm>
            <a:off x="5148072" y="2395728"/>
            <a:ext cx="0" cy="3584448"/>
          </a:xfrm>
          <a:prstGeom prst="line">
            <a:avLst/>
          </a:prstGeom>
          <a:noFill/>
          <a:ln w="19050">
            <a:solidFill>
              <a:srgbClr val="E3D7CB"/>
            </a:solidFill>
            <a:tailEnd type="triangle" w="med" len="med"/>
          </a:ln>
        </p:spPr>
        <p:txBody>
          <a:bodyPr/>
          <a:lstStyle/>
          <a:p>
            <a:endParaRPr lang="fr-FR"/>
          </a:p>
        </p:txBody>
      </p:sp>
      <p:sp>
        <p:nvSpPr>
          <p:cNvPr id="2012" name="Layer0"/>
          <p:cNvSpPr/>
          <p:nvPr/>
        </p:nvSpPr>
        <p:spPr>
          <a:xfrm>
            <a:off x="5532120" y="2194560"/>
            <a:ext cx="5779008" cy="786384"/>
          </a:xfrm>
          <a:prstGeom prst="roundRect">
            <a:avLst>
              <a:gd name="adj" fmla="val 12000"/>
            </a:avLst>
          </a:prstGeom>
          <a:solidFill>
            <a:srgbClr val="EDF0F5"/>
          </a:solidFill>
          <a:ln>
            <a:noFill/>
          </a:ln>
          <a:effectLst>
            <a:outerShdw blurRad="101600" dist="25400" dir="5400000" algn="t" rotWithShape="0">
              <a:srgbClr val="16294A">
                <a:alpha val="16000"/>
              </a:srgbClr>
            </a:outerShdw>
          </a:effectLst>
        </p:spPr>
        <p:txBody>
          <a:bodyPr/>
          <a:lstStyle/>
          <a:p>
            <a:endParaRPr lang="fr-FR"/>
          </a:p>
        </p:txBody>
      </p:sp>
      <p:sp>
        <p:nvSpPr>
          <p:cNvPr id="2013" name="LayerNum0"/>
          <p:cNvSpPr/>
          <p:nvPr/>
        </p:nvSpPr>
        <p:spPr>
          <a:xfrm>
            <a:off x="4901184" y="2340864"/>
            <a:ext cx="493776" cy="493776"/>
          </a:xfrm>
          <a:prstGeom prst="ellipse">
            <a:avLst/>
          </a:prstGeom>
          <a:solidFill>
            <a:srgbClr val="F96A09"/>
          </a:solidFill>
          <a:ln w="28575">
            <a:solidFill>
              <a:srgbClr val="FFFFFF"/>
            </a:solidFill>
          </a:ln>
          <a:effectLst>
            <a:outerShdw blurRad="101600" dist="25400" dir="5400000" algn="t" rotWithShape="0">
              <a:srgbClr val="16294A">
                <a:alpha val="16000"/>
              </a:srgbClr>
            </a:outerShdw>
          </a:effectLst>
        </p:spPr>
        <p:txBody>
          <a:bodyPr wrap="square" lIns="0" tIns="0" rIns="0" bIns="0" rtlCol="0" anchor="ctr">
            <a:noAutofit/>
          </a:bodyPr>
          <a:lstStyle/>
          <a:p>
            <a:pPr algn="ctr">
              <a:spcBef>
                <a:spcPts val="0"/>
              </a:spcBef>
              <a:spcAft>
                <a:spcPts val="0"/>
              </a:spcAft>
              <a:buNone/>
            </a:pPr>
            <a:r>
              <a:rPr lang="fr-FR" sz="1800" b="1" dirty="0">
                <a:solidFill>
                  <a:srgbClr val="FFFFFF"/>
                </a:solidFill>
                <a:latin typeface="Montserrat"/>
                <a:cs typeface="Montserrat"/>
              </a:rPr>
              <a:t>1</a:t>
            </a:r>
          </a:p>
        </p:txBody>
      </p:sp>
      <p:sp>
        <p:nvSpPr>
          <p:cNvPr id="2014" name="LayerIconBg0"/>
          <p:cNvSpPr/>
          <p:nvPr/>
        </p:nvSpPr>
        <p:spPr>
          <a:xfrm>
            <a:off x="5715000" y="2331720"/>
            <a:ext cx="512064" cy="512064"/>
          </a:xfrm>
          <a:prstGeom prst="ellipse">
            <a:avLst/>
          </a:prstGeom>
          <a:solidFill>
            <a:srgbClr val="FFFFFF"/>
          </a:solidFill>
          <a:ln>
            <a:noFill/>
          </a:ln>
        </p:spPr>
        <p:txBody>
          <a:bodyPr/>
          <a:lstStyle/>
          <a:p>
            <a:endParaRPr lang="fr-FR"/>
          </a:p>
        </p:txBody>
      </p:sp>
      <p:pic>
        <p:nvPicPr>
          <p:cNvPr id="63" name="Graphic 63" descr="HTTPS"/>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24728" y="2441448"/>
            <a:ext cx="292608" cy="292608"/>
          </a:xfrm>
          <a:prstGeom prst="rect">
            <a:avLst/>
          </a:prstGeom>
        </p:spPr>
      </p:pic>
      <p:sp>
        <p:nvSpPr>
          <p:cNvPr id="2015" name="LayerTitle0"/>
          <p:cNvSpPr txBox="1"/>
          <p:nvPr/>
        </p:nvSpPr>
        <p:spPr>
          <a:xfrm>
            <a:off x="6400800" y="2304288"/>
            <a:ext cx="3566160" cy="292608"/>
          </a:xfrm>
          <a:prstGeom prst="rect">
            <a:avLst/>
          </a:prstGeom>
          <a:noFill/>
          <a:ln>
            <a:noFill/>
          </a:ln>
        </p:spPr>
        <p:txBody>
          <a:bodyPr wrap="square" lIns="0" tIns="0" rIns="0" bIns="0" rtlCol="0" anchor="t">
            <a:noAutofit/>
          </a:bodyPr>
          <a:lstStyle/>
          <a:p>
            <a:pPr algn="l">
              <a:spcBef>
                <a:spcPts val="0"/>
              </a:spcBef>
              <a:spcAft>
                <a:spcPts val="0"/>
              </a:spcAft>
              <a:buNone/>
            </a:pPr>
            <a:r>
              <a:rPr lang="fr-FR" sz="1400" b="1" dirty="0">
                <a:solidFill>
                  <a:srgbClr val="1F1B18"/>
                </a:solidFill>
                <a:latin typeface="Montserrat"/>
                <a:cs typeface="Montserrat"/>
              </a:rPr>
              <a:t>HTTPS</a:t>
            </a:r>
          </a:p>
        </p:txBody>
      </p:sp>
      <p:sp>
        <p:nvSpPr>
          <p:cNvPr id="2016" name="LayerDesc0"/>
          <p:cNvSpPr txBox="1"/>
          <p:nvPr/>
        </p:nvSpPr>
        <p:spPr>
          <a:xfrm>
            <a:off x="6400800" y="2615184"/>
            <a:ext cx="3840480"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050" dirty="0">
                <a:solidFill>
                  <a:srgbClr val="5A5550"/>
                </a:solidFill>
                <a:latin typeface="Montserrat"/>
                <a:cs typeface="Montserrat"/>
              </a:rPr>
              <a:t>Chiffrement des échanges client ↔ infrastructure</a:t>
            </a:r>
          </a:p>
        </p:txBody>
      </p:sp>
      <p:sp>
        <p:nvSpPr>
          <p:cNvPr id="2017" name="LayerZone0"/>
          <p:cNvSpPr/>
          <p:nvPr/>
        </p:nvSpPr>
        <p:spPr>
          <a:xfrm>
            <a:off x="10213848" y="2450592"/>
            <a:ext cx="914400" cy="274320"/>
          </a:xfrm>
          <a:prstGeom prst="roundRect">
            <a:avLst>
              <a:gd name="adj" fmla="val 50000"/>
            </a:avLst>
          </a:prstGeom>
          <a:solidFill>
            <a:srgbClr val="FFFFFF"/>
          </a:solidFill>
          <a:ln>
            <a:noFill/>
          </a:ln>
        </p:spPr>
        <p:txBody>
          <a:bodyPr wrap="square" lIns="0" tIns="0" rIns="0" bIns="0" rtlCol="0" anchor="ctr">
            <a:noAutofit/>
          </a:bodyPr>
          <a:lstStyle/>
          <a:p>
            <a:pPr algn="ctr">
              <a:spcBef>
                <a:spcPts val="0"/>
              </a:spcBef>
              <a:spcAft>
                <a:spcPts val="0"/>
              </a:spcAft>
              <a:buNone/>
            </a:pPr>
            <a:r>
              <a:rPr lang="fr-FR" sz="850" b="1" spc="100" dirty="0">
                <a:solidFill>
                  <a:srgbClr val="F96A09"/>
                </a:solidFill>
                <a:latin typeface="Montserrat"/>
                <a:cs typeface="Montserrat"/>
              </a:rPr>
              <a:t>EXTERNE</a:t>
            </a:r>
          </a:p>
        </p:txBody>
      </p:sp>
      <p:sp>
        <p:nvSpPr>
          <p:cNvPr id="2018" name="Layer1"/>
          <p:cNvSpPr/>
          <p:nvPr/>
        </p:nvSpPr>
        <p:spPr>
          <a:xfrm>
            <a:off x="5532120" y="3090672"/>
            <a:ext cx="5779008" cy="786384"/>
          </a:xfrm>
          <a:prstGeom prst="roundRect">
            <a:avLst>
              <a:gd name="adj" fmla="val 12000"/>
            </a:avLst>
          </a:prstGeom>
          <a:solidFill>
            <a:srgbClr val="EDF0F5"/>
          </a:solidFill>
          <a:ln>
            <a:noFill/>
          </a:ln>
          <a:effectLst>
            <a:outerShdw blurRad="101600" dist="25400" dir="5400000" algn="t" rotWithShape="0">
              <a:srgbClr val="16294A">
                <a:alpha val="16000"/>
              </a:srgbClr>
            </a:outerShdw>
          </a:effectLst>
        </p:spPr>
        <p:txBody>
          <a:bodyPr/>
          <a:lstStyle/>
          <a:p>
            <a:endParaRPr lang="fr-FR"/>
          </a:p>
        </p:txBody>
      </p:sp>
      <p:sp>
        <p:nvSpPr>
          <p:cNvPr id="2019" name="LayerNum1"/>
          <p:cNvSpPr/>
          <p:nvPr/>
        </p:nvSpPr>
        <p:spPr>
          <a:xfrm>
            <a:off x="4901184" y="3236976"/>
            <a:ext cx="493776" cy="493776"/>
          </a:xfrm>
          <a:prstGeom prst="ellipse">
            <a:avLst/>
          </a:prstGeom>
          <a:solidFill>
            <a:srgbClr val="F96A09"/>
          </a:solidFill>
          <a:ln w="28575">
            <a:solidFill>
              <a:srgbClr val="FFFFFF"/>
            </a:solidFill>
          </a:ln>
          <a:effectLst>
            <a:outerShdw blurRad="101600" dist="25400" dir="5400000" algn="t" rotWithShape="0">
              <a:srgbClr val="16294A">
                <a:alpha val="16000"/>
              </a:srgbClr>
            </a:outerShdw>
          </a:effectLst>
        </p:spPr>
        <p:txBody>
          <a:bodyPr wrap="square" lIns="0" tIns="0" rIns="0" bIns="0" rtlCol="0" anchor="ctr">
            <a:noAutofit/>
          </a:bodyPr>
          <a:lstStyle/>
          <a:p>
            <a:pPr algn="ctr">
              <a:spcBef>
                <a:spcPts val="0"/>
              </a:spcBef>
              <a:spcAft>
                <a:spcPts val="0"/>
              </a:spcAft>
              <a:buNone/>
            </a:pPr>
            <a:r>
              <a:rPr lang="fr-FR" sz="1800" b="1" dirty="0">
                <a:solidFill>
                  <a:srgbClr val="FFFFFF"/>
                </a:solidFill>
                <a:latin typeface="Montserrat"/>
                <a:cs typeface="Montserrat"/>
              </a:rPr>
              <a:t>2</a:t>
            </a:r>
          </a:p>
        </p:txBody>
      </p:sp>
      <p:sp>
        <p:nvSpPr>
          <p:cNvPr id="2020" name="LayerIconBg1"/>
          <p:cNvSpPr/>
          <p:nvPr/>
        </p:nvSpPr>
        <p:spPr>
          <a:xfrm>
            <a:off x="5715000" y="3227832"/>
            <a:ext cx="512064" cy="512064"/>
          </a:xfrm>
          <a:prstGeom prst="ellipse">
            <a:avLst/>
          </a:prstGeom>
          <a:solidFill>
            <a:srgbClr val="FFFFFF"/>
          </a:solidFill>
          <a:ln>
            <a:noFill/>
          </a:ln>
        </p:spPr>
        <p:txBody>
          <a:bodyPr/>
          <a:lstStyle/>
          <a:p>
            <a:endParaRPr lang="fr-FR"/>
          </a:p>
        </p:txBody>
      </p:sp>
      <p:pic>
        <p:nvPicPr>
          <p:cNvPr id="64" name="Graphic 64" descr="Cloudflare WAF"/>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24728" y="3337560"/>
            <a:ext cx="292608" cy="292608"/>
          </a:xfrm>
          <a:prstGeom prst="rect">
            <a:avLst/>
          </a:prstGeom>
        </p:spPr>
      </p:pic>
      <p:sp>
        <p:nvSpPr>
          <p:cNvPr id="2021" name="LayerTitle1"/>
          <p:cNvSpPr txBox="1"/>
          <p:nvPr/>
        </p:nvSpPr>
        <p:spPr>
          <a:xfrm>
            <a:off x="6400800" y="3200400"/>
            <a:ext cx="3566160" cy="292608"/>
          </a:xfrm>
          <a:prstGeom prst="rect">
            <a:avLst/>
          </a:prstGeom>
          <a:noFill/>
          <a:ln>
            <a:noFill/>
          </a:ln>
        </p:spPr>
        <p:txBody>
          <a:bodyPr wrap="square" lIns="0" tIns="0" rIns="0" bIns="0" rtlCol="0" anchor="t">
            <a:noAutofit/>
          </a:bodyPr>
          <a:lstStyle/>
          <a:p>
            <a:pPr algn="l">
              <a:spcBef>
                <a:spcPts val="0"/>
              </a:spcBef>
              <a:spcAft>
                <a:spcPts val="0"/>
              </a:spcAft>
              <a:buNone/>
            </a:pPr>
            <a:r>
              <a:rPr lang="fr-FR" sz="1400" b="1" dirty="0">
                <a:solidFill>
                  <a:srgbClr val="1F1B18"/>
                </a:solidFill>
                <a:latin typeface="Montserrat"/>
                <a:cs typeface="Montserrat"/>
              </a:rPr>
              <a:t>Cloudflare</a:t>
            </a:r>
          </a:p>
        </p:txBody>
      </p:sp>
      <p:sp>
        <p:nvSpPr>
          <p:cNvPr id="2022" name="LayerDesc1"/>
          <p:cNvSpPr txBox="1"/>
          <p:nvPr/>
        </p:nvSpPr>
        <p:spPr>
          <a:xfrm>
            <a:off x="6400800" y="3511296"/>
            <a:ext cx="3840480"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050" dirty="0">
                <a:solidFill>
                  <a:srgbClr val="5A5550"/>
                </a:solidFill>
                <a:latin typeface="Montserrat"/>
                <a:cs typeface="Montserrat"/>
              </a:rPr>
              <a:t>Couche d’entrée : pare-feu WAF, filtrage des requêtes</a:t>
            </a:r>
          </a:p>
        </p:txBody>
      </p:sp>
      <p:sp>
        <p:nvSpPr>
          <p:cNvPr id="2023" name="LayerZone1"/>
          <p:cNvSpPr/>
          <p:nvPr/>
        </p:nvSpPr>
        <p:spPr>
          <a:xfrm>
            <a:off x="10213848" y="3346704"/>
            <a:ext cx="914400" cy="274320"/>
          </a:xfrm>
          <a:prstGeom prst="roundRect">
            <a:avLst>
              <a:gd name="adj" fmla="val 50000"/>
            </a:avLst>
          </a:prstGeom>
          <a:solidFill>
            <a:srgbClr val="FFFFFF"/>
          </a:solidFill>
          <a:ln>
            <a:noFill/>
          </a:ln>
        </p:spPr>
        <p:txBody>
          <a:bodyPr wrap="square" lIns="0" tIns="0" rIns="0" bIns="0" rtlCol="0" anchor="ctr">
            <a:noAutofit/>
          </a:bodyPr>
          <a:lstStyle/>
          <a:p>
            <a:pPr algn="ctr">
              <a:spcBef>
                <a:spcPts val="0"/>
              </a:spcBef>
              <a:spcAft>
                <a:spcPts val="0"/>
              </a:spcAft>
              <a:buNone/>
            </a:pPr>
            <a:r>
              <a:rPr lang="fr-FR" sz="850" b="1" spc="100" dirty="0">
                <a:solidFill>
                  <a:srgbClr val="F96A09"/>
                </a:solidFill>
                <a:latin typeface="Montserrat"/>
                <a:cs typeface="Montserrat"/>
              </a:rPr>
              <a:t>EXTERNE</a:t>
            </a:r>
          </a:p>
        </p:txBody>
      </p:sp>
      <p:sp>
        <p:nvSpPr>
          <p:cNvPr id="2024" name="Layer2"/>
          <p:cNvSpPr/>
          <p:nvPr/>
        </p:nvSpPr>
        <p:spPr>
          <a:xfrm>
            <a:off x="5532120" y="3986784"/>
            <a:ext cx="5779008" cy="786384"/>
          </a:xfrm>
          <a:prstGeom prst="roundRect">
            <a:avLst>
              <a:gd name="adj" fmla="val 12000"/>
            </a:avLst>
          </a:prstGeom>
          <a:solidFill>
            <a:srgbClr val="EDF0F5"/>
          </a:solidFill>
          <a:ln>
            <a:noFill/>
          </a:ln>
          <a:effectLst>
            <a:outerShdw blurRad="101600" dist="25400" dir="5400000" algn="t" rotWithShape="0">
              <a:srgbClr val="16294A">
                <a:alpha val="16000"/>
              </a:srgbClr>
            </a:outerShdw>
          </a:effectLst>
        </p:spPr>
        <p:txBody>
          <a:bodyPr/>
          <a:lstStyle/>
          <a:p>
            <a:endParaRPr lang="fr-FR"/>
          </a:p>
        </p:txBody>
      </p:sp>
      <p:sp>
        <p:nvSpPr>
          <p:cNvPr id="2025" name="LayerNum2"/>
          <p:cNvSpPr/>
          <p:nvPr/>
        </p:nvSpPr>
        <p:spPr>
          <a:xfrm>
            <a:off x="4901184" y="4133088"/>
            <a:ext cx="493776" cy="493776"/>
          </a:xfrm>
          <a:prstGeom prst="ellipse">
            <a:avLst/>
          </a:prstGeom>
          <a:solidFill>
            <a:srgbClr val="F96A09"/>
          </a:solidFill>
          <a:ln w="28575">
            <a:solidFill>
              <a:srgbClr val="FFFFFF"/>
            </a:solidFill>
          </a:ln>
          <a:effectLst>
            <a:outerShdw blurRad="101600" dist="25400" dir="5400000" algn="t" rotWithShape="0">
              <a:srgbClr val="16294A">
                <a:alpha val="16000"/>
              </a:srgbClr>
            </a:outerShdw>
          </a:effectLst>
        </p:spPr>
        <p:txBody>
          <a:bodyPr wrap="square" lIns="0" tIns="0" rIns="0" bIns="0" rtlCol="0" anchor="ctr">
            <a:noAutofit/>
          </a:bodyPr>
          <a:lstStyle/>
          <a:p>
            <a:pPr algn="ctr">
              <a:spcBef>
                <a:spcPts val="0"/>
              </a:spcBef>
              <a:spcAft>
                <a:spcPts val="0"/>
              </a:spcAft>
              <a:buNone/>
            </a:pPr>
            <a:r>
              <a:rPr lang="fr-FR" sz="1800" b="1" dirty="0">
                <a:solidFill>
                  <a:srgbClr val="FFFFFF"/>
                </a:solidFill>
                <a:latin typeface="Montserrat"/>
                <a:cs typeface="Montserrat"/>
              </a:rPr>
              <a:t>3</a:t>
            </a:r>
          </a:p>
        </p:txBody>
      </p:sp>
      <p:sp>
        <p:nvSpPr>
          <p:cNvPr id="2026" name="LayerIconBg2"/>
          <p:cNvSpPr/>
          <p:nvPr/>
        </p:nvSpPr>
        <p:spPr>
          <a:xfrm>
            <a:off x="5715000" y="4123944"/>
            <a:ext cx="512064" cy="512064"/>
          </a:xfrm>
          <a:prstGeom prst="ellipse">
            <a:avLst/>
          </a:prstGeom>
          <a:solidFill>
            <a:srgbClr val="FFFFFF"/>
          </a:solidFill>
          <a:ln>
            <a:noFill/>
          </a:ln>
        </p:spPr>
        <p:txBody>
          <a:bodyPr/>
          <a:lstStyle/>
          <a:p>
            <a:endParaRPr lang="fr-FR"/>
          </a:p>
        </p:txBody>
      </p:sp>
      <p:pic>
        <p:nvPicPr>
          <p:cNvPr id="65" name="Graphic 65" descr="Kong API Gateway"/>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24728" y="4233672"/>
            <a:ext cx="292608" cy="292608"/>
          </a:xfrm>
          <a:prstGeom prst="rect">
            <a:avLst/>
          </a:prstGeom>
        </p:spPr>
      </p:pic>
      <p:sp>
        <p:nvSpPr>
          <p:cNvPr id="2027" name="LayerTitle2"/>
          <p:cNvSpPr txBox="1"/>
          <p:nvPr/>
        </p:nvSpPr>
        <p:spPr>
          <a:xfrm>
            <a:off x="6400800" y="4096512"/>
            <a:ext cx="3566160" cy="292608"/>
          </a:xfrm>
          <a:prstGeom prst="rect">
            <a:avLst/>
          </a:prstGeom>
          <a:noFill/>
          <a:ln>
            <a:noFill/>
          </a:ln>
        </p:spPr>
        <p:txBody>
          <a:bodyPr wrap="square" lIns="0" tIns="0" rIns="0" bIns="0" rtlCol="0" anchor="t">
            <a:noAutofit/>
          </a:bodyPr>
          <a:lstStyle/>
          <a:p>
            <a:pPr algn="l">
              <a:spcBef>
                <a:spcPts val="0"/>
              </a:spcBef>
              <a:spcAft>
                <a:spcPts val="0"/>
              </a:spcAft>
              <a:buNone/>
            </a:pPr>
            <a:r>
              <a:rPr lang="fr-FR" sz="1400" b="1" dirty="0">
                <a:solidFill>
                  <a:srgbClr val="1F1B18"/>
                </a:solidFill>
                <a:latin typeface="Montserrat"/>
                <a:cs typeface="Montserrat"/>
              </a:rPr>
              <a:t>Kong API Gateway</a:t>
            </a:r>
          </a:p>
        </p:txBody>
      </p:sp>
      <p:sp>
        <p:nvSpPr>
          <p:cNvPr id="2028" name="LayerDesc2"/>
          <p:cNvSpPr txBox="1"/>
          <p:nvPr/>
        </p:nvSpPr>
        <p:spPr>
          <a:xfrm>
            <a:off x="6400800" y="4407408"/>
            <a:ext cx="3840480"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050" dirty="0">
                <a:solidFill>
                  <a:srgbClr val="5A5550"/>
                </a:solidFill>
                <a:latin typeface="Montserrat"/>
                <a:cs typeface="Montserrat"/>
              </a:rPr>
              <a:t>Routage vers le microservice et authentification</a:t>
            </a:r>
          </a:p>
        </p:txBody>
      </p:sp>
      <p:sp>
        <p:nvSpPr>
          <p:cNvPr id="2029" name="LayerZone2"/>
          <p:cNvSpPr/>
          <p:nvPr/>
        </p:nvSpPr>
        <p:spPr>
          <a:xfrm>
            <a:off x="10213848" y="4242816"/>
            <a:ext cx="914400" cy="274320"/>
          </a:xfrm>
          <a:prstGeom prst="roundRect">
            <a:avLst>
              <a:gd name="adj" fmla="val 50000"/>
            </a:avLst>
          </a:prstGeom>
          <a:solidFill>
            <a:srgbClr val="FFFFFF"/>
          </a:solidFill>
          <a:ln>
            <a:noFill/>
          </a:ln>
        </p:spPr>
        <p:txBody>
          <a:bodyPr wrap="square" lIns="0" tIns="0" rIns="0" bIns="0" rtlCol="0" anchor="ctr">
            <a:noAutofit/>
          </a:bodyPr>
          <a:lstStyle/>
          <a:p>
            <a:pPr algn="ctr">
              <a:spcBef>
                <a:spcPts val="0"/>
              </a:spcBef>
              <a:spcAft>
                <a:spcPts val="0"/>
              </a:spcAft>
              <a:buNone/>
            </a:pPr>
            <a:r>
              <a:rPr lang="fr-FR" sz="850" b="1" spc="100" dirty="0">
                <a:solidFill>
                  <a:srgbClr val="F96A09"/>
                </a:solidFill>
                <a:latin typeface="Montserrat"/>
                <a:cs typeface="Montserrat"/>
              </a:rPr>
              <a:t>EXTERNE</a:t>
            </a:r>
          </a:p>
        </p:txBody>
      </p:sp>
      <p:sp>
        <p:nvSpPr>
          <p:cNvPr id="2030" name="Layer3"/>
          <p:cNvSpPr/>
          <p:nvPr/>
        </p:nvSpPr>
        <p:spPr>
          <a:xfrm>
            <a:off x="5532120" y="5157216"/>
            <a:ext cx="5779008" cy="786384"/>
          </a:xfrm>
          <a:prstGeom prst="roundRect">
            <a:avLst>
              <a:gd name="adj" fmla="val 12000"/>
            </a:avLst>
          </a:prstGeom>
          <a:solidFill>
            <a:srgbClr val="16294A"/>
          </a:solidFill>
          <a:ln>
            <a:noFill/>
          </a:ln>
          <a:effectLst>
            <a:outerShdw blurRad="101600" dist="25400" dir="5400000" algn="t" rotWithShape="0">
              <a:srgbClr val="16294A">
                <a:alpha val="16000"/>
              </a:srgbClr>
            </a:outerShdw>
          </a:effectLst>
        </p:spPr>
        <p:txBody>
          <a:bodyPr/>
          <a:lstStyle/>
          <a:p>
            <a:endParaRPr lang="fr-FR"/>
          </a:p>
        </p:txBody>
      </p:sp>
      <p:sp>
        <p:nvSpPr>
          <p:cNvPr id="2031" name="LayerNum3"/>
          <p:cNvSpPr/>
          <p:nvPr/>
        </p:nvSpPr>
        <p:spPr>
          <a:xfrm>
            <a:off x="4901184" y="5303520"/>
            <a:ext cx="493776" cy="493776"/>
          </a:xfrm>
          <a:prstGeom prst="ellipse">
            <a:avLst/>
          </a:prstGeom>
          <a:solidFill>
            <a:srgbClr val="16294A"/>
          </a:solidFill>
          <a:ln w="28575">
            <a:solidFill>
              <a:srgbClr val="FFFFFF"/>
            </a:solidFill>
          </a:ln>
          <a:effectLst>
            <a:outerShdw blurRad="101600" dist="25400" dir="5400000" algn="t" rotWithShape="0">
              <a:srgbClr val="16294A">
                <a:alpha val="16000"/>
              </a:srgbClr>
            </a:outerShdw>
          </a:effectLst>
        </p:spPr>
        <p:txBody>
          <a:bodyPr wrap="square" lIns="0" tIns="0" rIns="0" bIns="0" rtlCol="0" anchor="ctr">
            <a:noAutofit/>
          </a:bodyPr>
          <a:lstStyle/>
          <a:p>
            <a:pPr algn="ctr">
              <a:spcBef>
                <a:spcPts val="0"/>
              </a:spcBef>
              <a:spcAft>
                <a:spcPts val="0"/>
              </a:spcAft>
              <a:buNone/>
            </a:pPr>
            <a:r>
              <a:rPr lang="fr-FR" sz="1800" b="1" dirty="0">
                <a:solidFill>
                  <a:srgbClr val="FFFFFF"/>
                </a:solidFill>
                <a:latin typeface="Montserrat"/>
                <a:cs typeface="Montserrat"/>
              </a:rPr>
              <a:t>4</a:t>
            </a:r>
          </a:p>
        </p:txBody>
      </p:sp>
      <p:sp>
        <p:nvSpPr>
          <p:cNvPr id="2032" name="LayerIconBg3"/>
          <p:cNvSpPr/>
          <p:nvPr/>
        </p:nvSpPr>
        <p:spPr>
          <a:xfrm>
            <a:off x="5715000" y="5294376"/>
            <a:ext cx="512064" cy="512064"/>
          </a:xfrm>
          <a:prstGeom prst="ellipse">
            <a:avLst/>
          </a:prstGeom>
          <a:solidFill>
            <a:srgbClr val="FFFFFF"/>
          </a:solidFill>
          <a:ln>
            <a:noFill/>
          </a:ln>
        </p:spPr>
        <p:txBody>
          <a:bodyPr/>
          <a:lstStyle/>
          <a:p>
            <a:endParaRPr lang="fr-FR"/>
          </a:p>
        </p:txBody>
      </p:sp>
      <p:pic>
        <p:nvPicPr>
          <p:cNvPr id="66" name="Graphic 66" descr="Communications internes"/>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24728" y="5404104"/>
            <a:ext cx="292608" cy="292608"/>
          </a:xfrm>
          <a:prstGeom prst="rect">
            <a:avLst/>
          </a:prstGeom>
        </p:spPr>
      </p:pic>
      <p:sp>
        <p:nvSpPr>
          <p:cNvPr id="2033" name="LayerTitle3"/>
          <p:cNvSpPr txBox="1"/>
          <p:nvPr/>
        </p:nvSpPr>
        <p:spPr>
          <a:xfrm>
            <a:off x="6400800" y="5266944"/>
            <a:ext cx="3566160" cy="292608"/>
          </a:xfrm>
          <a:prstGeom prst="rect">
            <a:avLst/>
          </a:prstGeom>
          <a:noFill/>
          <a:ln>
            <a:noFill/>
          </a:ln>
        </p:spPr>
        <p:txBody>
          <a:bodyPr wrap="square" lIns="0" tIns="0" rIns="0" bIns="0" rtlCol="0" anchor="t">
            <a:noAutofit/>
          </a:bodyPr>
          <a:lstStyle/>
          <a:p>
            <a:pPr algn="l">
              <a:spcBef>
                <a:spcPts val="0"/>
              </a:spcBef>
              <a:spcAft>
                <a:spcPts val="0"/>
              </a:spcAft>
              <a:buNone/>
            </a:pPr>
            <a:r>
              <a:rPr lang="fr-FR" sz="1400" b="1" dirty="0">
                <a:solidFill>
                  <a:srgbClr val="FFFFFF"/>
                </a:solidFill>
                <a:latin typeface="Montserrat"/>
                <a:cs typeface="Montserrat"/>
              </a:rPr>
              <a:t>Interservices</a:t>
            </a:r>
          </a:p>
        </p:txBody>
      </p:sp>
      <p:sp>
        <p:nvSpPr>
          <p:cNvPr id="2034" name="LayerDesc3"/>
          <p:cNvSpPr txBox="1"/>
          <p:nvPr/>
        </p:nvSpPr>
        <p:spPr>
          <a:xfrm>
            <a:off x="6400800" y="5577840"/>
            <a:ext cx="3840480"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050" dirty="0">
                <a:solidFill>
                  <a:srgbClr val="C9D2E0"/>
                </a:solidFill>
                <a:latin typeface="Montserrat"/>
                <a:cs typeface="Montserrat"/>
              </a:rPr>
              <a:t>Secret X-Internal-Secret vérifié, mode fail-closed</a:t>
            </a:r>
          </a:p>
        </p:txBody>
      </p:sp>
      <p:sp>
        <p:nvSpPr>
          <p:cNvPr id="2035" name="LayerZone3"/>
          <p:cNvSpPr/>
          <p:nvPr/>
        </p:nvSpPr>
        <p:spPr>
          <a:xfrm>
            <a:off x="10213848" y="5413248"/>
            <a:ext cx="914400" cy="274320"/>
          </a:xfrm>
          <a:prstGeom prst="roundRect">
            <a:avLst>
              <a:gd name="adj" fmla="val 50000"/>
            </a:avLst>
          </a:prstGeom>
          <a:solidFill>
            <a:srgbClr val="FFFFFF"/>
          </a:solidFill>
          <a:ln>
            <a:noFill/>
          </a:ln>
        </p:spPr>
        <p:txBody>
          <a:bodyPr wrap="square" lIns="0" tIns="0" rIns="0" bIns="0" rtlCol="0" anchor="ctr">
            <a:noAutofit/>
          </a:bodyPr>
          <a:lstStyle/>
          <a:p>
            <a:pPr algn="ctr">
              <a:spcBef>
                <a:spcPts val="0"/>
              </a:spcBef>
              <a:spcAft>
                <a:spcPts val="0"/>
              </a:spcAft>
              <a:buNone/>
            </a:pPr>
            <a:r>
              <a:rPr lang="fr-FR" sz="850" b="1" spc="100" dirty="0">
                <a:solidFill>
                  <a:srgbClr val="16294A"/>
                </a:solidFill>
                <a:latin typeface="Montserrat"/>
                <a:cs typeface="Montserrat"/>
              </a:rPr>
              <a:t>INTERNE</a:t>
            </a:r>
          </a:p>
        </p:txBody>
      </p:sp>
      <p:sp>
        <p:nvSpPr>
          <p:cNvPr id="2036" name="Frontier"/>
          <p:cNvSpPr/>
          <p:nvPr/>
        </p:nvSpPr>
        <p:spPr>
          <a:xfrm>
            <a:off x="5532120" y="4956048"/>
            <a:ext cx="5779008" cy="0"/>
          </a:xfrm>
          <a:prstGeom prst="line">
            <a:avLst/>
          </a:prstGeom>
          <a:noFill/>
          <a:ln w="15875">
            <a:solidFill>
              <a:srgbClr val="F96A09"/>
            </a:solidFill>
            <a:prstDash val="dash"/>
          </a:ln>
        </p:spPr>
        <p:txBody>
          <a:bodyPr/>
          <a:lstStyle/>
          <a:p>
            <a:endParaRPr lang="fr-FR"/>
          </a:p>
        </p:txBody>
      </p:sp>
      <p:sp>
        <p:nvSpPr>
          <p:cNvPr id="2037" name="FrontierLabel"/>
          <p:cNvSpPr/>
          <p:nvPr/>
        </p:nvSpPr>
        <p:spPr>
          <a:xfrm>
            <a:off x="7370064" y="4846320"/>
            <a:ext cx="2103120" cy="219456"/>
          </a:xfrm>
          <a:prstGeom prst="rect">
            <a:avLst/>
          </a:prstGeom>
          <a:solidFill>
            <a:srgbClr val="FFFFFF"/>
          </a:solidFill>
          <a:ln>
            <a:noFill/>
          </a:ln>
        </p:spPr>
        <p:txBody>
          <a:bodyPr wrap="square" lIns="0" tIns="0" rIns="0" bIns="0" rtlCol="0" anchor="ctr">
            <a:noAutofit/>
          </a:bodyPr>
          <a:lstStyle/>
          <a:p>
            <a:pPr algn="ctr">
              <a:spcBef>
                <a:spcPts val="0"/>
              </a:spcBef>
              <a:spcAft>
                <a:spcPts val="0"/>
              </a:spcAft>
              <a:buNone/>
            </a:pPr>
            <a:r>
              <a:rPr lang="fr-FR" sz="850" b="1" spc="100" dirty="0">
                <a:solidFill>
                  <a:srgbClr val="F96A09"/>
                </a:solidFill>
                <a:latin typeface="Montserrat"/>
                <a:cs typeface="Montserrat"/>
              </a:rPr>
              <a:t>FRONTIÈRE DU RÉSEAU INTERNE</a:t>
            </a:r>
          </a:p>
        </p:txBody>
      </p:sp>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94515238-74C7-460A-8571-9DCAFA996C02}" type="slidenum">
              <a:rPr lang="fr-FR" sz="1600" b="1" dirty="0">
                <a:solidFill>
                  <a:srgbClr val="FFFFFF"/>
                </a:solidFill>
                <a:latin typeface="Montserrat"/>
              </a:rPr>
              <a:t>17</a:t>
            </a:fld>
            <a:endParaRPr lang="fr-FR" sz="1600" b="1" dirty="0">
              <a:solidFill>
                <a:srgbClr val="FFFFFF"/>
              </a:solidFill>
              <a:latin typeface="Montserrat"/>
            </a:endParaRPr>
          </a:p>
        </p:txBody>
      </p:sp>
    </p:spTree>
    <p:extLst>
      <p:ext uri="{BB962C8B-B14F-4D97-AF65-F5344CB8AC3E}">
        <p14:creationId xmlns:p14="http://schemas.microsoft.com/office/powerpoint/2010/main" val="112843414"/>
      </p:ext>
    </p:extLst>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50"/>
                                        <p:tgtEl>
                                          <p:spTgt spid="9"/>
                                        </p:tgtEl>
                                      </p:cBhvr>
                                    </p:animEffect>
                                    <p:anim calcmode="lin" valueType="num">
                                      <p:cBhvr>
                                        <p:cTn id="8" dur="450" fill="hold"/>
                                        <p:tgtEl>
                                          <p:spTgt spid="9"/>
                                        </p:tgtEl>
                                        <p:attrNameLst>
                                          <p:attrName>ppt_x</p:attrName>
                                        </p:attrNameLst>
                                      </p:cBhvr>
                                      <p:tavLst>
                                        <p:tav tm="0">
                                          <p:val>
                                            <p:strVal val="#ppt_x"/>
                                          </p:val>
                                        </p:tav>
                                        <p:tav tm="100000">
                                          <p:val>
                                            <p:strVal val="#ppt_x"/>
                                          </p:val>
                                        </p:tav>
                                      </p:tavLst>
                                    </p:anim>
                                    <p:anim calcmode="lin" valueType="num">
                                      <p:cBhvr>
                                        <p:cTn id="9" dur="450" fill="hold"/>
                                        <p:tgtEl>
                                          <p:spTgt spid="9"/>
                                        </p:tgtEl>
                                        <p:attrNameLst>
                                          <p:attrName>ppt_y</p:attrName>
                                        </p:attrNameLst>
                                      </p:cBhvr>
                                      <p:tavLst>
                                        <p:tav tm="0">
                                          <p:val>
                                            <p:strVal val="#ppt_y+.03"/>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2010"/>
                                        </p:tgtEl>
                                        <p:attrNameLst>
                                          <p:attrName>style.visibility</p:attrName>
                                        </p:attrNameLst>
                                      </p:cBhvr>
                                      <p:to>
                                        <p:strVal val="visible"/>
                                      </p:to>
                                    </p:set>
                                    <p:animEffect transition="in" filter="fade">
                                      <p:cBhvr>
                                        <p:cTn id="14" dur="450"/>
                                        <p:tgtEl>
                                          <p:spTgt spid="2010"/>
                                        </p:tgtEl>
                                      </p:cBhvr>
                                    </p:animEffect>
                                  </p:childTnLst>
                                </p:cTn>
                              </p:par>
                              <p:par>
                                <p:cTn id="15" presetID="22" presetClass="entr" presetSubtype="1" fill="hold" grpId="0" nodeType="withEffect">
                                  <p:stCondLst>
                                    <p:cond delay="140"/>
                                  </p:stCondLst>
                                  <p:childTnLst>
                                    <p:set>
                                      <p:cBhvr>
                                        <p:cTn id="16" dur="1" fill="hold">
                                          <p:stCondLst>
                                            <p:cond delay="0"/>
                                          </p:stCondLst>
                                        </p:cTn>
                                        <p:tgtEl>
                                          <p:spTgt spid="2011"/>
                                        </p:tgtEl>
                                        <p:attrNameLst>
                                          <p:attrName>style.visibility</p:attrName>
                                        </p:attrNameLst>
                                      </p:cBhvr>
                                      <p:to>
                                        <p:strVal val="visible"/>
                                      </p:to>
                                    </p:set>
                                    <p:animEffect transition="in" filter="wipe(down)">
                                      <p:cBhvr>
                                        <p:cTn id="17" dur="600"/>
                                        <p:tgtEl>
                                          <p:spTgt spid="2011"/>
                                        </p:tgtEl>
                                      </p:cBhvr>
                                    </p:animEffect>
                                  </p:childTnLst>
                                </p:cTn>
                              </p:par>
                              <p:par>
                                <p:cTn id="18" presetID="42" presetClass="entr" presetSubtype="0" fill="hold" grpId="0" nodeType="withEffect">
                                  <p:stCondLst>
                                    <p:cond delay="280"/>
                                  </p:stCondLst>
                                  <p:childTnLst>
                                    <p:set>
                                      <p:cBhvr>
                                        <p:cTn id="19" dur="1" fill="hold">
                                          <p:stCondLst>
                                            <p:cond delay="0"/>
                                          </p:stCondLst>
                                        </p:cTn>
                                        <p:tgtEl>
                                          <p:spTgt spid="2012"/>
                                        </p:tgtEl>
                                        <p:attrNameLst>
                                          <p:attrName>style.visibility</p:attrName>
                                        </p:attrNameLst>
                                      </p:cBhvr>
                                      <p:to>
                                        <p:strVal val="visible"/>
                                      </p:to>
                                    </p:set>
                                    <p:animEffect transition="in" filter="fade">
                                      <p:cBhvr>
                                        <p:cTn id="20" dur="500"/>
                                        <p:tgtEl>
                                          <p:spTgt spid="2012"/>
                                        </p:tgtEl>
                                      </p:cBhvr>
                                    </p:animEffect>
                                    <p:anim calcmode="lin" valueType="num">
                                      <p:cBhvr>
                                        <p:cTn id="21" dur="500" fill="hold"/>
                                        <p:tgtEl>
                                          <p:spTgt spid="2012"/>
                                        </p:tgtEl>
                                        <p:attrNameLst>
                                          <p:attrName>ppt_x</p:attrName>
                                        </p:attrNameLst>
                                      </p:cBhvr>
                                      <p:tavLst>
                                        <p:tav tm="0">
                                          <p:val>
                                            <p:strVal val="#ppt_x-.035"/>
                                          </p:val>
                                        </p:tav>
                                        <p:tav tm="100000">
                                          <p:val>
                                            <p:strVal val="#ppt_x"/>
                                          </p:val>
                                        </p:tav>
                                      </p:tavLst>
                                    </p:anim>
                                    <p:anim calcmode="lin" valueType="num">
                                      <p:cBhvr>
                                        <p:cTn id="22" dur="500" fill="hold"/>
                                        <p:tgtEl>
                                          <p:spTgt spid="2012"/>
                                        </p:tgtEl>
                                        <p:attrNameLst>
                                          <p:attrName>ppt_y</p:attrName>
                                        </p:attrNameLst>
                                      </p:cBhvr>
                                      <p:tavLst>
                                        <p:tav tm="0">
                                          <p:val>
                                            <p:strVal val="#ppt_y"/>
                                          </p:val>
                                        </p:tav>
                                        <p:tav tm="100000">
                                          <p:val>
                                            <p:strVal val="#ppt_y"/>
                                          </p:val>
                                        </p:tav>
                                      </p:tavLst>
                                    </p:anim>
                                  </p:childTnLst>
                                </p:cTn>
                              </p:par>
                              <p:par>
                                <p:cTn id="23" presetID="42" presetClass="entr" presetSubtype="0" fill="hold" grpId="0" nodeType="withEffect">
                                  <p:stCondLst>
                                    <p:cond delay="280"/>
                                  </p:stCondLst>
                                  <p:childTnLst>
                                    <p:set>
                                      <p:cBhvr>
                                        <p:cTn id="24" dur="1" fill="hold">
                                          <p:stCondLst>
                                            <p:cond delay="0"/>
                                          </p:stCondLst>
                                        </p:cTn>
                                        <p:tgtEl>
                                          <p:spTgt spid="2013"/>
                                        </p:tgtEl>
                                        <p:attrNameLst>
                                          <p:attrName>style.visibility</p:attrName>
                                        </p:attrNameLst>
                                      </p:cBhvr>
                                      <p:to>
                                        <p:strVal val="visible"/>
                                      </p:to>
                                    </p:set>
                                    <p:animEffect transition="in" filter="fade">
                                      <p:cBhvr>
                                        <p:cTn id="25" dur="500"/>
                                        <p:tgtEl>
                                          <p:spTgt spid="2013"/>
                                        </p:tgtEl>
                                      </p:cBhvr>
                                    </p:animEffect>
                                    <p:anim calcmode="lin" valueType="num">
                                      <p:cBhvr>
                                        <p:cTn id="26" dur="500" fill="hold"/>
                                        <p:tgtEl>
                                          <p:spTgt spid="2013"/>
                                        </p:tgtEl>
                                        <p:attrNameLst>
                                          <p:attrName>ppt_x</p:attrName>
                                        </p:attrNameLst>
                                      </p:cBhvr>
                                      <p:tavLst>
                                        <p:tav tm="0">
                                          <p:val>
                                            <p:strVal val="#ppt_x-.035"/>
                                          </p:val>
                                        </p:tav>
                                        <p:tav tm="100000">
                                          <p:val>
                                            <p:strVal val="#ppt_x"/>
                                          </p:val>
                                        </p:tav>
                                      </p:tavLst>
                                    </p:anim>
                                    <p:anim calcmode="lin" valueType="num">
                                      <p:cBhvr>
                                        <p:cTn id="27" dur="500" fill="hold"/>
                                        <p:tgtEl>
                                          <p:spTgt spid="2013"/>
                                        </p:tgtEl>
                                        <p:attrNameLst>
                                          <p:attrName>ppt_y</p:attrName>
                                        </p:attrNameLst>
                                      </p:cBhvr>
                                      <p:tavLst>
                                        <p:tav tm="0">
                                          <p:val>
                                            <p:strVal val="#ppt_y"/>
                                          </p:val>
                                        </p:tav>
                                        <p:tav tm="100000">
                                          <p:val>
                                            <p:strVal val="#ppt_y"/>
                                          </p:val>
                                        </p:tav>
                                      </p:tavLst>
                                    </p:anim>
                                  </p:childTnLst>
                                </p:cTn>
                              </p:par>
                              <p:par>
                                <p:cTn id="28" presetID="42" presetClass="entr" presetSubtype="0" fill="hold" grpId="0" nodeType="withEffect">
                                  <p:stCondLst>
                                    <p:cond delay="280"/>
                                  </p:stCondLst>
                                  <p:childTnLst>
                                    <p:set>
                                      <p:cBhvr>
                                        <p:cTn id="29" dur="1" fill="hold">
                                          <p:stCondLst>
                                            <p:cond delay="0"/>
                                          </p:stCondLst>
                                        </p:cTn>
                                        <p:tgtEl>
                                          <p:spTgt spid="2014"/>
                                        </p:tgtEl>
                                        <p:attrNameLst>
                                          <p:attrName>style.visibility</p:attrName>
                                        </p:attrNameLst>
                                      </p:cBhvr>
                                      <p:to>
                                        <p:strVal val="visible"/>
                                      </p:to>
                                    </p:set>
                                    <p:animEffect transition="in" filter="fade">
                                      <p:cBhvr>
                                        <p:cTn id="30" dur="500"/>
                                        <p:tgtEl>
                                          <p:spTgt spid="2014"/>
                                        </p:tgtEl>
                                      </p:cBhvr>
                                    </p:animEffect>
                                    <p:anim calcmode="lin" valueType="num">
                                      <p:cBhvr>
                                        <p:cTn id="31" dur="500" fill="hold"/>
                                        <p:tgtEl>
                                          <p:spTgt spid="2014"/>
                                        </p:tgtEl>
                                        <p:attrNameLst>
                                          <p:attrName>ppt_x</p:attrName>
                                        </p:attrNameLst>
                                      </p:cBhvr>
                                      <p:tavLst>
                                        <p:tav tm="0">
                                          <p:val>
                                            <p:strVal val="#ppt_x-.035"/>
                                          </p:val>
                                        </p:tav>
                                        <p:tav tm="100000">
                                          <p:val>
                                            <p:strVal val="#ppt_x"/>
                                          </p:val>
                                        </p:tav>
                                      </p:tavLst>
                                    </p:anim>
                                    <p:anim calcmode="lin" valueType="num">
                                      <p:cBhvr>
                                        <p:cTn id="32" dur="500" fill="hold"/>
                                        <p:tgtEl>
                                          <p:spTgt spid="2014"/>
                                        </p:tgtEl>
                                        <p:attrNameLst>
                                          <p:attrName>ppt_y</p:attrName>
                                        </p:attrNameLst>
                                      </p:cBhvr>
                                      <p:tavLst>
                                        <p:tav tm="0">
                                          <p:val>
                                            <p:strVal val="#ppt_y"/>
                                          </p:val>
                                        </p:tav>
                                        <p:tav tm="100000">
                                          <p:val>
                                            <p:strVal val="#ppt_y"/>
                                          </p:val>
                                        </p:tav>
                                      </p:tavLst>
                                    </p:anim>
                                  </p:childTnLst>
                                </p:cTn>
                              </p:par>
                              <p:par>
                                <p:cTn id="33" presetID="42" presetClass="entr" presetSubtype="0" fill="hold" nodeType="withEffect">
                                  <p:stCondLst>
                                    <p:cond delay="280"/>
                                  </p:stCondLst>
                                  <p:childTnLst>
                                    <p:set>
                                      <p:cBhvr>
                                        <p:cTn id="34" dur="1" fill="hold">
                                          <p:stCondLst>
                                            <p:cond delay="0"/>
                                          </p:stCondLst>
                                        </p:cTn>
                                        <p:tgtEl>
                                          <p:spTgt spid="63"/>
                                        </p:tgtEl>
                                        <p:attrNameLst>
                                          <p:attrName>style.visibility</p:attrName>
                                        </p:attrNameLst>
                                      </p:cBhvr>
                                      <p:to>
                                        <p:strVal val="visible"/>
                                      </p:to>
                                    </p:set>
                                    <p:animEffect transition="in" filter="fade">
                                      <p:cBhvr>
                                        <p:cTn id="35" dur="500"/>
                                        <p:tgtEl>
                                          <p:spTgt spid="63"/>
                                        </p:tgtEl>
                                      </p:cBhvr>
                                    </p:animEffect>
                                    <p:anim calcmode="lin" valueType="num">
                                      <p:cBhvr>
                                        <p:cTn id="36" dur="500" fill="hold"/>
                                        <p:tgtEl>
                                          <p:spTgt spid="63"/>
                                        </p:tgtEl>
                                        <p:attrNameLst>
                                          <p:attrName>ppt_x</p:attrName>
                                        </p:attrNameLst>
                                      </p:cBhvr>
                                      <p:tavLst>
                                        <p:tav tm="0">
                                          <p:val>
                                            <p:strVal val="#ppt_x-.035"/>
                                          </p:val>
                                        </p:tav>
                                        <p:tav tm="100000">
                                          <p:val>
                                            <p:strVal val="#ppt_x"/>
                                          </p:val>
                                        </p:tav>
                                      </p:tavLst>
                                    </p:anim>
                                    <p:anim calcmode="lin" valueType="num">
                                      <p:cBhvr>
                                        <p:cTn id="37" dur="500" fill="hold"/>
                                        <p:tgtEl>
                                          <p:spTgt spid="63"/>
                                        </p:tgtEl>
                                        <p:attrNameLst>
                                          <p:attrName>ppt_y</p:attrName>
                                        </p:attrNameLst>
                                      </p:cBhvr>
                                      <p:tavLst>
                                        <p:tav tm="0">
                                          <p:val>
                                            <p:strVal val="#ppt_y"/>
                                          </p:val>
                                        </p:tav>
                                        <p:tav tm="100000">
                                          <p:val>
                                            <p:strVal val="#ppt_y"/>
                                          </p:val>
                                        </p:tav>
                                      </p:tavLst>
                                    </p:anim>
                                  </p:childTnLst>
                                </p:cTn>
                              </p:par>
                              <p:par>
                                <p:cTn id="38" presetID="42" presetClass="entr" presetSubtype="0" fill="hold" grpId="0" nodeType="withEffect">
                                  <p:stCondLst>
                                    <p:cond delay="280"/>
                                  </p:stCondLst>
                                  <p:childTnLst>
                                    <p:set>
                                      <p:cBhvr>
                                        <p:cTn id="39" dur="1" fill="hold">
                                          <p:stCondLst>
                                            <p:cond delay="0"/>
                                          </p:stCondLst>
                                        </p:cTn>
                                        <p:tgtEl>
                                          <p:spTgt spid="2015"/>
                                        </p:tgtEl>
                                        <p:attrNameLst>
                                          <p:attrName>style.visibility</p:attrName>
                                        </p:attrNameLst>
                                      </p:cBhvr>
                                      <p:to>
                                        <p:strVal val="visible"/>
                                      </p:to>
                                    </p:set>
                                    <p:animEffect transition="in" filter="fade">
                                      <p:cBhvr>
                                        <p:cTn id="40" dur="500"/>
                                        <p:tgtEl>
                                          <p:spTgt spid="2015"/>
                                        </p:tgtEl>
                                      </p:cBhvr>
                                    </p:animEffect>
                                    <p:anim calcmode="lin" valueType="num">
                                      <p:cBhvr>
                                        <p:cTn id="41" dur="500" fill="hold"/>
                                        <p:tgtEl>
                                          <p:spTgt spid="2015"/>
                                        </p:tgtEl>
                                        <p:attrNameLst>
                                          <p:attrName>ppt_x</p:attrName>
                                        </p:attrNameLst>
                                      </p:cBhvr>
                                      <p:tavLst>
                                        <p:tav tm="0">
                                          <p:val>
                                            <p:strVal val="#ppt_x-.035"/>
                                          </p:val>
                                        </p:tav>
                                        <p:tav tm="100000">
                                          <p:val>
                                            <p:strVal val="#ppt_x"/>
                                          </p:val>
                                        </p:tav>
                                      </p:tavLst>
                                    </p:anim>
                                    <p:anim calcmode="lin" valueType="num">
                                      <p:cBhvr>
                                        <p:cTn id="42" dur="500" fill="hold"/>
                                        <p:tgtEl>
                                          <p:spTgt spid="2015"/>
                                        </p:tgtEl>
                                        <p:attrNameLst>
                                          <p:attrName>ppt_y</p:attrName>
                                        </p:attrNameLst>
                                      </p:cBhvr>
                                      <p:tavLst>
                                        <p:tav tm="0">
                                          <p:val>
                                            <p:strVal val="#ppt_y"/>
                                          </p:val>
                                        </p:tav>
                                        <p:tav tm="100000">
                                          <p:val>
                                            <p:strVal val="#ppt_y"/>
                                          </p:val>
                                        </p:tav>
                                      </p:tavLst>
                                    </p:anim>
                                  </p:childTnLst>
                                </p:cTn>
                              </p:par>
                              <p:par>
                                <p:cTn id="43" presetID="42" presetClass="entr" presetSubtype="0" fill="hold" grpId="0" nodeType="withEffect">
                                  <p:stCondLst>
                                    <p:cond delay="280"/>
                                  </p:stCondLst>
                                  <p:childTnLst>
                                    <p:set>
                                      <p:cBhvr>
                                        <p:cTn id="44" dur="1" fill="hold">
                                          <p:stCondLst>
                                            <p:cond delay="0"/>
                                          </p:stCondLst>
                                        </p:cTn>
                                        <p:tgtEl>
                                          <p:spTgt spid="2016"/>
                                        </p:tgtEl>
                                        <p:attrNameLst>
                                          <p:attrName>style.visibility</p:attrName>
                                        </p:attrNameLst>
                                      </p:cBhvr>
                                      <p:to>
                                        <p:strVal val="visible"/>
                                      </p:to>
                                    </p:set>
                                    <p:animEffect transition="in" filter="fade">
                                      <p:cBhvr>
                                        <p:cTn id="45" dur="500"/>
                                        <p:tgtEl>
                                          <p:spTgt spid="2016"/>
                                        </p:tgtEl>
                                      </p:cBhvr>
                                    </p:animEffect>
                                    <p:anim calcmode="lin" valueType="num">
                                      <p:cBhvr>
                                        <p:cTn id="46" dur="500" fill="hold"/>
                                        <p:tgtEl>
                                          <p:spTgt spid="2016"/>
                                        </p:tgtEl>
                                        <p:attrNameLst>
                                          <p:attrName>ppt_x</p:attrName>
                                        </p:attrNameLst>
                                      </p:cBhvr>
                                      <p:tavLst>
                                        <p:tav tm="0">
                                          <p:val>
                                            <p:strVal val="#ppt_x-.035"/>
                                          </p:val>
                                        </p:tav>
                                        <p:tav tm="100000">
                                          <p:val>
                                            <p:strVal val="#ppt_x"/>
                                          </p:val>
                                        </p:tav>
                                      </p:tavLst>
                                    </p:anim>
                                    <p:anim calcmode="lin" valueType="num">
                                      <p:cBhvr>
                                        <p:cTn id="47" dur="500" fill="hold"/>
                                        <p:tgtEl>
                                          <p:spTgt spid="2016"/>
                                        </p:tgtEl>
                                        <p:attrNameLst>
                                          <p:attrName>ppt_y</p:attrName>
                                        </p:attrNameLst>
                                      </p:cBhvr>
                                      <p:tavLst>
                                        <p:tav tm="0">
                                          <p:val>
                                            <p:strVal val="#ppt_y"/>
                                          </p:val>
                                        </p:tav>
                                        <p:tav tm="100000">
                                          <p:val>
                                            <p:strVal val="#ppt_y"/>
                                          </p:val>
                                        </p:tav>
                                      </p:tavLst>
                                    </p:anim>
                                  </p:childTnLst>
                                </p:cTn>
                              </p:par>
                              <p:par>
                                <p:cTn id="48" presetID="42" presetClass="entr" presetSubtype="0" fill="hold" grpId="0" nodeType="withEffect">
                                  <p:stCondLst>
                                    <p:cond delay="280"/>
                                  </p:stCondLst>
                                  <p:childTnLst>
                                    <p:set>
                                      <p:cBhvr>
                                        <p:cTn id="49" dur="1" fill="hold">
                                          <p:stCondLst>
                                            <p:cond delay="0"/>
                                          </p:stCondLst>
                                        </p:cTn>
                                        <p:tgtEl>
                                          <p:spTgt spid="2017"/>
                                        </p:tgtEl>
                                        <p:attrNameLst>
                                          <p:attrName>style.visibility</p:attrName>
                                        </p:attrNameLst>
                                      </p:cBhvr>
                                      <p:to>
                                        <p:strVal val="visible"/>
                                      </p:to>
                                    </p:set>
                                    <p:animEffect transition="in" filter="fade">
                                      <p:cBhvr>
                                        <p:cTn id="50" dur="500"/>
                                        <p:tgtEl>
                                          <p:spTgt spid="2017"/>
                                        </p:tgtEl>
                                      </p:cBhvr>
                                    </p:animEffect>
                                    <p:anim calcmode="lin" valueType="num">
                                      <p:cBhvr>
                                        <p:cTn id="51" dur="500" fill="hold"/>
                                        <p:tgtEl>
                                          <p:spTgt spid="2017"/>
                                        </p:tgtEl>
                                        <p:attrNameLst>
                                          <p:attrName>ppt_x</p:attrName>
                                        </p:attrNameLst>
                                      </p:cBhvr>
                                      <p:tavLst>
                                        <p:tav tm="0">
                                          <p:val>
                                            <p:strVal val="#ppt_x-.035"/>
                                          </p:val>
                                        </p:tav>
                                        <p:tav tm="100000">
                                          <p:val>
                                            <p:strVal val="#ppt_x"/>
                                          </p:val>
                                        </p:tav>
                                      </p:tavLst>
                                    </p:anim>
                                    <p:anim calcmode="lin" valueType="num">
                                      <p:cBhvr>
                                        <p:cTn id="52" dur="500" fill="hold"/>
                                        <p:tgtEl>
                                          <p:spTgt spid="2017"/>
                                        </p:tgtEl>
                                        <p:attrNameLst>
                                          <p:attrName>ppt_y</p:attrName>
                                        </p:attrNameLst>
                                      </p:cBhvr>
                                      <p:tavLst>
                                        <p:tav tm="0">
                                          <p:val>
                                            <p:strVal val="#ppt_y"/>
                                          </p:val>
                                        </p:tav>
                                        <p:tav tm="100000">
                                          <p:val>
                                            <p:strVal val="#ppt_y"/>
                                          </p:val>
                                        </p:tav>
                                      </p:tavLst>
                                    </p:anim>
                                  </p:childTnLst>
                                </p:cTn>
                              </p:par>
                              <p:par>
                                <p:cTn id="53" presetID="42" presetClass="entr" presetSubtype="0" fill="hold" grpId="0" nodeType="withEffect">
                                  <p:stCondLst>
                                    <p:cond delay="560"/>
                                  </p:stCondLst>
                                  <p:childTnLst>
                                    <p:set>
                                      <p:cBhvr>
                                        <p:cTn id="54" dur="1" fill="hold">
                                          <p:stCondLst>
                                            <p:cond delay="0"/>
                                          </p:stCondLst>
                                        </p:cTn>
                                        <p:tgtEl>
                                          <p:spTgt spid="2018"/>
                                        </p:tgtEl>
                                        <p:attrNameLst>
                                          <p:attrName>style.visibility</p:attrName>
                                        </p:attrNameLst>
                                      </p:cBhvr>
                                      <p:to>
                                        <p:strVal val="visible"/>
                                      </p:to>
                                    </p:set>
                                    <p:animEffect transition="in" filter="fade">
                                      <p:cBhvr>
                                        <p:cTn id="55" dur="500"/>
                                        <p:tgtEl>
                                          <p:spTgt spid="2018"/>
                                        </p:tgtEl>
                                      </p:cBhvr>
                                    </p:animEffect>
                                    <p:anim calcmode="lin" valueType="num">
                                      <p:cBhvr>
                                        <p:cTn id="56" dur="500" fill="hold"/>
                                        <p:tgtEl>
                                          <p:spTgt spid="2018"/>
                                        </p:tgtEl>
                                        <p:attrNameLst>
                                          <p:attrName>ppt_x</p:attrName>
                                        </p:attrNameLst>
                                      </p:cBhvr>
                                      <p:tavLst>
                                        <p:tav tm="0">
                                          <p:val>
                                            <p:strVal val="#ppt_x-.035"/>
                                          </p:val>
                                        </p:tav>
                                        <p:tav tm="100000">
                                          <p:val>
                                            <p:strVal val="#ppt_x"/>
                                          </p:val>
                                        </p:tav>
                                      </p:tavLst>
                                    </p:anim>
                                    <p:anim calcmode="lin" valueType="num">
                                      <p:cBhvr>
                                        <p:cTn id="57" dur="500" fill="hold"/>
                                        <p:tgtEl>
                                          <p:spTgt spid="2018"/>
                                        </p:tgtEl>
                                        <p:attrNameLst>
                                          <p:attrName>ppt_y</p:attrName>
                                        </p:attrNameLst>
                                      </p:cBhvr>
                                      <p:tavLst>
                                        <p:tav tm="0">
                                          <p:val>
                                            <p:strVal val="#ppt_y"/>
                                          </p:val>
                                        </p:tav>
                                        <p:tav tm="100000">
                                          <p:val>
                                            <p:strVal val="#ppt_y"/>
                                          </p:val>
                                        </p:tav>
                                      </p:tavLst>
                                    </p:anim>
                                  </p:childTnLst>
                                </p:cTn>
                              </p:par>
                              <p:par>
                                <p:cTn id="58" presetID="42" presetClass="entr" presetSubtype="0" fill="hold" grpId="0" nodeType="withEffect">
                                  <p:stCondLst>
                                    <p:cond delay="560"/>
                                  </p:stCondLst>
                                  <p:childTnLst>
                                    <p:set>
                                      <p:cBhvr>
                                        <p:cTn id="59" dur="1" fill="hold">
                                          <p:stCondLst>
                                            <p:cond delay="0"/>
                                          </p:stCondLst>
                                        </p:cTn>
                                        <p:tgtEl>
                                          <p:spTgt spid="2019"/>
                                        </p:tgtEl>
                                        <p:attrNameLst>
                                          <p:attrName>style.visibility</p:attrName>
                                        </p:attrNameLst>
                                      </p:cBhvr>
                                      <p:to>
                                        <p:strVal val="visible"/>
                                      </p:to>
                                    </p:set>
                                    <p:animEffect transition="in" filter="fade">
                                      <p:cBhvr>
                                        <p:cTn id="60" dur="500"/>
                                        <p:tgtEl>
                                          <p:spTgt spid="2019"/>
                                        </p:tgtEl>
                                      </p:cBhvr>
                                    </p:animEffect>
                                    <p:anim calcmode="lin" valueType="num">
                                      <p:cBhvr>
                                        <p:cTn id="61" dur="500" fill="hold"/>
                                        <p:tgtEl>
                                          <p:spTgt spid="2019"/>
                                        </p:tgtEl>
                                        <p:attrNameLst>
                                          <p:attrName>ppt_x</p:attrName>
                                        </p:attrNameLst>
                                      </p:cBhvr>
                                      <p:tavLst>
                                        <p:tav tm="0">
                                          <p:val>
                                            <p:strVal val="#ppt_x-.035"/>
                                          </p:val>
                                        </p:tav>
                                        <p:tav tm="100000">
                                          <p:val>
                                            <p:strVal val="#ppt_x"/>
                                          </p:val>
                                        </p:tav>
                                      </p:tavLst>
                                    </p:anim>
                                    <p:anim calcmode="lin" valueType="num">
                                      <p:cBhvr>
                                        <p:cTn id="62" dur="500" fill="hold"/>
                                        <p:tgtEl>
                                          <p:spTgt spid="2019"/>
                                        </p:tgtEl>
                                        <p:attrNameLst>
                                          <p:attrName>ppt_y</p:attrName>
                                        </p:attrNameLst>
                                      </p:cBhvr>
                                      <p:tavLst>
                                        <p:tav tm="0">
                                          <p:val>
                                            <p:strVal val="#ppt_y"/>
                                          </p:val>
                                        </p:tav>
                                        <p:tav tm="100000">
                                          <p:val>
                                            <p:strVal val="#ppt_y"/>
                                          </p:val>
                                        </p:tav>
                                      </p:tavLst>
                                    </p:anim>
                                  </p:childTnLst>
                                </p:cTn>
                              </p:par>
                              <p:par>
                                <p:cTn id="63" presetID="42" presetClass="entr" presetSubtype="0" fill="hold" grpId="0" nodeType="withEffect">
                                  <p:stCondLst>
                                    <p:cond delay="560"/>
                                  </p:stCondLst>
                                  <p:childTnLst>
                                    <p:set>
                                      <p:cBhvr>
                                        <p:cTn id="64" dur="1" fill="hold">
                                          <p:stCondLst>
                                            <p:cond delay="0"/>
                                          </p:stCondLst>
                                        </p:cTn>
                                        <p:tgtEl>
                                          <p:spTgt spid="2020"/>
                                        </p:tgtEl>
                                        <p:attrNameLst>
                                          <p:attrName>style.visibility</p:attrName>
                                        </p:attrNameLst>
                                      </p:cBhvr>
                                      <p:to>
                                        <p:strVal val="visible"/>
                                      </p:to>
                                    </p:set>
                                    <p:animEffect transition="in" filter="fade">
                                      <p:cBhvr>
                                        <p:cTn id="65" dur="500"/>
                                        <p:tgtEl>
                                          <p:spTgt spid="2020"/>
                                        </p:tgtEl>
                                      </p:cBhvr>
                                    </p:animEffect>
                                    <p:anim calcmode="lin" valueType="num">
                                      <p:cBhvr>
                                        <p:cTn id="66" dur="500" fill="hold"/>
                                        <p:tgtEl>
                                          <p:spTgt spid="2020"/>
                                        </p:tgtEl>
                                        <p:attrNameLst>
                                          <p:attrName>ppt_x</p:attrName>
                                        </p:attrNameLst>
                                      </p:cBhvr>
                                      <p:tavLst>
                                        <p:tav tm="0">
                                          <p:val>
                                            <p:strVal val="#ppt_x-.035"/>
                                          </p:val>
                                        </p:tav>
                                        <p:tav tm="100000">
                                          <p:val>
                                            <p:strVal val="#ppt_x"/>
                                          </p:val>
                                        </p:tav>
                                      </p:tavLst>
                                    </p:anim>
                                    <p:anim calcmode="lin" valueType="num">
                                      <p:cBhvr>
                                        <p:cTn id="67" dur="500" fill="hold"/>
                                        <p:tgtEl>
                                          <p:spTgt spid="2020"/>
                                        </p:tgtEl>
                                        <p:attrNameLst>
                                          <p:attrName>ppt_y</p:attrName>
                                        </p:attrNameLst>
                                      </p:cBhvr>
                                      <p:tavLst>
                                        <p:tav tm="0">
                                          <p:val>
                                            <p:strVal val="#ppt_y"/>
                                          </p:val>
                                        </p:tav>
                                        <p:tav tm="100000">
                                          <p:val>
                                            <p:strVal val="#ppt_y"/>
                                          </p:val>
                                        </p:tav>
                                      </p:tavLst>
                                    </p:anim>
                                  </p:childTnLst>
                                </p:cTn>
                              </p:par>
                              <p:par>
                                <p:cTn id="68" presetID="42" presetClass="entr" presetSubtype="0" fill="hold" nodeType="withEffect">
                                  <p:stCondLst>
                                    <p:cond delay="560"/>
                                  </p:stCondLst>
                                  <p:childTnLst>
                                    <p:set>
                                      <p:cBhvr>
                                        <p:cTn id="69" dur="1" fill="hold">
                                          <p:stCondLst>
                                            <p:cond delay="0"/>
                                          </p:stCondLst>
                                        </p:cTn>
                                        <p:tgtEl>
                                          <p:spTgt spid="64"/>
                                        </p:tgtEl>
                                        <p:attrNameLst>
                                          <p:attrName>style.visibility</p:attrName>
                                        </p:attrNameLst>
                                      </p:cBhvr>
                                      <p:to>
                                        <p:strVal val="visible"/>
                                      </p:to>
                                    </p:set>
                                    <p:animEffect transition="in" filter="fade">
                                      <p:cBhvr>
                                        <p:cTn id="70" dur="500"/>
                                        <p:tgtEl>
                                          <p:spTgt spid="64"/>
                                        </p:tgtEl>
                                      </p:cBhvr>
                                    </p:animEffect>
                                    <p:anim calcmode="lin" valueType="num">
                                      <p:cBhvr>
                                        <p:cTn id="71" dur="500" fill="hold"/>
                                        <p:tgtEl>
                                          <p:spTgt spid="64"/>
                                        </p:tgtEl>
                                        <p:attrNameLst>
                                          <p:attrName>ppt_x</p:attrName>
                                        </p:attrNameLst>
                                      </p:cBhvr>
                                      <p:tavLst>
                                        <p:tav tm="0">
                                          <p:val>
                                            <p:strVal val="#ppt_x-.035"/>
                                          </p:val>
                                        </p:tav>
                                        <p:tav tm="100000">
                                          <p:val>
                                            <p:strVal val="#ppt_x"/>
                                          </p:val>
                                        </p:tav>
                                      </p:tavLst>
                                    </p:anim>
                                    <p:anim calcmode="lin" valueType="num">
                                      <p:cBhvr>
                                        <p:cTn id="72" dur="500" fill="hold"/>
                                        <p:tgtEl>
                                          <p:spTgt spid="64"/>
                                        </p:tgtEl>
                                        <p:attrNameLst>
                                          <p:attrName>ppt_y</p:attrName>
                                        </p:attrNameLst>
                                      </p:cBhvr>
                                      <p:tavLst>
                                        <p:tav tm="0">
                                          <p:val>
                                            <p:strVal val="#ppt_y"/>
                                          </p:val>
                                        </p:tav>
                                        <p:tav tm="100000">
                                          <p:val>
                                            <p:strVal val="#ppt_y"/>
                                          </p:val>
                                        </p:tav>
                                      </p:tavLst>
                                    </p:anim>
                                  </p:childTnLst>
                                </p:cTn>
                              </p:par>
                              <p:par>
                                <p:cTn id="73" presetID="42" presetClass="entr" presetSubtype="0" fill="hold" grpId="0" nodeType="withEffect">
                                  <p:stCondLst>
                                    <p:cond delay="560"/>
                                  </p:stCondLst>
                                  <p:childTnLst>
                                    <p:set>
                                      <p:cBhvr>
                                        <p:cTn id="74" dur="1" fill="hold">
                                          <p:stCondLst>
                                            <p:cond delay="0"/>
                                          </p:stCondLst>
                                        </p:cTn>
                                        <p:tgtEl>
                                          <p:spTgt spid="2021"/>
                                        </p:tgtEl>
                                        <p:attrNameLst>
                                          <p:attrName>style.visibility</p:attrName>
                                        </p:attrNameLst>
                                      </p:cBhvr>
                                      <p:to>
                                        <p:strVal val="visible"/>
                                      </p:to>
                                    </p:set>
                                    <p:animEffect transition="in" filter="fade">
                                      <p:cBhvr>
                                        <p:cTn id="75" dur="500"/>
                                        <p:tgtEl>
                                          <p:spTgt spid="2021"/>
                                        </p:tgtEl>
                                      </p:cBhvr>
                                    </p:animEffect>
                                    <p:anim calcmode="lin" valueType="num">
                                      <p:cBhvr>
                                        <p:cTn id="76" dur="500" fill="hold"/>
                                        <p:tgtEl>
                                          <p:spTgt spid="2021"/>
                                        </p:tgtEl>
                                        <p:attrNameLst>
                                          <p:attrName>ppt_x</p:attrName>
                                        </p:attrNameLst>
                                      </p:cBhvr>
                                      <p:tavLst>
                                        <p:tav tm="0">
                                          <p:val>
                                            <p:strVal val="#ppt_x-.035"/>
                                          </p:val>
                                        </p:tav>
                                        <p:tav tm="100000">
                                          <p:val>
                                            <p:strVal val="#ppt_x"/>
                                          </p:val>
                                        </p:tav>
                                      </p:tavLst>
                                    </p:anim>
                                    <p:anim calcmode="lin" valueType="num">
                                      <p:cBhvr>
                                        <p:cTn id="77" dur="500" fill="hold"/>
                                        <p:tgtEl>
                                          <p:spTgt spid="2021"/>
                                        </p:tgtEl>
                                        <p:attrNameLst>
                                          <p:attrName>ppt_y</p:attrName>
                                        </p:attrNameLst>
                                      </p:cBhvr>
                                      <p:tavLst>
                                        <p:tav tm="0">
                                          <p:val>
                                            <p:strVal val="#ppt_y"/>
                                          </p:val>
                                        </p:tav>
                                        <p:tav tm="100000">
                                          <p:val>
                                            <p:strVal val="#ppt_y"/>
                                          </p:val>
                                        </p:tav>
                                      </p:tavLst>
                                    </p:anim>
                                  </p:childTnLst>
                                </p:cTn>
                              </p:par>
                              <p:par>
                                <p:cTn id="78" presetID="42" presetClass="entr" presetSubtype="0" fill="hold" grpId="0" nodeType="withEffect">
                                  <p:stCondLst>
                                    <p:cond delay="560"/>
                                  </p:stCondLst>
                                  <p:childTnLst>
                                    <p:set>
                                      <p:cBhvr>
                                        <p:cTn id="79" dur="1" fill="hold">
                                          <p:stCondLst>
                                            <p:cond delay="0"/>
                                          </p:stCondLst>
                                        </p:cTn>
                                        <p:tgtEl>
                                          <p:spTgt spid="2022"/>
                                        </p:tgtEl>
                                        <p:attrNameLst>
                                          <p:attrName>style.visibility</p:attrName>
                                        </p:attrNameLst>
                                      </p:cBhvr>
                                      <p:to>
                                        <p:strVal val="visible"/>
                                      </p:to>
                                    </p:set>
                                    <p:animEffect transition="in" filter="fade">
                                      <p:cBhvr>
                                        <p:cTn id="80" dur="500"/>
                                        <p:tgtEl>
                                          <p:spTgt spid="2022"/>
                                        </p:tgtEl>
                                      </p:cBhvr>
                                    </p:animEffect>
                                    <p:anim calcmode="lin" valueType="num">
                                      <p:cBhvr>
                                        <p:cTn id="81" dur="500" fill="hold"/>
                                        <p:tgtEl>
                                          <p:spTgt spid="2022"/>
                                        </p:tgtEl>
                                        <p:attrNameLst>
                                          <p:attrName>ppt_x</p:attrName>
                                        </p:attrNameLst>
                                      </p:cBhvr>
                                      <p:tavLst>
                                        <p:tav tm="0">
                                          <p:val>
                                            <p:strVal val="#ppt_x-.035"/>
                                          </p:val>
                                        </p:tav>
                                        <p:tav tm="100000">
                                          <p:val>
                                            <p:strVal val="#ppt_x"/>
                                          </p:val>
                                        </p:tav>
                                      </p:tavLst>
                                    </p:anim>
                                    <p:anim calcmode="lin" valueType="num">
                                      <p:cBhvr>
                                        <p:cTn id="82" dur="500" fill="hold"/>
                                        <p:tgtEl>
                                          <p:spTgt spid="2022"/>
                                        </p:tgtEl>
                                        <p:attrNameLst>
                                          <p:attrName>ppt_y</p:attrName>
                                        </p:attrNameLst>
                                      </p:cBhvr>
                                      <p:tavLst>
                                        <p:tav tm="0">
                                          <p:val>
                                            <p:strVal val="#ppt_y"/>
                                          </p:val>
                                        </p:tav>
                                        <p:tav tm="100000">
                                          <p:val>
                                            <p:strVal val="#ppt_y"/>
                                          </p:val>
                                        </p:tav>
                                      </p:tavLst>
                                    </p:anim>
                                  </p:childTnLst>
                                </p:cTn>
                              </p:par>
                              <p:par>
                                <p:cTn id="83" presetID="42" presetClass="entr" presetSubtype="0" fill="hold" grpId="0" nodeType="withEffect">
                                  <p:stCondLst>
                                    <p:cond delay="560"/>
                                  </p:stCondLst>
                                  <p:childTnLst>
                                    <p:set>
                                      <p:cBhvr>
                                        <p:cTn id="84" dur="1" fill="hold">
                                          <p:stCondLst>
                                            <p:cond delay="0"/>
                                          </p:stCondLst>
                                        </p:cTn>
                                        <p:tgtEl>
                                          <p:spTgt spid="2023"/>
                                        </p:tgtEl>
                                        <p:attrNameLst>
                                          <p:attrName>style.visibility</p:attrName>
                                        </p:attrNameLst>
                                      </p:cBhvr>
                                      <p:to>
                                        <p:strVal val="visible"/>
                                      </p:to>
                                    </p:set>
                                    <p:animEffect transition="in" filter="fade">
                                      <p:cBhvr>
                                        <p:cTn id="85" dur="500"/>
                                        <p:tgtEl>
                                          <p:spTgt spid="2023"/>
                                        </p:tgtEl>
                                      </p:cBhvr>
                                    </p:animEffect>
                                    <p:anim calcmode="lin" valueType="num">
                                      <p:cBhvr>
                                        <p:cTn id="86" dur="500" fill="hold"/>
                                        <p:tgtEl>
                                          <p:spTgt spid="2023"/>
                                        </p:tgtEl>
                                        <p:attrNameLst>
                                          <p:attrName>ppt_x</p:attrName>
                                        </p:attrNameLst>
                                      </p:cBhvr>
                                      <p:tavLst>
                                        <p:tav tm="0">
                                          <p:val>
                                            <p:strVal val="#ppt_x-.035"/>
                                          </p:val>
                                        </p:tav>
                                        <p:tav tm="100000">
                                          <p:val>
                                            <p:strVal val="#ppt_x"/>
                                          </p:val>
                                        </p:tav>
                                      </p:tavLst>
                                    </p:anim>
                                    <p:anim calcmode="lin" valueType="num">
                                      <p:cBhvr>
                                        <p:cTn id="87" dur="500" fill="hold"/>
                                        <p:tgtEl>
                                          <p:spTgt spid="2023"/>
                                        </p:tgtEl>
                                        <p:attrNameLst>
                                          <p:attrName>ppt_y</p:attrName>
                                        </p:attrNameLst>
                                      </p:cBhvr>
                                      <p:tavLst>
                                        <p:tav tm="0">
                                          <p:val>
                                            <p:strVal val="#ppt_y"/>
                                          </p:val>
                                        </p:tav>
                                        <p:tav tm="100000">
                                          <p:val>
                                            <p:strVal val="#ppt_y"/>
                                          </p:val>
                                        </p:tav>
                                      </p:tavLst>
                                    </p:anim>
                                  </p:childTnLst>
                                </p:cTn>
                              </p:par>
                              <p:par>
                                <p:cTn id="88" presetID="42" presetClass="entr" presetSubtype="0" fill="hold" grpId="0" nodeType="withEffect">
                                  <p:stCondLst>
                                    <p:cond delay="840"/>
                                  </p:stCondLst>
                                  <p:childTnLst>
                                    <p:set>
                                      <p:cBhvr>
                                        <p:cTn id="89" dur="1" fill="hold">
                                          <p:stCondLst>
                                            <p:cond delay="0"/>
                                          </p:stCondLst>
                                        </p:cTn>
                                        <p:tgtEl>
                                          <p:spTgt spid="2024"/>
                                        </p:tgtEl>
                                        <p:attrNameLst>
                                          <p:attrName>style.visibility</p:attrName>
                                        </p:attrNameLst>
                                      </p:cBhvr>
                                      <p:to>
                                        <p:strVal val="visible"/>
                                      </p:to>
                                    </p:set>
                                    <p:animEffect transition="in" filter="fade">
                                      <p:cBhvr>
                                        <p:cTn id="90" dur="500"/>
                                        <p:tgtEl>
                                          <p:spTgt spid="2024"/>
                                        </p:tgtEl>
                                      </p:cBhvr>
                                    </p:animEffect>
                                    <p:anim calcmode="lin" valueType="num">
                                      <p:cBhvr>
                                        <p:cTn id="91" dur="500" fill="hold"/>
                                        <p:tgtEl>
                                          <p:spTgt spid="2024"/>
                                        </p:tgtEl>
                                        <p:attrNameLst>
                                          <p:attrName>ppt_x</p:attrName>
                                        </p:attrNameLst>
                                      </p:cBhvr>
                                      <p:tavLst>
                                        <p:tav tm="0">
                                          <p:val>
                                            <p:strVal val="#ppt_x-.035"/>
                                          </p:val>
                                        </p:tav>
                                        <p:tav tm="100000">
                                          <p:val>
                                            <p:strVal val="#ppt_x"/>
                                          </p:val>
                                        </p:tav>
                                      </p:tavLst>
                                    </p:anim>
                                    <p:anim calcmode="lin" valueType="num">
                                      <p:cBhvr>
                                        <p:cTn id="92" dur="500" fill="hold"/>
                                        <p:tgtEl>
                                          <p:spTgt spid="2024"/>
                                        </p:tgtEl>
                                        <p:attrNameLst>
                                          <p:attrName>ppt_y</p:attrName>
                                        </p:attrNameLst>
                                      </p:cBhvr>
                                      <p:tavLst>
                                        <p:tav tm="0">
                                          <p:val>
                                            <p:strVal val="#ppt_y"/>
                                          </p:val>
                                        </p:tav>
                                        <p:tav tm="100000">
                                          <p:val>
                                            <p:strVal val="#ppt_y"/>
                                          </p:val>
                                        </p:tav>
                                      </p:tavLst>
                                    </p:anim>
                                  </p:childTnLst>
                                </p:cTn>
                              </p:par>
                              <p:par>
                                <p:cTn id="93" presetID="42" presetClass="entr" presetSubtype="0" fill="hold" grpId="0" nodeType="withEffect">
                                  <p:stCondLst>
                                    <p:cond delay="840"/>
                                  </p:stCondLst>
                                  <p:childTnLst>
                                    <p:set>
                                      <p:cBhvr>
                                        <p:cTn id="94" dur="1" fill="hold">
                                          <p:stCondLst>
                                            <p:cond delay="0"/>
                                          </p:stCondLst>
                                        </p:cTn>
                                        <p:tgtEl>
                                          <p:spTgt spid="2025"/>
                                        </p:tgtEl>
                                        <p:attrNameLst>
                                          <p:attrName>style.visibility</p:attrName>
                                        </p:attrNameLst>
                                      </p:cBhvr>
                                      <p:to>
                                        <p:strVal val="visible"/>
                                      </p:to>
                                    </p:set>
                                    <p:animEffect transition="in" filter="fade">
                                      <p:cBhvr>
                                        <p:cTn id="95" dur="500"/>
                                        <p:tgtEl>
                                          <p:spTgt spid="2025"/>
                                        </p:tgtEl>
                                      </p:cBhvr>
                                    </p:animEffect>
                                    <p:anim calcmode="lin" valueType="num">
                                      <p:cBhvr>
                                        <p:cTn id="96" dur="500" fill="hold"/>
                                        <p:tgtEl>
                                          <p:spTgt spid="2025"/>
                                        </p:tgtEl>
                                        <p:attrNameLst>
                                          <p:attrName>ppt_x</p:attrName>
                                        </p:attrNameLst>
                                      </p:cBhvr>
                                      <p:tavLst>
                                        <p:tav tm="0">
                                          <p:val>
                                            <p:strVal val="#ppt_x-.035"/>
                                          </p:val>
                                        </p:tav>
                                        <p:tav tm="100000">
                                          <p:val>
                                            <p:strVal val="#ppt_x"/>
                                          </p:val>
                                        </p:tav>
                                      </p:tavLst>
                                    </p:anim>
                                    <p:anim calcmode="lin" valueType="num">
                                      <p:cBhvr>
                                        <p:cTn id="97" dur="500" fill="hold"/>
                                        <p:tgtEl>
                                          <p:spTgt spid="2025"/>
                                        </p:tgtEl>
                                        <p:attrNameLst>
                                          <p:attrName>ppt_y</p:attrName>
                                        </p:attrNameLst>
                                      </p:cBhvr>
                                      <p:tavLst>
                                        <p:tav tm="0">
                                          <p:val>
                                            <p:strVal val="#ppt_y"/>
                                          </p:val>
                                        </p:tav>
                                        <p:tav tm="100000">
                                          <p:val>
                                            <p:strVal val="#ppt_y"/>
                                          </p:val>
                                        </p:tav>
                                      </p:tavLst>
                                    </p:anim>
                                  </p:childTnLst>
                                </p:cTn>
                              </p:par>
                              <p:par>
                                <p:cTn id="98" presetID="42" presetClass="entr" presetSubtype="0" fill="hold" grpId="0" nodeType="withEffect">
                                  <p:stCondLst>
                                    <p:cond delay="840"/>
                                  </p:stCondLst>
                                  <p:childTnLst>
                                    <p:set>
                                      <p:cBhvr>
                                        <p:cTn id="99" dur="1" fill="hold">
                                          <p:stCondLst>
                                            <p:cond delay="0"/>
                                          </p:stCondLst>
                                        </p:cTn>
                                        <p:tgtEl>
                                          <p:spTgt spid="2026"/>
                                        </p:tgtEl>
                                        <p:attrNameLst>
                                          <p:attrName>style.visibility</p:attrName>
                                        </p:attrNameLst>
                                      </p:cBhvr>
                                      <p:to>
                                        <p:strVal val="visible"/>
                                      </p:to>
                                    </p:set>
                                    <p:animEffect transition="in" filter="fade">
                                      <p:cBhvr>
                                        <p:cTn id="100" dur="500"/>
                                        <p:tgtEl>
                                          <p:spTgt spid="2026"/>
                                        </p:tgtEl>
                                      </p:cBhvr>
                                    </p:animEffect>
                                    <p:anim calcmode="lin" valueType="num">
                                      <p:cBhvr>
                                        <p:cTn id="101" dur="500" fill="hold"/>
                                        <p:tgtEl>
                                          <p:spTgt spid="2026"/>
                                        </p:tgtEl>
                                        <p:attrNameLst>
                                          <p:attrName>ppt_x</p:attrName>
                                        </p:attrNameLst>
                                      </p:cBhvr>
                                      <p:tavLst>
                                        <p:tav tm="0">
                                          <p:val>
                                            <p:strVal val="#ppt_x-.035"/>
                                          </p:val>
                                        </p:tav>
                                        <p:tav tm="100000">
                                          <p:val>
                                            <p:strVal val="#ppt_x"/>
                                          </p:val>
                                        </p:tav>
                                      </p:tavLst>
                                    </p:anim>
                                    <p:anim calcmode="lin" valueType="num">
                                      <p:cBhvr>
                                        <p:cTn id="102" dur="500" fill="hold"/>
                                        <p:tgtEl>
                                          <p:spTgt spid="2026"/>
                                        </p:tgtEl>
                                        <p:attrNameLst>
                                          <p:attrName>ppt_y</p:attrName>
                                        </p:attrNameLst>
                                      </p:cBhvr>
                                      <p:tavLst>
                                        <p:tav tm="0">
                                          <p:val>
                                            <p:strVal val="#ppt_y"/>
                                          </p:val>
                                        </p:tav>
                                        <p:tav tm="100000">
                                          <p:val>
                                            <p:strVal val="#ppt_y"/>
                                          </p:val>
                                        </p:tav>
                                      </p:tavLst>
                                    </p:anim>
                                  </p:childTnLst>
                                </p:cTn>
                              </p:par>
                              <p:par>
                                <p:cTn id="103" presetID="42" presetClass="entr" presetSubtype="0" fill="hold" nodeType="withEffect">
                                  <p:stCondLst>
                                    <p:cond delay="840"/>
                                  </p:stCondLst>
                                  <p:childTnLst>
                                    <p:set>
                                      <p:cBhvr>
                                        <p:cTn id="104" dur="1" fill="hold">
                                          <p:stCondLst>
                                            <p:cond delay="0"/>
                                          </p:stCondLst>
                                        </p:cTn>
                                        <p:tgtEl>
                                          <p:spTgt spid="65"/>
                                        </p:tgtEl>
                                        <p:attrNameLst>
                                          <p:attrName>style.visibility</p:attrName>
                                        </p:attrNameLst>
                                      </p:cBhvr>
                                      <p:to>
                                        <p:strVal val="visible"/>
                                      </p:to>
                                    </p:set>
                                    <p:animEffect transition="in" filter="fade">
                                      <p:cBhvr>
                                        <p:cTn id="105" dur="500"/>
                                        <p:tgtEl>
                                          <p:spTgt spid="65"/>
                                        </p:tgtEl>
                                      </p:cBhvr>
                                    </p:animEffect>
                                    <p:anim calcmode="lin" valueType="num">
                                      <p:cBhvr>
                                        <p:cTn id="106" dur="500" fill="hold"/>
                                        <p:tgtEl>
                                          <p:spTgt spid="65"/>
                                        </p:tgtEl>
                                        <p:attrNameLst>
                                          <p:attrName>ppt_x</p:attrName>
                                        </p:attrNameLst>
                                      </p:cBhvr>
                                      <p:tavLst>
                                        <p:tav tm="0">
                                          <p:val>
                                            <p:strVal val="#ppt_x-.035"/>
                                          </p:val>
                                        </p:tav>
                                        <p:tav tm="100000">
                                          <p:val>
                                            <p:strVal val="#ppt_x"/>
                                          </p:val>
                                        </p:tav>
                                      </p:tavLst>
                                    </p:anim>
                                    <p:anim calcmode="lin" valueType="num">
                                      <p:cBhvr>
                                        <p:cTn id="107" dur="500" fill="hold"/>
                                        <p:tgtEl>
                                          <p:spTgt spid="65"/>
                                        </p:tgtEl>
                                        <p:attrNameLst>
                                          <p:attrName>ppt_y</p:attrName>
                                        </p:attrNameLst>
                                      </p:cBhvr>
                                      <p:tavLst>
                                        <p:tav tm="0">
                                          <p:val>
                                            <p:strVal val="#ppt_y"/>
                                          </p:val>
                                        </p:tav>
                                        <p:tav tm="100000">
                                          <p:val>
                                            <p:strVal val="#ppt_y"/>
                                          </p:val>
                                        </p:tav>
                                      </p:tavLst>
                                    </p:anim>
                                  </p:childTnLst>
                                </p:cTn>
                              </p:par>
                              <p:par>
                                <p:cTn id="108" presetID="42" presetClass="entr" presetSubtype="0" fill="hold" grpId="0" nodeType="withEffect">
                                  <p:stCondLst>
                                    <p:cond delay="840"/>
                                  </p:stCondLst>
                                  <p:childTnLst>
                                    <p:set>
                                      <p:cBhvr>
                                        <p:cTn id="109" dur="1" fill="hold">
                                          <p:stCondLst>
                                            <p:cond delay="0"/>
                                          </p:stCondLst>
                                        </p:cTn>
                                        <p:tgtEl>
                                          <p:spTgt spid="2027"/>
                                        </p:tgtEl>
                                        <p:attrNameLst>
                                          <p:attrName>style.visibility</p:attrName>
                                        </p:attrNameLst>
                                      </p:cBhvr>
                                      <p:to>
                                        <p:strVal val="visible"/>
                                      </p:to>
                                    </p:set>
                                    <p:animEffect transition="in" filter="fade">
                                      <p:cBhvr>
                                        <p:cTn id="110" dur="500"/>
                                        <p:tgtEl>
                                          <p:spTgt spid="2027"/>
                                        </p:tgtEl>
                                      </p:cBhvr>
                                    </p:animEffect>
                                    <p:anim calcmode="lin" valueType="num">
                                      <p:cBhvr>
                                        <p:cTn id="111" dur="500" fill="hold"/>
                                        <p:tgtEl>
                                          <p:spTgt spid="2027"/>
                                        </p:tgtEl>
                                        <p:attrNameLst>
                                          <p:attrName>ppt_x</p:attrName>
                                        </p:attrNameLst>
                                      </p:cBhvr>
                                      <p:tavLst>
                                        <p:tav tm="0">
                                          <p:val>
                                            <p:strVal val="#ppt_x-.035"/>
                                          </p:val>
                                        </p:tav>
                                        <p:tav tm="100000">
                                          <p:val>
                                            <p:strVal val="#ppt_x"/>
                                          </p:val>
                                        </p:tav>
                                      </p:tavLst>
                                    </p:anim>
                                    <p:anim calcmode="lin" valueType="num">
                                      <p:cBhvr>
                                        <p:cTn id="112" dur="500" fill="hold"/>
                                        <p:tgtEl>
                                          <p:spTgt spid="2027"/>
                                        </p:tgtEl>
                                        <p:attrNameLst>
                                          <p:attrName>ppt_y</p:attrName>
                                        </p:attrNameLst>
                                      </p:cBhvr>
                                      <p:tavLst>
                                        <p:tav tm="0">
                                          <p:val>
                                            <p:strVal val="#ppt_y"/>
                                          </p:val>
                                        </p:tav>
                                        <p:tav tm="100000">
                                          <p:val>
                                            <p:strVal val="#ppt_y"/>
                                          </p:val>
                                        </p:tav>
                                      </p:tavLst>
                                    </p:anim>
                                  </p:childTnLst>
                                </p:cTn>
                              </p:par>
                              <p:par>
                                <p:cTn id="113" presetID="42" presetClass="entr" presetSubtype="0" fill="hold" grpId="0" nodeType="withEffect">
                                  <p:stCondLst>
                                    <p:cond delay="840"/>
                                  </p:stCondLst>
                                  <p:childTnLst>
                                    <p:set>
                                      <p:cBhvr>
                                        <p:cTn id="114" dur="1" fill="hold">
                                          <p:stCondLst>
                                            <p:cond delay="0"/>
                                          </p:stCondLst>
                                        </p:cTn>
                                        <p:tgtEl>
                                          <p:spTgt spid="2028"/>
                                        </p:tgtEl>
                                        <p:attrNameLst>
                                          <p:attrName>style.visibility</p:attrName>
                                        </p:attrNameLst>
                                      </p:cBhvr>
                                      <p:to>
                                        <p:strVal val="visible"/>
                                      </p:to>
                                    </p:set>
                                    <p:animEffect transition="in" filter="fade">
                                      <p:cBhvr>
                                        <p:cTn id="115" dur="500"/>
                                        <p:tgtEl>
                                          <p:spTgt spid="2028"/>
                                        </p:tgtEl>
                                      </p:cBhvr>
                                    </p:animEffect>
                                    <p:anim calcmode="lin" valueType="num">
                                      <p:cBhvr>
                                        <p:cTn id="116" dur="500" fill="hold"/>
                                        <p:tgtEl>
                                          <p:spTgt spid="2028"/>
                                        </p:tgtEl>
                                        <p:attrNameLst>
                                          <p:attrName>ppt_x</p:attrName>
                                        </p:attrNameLst>
                                      </p:cBhvr>
                                      <p:tavLst>
                                        <p:tav tm="0">
                                          <p:val>
                                            <p:strVal val="#ppt_x-.035"/>
                                          </p:val>
                                        </p:tav>
                                        <p:tav tm="100000">
                                          <p:val>
                                            <p:strVal val="#ppt_x"/>
                                          </p:val>
                                        </p:tav>
                                      </p:tavLst>
                                    </p:anim>
                                    <p:anim calcmode="lin" valueType="num">
                                      <p:cBhvr>
                                        <p:cTn id="117" dur="500" fill="hold"/>
                                        <p:tgtEl>
                                          <p:spTgt spid="2028"/>
                                        </p:tgtEl>
                                        <p:attrNameLst>
                                          <p:attrName>ppt_y</p:attrName>
                                        </p:attrNameLst>
                                      </p:cBhvr>
                                      <p:tavLst>
                                        <p:tav tm="0">
                                          <p:val>
                                            <p:strVal val="#ppt_y"/>
                                          </p:val>
                                        </p:tav>
                                        <p:tav tm="100000">
                                          <p:val>
                                            <p:strVal val="#ppt_y"/>
                                          </p:val>
                                        </p:tav>
                                      </p:tavLst>
                                    </p:anim>
                                  </p:childTnLst>
                                </p:cTn>
                              </p:par>
                              <p:par>
                                <p:cTn id="118" presetID="42" presetClass="entr" presetSubtype="0" fill="hold" grpId="0" nodeType="withEffect">
                                  <p:stCondLst>
                                    <p:cond delay="840"/>
                                  </p:stCondLst>
                                  <p:childTnLst>
                                    <p:set>
                                      <p:cBhvr>
                                        <p:cTn id="119" dur="1" fill="hold">
                                          <p:stCondLst>
                                            <p:cond delay="0"/>
                                          </p:stCondLst>
                                        </p:cTn>
                                        <p:tgtEl>
                                          <p:spTgt spid="2029"/>
                                        </p:tgtEl>
                                        <p:attrNameLst>
                                          <p:attrName>style.visibility</p:attrName>
                                        </p:attrNameLst>
                                      </p:cBhvr>
                                      <p:to>
                                        <p:strVal val="visible"/>
                                      </p:to>
                                    </p:set>
                                    <p:animEffect transition="in" filter="fade">
                                      <p:cBhvr>
                                        <p:cTn id="120" dur="500"/>
                                        <p:tgtEl>
                                          <p:spTgt spid="2029"/>
                                        </p:tgtEl>
                                      </p:cBhvr>
                                    </p:animEffect>
                                    <p:anim calcmode="lin" valueType="num">
                                      <p:cBhvr>
                                        <p:cTn id="121" dur="500" fill="hold"/>
                                        <p:tgtEl>
                                          <p:spTgt spid="2029"/>
                                        </p:tgtEl>
                                        <p:attrNameLst>
                                          <p:attrName>ppt_x</p:attrName>
                                        </p:attrNameLst>
                                      </p:cBhvr>
                                      <p:tavLst>
                                        <p:tav tm="0">
                                          <p:val>
                                            <p:strVal val="#ppt_x-.035"/>
                                          </p:val>
                                        </p:tav>
                                        <p:tav tm="100000">
                                          <p:val>
                                            <p:strVal val="#ppt_x"/>
                                          </p:val>
                                        </p:tav>
                                      </p:tavLst>
                                    </p:anim>
                                    <p:anim calcmode="lin" valueType="num">
                                      <p:cBhvr>
                                        <p:cTn id="122" dur="500" fill="hold"/>
                                        <p:tgtEl>
                                          <p:spTgt spid="2029"/>
                                        </p:tgtEl>
                                        <p:attrNameLst>
                                          <p:attrName>ppt_y</p:attrName>
                                        </p:attrNameLst>
                                      </p:cBhvr>
                                      <p:tavLst>
                                        <p:tav tm="0">
                                          <p:val>
                                            <p:strVal val="#ppt_y"/>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2036"/>
                                        </p:tgtEl>
                                        <p:attrNameLst>
                                          <p:attrName>style.visibility</p:attrName>
                                        </p:attrNameLst>
                                      </p:cBhvr>
                                      <p:to>
                                        <p:strVal val="visible"/>
                                      </p:to>
                                    </p:set>
                                    <p:animEffect transition="in" filter="wipe(left)">
                                      <p:cBhvr>
                                        <p:cTn id="127" dur="400"/>
                                        <p:tgtEl>
                                          <p:spTgt spid="2036"/>
                                        </p:tgtEl>
                                      </p:cBhvr>
                                    </p:animEffect>
                                  </p:childTnLst>
                                </p:cTn>
                              </p:par>
                              <p:par>
                                <p:cTn id="128" presetID="10" presetClass="entr" presetSubtype="0" fill="hold" grpId="0" nodeType="withEffect">
                                  <p:stCondLst>
                                    <p:cond delay="140"/>
                                  </p:stCondLst>
                                  <p:childTnLst>
                                    <p:set>
                                      <p:cBhvr>
                                        <p:cTn id="129" dur="1" fill="hold">
                                          <p:stCondLst>
                                            <p:cond delay="0"/>
                                          </p:stCondLst>
                                        </p:cTn>
                                        <p:tgtEl>
                                          <p:spTgt spid="2037"/>
                                        </p:tgtEl>
                                        <p:attrNameLst>
                                          <p:attrName>style.visibility</p:attrName>
                                        </p:attrNameLst>
                                      </p:cBhvr>
                                      <p:to>
                                        <p:strVal val="visible"/>
                                      </p:to>
                                    </p:set>
                                    <p:animEffect transition="in" filter="fade">
                                      <p:cBhvr>
                                        <p:cTn id="130" dur="450"/>
                                        <p:tgtEl>
                                          <p:spTgt spid="2037"/>
                                        </p:tgtEl>
                                      </p:cBhvr>
                                    </p:animEffect>
                                  </p:childTnLst>
                                </p:cTn>
                              </p:par>
                              <p:par>
                                <p:cTn id="131" presetID="42" presetClass="entr" presetSubtype="0" fill="hold" grpId="0" nodeType="withEffect">
                                  <p:stCondLst>
                                    <p:cond delay="420"/>
                                  </p:stCondLst>
                                  <p:childTnLst>
                                    <p:set>
                                      <p:cBhvr>
                                        <p:cTn id="132" dur="1" fill="hold">
                                          <p:stCondLst>
                                            <p:cond delay="0"/>
                                          </p:stCondLst>
                                        </p:cTn>
                                        <p:tgtEl>
                                          <p:spTgt spid="2030"/>
                                        </p:tgtEl>
                                        <p:attrNameLst>
                                          <p:attrName>style.visibility</p:attrName>
                                        </p:attrNameLst>
                                      </p:cBhvr>
                                      <p:to>
                                        <p:strVal val="visible"/>
                                      </p:to>
                                    </p:set>
                                    <p:animEffect transition="in" filter="fade">
                                      <p:cBhvr>
                                        <p:cTn id="133" dur="500"/>
                                        <p:tgtEl>
                                          <p:spTgt spid="2030"/>
                                        </p:tgtEl>
                                      </p:cBhvr>
                                    </p:animEffect>
                                    <p:anim calcmode="lin" valueType="num">
                                      <p:cBhvr>
                                        <p:cTn id="134" dur="500" fill="hold"/>
                                        <p:tgtEl>
                                          <p:spTgt spid="2030"/>
                                        </p:tgtEl>
                                        <p:attrNameLst>
                                          <p:attrName>ppt_x</p:attrName>
                                        </p:attrNameLst>
                                      </p:cBhvr>
                                      <p:tavLst>
                                        <p:tav tm="0">
                                          <p:val>
                                            <p:strVal val="#ppt_x-.035"/>
                                          </p:val>
                                        </p:tav>
                                        <p:tav tm="100000">
                                          <p:val>
                                            <p:strVal val="#ppt_x"/>
                                          </p:val>
                                        </p:tav>
                                      </p:tavLst>
                                    </p:anim>
                                    <p:anim calcmode="lin" valueType="num">
                                      <p:cBhvr>
                                        <p:cTn id="135" dur="500" fill="hold"/>
                                        <p:tgtEl>
                                          <p:spTgt spid="2030"/>
                                        </p:tgtEl>
                                        <p:attrNameLst>
                                          <p:attrName>ppt_y</p:attrName>
                                        </p:attrNameLst>
                                      </p:cBhvr>
                                      <p:tavLst>
                                        <p:tav tm="0">
                                          <p:val>
                                            <p:strVal val="#ppt_y"/>
                                          </p:val>
                                        </p:tav>
                                        <p:tav tm="100000">
                                          <p:val>
                                            <p:strVal val="#ppt_y"/>
                                          </p:val>
                                        </p:tav>
                                      </p:tavLst>
                                    </p:anim>
                                  </p:childTnLst>
                                </p:cTn>
                              </p:par>
                              <p:par>
                                <p:cTn id="136" presetID="42" presetClass="entr" presetSubtype="0" fill="hold" grpId="0" nodeType="withEffect">
                                  <p:stCondLst>
                                    <p:cond delay="420"/>
                                  </p:stCondLst>
                                  <p:childTnLst>
                                    <p:set>
                                      <p:cBhvr>
                                        <p:cTn id="137" dur="1" fill="hold">
                                          <p:stCondLst>
                                            <p:cond delay="0"/>
                                          </p:stCondLst>
                                        </p:cTn>
                                        <p:tgtEl>
                                          <p:spTgt spid="2031"/>
                                        </p:tgtEl>
                                        <p:attrNameLst>
                                          <p:attrName>style.visibility</p:attrName>
                                        </p:attrNameLst>
                                      </p:cBhvr>
                                      <p:to>
                                        <p:strVal val="visible"/>
                                      </p:to>
                                    </p:set>
                                    <p:animEffect transition="in" filter="fade">
                                      <p:cBhvr>
                                        <p:cTn id="138" dur="500"/>
                                        <p:tgtEl>
                                          <p:spTgt spid="2031"/>
                                        </p:tgtEl>
                                      </p:cBhvr>
                                    </p:animEffect>
                                    <p:anim calcmode="lin" valueType="num">
                                      <p:cBhvr>
                                        <p:cTn id="139" dur="500" fill="hold"/>
                                        <p:tgtEl>
                                          <p:spTgt spid="2031"/>
                                        </p:tgtEl>
                                        <p:attrNameLst>
                                          <p:attrName>ppt_x</p:attrName>
                                        </p:attrNameLst>
                                      </p:cBhvr>
                                      <p:tavLst>
                                        <p:tav tm="0">
                                          <p:val>
                                            <p:strVal val="#ppt_x-.035"/>
                                          </p:val>
                                        </p:tav>
                                        <p:tav tm="100000">
                                          <p:val>
                                            <p:strVal val="#ppt_x"/>
                                          </p:val>
                                        </p:tav>
                                      </p:tavLst>
                                    </p:anim>
                                    <p:anim calcmode="lin" valueType="num">
                                      <p:cBhvr>
                                        <p:cTn id="140" dur="500" fill="hold"/>
                                        <p:tgtEl>
                                          <p:spTgt spid="2031"/>
                                        </p:tgtEl>
                                        <p:attrNameLst>
                                          <p:attrName>ppt_y</p:attrName>
                                        </p:attrNameLst>
                                      </p:cBhvr>
                                      <p:tavLst>
                                        <p:tav tm="0">
                                          <p:val>
                                            <p:strVal val="#ppt_y"/>
                                          </p:val>
                                        </p:tav>
                                        <p:tav tm="100000">
                                          <p:val>
                                            <p:strVal val="#ppt_y"/>
                                          </p:val>
                                        </p:tav>
                                      </p:tavLst>
                                    </p:anim>
                                  </p:childTnLst>
                                </p:cTn>
                              </p:par>
                              <p:par>
                                <p:cTn id="141" presetID="42" presetClass="entr" presetSubtype="0" fill="hold" grpId="0" nodeType="withEffect">
                                  <p:stCondLst>
                                    <p:cond delay="420"/>
                                  </p:stCondLst>
                                  <p:childTnLst>
                                    <p:set>
                                      <p:cBhvr>
                                        <p:cTn id="142" dur="1" fill="hold">
                                          <p:stCondLst>
                                            <p:cond delay="0"/>
                                          </p:stCondLst>
                                        </p:cTn>
                                        <p:tgtEl>
                                          <p:spTgt spid="2032"/>
                                        </p:tgtEl>
                                        <p:attrNameLst>
                                          <p:attrName>style.visibility</p:attrName>
                                        </p:attrNameLst>
                                      </p:cBhvr>
                                      <p:to>
                                        <p:strVal val="visible"/>
                                      </p:to>
                                    </p:set>
                                    <p:animEffect transition="in" filter="fade">
                                      <p:cBhvr>
                                        <p:cTn id="143" dur="500"/>
                                        <p:tgtEl>
                                          <p:spTgt spid="2032"/>
                                        </p:tgtEl>
                                      </p:cBhvr>
                                    </p:animEffect>
                                    <p:anim calcmode="lin" valueType="num">
                                      <p:cBhvr>
                                        <p:cTn id="144" dur="500" fill="hold"/>
                                        <p:tgtEl>
                                          <p:spTgt spid="2032"/>
                                        </p:tgtEl>
                                        <p:attrNameLst>
                                          <p:attrName>ppt_x</p:attrName>
                                        </p:attrNameLst>
                                      </p:cBhvr>
                                      <p:tavLst>
                                        <p:tav tm="0">
                                          <p:val>
                                            <p:strVal val="#ppt_x-.035"/>
                                          </p:val>
                                        </p:tav>
                                        <p:tav tm="100000">
                                          <p:val>
                                            <p:strVal val="#ppt_x"/>
                                          </p:val>
                                        </p:tav>
                                      </p:tavLst>
                                    </p:anim>
                                    <p:anim calcmode="lin" valueType="num">
                                      <p:cBhvr>
                                        <p:cTn id="145" dur="500" fill="hold"/>
                                        <p:tgtEl>
                                          <p:spTgt spid="2032"/>
                                        </p:tgtEl>
                                        <p:attrNameLst>
                                          <p:attrName>ppt_y</p:attrName>
                                        </p:attrNameLst>
                                      </p:cBhvr>
                                      <p:tavLst>
                                        <p:tav tm="0">
                                          <p:val>
                                            <p:strVal val="#ppt_y"/>
                                          </p:val>
                                        </p:tav>
                                        <p:tav tm="100000">
                                          <p:val>
                                            <p:strVal val="#ppt_y"/>
                                          </p:val>
                                        </p:tav>
                                      </p:tavLst>
                                    </p:anim>
                                  </p:childTnLst>
                                </p:cTn>
                              </p:par>
                              <p:par>
                                <p:cTn id="146" presetID="42" presetClass="entr" presetSubtype="0" fill="hold" nodeType="withEffect">
                                  <p:stCondLst>
                                    <p:cond delay="420"/>
                                  </p:stCondLst>
                                  <p:childTnLst>
                                    <p:set>
                                      <p:cBhvr>
                                        <p:cTn id="147" dur="1" fill="hold">
                                          <p:stCondLst>
                                            <p:cond delay="0"/>
                                          </p:stCondLst>
                                        </p:cTn>
                                        <p:tgtEl>
                                          <p:spTgt spid="66"/>
                                        </p:tgtEl>
                                        <p:attrNameLst>
                                          <p:attrName>style.visibility</p:attrName>
                                        </p:attrNameLst>
                                      </p:cBhvr>
                                      <p:to>
                                        <p:strVal val="visible"/>
                                      </p:to>
                                    </p:set>
                                    <p:animEffect transition="in" filter="fade">
                                      <p:cBhvr>
                                        <p:cTn id="148" dur="500"/>
                                        <p:tgtEl>
                                          <p:spTgt spid="66"/>
                                        </p:tgtEl>
                                      </p:cBhvr>
                                    </p:animEffect>
                                    <p:anim calcmode="lin" valueType="num">
                                      <p:cBhvr>
                                        <p:cTn id="149" dur="500" fill="hold"/>
                                        <p:tgtEl>
                                          <p:spTgt spid="66"/>
                                        </p:tgtEl>
                                        <p:attrNameLst>
                                          <p:attrName>ppt_x</p:attrName>
                                        </p:attrNameLst>
                                      </p:cBhvr>
                                      <p:tavLst>
                                        <p:tav tm="0">
                                          <p:val>
                                            <p:strVal val="#ppt_x-.035"/>
                                          </p:val>
                                        </p:tav>
                                        <p:tav tm="100000">
                                          <p:val>
                                            <p:strVal val="#ppt_x"/>
                                          </p:val>
                                        </p:tav>
                                      </p:tavLst>
                                    </p:anim>
                                    <p:anim calcmode="lin" valueType="num">
                                      <p:cBhvr>
                                        <p:cTn id="150" dur="500" fill="hold"/>
                                        <p:tgtEl>
                                          <p:spTgt spid="66"/>
                                        </p:tgtEl>
                                        <p:attrNameLst>
                                          <p:attrName>ppt_y</p:attrName>
                                        </p:attrNameLst>
                                      </p:cBhvr>
                                      <p:tavLst>
                                        <p:tav tm="0">
                                          <p:val>
                                            <p:strVal val="#ppt_y"/>
                                          </p:val>
                                        </p:tav>
                                        <p:tav tm="100000">
                                          <p:val>
                                            <p:strVal val="#ppt_y"/>
                                          </p:val>
                                        </p:tav>
                                      </p:tavLst>
                                    </p:anim>
                                  </p:childTnLst>
                                </p:cTn>
                              </p:par>
                              <p:par>
                                <p:cTn id="151" presetID="42" presetClass="entr" presetSubtype="0" fill="hold" grpId="0" nodeType="withEffect">
                                  <p:stCondLst>
                                    <p:cond delay="420"/>
                                  </p:stCondLst>
                                  <p:childTnLst>
                                    <p:set>
                                      <p:cBhvr>
                                        <p:cTn id="152" dur="1" fill="hold">
                                          <p:stCondLst>
                                            <p:cond delay="0"/>
                                          </p:stCondLst>
                                        </p:cTn>
                                        <p:tgtEl>
                                          <p:spTgt spid="2033"/>
                                        </p:tgtEl>
                                        <p:attrNameLst>
                                          <p:attrName>style.visibility</p:attrName>
                                        </p:attrNameLst>
                                      </p:cBhvr>
                                      <p:to>
                                        <p:strVal val="visible"/>
                                      </p:to>
                                    </p:set>
                                    <p:animEffect transition="in" filter="fade">
                                      <p:cBhvr>
                                        <p:cTn id="153" dur="500"/>
                                        <p:tgtEl>
                                          <p:spTgt spid="2033"/>
                                        </p:tgtEl>
                                      </p:cBhvr>
                                    </p:animEffect>
                                    <p:anim calcmode="lin" valueType="num">
                                      <p:cBhvr>
                                        <p:cTn id="154" dur="500" fill="hold"/>
                                        <p:tgtEl>
                                          <p:spTgt spid="2033"/>
                                        </p:tgtEl>
                                        <p:attrNameLst>
                                          <p:attrName>ppt_x</p:attrName>
                                        </p:attrNameLst>
                                      </p:cBhvr>
                                      <p:tavLst>
                                        <p:tav tm="0">
                                          <p:val>
                                            <p:strVal val="#ppt_x-.035"/>
                                          </p:val>
                                        </p:tav>
                                        <p:tav tm="100000">
                                          <p:val>
                                            <p:strVal val="#ppt_x"/>
                                          </p:val>
                                        </p:tav>
                                      </p:tavLst>
                                    </p:anim>
                                    <p:anim calcmode="lin" valueType="num">
                                      <p:cBhvr>
                                        <p:cTn id="155" dur="500" fill="hold"/>
                                        <p:tgtEl>
                                          <p:spTgt spid="2033"/>
                                        </p:tgtEl>
                                        <p:attrNameLst>
                                          <p:attrName>ppt_y</p:attrName>
                                        </p:attrNameLst>
                                      </p:cBhvr>
                                      <p:tavLst>
                                        <p:tav tm="0">
                                          <p:val>
                                            <p:strVal val="#ppt_y"/>
                                          </p:val>
                                        </p:tav>
                                        <p:tav tm="100000">
                                          <p:val>
                                            <p:strVal val="#ppt_y"/>
                                          </p:val>
                                        </p:tav>
                                      </p:tavLst>
                                    </p:anim>
                                  </p:childTnLst>
                                </p:cTn>
                              </p:par>
                              <p:par>
                                <p:cTn id="156" presetID="42" presetClass="entr" presetSubtype="0" fill="hold" grpId="0" nodeType="withEffect">
                                  <p:stCondLst>
                                    <p:cond delay="420"/>
                                  </p:stCondLst>
                                  <p:childTnLst>
                                    <p:set>
                                      <p:cBhvr>
                                        <p:cTn id="157" dur="1" fill="hold">
                                          <p:stCondLst>
                                            <p:cond delay="0"/>
                                          </p:stCondLst>
                                        </p:cTn>
                                        <p:tgtEl>
                                          <p:spTgt spid="2034"/>
                                        </p:tgtEl>
                                        <p:attrNameLst>
                                          <p:attrName>style.visibility</p:attrName>
                                        </p:attrNameLst>
                                      </p:cBhvr>
                                      <p:to>
                                        <p:strVal val="visible"/>
                                      </p:to>
                                    </p:set>
                                    <p:animEffect transition="in" filter="fade">
                                      <p:cBhvr>
                                        <p:cTn id="158" dur="500"/>
                                        <p:tgtEl>
                                          <p:spTgt spid="2034"/>
                                        </p:tgtEl>
                                      </p:cBhvr>
                                    </p:animEffect>
                                    <p:anim calcmode="lin" valueType="num">
                                      <p:cBhvr>
                                        <p:cTn id="159" dur="500" fill="hold"/>
                                        <p:tgtEl>
                                          <p:spTgt spid="2034"/>
                                        </p:tgtEl>
                                        <p:attrNameLst>
                                          <p:attrName>ppt_x</p:attrName>
                                        </p:attrNameLst>
                                      </p:cBhvr>
                                      <p:tavLst>
                                        <p:tav tm="0">
                                          <p:val>
                                            <p:strVal val="#ppt_x-.035"/>
                                          </p:val>
                                        </p:tav>
                                        <p:tav tm="100000">
                                          <p:val>
                                            <p:strVal val="#ppt_x"/>
                                          </p:val>
                                        </p:tav>
                                      </p:tavLst>
                                    </p:anim>
                                    <p:anim calcmode="lin" valueType="num">
                                      <p:cBhvr>
                                        <p:cTn id="160" dur="500" fill="hold"/>
                                        <p:tgtEl>
                                          <p:spTgt spid="2034"/>
                                        </p:tgtEl>
                                        <p:attrNameLst>
                                          <p:attrName>ppt_y</p:attrName>
                                        </p:attrNameLst>
                                      </p:cBhvr>
                                      <p:tavLst>
                                        <p:tav tm="0">
                                          <p:val>
                                            <p:strVal val="#ppt_y"/>
                                          </p:val>
                                        </p:tav>
                                        <p:tav tm="100000">
                                          <p:val>
                                            <p:strVal val="#ppt_y"/>
                                          </p:val>
                                        </p:tav>
                                      </p:tavLst>
                                    </p:anim>
                                  </p:childTnLst>
                                </p:cTn>
                              </p:par>
                              <p:par>
                                <p:cTn id="161" presetID="42" presetClass="entr" presetSubtype="0" fill="hold" grpId="0" nodeType="withEffect">
                                  <p:stCondLst>
                                    <p:cond delay="420"/>
                                  </p:stCondLst>
                                  <p:childTnLst>
                                    <p:set>
                                      <p:cBhvr>
                                        <p:cTn id="162" dur="1" fill="hold">
                                          <p:stCondLst>
                                            <p:cond delay="0"/>
                                          </p:stCondLst>
                                        </p:cTn>
                                        <p:tgtEl>
                                          <p:spTgt spid="2035"/>
                                        </p:tgtEl>
                                        <p:attrNameLst>
                                          <p:attrName>style.visibility</p:attrName>
                                        </p:attrNameLst>
                                      </p:cBhvr>
                                      <p:to>
                                        <p:strVal val="visible"/>
                                      </p:to>
                                    </p:set>
                                    <p:animEffect transition="in" filter="fade">
                                      <p:cBhvr>
                                        <p:cTn id="163" dur="500"/>
                                        <p:tgtEl>
                                          <p:spTgt spid="2035"/>
                                        </p:tgtEl>
                                      </p:cBhvr>
                                    </p:animEffect>
                                    <p:anim calcmode="lin" valueType="num">
                                      <p:cBhvr>
                                        <p:cTn id="164" dur="500" fill="hold"/>
                                        <p:tgtEl>
                                          <p:spTgt spid="2035"/>
                                        </p:tgtEl>
                                        <p:attrNameLst>
                                          <p:attrName>ppt_x</p:attrName>
                                        </p:attrNameLst>
                                      </p:cBhvr>
                                      <p:tavLst>
                                        <p:tav tm="0">
                                          <p:val>
                                            <p:strVal val="#ppt_x-.035"/>
                                          </p:val>
                                        </p:tav>
                                        <p:tav tm="100000">
                                          <p:val>
                                            <p:strVal val="#ppt_x"/>
                                          </p:val>
                                        </p:tav>
                                      </p:tavLst>
                                    </p:anim>
                                    <p:anim calcmode="lin" valueType="num">
                                      <p:cBhvr>
                                        <p:cTn id="165" dur="500" fill="hold"/>
                                        <p:tgtEl>
                                          <p:spTgt spid="2035"/>
                                        </p:tgtEl>
                                        <p:attrNameLst>
                                          <p:attrName>ppt_y</p:attrName>
                                        </p:attrNameLst>
                                      </p:cBhvr>
                                      <p:tavLst>
                                        <p:tav tm="0">
                                          <p:val>
                                            <p:strVal val="#ppt_y"/>
                                          </p:val>
                                        </p:tav>
                                        <p:tav tm="100000">
                                          <p:val>
                                            <p:strVal val="#ppt_y"/>
                                          </p:val>
                                        </p:tav>
                                      </p:tavLst>
                                    </p:anim>
                                  </p:childTnLst>
                                </p:cTn>
                              </p:par>
                            </p:childTnLst>
                          </p:cTn>
                        </p:par>
                      </p:childTnLst>
                    </p:cTn>
                  </p:par>
                  <p:par>
                    <p:cTn id="166" fill="hold">
                      <p:stCondLst>
                        <p:cond delay="indefinite"/>
                      </p:stCondLst>
                      <p:childTnLst>
                        <p:par>
                          <p:cTn id="167" fill="hold">
                            <p:stCondLst>
                              <p:cond delay="0"/>
                            </p:stCondLst>
                            <p:childTnLst>
                              <p:par>
                                <p:cTn id="168" presetID="10" presetClass="entr" presetSubtype="0" fill="hold" grpId="0" nodeType="clickEffect">
                                  <p:stCondLst>
                                    <p:cond delay="0"/>
                                  </p:stCondLst>
                                  <p:childTnLst>
                                    <p:set>
                                      <p:cBhvr>
                                        <p:cTn id="169" dur="1" fill="hold">
                                          <p:stCondLst>
                                            <p:cond delay="0"/>
                                          </p:stCondLst>
                                        </p:cTn>
                                        <p:tgtEl>
                                          <p:spTgt spid="2001"/>
                                        </p:tgtEl>
                                        <p:attrNameLst>
                                          <p:attrName>style.visibility</p:attrName>
                                        </p:attrNameLst>
                                      </p:cBhvr>
                                      <p:to>
                                        <p:strVal val="visible"/>
                                      </p:to>
                                    </p:set>
                                    <p:animEffect transition="in" filter="fade">
                                      <p:cBhvr>
                                        <p:cTn id="170" dur="450"/>
                                        <p:tgtEl>
                                          <p:spTgt spid="2001"/>
                                        </p:tgtEl>
                                      </p:cBhvr>
                                    </p:animEffect>
                                  </p:childTnLst>
                                </p:cTn>
                              </p:par>
                              <p:par>
                                <p:cTn id="171" presetID="42" presetClass="entr" presetSubtype="0" fill="hold" grpId="0" nodeType="withEffect">
                                  <p:stCondLst>
                                    <p:cond delay="140"/>
                                  </p:stCondLst>
                                  <p:childTnLst>
                                    <p:set>
                                      <p:cBhvr>
                                        <p:cTn id="172" dur="1" fill="hold">
                                          <p:stCondLst>
                                            <p:cond delay="0"/>
                                          </p:stCondLst>
                                        </p:cTn>
                                        <p:tgtEl>
                                          <p:spTgt spid="2002"/>
                                        </p:tgtEl>
                                        <p:attrNameLst>
                                          <p:attrName>style.visibility</p:attrName>
                                        </p:attrNameLst>
                                      </p:cBhvr>
                                      <p:to>
                                        <p:strVal val="visible"/>
                                      </p:to>
                                    </p:set>
                                    <p:animEffect transition="in" filter="fade">
                                      <p:cBhvr>
                                        <p:cTn id="173" dur="450"/>
                                        <p:tgtEl>
                                          <p:spTgt spid="2002"/>
                                        </p:tgtEl>
                                      </p:cBhvr>
                                    </p:animEffect>
                                    <p:anim calcmode="lin" valueType="num">
                                      <p:cBhvr>
                                        <p:cTn id="174" dur="450" fill="hold"/>
                                        <p:tgtEl>
                                          <p:spTgt spid="2002"/>
                                        </p:tgtEl>
                                        <p:attrNameLst>
                                          <p:attrName>ppt_x</p:attrName>
                                        </p:attrNameLst>
                                      </p:cBhvr>
                                      <p:tavLst>
                                        <p:tav tm="0">
                                          <p:val>
                                            <p:strVal val="#ppt_x"/>
                                          </p:val>
                                        </p:tav>
                                        <p:tav tm="100000">
                                          <p:val>
                                            <p:strVal val="#ppt_x"/>
                                          </p:val>
                                        </p:tav>
                                      </p:tavLst>
                                    </p:anim>
                                    <p:anim calcmode="lin" valueType="num">
                                      <p:cBhvr>
                                        <p:cTn id="175" dur="450" fill="hold"/>
                                        <p:tgtEl>
                                          <p:spTgt spid="2002"/>
                                        </p:tgtEl>
                                        <p:attrNameLst>
                                          <p:attrName>ppt_y</p:attrName>
                                        </p:attrNameLst>
                                      </p:cBhvr>
                                      <p:tavLst>
                                        <p:tav tm="0">
                                          <p:val>
                                            <p:strVal val="#ppt_y+.03"/>
                                          </p:val>
                                        </p:tav>
                                        <p:tav tm="100000">
                                          <p:val>
                                            <p:strVal val="#ppt_y"/>
                                          </p:val>
                                        </p:tav>
                                      </p:tavLst>
                                    </p:anim>
                                  </p:childTnLst>
                                </p:cTn>
                              </p:par>
                              <p:par>
                                <p:cTn id="176" presetID="53" presetClass="entr" presetSubtype="16" fill="hold" grpId="0" nodeType="withEffect">
                                  <p:stCondLst>
                                    <p:cond delay="280"/>
                                  </p:stCondLst>
                                  <p:childTnLst>
                                    <p:set>
                                      <p:cBhvr>
                                        <p:cTn id="177" dur="1" fill="hold">
                                          <p:stCondLst>
                                            <p:cond delay="0"/>
                                          </p:stCondLst>
                                        </p:cTn>
                                        <p:tgtEl>
                                          <p:spTgt spid="2003"/>
                                        </p:tgtEl>
                                        <p:attrNameLst>
                                          <p:attrName>style.visibility</p:attrName>
                                        </p:attrNameLst>
                                      </p:cBhvr>
                                      <p:to>
                                        <p:strVal val="visible"/>
                                      </p:to>
                                    </p:set>
                                    <p:anim calcmode="lin" valueType="num">
                                      <p:cBhvr>
                                        <p:cTn id="178" dur="500" fill="hold"/>
                                        <p:tgtEl>
                                          <p:spTgt spid="2003"/>
                                        </p:tgtEl>
                                        <p:attrNameLst>
                                          <p:attrName>ppt_w</p:attrName>
                                        </p:attrNameLst>
                                      </p:cBhvr>
                                      <p:tavLst>
                                        <p:tav tm="0">
                                          <p:val>
                                            <p:strVal val="#ppt_w*0.85"/>
                                          </p:val>
                                        </p:tav>
                                        <p:tav tm="100000">
                                          <p:val>
                                            <p:strVal val="#ppt_w"/>
                                          </p:val>
                                        </p:tav>
                                      </p:tavLst>
                                    </p:anim>
                                    <p:anim calcmode="lin" valueType="num">
                                      <p:cBhvr>
                                        <p:cTn id="179" dur="500" fill="hold"/>
                                        <p:tgtEl>
                                          <p:spTgt spid="2003"/>
                                        </p:tgtEl>
                                        <p:attrNameLst>
                                          <p:attrName>ppt_h</p:attrName>
                                        </p:attrNameLst>
                                      </p:cBhvr>
                                      <p:tavLst>
                                        <p:tav tm="0">
                                          <p:val>
                                            <p:strVal val="#ppt_h*0.85"/>
                                          </p:val>
                                        </p:tav>
                                        <p:tav tm="100000">
                                          <p:val>
                                            <p:strVal val="#ppt_h"/>
                                          </p:val>
                                        </p:tav>
                                      </p:tavLst>
                                    </p:anim>
                                    <p:animEffect transition="in" filter="fade">
                                      <p:cBhvr>
                                        <p:cTn id="180" dur="500"/>
                                        <p:tgtEl>
                                          <p:spTgt spid="2003"/>
                                        </p:tgtEl>
                                      </p:cBhvr>
                                    </p:animEffect>
                                  </p:childTnLst>
                                </p:cTn>
                              </p:par>
                              <p:par>
                                <p:cTn id="181" presetID="53" presetClass="entr" presetSubtype="16" fill="hold" nodeType="withEffect">
                                  <p:stCondLst>
                                    <p:cond delay="280"/>
                                  </p:stCondLst>
                                  <p:childTnLst>
                                    <p:set>
                                      <p:cBhvr>
                                        <p:cTn id="182" dur="1" fill="hold">
                                          <p:stCondLst>
                                            <p:cond delay="0"/>
                                          </p:stCondLst>
                                        </p:cTn>
                                        <p:tgtEl>
                                          <p:spTgt spid="508"/>
                                        </p:tgtEl>
                                        <p:attrNameLst>
                                          <p:attrName>style.visibility</p:attrName>
                                        </p:attrNameLst>
                                      </p:cBhvr>
                                      <p:to>
                                        <p:strVal val="visible"/>
                                      </p:to>
                                    </p:set>
                                    <p:anim calcmode="lin" valueType="num">
                                      <p:cBhvr>
                                        <p:cTn id="183" dur="500" fill="hold"/>
                                        <p:tgtEl>
                                          <p:spTgt spid="508"/>
                                        </p:tgtEl>
                                        <p:attrNameLst>
                                          <p:attrName>ppt_w</p:attrName>
                                        </p:attrNameLst>
                                      </p:cBhvr>
                                      <p:tavLst>
                                        <p:tav tm="0">
                                          <p:val>
                                            <p:strVal val="#ppt_w*0.85"/>
                                          </p:val>
                                        </p:tav>
                                        <p:tav tm="100000">
                                          <p:val>
                                            <p:strVal val="#ppt_w"/>
                                          </p:val>
                                        </p:tav>
                                      </p:tavLst>
                                    </p:anim>
                                    <p:anim calcmode="lin" valueType="num">
                                      <p:cBhvr>
                                        <p:cTn id="184" dur="500" fill="hold"/>
                                        <p:tgtEl>
                                          <p:spTgt spid="508"/>
                                        </p:tgtEl>
                                        <p:attrNameLst>
                                          <p:attrName>ppt_h</p:attrName>
                                        </p:attrNameLst>
                                      </p:cBhvr>
                                      <p:tavLst>
                                        <p:tav tm="0">
                                          <p:val>
                                            <p:strVal val="#ppt_h*0.85"/>
                                          </p:val>
                                        </p:tav>
                                        <p:tav tm="100000">
                                          <p:val>
                                            <p:strVal val="#ppt_h"/>
                                          </p:val>
                                        </p:tav>
                                      </p:tavLst>
                                    </p:anim>
                                    <p:animEffect transition="in" filter="fade">
                                      <p:cBhvr>
                                        <p:cTn id="185" dur="500"/>
                                        <p:tgtEl>
                                          <p:spTgt spid="508"/>
                                        </p:tgtEl>
                                      </p:cBhvr>
                                    </p:animEffect>
                                  </p:childTnLst>
                                </p:cTn>
                              </p:par>
                              <p:par>
                                <p:cTn id="186" presetID="42" presetClass="entr" presetSubtype="0" fill="hold" grpId="0" nodeType="withEffect">
                                  <p:stCondLst>
                                    <p:cond delay="420"/>
                                  </p:stCondLst>
                                  <p:childTnLst>
                                    <p:set>
                                      <p:cBhvr>
                                        <p:cTn id="187" dur="1" fill="hold">
                                          <p:stCondLst>
                                            <p:cond delay="0"/>
                                          </p:stCondLst>
                                        </p:cTn>
                                        <p:tgtEl>
                                          <p:spTgt spid="2004"/>
                                        </p:tgtEl>
                                        <p:attrNameLst>
                                          <p:attrName>style.visibility</p:attrName>
                                        </p:attrNameLst>
                                      </p:cBhvr>
                                      <p:to>
                                        <p:strVal val="visible"/>
                                      </p:to>
                                    </p:set>
                                    <p:animEffect transition="in" filter="fade">
                                      <p:cBhvr>
                                        <p:cTn id="188" dur="450"/>
                                        <p:tgtEl>
                                          <p:spTgt spid="2004"/>
                                        </p:tgtEl>
                                      </p:cBhvr>
                                    </p:animEffect>
                                    <p:anim calcmode="lin" valueType="num">
                                      <p:cBhvr>
                                        <p:cTn id="189" dur="450" fill="hold"/>
                                        <p:tgtEl>
                                          <p:spTgt spid="2004"/>
                                        </p:tgtEl>
                                        <p:attrNameLst>
                                          <p:attrName>ppt_x</p:attrName>
                                        </p:attrNameLst>
                                      </p:cBhvr>
                                      <p:tavLst>
                                        <p:tav tm="0">
                                          <p:val>
                                            <p:strVal val="#ppt_x"/>
                                          </p:val>
                                        </p:tav>
                                        <p:tav tm="100000">
                                          <p:val>
                                            <p:strVal val="#ppt_x"/>
                                          </p:val>
                                        </p:tav>
                                      </p:tavLst>
                                    </p:anim>
                                    <p:anim calcmode="lin" valueType="num">
                                      <p:cBhvr>
                                        <p:cTn id="190" dur="450" fill="hold"/>
                                        <p:tgtEl>
                                          <p:spTgt spid="2004"/>
                                        </p:tgtEl>
                                        <p:attrNameLst>
                                          <p:attrName>ppt_y</p:attrName>
                                        </p:attrNameLst>
                                      </p:cBhvr>
                                      <p:tavLst>
                                        <p:tav tm="0">
                                          <p:val>
                                            <p:strVal val="#ppt_y+.03"/>
                                          </p:val>
                                        </p:tav>
                                        <p:tav tm="100000">
                                          <p:val>
                                            <p:strVal val="#ppt_y"/>
                                          </p:val>
                                        </p:tav>
                                      </p:tavLst>
                                    </p:anim>
                                  </p:childTnLst>
                                </p:cTn>
                              </p:par>
                              <p:par>
                                <p:cTn id="191" presetID="42" presetClass="entr" presetSubtype="0" fill="hold" grpId="0" nodeType="withEffect">
                                  <p:stCondLst>
                                    <p:cond delay="420"/>
                                  </p:stCondLst>
                                  <p:childTnLst>
                                    <p:set>
                                      <p:cBhvr>
                                        <p:cTn id="192" dur="1" fill="hold">
                                          <p:stCondLst>
                                            <p:cond delay="0"/>
                                          </p:stCondLst>
                                        </p:cTn>
                                        <p:tgtEl>
                                          <p:spTgt spid="2005"/>
                                        </p:tgtEl>
                                        <p:attrNameLst>
                                          <p:attrName>style.visibility</p:attrName>
                                        </p:attrNameLst>
                                      </p:cBhvr>
                                      <p:to>
                                        <p:strVal val="visible"/>
                                      </p:to>
                                    </p:set>
                                    <p:animEffect transition="in" filter="fade">
                                      <p:cBhvr>
                                        <p:cTn id="193" dur="450"/>
                                        <p:tgtEl>
                                          <p:spTgt spid="2005"/>
                                        </p:tgtEl>
                                      </p:cBhvr>
                                    </p:animEffect>
                                    <p:anim calcmode="lin" valueType="num">
                                      <p:cBhvr>
                                        <p:cTn id="194" dur="450" fill="hold"/>
                                        <p:tgtEl>
                                          <p:spTgt spid="2005"/>
                                        </p:tgtEl>
                                        <p:attrNameLst>
                                          <p:attrName>ppt_x</p:attrName>
                                        </p:attrNameLst>
                                      </p:cBhvr>
                                      <p:tavLst>
                                        <p:tav tm="0">
                                          <p:val>
                                            <p:strVal val="#ppt_x"/>
                                          </p:val>
                                        </p:tav>
                                        <p:tav tm="100000">
                                          <p:val>
                                            <p:strVal val="#ppt_x"/>
                                          </p:val>
                                        </p:tav>
                                      </p:tavLst>
                                    </p:anim>
                                    <p:anim calcmode="lin" valueType="num">
                                      <p:cBhvr>
                                        <p:cTn id="195" dur="450" fill="hold"/>
                                        <p:tgtEl>
                                          <p:spTgt spid="2005"/>
                                        </p:tgtEl>
                                        <p:attrNameLst>
                                          <p:attrName>ppt_y</p:attrName>
                                        </p:attrNameLst>
                                      </p:cBhvr>
                                      <p:tavLst>
                                        <p:tav tm="0">
                                          <p:val>
                                            <p:strVal val="#ppt_y+.03"/>
                                          </p:val>
                                        </p:tav>
                                        <p:tav tm="100000">
                                          <p:val>
                                            <p:strVal val="#ppt_y"/>
                                          </p:val>
                                        </p:tav>
                                      </p:tavLst>
                                    </p:anim>
                                  </p:childTnLst>
                                </p:cTn>
                              </p:par>
                              <p:par>
                                <p:cTn id="196" presetID="22" presetClass="entr" presetSubtype="8" fill="hold" grpId="0" nodeType="withEffect">
                                  <p:stCondLst>
                                    <p:cond delay="560"/>
                                  </p:stCondLst>
                                  <p:childTnLst>
                                    <p:set>
                                      <p:cBhvr>
                                        <p:cTn id="197" dur="1" fill="hold">
                                          <p:stCondLst>
                                            <p:cond delay="0"/>
                                          </p:stCondLst>
                                        </p:cTn>
                                        <p:tgtEl>
                                          <p:spTgt spid="2006"/>
                                        </p:tgtEl>
                                        <p:attrNameLst>
                                          <p:attrName>style.visibility</p:attrName>
                                        </p:attrNameLst>
                                      </p:cBhvr>
                                      <p:to>
                                        <p:strVal val="visible"/>
                                      </p:to>
                                    </p:set>
                                    <p:animEffect transition="in" filter="wipe(left)">
                                      <p:cBhvr>
                                        <p:cTn id="198" dur="400"/>
                                        <p:tgtEl>
                                          <p:spTgt spid="2006"/>
                                        </p:tgtEl>
                                      </p:cBhvr>
                                    </p:animEffect>
                                  </p:childTnLst>
                                </p:cTn>
                              </p:par>
                              <p:par>
                                <p:cTn id="199" presetID="53" presetClass="entr" presetSubtype="16" fill="hold" grpId="0" nodeType="withEffect">
                                  <p:stCondLst>
                                    <p:cond delay="700"/>
                                  </p:stCondLst>
                                  <p:childTnLst>
                                    <p:set>
                                      <p:cBhvr>
                                        <p:cTn id="200" dur="1" fill="hold">
                                          <p:stCondLst>
                                            <p:cond delay="0"/>
                                          </p:stCondLst>
                                        </p:cTn>
                                        <p:tgtEl>
                                          <p:spTgt spid="2007"/>
                                        </p:tgtEl>
                                        <p:attrNameLst>
                                          <p:attrName>style.visibility</p:attrName>
                                        </p:attrNameLst>
                                      </p:cBhvr>
                                      <p:to>
                                        <p:strVal val="visible"/>
                                      </p:to>
                                    </p:set>
                                    <p:anim calcmode="lin" valueType="num">
                                      <p:cBhvr>
                                        <p:cTn id="201" dur="500" fill="hold"/>
                                        <p:tgtEl>
                                          <p:spTgt spid="2007"/>
                                        </p:tgtEl>
                                        <p:attrNameLst>
                                          <p:attrName>ppt_w</p:attrName>
                                        </p:attrNameLst>
                                      </p:cBhvr>
                                      <p:tavLst>
                                        <p:tav tm="0">
                                          <p:val>
                                            <p:strVal val="#ppt_w*0.85"/>
                                          </p:val>
                                        </p:tav>
                                        <p:tav tm="100000">
                                          <p:val>
                                            <p:strVal val="#ppt_w"/>
                                          </p:val>
                                        </p:tav>
                                      </p:tavLst>
                                    </p:anim>
                                    <p:anim calcmode="lin" valueType="num">
                                      <p:cBhvr>
                                        <p:cTn id="202" dur="500" fill="hold"/>
                                        <p:tgtEl>
                                          <p:spTgt spid="2007"/>
                                        </p:tgtEl>
                                        <p:attrNameLst>
                                          <p:attrName>ppt_h</p:attrName>
                                        </p:attrNameLst>
                                      </p:cBhvr>
                                      <p:tavLst>
                                        <p:tav tm="0">
                                          <p:val>
                                            <p:strVal val="#ppt_h*0.85"/>
                                          </p:val>
                                        </p:tav>
                                        <p:tav tm="100000">
                                          <p:val>
                                            <p:strVal val="#ppt_h"/>
                                          </p:val>
                                        </p:tav>
                                      </p:tavLst>
                                    </p:anim>
                                    <p:animEffect transition="in" filter="fade">
                                      <p:cBhvr>
                                        <p:cTn id="203" dur="500"/>
                                        <p:tgtEl>
                                          <p:spTgt spid="2007"/>
                                        </p:tgtEl>
                                      </p:cBhvr>
                                    </p:animEffect>
                                  </p:childTnLst>
                                </p:cTn>
                              </p:par>
                              <p:par>
                                <p:cTn id="204" presetID="53" presetClass="entr" presetSubtype="16" fill="hold" nodeType="withEffect">
                                  <p:stCondLst>
                                    <p:cond delay="700"/>
                                  </p:stCondLst>
                                  <p:childTnLst>
                                    <p:set>
                                      <p:cBhvr>
                                        <p:cTn id="205" dur="1" fill="hold">
                                          <p:stCondLst>
                                            <p:cond delay="0"/>
                                          </p:stCondLst>
                                        </p:cTn>
                                        <p:tgtEl>
                                          <p:spTgt spid="509"/>
                                        </p:tgtEl>
                                        <p:attrNameLst>
                                          <p:attrName>style.visibility</p:attrName>
                                        </p:attrNameLst>
                                      </p:cBhvr>
                                      <p:to>
                                        <p:strVal val="visible"/>
                                      </p:to>
                                    </p:set>
                                    <p:anim calcmode="lin" valueType="num">
                                      <p:cBhvr>
                                        <p:cTn id="206" dur="500" fill="hold"/>
                                        <p:tgtEl>
                                          <p:spTgt spid="509"/>
                                        </p:tgtEl>
                                        <p:attrNameLst>
                                          <p:attrName>ppt_w</p:attrName>
                                        </p:attrNameLst>
                                      </p:cBhvr>
                                      <p:tavLst>
                                        <p:tav tm="0">
                                          <p:val>
                                            <p:strVal val="#ppt_w*0.85"/>
                                          </p:val>
                                        </p:tav>
                                        <p:tav tm="100000">
                                          <p:val>
                                            <p:strVal val="#ppt_w"/>
                                          </p:val>
                                        </p:tav>
                                      </p:tavLst>
                                    </p:anim>
                                    <p:anim calcmode="lin" valueType="num">
                                      <p:cBhvr>
                                        <p:cTn id="207" dur="500" fill="hold"/>
                                        <p:tgtEl>
                                          <p:spTgt spid="509"/>
                                        </p:tgtEl>
                                        <p:attrNameLst>
                                          <p:attrName>ppt_h</p:attrName>
                                        </p:attrNameLst>
                                      </p:cBhvr>
                                      <p:tavLst>
                                        <p:tav tm="0">
                                          <p:val>
                                            <p:strVal val="#ppt_h*0.85"/>
                                          </p:val>
                                        </p:tav>
                                        <p:tav tm="100000">
                                          <p:val>
                                            <p:strVal val="#ppt_h"/>
                                          </p:val>
                                        </p:tav>
                                      </p:tavLst>
                                    </p:anim>
                                    <p:animEffect transition="in" filter="fade">
                                      <p:cBhvr>
                                        <p:cTn id="208" dur="500"/>
                                        <p:tgtEl>
                                          <p:spTgt spid="509"/>
                                        </p:tgtEl>
                                      </p:cBhvr>
                                    </p:animEffect>
                                  </p:childTnLst>
                                </p:cTn>
                              </p:par>
                              <p:par>
                                <p:cTn id="209" presetID="42" presetClass="entr" presetSubtype="0" fill="hold" grpId="0" nodeType="withEffect">
                                  <p:stCondLst>
                                    <p:cond delay="840"/>
                                  </p:stCondLst>
                                  <p:childTnLst>
                                    <p:set>
                                      <p:cBhvr>
                                        <p:cTn id="210" dur="1" fill="hold">
                                          <p:stCondLst>
                                            <p:cond delay="0"/>
                                          </p:stCondLst>
                                        </p:cTn>
                                        <p:tgtEl>
                                          <p:spTgt spid="2008"/>
                                        </p:tgtEl>
                                        <p:attrNameLst>
                                          <p:attrName>style.visibility</p:attrName>
                                        </p:attrNameLst>
                                      </p:cBhvr>
                                      <p:to>
                                        <p:strVal val="visible"/>
                                      </p:to>
                                    </p:set>
                                    <p:animEffect transition="in" filter="fade">
                                      <p:cBhvr>
                                        <p:cTn id="211" dur="450"/>
                                        <p:tgtEl>
                                          <p:spTgt spid="2008"/>
                                        </p:tgtEl>
                                      </p:cBhvr>
                                    </p:animEffect>
                                    <p:anim calcmode="lin" valueType="num">
                                      <p:cBhvr>
                                        <p:cTn id="212" dur="450" fill="hold"/>
                                        <p:tgtEl>
                                          <p:spTgt spid="2008"/>
                                        </p:tgtEl>
                                        <p:attrNameLst>
                                          <p:attrName>ppt_x</p:attrName>
                                        </p:attrNameLst>
                                      </p:cBhvr>
                                      <p:tavLst>
                                        <p:tav tm="0">
                                          <p:val>
                                            <p:strVal val="#ppt_x"/>
                                          </p:val>
                                        </p:tav>
                                        <p:tav tm="100000">
                                          <p:val>
                                            <p:strVal val="#ppt_x"/>
                                          </p:val>
                                        </p:tav>
                                      </p:tavLst>
                                    </p:anim>
                                    <p:anim calcmode="lin" valueType="num">
                                      <p:cBhvr>
                                        <p:cTn id="213" dur="450" fill="hold"/>
                                        <p:tgtEl>
                                          <p:spTgt spid="2008"/>
                                        </p:tgtEl>
                                        <p:attrNameLst>
                                          <p:attrName>ppt_y</p:attrName>
                                        </p:attrNameLst>
                                      </p:cBhvr>
                                      <p:tavLst>
                                        <p:tav tm="0">
                                          <p:val>
                                            <p:strVal val="#ppt_y+.03"/>
                                          </p:val>
                                        </p:tav>
                                        <p:tav tm="100000">
                                          <p:val>
                                            <p:strVal val="#ppt_y"/>
                                          </p:val>
                                        </p:tav>
                                      </p:tavLst>
                                    </p:anim>
                                  </p:childTnLst>
                                </p:cTn>
                              </p:par>
                              <p:par>
                                <p:cTn id="214" presetID="42" presetClass="entr" presetSubtype="0" fill="hold" grpId="0" nodeType="withEffect">
                                  <p:stCondLst>
                                    <p:cond delay="840"/>
                                  </p:stCondLst>
                                  <p:childTnLst>
                                    <p:set>
                                      <p:cBhvr>
                                        <p:cTn id="215" dur="1" fill="hold">
                                          <p:stCondLst>
                                            <p:cond delay="0"/>
                                          </p:stCondLst>
                                        </p:cTn>
                                        <p:tgtEl>
                                          <p:spTgt spid="2009"/>
                                        </p:tgtEl>
                                        <p:attrNameLst>
                                          <p:attrName>style.visibility</p:attrName>
                                        </p:attrNameLst>
                                      </p:cBhvr>
                                      <p:to>
                                        <p:strVal val="visible"/>
                                      </p:to>
                                    </p:set>
                                    <p:animEffect transition="in" filter="fade">
                                      <p:cBhvr>
                                        <p:cTn id="216" dur="450"/>
                                        <p:tgtEl>
                                          <p:spTgt spid="2009"/>
                                        </p:tgtEl>
                                      </p:cBhvr>
                                    </p:animEffect>
                                    <p:anim calcmode="lin" valueType="num">
                                      <p:cBhvr>
                                        <p:cTn id="217" dur="450" fill="hold"/>
                                        <p:tgtEl>
                                          <p:spTgt spid="2009"/>
                                        </p:tgtEl>
                                        <p:attrNameLst>
                                          <p:attrName>ppt_x</p:attrName>
                                        </p:attrNameLst>
                                      </p:cBhvr>
                                      <p:tavLst>
                                        <p:tav tm="0">
                                          <p:val>
                                            <p:strVal val="#ppt_x"/>
                                          </p:val>
                                        </p:tav>
                                        <p:tav tm="100000">
                                          <p:val>
                                            <p:strVal val="#ppt_x"/>
                                          </p:val>
                                        </p:tav>
                                      </p:tavLst>
                                    </p:anim>
                                    <p:anim calcmode="lin" valueType="num">
                                      <p:cBhvr>
                                        <p:cTn id="218" dur="450" fill="hold"/>
                                        <p:tgtEl>
                                          <p:spTgt spid="2009"/>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001" grpId="0" animBg="1"/>
      <p:bldP spid="2002" grpId="0" animBg="1"/>
      <p:bldP spid="2003" grpId="0" animBg="1"/>
      <p:bldP spid="2004" grpId="0" animBg="1"/>
      <p:bldP spid="2005" grpId="0" animBg="1"/>
      <p:bldP spid="2006" grpId="0" animBg="1"/>
      <p:bldP spid="2007" grpId="0" animBg="1"/>
      <p:bldP spid="2008" grpId="0" animBg="1"/>
      <p:bldP spid="2009" grpId="0" animBg="1"/>
      <p:bldP spid="2010" grpId="0" animBg="1"/>
      <p:bldP spid="2011" grpId="0" animBg="1"/>
      <p:bldP spid="2012" grpId="0" animBg="1"/>
      <p:bldP spid="2013" grpId="0" animBg="1"/>
      <p:bldP spid="2014" grpId="0" animBg="1"/>
      <p:bldP spid="2015" grpId="0" animBg="1"/>
      <p:bldP spid="2016" grpId="0" animBg="1"/>
      <p:bldP spid="2017" grpId="0" animBg="1"/>
      <p:bldP spid="2018" grpId="0" animBg="1"/>
      <p:bldP spid="2019" grpId="0" animBg="1"/>
      <p:bldP spid="2020" grpId="0" animBg="1"/>
      <p:bldP spid="2021" grpId="0" animBg="1"/>
      <p:bldP spid="2022" grpId="0" animBg="1"/>
      <p:bldP spid="2023" grpId="0" animBg="1"/>
      <p:bldP spid="2024" grpId="0" animBg="1"/>
      <p:bldP spid="2025" grpId="0" animBg="1"/>
      <p:bldP spid="2026" grpId="0" animBg="1"/>
      <p:bldP spid="2027" grpId="0" animBg="1"/>
      <p:bldP spid="2028" grpId="0" animBg="1"/>
      <p:bldP spid="2029" grpId="0" animBg="1"/>
      <p:bldP spid="2030" grpId="0" animBg="1"/>
      <p:bldP spid="2031" grpId="0" animBg="1"/>
      <p:bldP spid="2032" grpId="0" animBg="1"/>
      <p:bldP spid="2033" grpId="0" animBg="1"/>
      <p:bldP spid="2034" grpId="0" animBg="1"/>
      <p:bldP spid="2035" grpId="0" animBg="1"/>
      <p:bldP spid="2036" grpId="0" animBg="1"/>
      <p:bldP spid="203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34E4B-D940-E397-123E-0828479AB41A}"/>
            </a:ext>
          </a:extLst>
        </p:cNvPr>
        <p:cNvGrpSpPr/>
        <p:nvPr/>
      </p:nvGrpSpPr>
      <p:grpSpPr>
        <a:xfrm>
          <a:off x="0" y="0"/>
          <a:ext cx="0" cy="0"/>
          <a:chOff x="0" y="0"/>
          <a:chExt cx="0" cy="0"/>
        </a:xfrm>
      </p:grpSpPr>
      <p:sp>
        <p:nvSpPr>
          <p:cNvPr id="5" name="ZoneTexte 4">
            <a:extLst>
              <a:ext uri="{FF2B5EF4-FFF2-40B4-BE49-F238E27FC236}">
                <a16:creationId xmlns:a16="http://schemas.microsoft.com/office/drawing/2014/main" id="{43CCC699-C832-B554-FF6E-A3DE90EE8D30}"/>
              </a:ext>
            </a:extLst>
          </p:cNvPr>
          <p:cNvSpPr txBox="1"/>
          <p:nvPr/>
        </p:nvSpPr>
        <p:spPr>
          <a:xfrm>
            <a:off x="627116" y="701492"/>
            <a:ext cx="1376915" cy="1446550"/>
          </a:xfrm>
          <a:prstGeom prst="rect">
            <a:avLst/>
          </a:prstGeom>
          <a:noFill/>
        </p:spPr>
        <p:txBody>
          <a:bodyPr wrap="square" rtlCol="0">
            <a:spAutoFit/>
          </a:bodyPr>
          <a:lstStyle/>
          <a:p>
            <a:r>
              <a:rPr lang="fr-FR" sz="8600" dirty="0">
                <a:solidFill>
                  <a:srgbClr val="F96A09"/>
                </a:solidFill>
                <a:latin typeface="Times New Roman" panose="02020603050405020304" pitchFamily="18" charset="0"/>
                <a:cs typeface="Times New Roman" panose="02020603050405020304" pitchFamily="18" charset="0"/>
              </a:rPr>
              <a:t>05</a:t>
            </a:r>
          </a:p>
        </p:txBody>
      </p:sp>
      <p:cxnSp>
        <p:nvCxnSpPr>
          <p:cNvPr id="11" name="Connecteur droit 10">
            <a:extLst>
              <a:ext uri="{FF2B5EF4-FFF2-40B4-BE49-F238E27FC236}">
                <a16:creationId xmlns:a16="http://schemas.microsoft.com/office/drawing/2014/main" id="{562F0FD1-5A10-D773-0ADE-34200EE61BA5}"/>
              </a:ext>
            </a:extLst>
          </p:cNvPr>
          <p:cNvCxnSpPr>
            <a:cxnSpLocks/>
          </p:cNvCxnSpPr>
          <p:nvPr/>
        </p:nvCxnSpPr>
        <p:spPr>
          <a:xfrm>
            <a:off x="2007270" y="863600"/>
            <a:ext cx="0" cy="1117600"/>
          </a:xfrm>
          <a:prstGeom prst="line">
            <a:avLst/>
          </a:prstGeom>
          <a:ln w="28575">
            <a:solidFill>
              <a:srgbClr val="F96A09"/>
            </a:solidFill>
          </a:ln>
        </p:spPr>
        <p:style>
          <a:lnRef idx="1">
            <a:schemeClr val="accent1"/>
          </a:lnRef>
          <a:fillRef idx="0">
            <a:schemeClr val="accent1"/>
          </a:fillRef>
          <a:effectRef idx="0">
            <a:schemeClr val="accent1"/>
          </a:effectRef>
          <a:fontRef idx="minor">
            <a:schemeClr val="tx1"/>
          </a:fontRef>
        </p:style>
      </p:cxnSp>
      <p:sp>
        <p:nvSpPr>
          <p:cNvPr id="25" name="Ellipse 24">
            <a:extLst>
              <a:ext uri="{FF2B5EF4-FFF2-40B4-BE49-F238E27FC236}">
                <a16:creationId xmlns:a16="http://schemas.microsoft.com/office/drawing/2014/main" id="{0C5AFB22-C85E-0616-16D7-2AD14EC80BF5}"/>
              </a:ext>
            </a:extLst>
          </p:cNvPr>
          <p:cNvSpPr/>
          <p:nvPr/>
        </p:nvSpPr>
        <p:spPr>
          <a:xfrm>
            <a:off x="1435099"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1</a:t>
            </a:r>
          </a:p>
        </p:txBody>
      </p:sp>
      <p:sp>
        <p:nvSpPr>
          <p:cNvPr id="39" name="Ellipse 38">
            <a:extLst>
              <a:ext uri="{FF2B5EF4-FFF2-40B4-BE49-F238E27FC236}">
                <a16:creationId xmlns:a16="http://schemas.microsoft.com/office/drawing/2014/main" id="{0F49749D-BAC0-CE40-7FC9-7B41935FDF50}"/>
              </a:ext>
            </a:extLst>
          </p:cNvPr>
          <p:cNvSpPr/>
          <p:nvPr/>
        </p:nvSpPr>
        <p:spPr>
          <a:xfrm>
            <a:off x="3276885"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2</a:t>
            </a:r>
          </a:p>
        </p:txBody>
      </p:sp>
      <p:sp>
        <p:nvSpPr>
          <p:cNvPr id="41" name="Ellipse 40">
            <a:extLst>
              <a:ext uri="{FF2B5EF4-FFF2-40B4-BE49-F238E27FC236}">
                <a16:creationId xmlns:a16="http://schemas.microsoft.com/office/drawing/2014/main" id="{F666FFA3-59F4-6900-31A2-19A5E78104B9}"/>
              </a:ext>
            </a:extLst>
          </p:cNvPr>
          <p:cNvSpPr/>
          <p:nvPr/>
        </p:nvSpPr>
        <p:spPr>
          <a:xfrm>
            <a:off x="5118671"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3</a:t>
            </a:r>
          </a:p>
        </p:txBody>
      </p:sp>
      <p:sp>
        <p:nvSpPr>
          <p:cNvPr id="43" name="Ellipse 42">
            <a:extLst>
              <a:ext uri="{FF2B5EF4-FFF2-40B4-BE49-F238E27FC236}">
                <a16:creationId xmlns:a16="http://schemas.microsoft.com/office/drawing/2014/main" id="{45D59D05-A2E2-C4E8-7C2E-D070E9997B53}"/>
              </a:ext>
            </a:extLst>
          </p:cNvPr>
          <p:cNvSpPr/>
          <p:nvPr/>
        </p:nvSpPr>
        <p:spPr>
          <a:xfrm>
            <a:off x="696045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4</a:t>
            </a:r>
          </a:p>
        </p:txBody>
      </p:sp>
      <p:sp>
        <p:nvSpPr>
          <p:cNvPr id="45" name="Ellipse 44">
            <a:extLst>
              <a:ext uri="{FF2B5EF4-FFF2-40B4-BE49-F238E27FC236}">
                <a16:creationId xmlns:a16="http://schemas.microsoft.com/office/drawing/2014/main" id="{5C8FB12B-0859-5B37-1C2F-2A37DB932930}"/>
              </a:ext>
            </a:extLst>
          </p:cNvPr>
          <p:cNvSpPr/>
          <p:nvPr/>
        </p:nvSpPr>
        <p:spPr>
          <a:xfrm>
            <a:off x="8802243" y="205023"/>
            <a:ext cx="246063" cy="253765"/>
          </a:xfrm>
          <a:prstGeom prst="ellipse">
            <a:avLst/>
          </a:prstGeom>
          <a:noFill/>
          <a:ln>
            <a:solidFill>
              <a:srgbClr val="F96A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F96A09"/>
                </a:solidFill>
              </a:rPr>
              <a:t>5</a:t>
            </a:r>
          </a:p>
        </p:txBody>
      </p:sp>
      <p:sp>
        <p:nvSpPr>
          <p:cNvPr id="47" name="Ellipse 46">
            <a:extLst>
              <a:ext uri="{FF2B5EF4-FFF2-40B4-BE49-F238E27FC236}">
                <a16:creationId xmlns:a16="http://schemas.microsoft.com/office/drawing/2014/main" id="{EE7C8120-729A-1E77-F295-857E7DE21D00}"/>
              </a:ext>
            </a:extLst>
          </p:cNvPr>
          <p:cNvSpPr/>
          <p:nvPr/>
        </p:nvSpPr>
        <p:spPr>
          <a:xfrm>
            <a:off x="1064402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6</a:t>
            </a:r>
          </a:p>
        </p:txBody>
      </p:sp>
      <p:cxnSp>
        <p:nvCxnSpPr>
          <p:cNvPr id="49" name="Connecteur droit 48">
            <a:extLst>
              <a:ext uri="{FF2B5EF4-FFF2-40B4-BE49-F238E27FC236}">
                <a16:creationId xmlns:a16="http://schemas.microsoft.com/office/drawing/2014/main" id="{56D58F6E-11EF-65EB-1B3B-21A5366750D6}"/>
              </a:ext>
            </a:extLst>
          </p:cNvPr>
          <p:cNvCxnSpPr>
            <a:endCxn id="25" idx="2"/>
          </p:cNvCxnSpPr>
          <p:nvPr/>
        </p:nvCxnSpPr>
        <p:spPr>
          <a:xfrm flipV="1">
            <a:off x="387416" y="331905"/>
            <a:ext cx="10476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6F68E7C8-73EF-4560-B025-8C1FDAC3E08D}"/>
              </a:ext>
            </a:extLst>
          </p:cNvPr>
          <p:cNvCxnSpPr>
            <a:stCxn id="25" idx="6"/>
            <a:endCxn id="39" idx="2"/>
          </p:cNvCxnSpPr>
          <p:nvPr/>
        </p:nvCxnSpPr>
        <p:spPr>
          <a:xfrm flipV="1">
            <a:off x="1681162"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98872FFB-D8A3-1B3D-50D3-1AD61DCCE9C6}"/>
              </a:ext>
            </a:extLst>
          </p:cNvPr>
          <p:cNvCxnSpPr>
            <a:stCxn id="39" idx="6"/>
            <a:endCxn id="41" idx="2"/>
          </p:cNvCxnSpPr>
          <p:nvPr/>
        </p:nvCxnSpPr>
        <p:spPr>
          <a:xfrm>
            <a:off x="3522948"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Connecteur droit 54">
            <a:extLst>
              <a:ext uri="{FF2B5EF4-FFF2-40B4-BE49-F238E27FC236}">
                <a16:creationId xmlns:a16="http://schemas.microsoft.com/office/drawing/2014/main" id="{03AAC927-4899-BF0D-63C6-CDC3A54C4D1C}"/>
              </a:ext>
            </a:extLst>
          </p:cNvPr>
          <p:cNvCxnSpPr>
            <a:stCxn id="41" idx="6"/>
            <a:endCxn id="43" idx="2"/>
          </p:cNvCxnSpPr>
          <p:nvPr/>
        </p:nvCxnSpPr>
        <p:spPr>
          <a:xfrm>
            <a:off x="5364734"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5DA4F19E-9FEB-0627-207A-738FE18589D2}"/>
              </a:ext>
            </a:extLst>
          </p:cNvPr>
          <p:cNvCxnSpPr>
            <a:stCxn id="43" idx="6"/>
            <a:endCxn id="45" idx="2"/>
          </p:cNvCxnSpPr>
          <p:nvPr/>
        </p:nvCxnSpPr>
        <p:spPr>
          <a:xfrm>
            <a:off x="7206520"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9" name="Connecteur droit 58">
            <a:extLst>
              <a:ext uri="{FF2B5EF4-FFF2-40B4-BE49-F238E27FC236}">
                <a16:creationId xmlns:a16="http://schemas.microsoft.com/office/drawing/2014/main" id="{84E5A159-52FB-7A5B-072C-DFC7BB336E5A}"/>
              </a:ext>
            </a:extLst>
          </p:cNvPr>
          <p:cNvCxnSpPr>
            <a:stCxn id="45" idx="6"/>
            <a:endCxn id="47" idx="2"/>
          </p:cNvCxnSpPr>
          <p:nvPr/>
        </p:nvCxnSpPr>
        <p:spPr>
          <a:xfrm flipV="1">
            <a:off x="9048306" y="331905"/>
            <a:ext cx="1595721"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62" name="Connecteur droit 61">
            <a:extLst>
              <a:ext uri="{FF2B5EF4-FFF2-40B4-BE49-F238E27FC236}">
                <a16:creationId xmlns:a16="http://schemas.microsoft.com/office/drawing/2014/main" id="{E8878DFE-3A06-B063-B56F-BDF3872BB035}"/>
              </a:ext>
            </a:extLst>
          </p:cNvPr>
          <p:cNvCxnSpPr>
            <a:stCxn id="47" idx="6"/>
          </p:cNvCxnSpPr>
          <p:nvPr/>
        </p:nvCxnSpPr>
        <p:spPr>
          <a:xfrm>
            <a:off x="10890090" y="331905"/>
            <a:ext cx="130191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65A2284C-E2CD-6862-3FD5-7167AA6E8F43}"/>
              </a:ext>
            </a:extLst>
          </p:cNvPr>
          <p:cNvSpPr txBox="1"/>
          <p:nvPr/>
        </p:nvSpPr>
        <p:spPr>
          <a:xfrm>
            <a:off x="624823" y="479710"/>
            <a:ext cx="1965977" cy="600164"/>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a:t>
            </a:r>
            <a:r>
              <a:rPr lang="fr-FR" sz="1100" b="1" dirty="0">
                <a:latin typeface="Montserrat"/>
              </a:rPr>
              <a:t> </a:t>
            </a:r>
            <a:r>
              <a:rPr lang="fr-FR" sz="1100" b="1" dirty="0">
                <a:latin typeface="Montserrat"/>
                <a:cs typeface="Montserrat"/>
              </a:rPr>
              <a:t>STRUCTURE D’ACCUEIL</a:t>
            </a:r>
          </a:p>
        </p:txBody>
      </p:sp>
      <p:sp>
        <p:nvSpPr>
          <p:cNvPr id="8" name="ZoneTexte 7">
            <a:extLst>
              <a:ext uri="{FF2B5EF4-FFF2-40B4-BE49-F238E27FC236}">
                <a16:creationId xmlns:a16="http://schemas.microsoft.com/office/drawing/2014/main" id="{D9056B9E-CAE4-D123-6050-E4DF706F971D}"/>
              </a:ext>
            </a:extLst>
          </p:cNvPr>
          <p:cNvSpPr txBox="1"/>
          <p:nvPr/>
        </p:nvSpPr>
        <p:spPr>
          <a:xfrm>
            <a:off x="2643588" y="417161"/>
            <a:ext cx="1481708" cy="430887"/>
          </a:xfrm>
          <a:prstGeom prst="rect">
            <a:avLst/>
          </a:prstGeom>
          <a:noFill/>
        </p:spPr>
        <p:txBody>
          <a:bodyPr wrap="square" rtlCol="0">
            <a:spAutoFit/>
          </a:bodyPr>
          <a:lstStyle/>
          <a:p>
            <a:r>
              <a:rPr lang="fr-FR" sz="1100" b="1" dirty="0">
                <a:latin typeface="Montserrat"/>
                <a:cs typeface="Montserrat"/>
              </a:rPr>
              <a:t>CONTEXTE ET </a:t>
            </a:r>
          </a:p>
          <a:p>
            <a:r>
              <a:rPr lang="fr-FR" sz="1100" b="1" dirty="0">
                <a:latin typeface="Montserrat"/>
                <a:cs typeface="Montserrat"/>
              </a:rPr>
              <a:t>PROBLÉMATIQUE</a:t>
            </a:r>
          </a:p>
        </p:txBody>
      </p:sp>
      <p:sp>
        <p:nvSpPr>
          <p:cNvPr id="10" name="ZoneTexte 9">
            <a:extLst>
              <a:ext uri="{FF2B5EF4-FFF2-40B4-BE49-F238E27FC236}">
                <a16:creationId xmlns:a16="http://schemas.microsoft.com/office/drawing/2014/main" id="{86072962-243A-4F7F-5400-F02D8C919126}"/>
              </a:ext>
            </a:extLst>
          </p:cNvPr>
          <p:cNvSpPr txBox="1"/>
          <p:nvPr/>
        </p:nvSpPr>
        <p:spPr>
          <a:xfrm>
            <a:off x="4178084" y="501799"/>
            <a:ext cx="1921727" cy="261610"/>
          </a:xfrm>
          <a:prstGeom prst="rect">
            <a:avLst/>
          </a:prstGeom>
          <a:noFill/>
        </p:spPr>
        <p:txBody>
          <a:bodyPr wrap="square" rtlCol="0">
            <a:spAutoFit/>
          </a:bodyPr>
          <a:lstStyle/>
          <a:p>
            <a:r>
              <a:rPr lang="fr-FR" sz="1100" b="1" dirty="0">
                <a:latin typeface="Montserrat"/>
                <a:cs typeface="Montserrat"/>
              </a:rPr>
              <a:t>ÉTUDE CONCEPTUELLE</a:t>
            </a:r>
          </a:p>
        </p:txBody>
      </p:sp>
      <p:sp>
        <p:nvSpPr>
          <p:cNvPr id="13" name="ZoneTexte 12">
            <a:extLst>
              <a:ext uri="{FF2B5EF4-FFF2-40B4-BE49-F238E27FC236}">
                <a16:creationId xmlns:a16="http://schemas.microsoft.com/office/drawing/2014/main" id="{1C442C0A-1AE5-8BFB-2AF5-84A7518EA78A}"/>
              </a:ext>
            </a:extLst>
          </p:cNvPr>
          <p:cNvSpPr txBox="1"/>
          <p:nvPr/>
        </p:nvSpPr>
        <p:spPr>
          <a:xfrm>
            <a:off x="6152599" y="425597"/>
            <a:ext cx="1595723" cy="430887"/>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 SOLUTION</a:t>
            </a:r>
          </a:p>
        </p:txBody>
      </p:sp>
      <p:sp>
        <p:nvSpPr>
          <p:cNvPr id="15" name="ZoneTexte 14">
            <a:extLst>
              <a:ext uri="{FF2B5EF4-FFF2-40B4-BE49-F238E27FC236}">
                <a16:creationId xmlns:a16="http://schemas.microsoft.com/office/drawing/2014/main" id="{5ADDF1C6-62B1-F86C-A98A-CDABEE658868}"/>
              </a:ext>
            </a:extLst>
          </p:cNvPr>
          <p:cNvSpPr txBox="1"/>
          <p:nvPr/>
        </p:nvSpPr>
        <p:spPr>
          <a:xfrm>
            <a:off x="7801110" y="458786"/>
            <a:ext cx="1860500" cy="430887"/>
          </a:xfrm>
          <a:prstGeom prst="rect">
            <a:avLst/>
          </a:prstGeom>
          <a:noFill/>
        </p:spPr>
        <p:txBody>
          <a:bodyPr wrap="square" rtlCol="0">
            <a:spAutoFit/>
          </a:bodyPr>
          <a:lstStyle/>
          <a:p>
            <a:r>
              <a:rPr lang="fr-FR" sz="1100" b="1" dirty="0">
                <a:solidFill>
                  <a:srgbClr val="F96A09"/>
                </a:solidFill>
                <a:latin typeface="Montserrat"/>
                <a:cs typeface="Montserrat"/>
              </a:rPr>
              <a:t>RÉSULTATS ET VALIDATION</a:t>
            </a:r>
          </a:p>
        </p:txBody>
      </p:sp>
      <p:sp>
        <p:nvSpPr>
          <p:cNvPr id="17" name="ZoneTexte 16">
            <a:extLst>
              <a:ext uri="{FF2B5EF4-FFF2-40B4-BE49-F238E27FC236}">
                <a16:creationId xmlns:a16="http://schemas.microsoft.com/office/drawing/2014/main" id="{B2E5CE0B-3932-1E45-F6A3-8395953FB96B}"/>
              </a:ext>
            </a:extLst>
          </p:cNvPr>
          <p:cNvSpPr txBox="1"/>
          <p:nvPr/>
        </p:nvSpPr>
        <p:spPr>
          <a:xfrm>
            <a:off x="9716922" y="479710"/>
            <a:ext cx="2346335" cy="261610"/>
          </a:xfrm>
          <a:prstGeom prst="rect">
            <a:avLst/>
          </a:prstGeom>
          <a:noFill/>
        </p:spPr>
        <p:txBody>
          <a:bodyPr wrap="square" rtlCol="0">
            <a:spAutoFit/>
          </a:bodyPr>
          <a:lstStyle/>
          <a:p>
            <a:r>
              <a:rPr lang="fr-FR" sz="1100" b="1" dirty="0">
                <a:latin typeface="Montserrat"/>
                <a:cs typeface="Montserrat"/>
              </a:rPr>
              <a:t>LIMITES ET PERSPECTIVES</a:t>
            </a:r>
          </a:p>
        </p:txBody>
      </p:sp>
      <p:sp>
        <p:nvSpPr>
          <p:cNvPr id="3" name="HdrTitle">
            <a:extLst>
              <a:ext uri="{FF2B5EF4-FFF2-40B4-BE49-F238E27FC236}">
                <a16:creationId xmlns:a16="http://schemas.microsoft.com/office/drawing/2014/main" id="{4593188C-5781-43A4-B305-864EB977CA5C}"/>
              </a:ext>
            </a:extLst>
          </p:cNvPr>
          <p:cNvSpPr txBox="1"/>
          <p:nvPr/>
        </p:nvSpPr>
        <p:spPr>
          <a:xfrm>
            <a:off x="2120900" y="1079500"/>
            <a:ext cx="5334000" cy="482504"/>
          </a:xfrm>
          <a:prstGeom prst="rect">
            <a:avLst/>
          </a:prstGeom>
          <a:noFill/>
        </p:spPr>
        <p:txBody>
          <a:bodyPr vertOverflow="overflow" vert="horz" wrap="square" rtlCol="0" anchor="t">
            <a:spAutoFit/>
          </a:bodyPr>
          <a:lstStyle/>
          <a:p>
            <a:pPr algn="l">
              <a:lnSpc>
                <a:spcPts val="3200"/>
              </a:lnSpc>
              <a:spcBef>
                <a:spcPct val="0"/>
              </a:spcBef>
              <a:buNone/>
            </a:pPr>
            <a:r>
              <a:rPr lang="fr-FR" sz="2600" b="1" spc="60" dirty="0">
                <a:solidFill>
                  <a:srgbClr val="16294A"/>
                </a:solidFill>
                <a:latin typeface="Montserrat"/>
              </a:rPr>
              <a:t>RÉSULTATS ET VALIDATION</a:t>
            </a:r>
          </a:p>
        </p:txBody>
      </p:sp>
      <p:sp>
        <p:nvSpPr>
          <p:cNvPr id="2" name="Rectangle 1">
            <a:extLst>
              <a:ext uri="{FF2B5EF4-FFF2-40B4-BE49-F238E27FC236}">
                <a16:creationId xmlns:a16="http://schemas.microsoft.com/office/drawing/2014/main" id="{16FA64D6-7CF2-DA66-147C-E17B4A32C290}"/>
              </a:ext>
            </a:extLst>
          </p:cNvPr>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05" name="MetCard2"/>
          <p:cNvSpPr/>
          <p:nvPr/>
        </p:nvSpPr>
        <p:spPr>
          <a:xfrm>
            <a:off x="8737600" y="4749800"/>
            <a:ext cx="2565400" cy="1295400"/>
          </a:xfrm>
          <a:prstGeom prst="roundRect">
            <a:avLst>
              <a:gd name="adj" fmla="val 8000"/>
            </a:avLst>
          </a:prstGeom>
          <a:solidFill>
            <a:srgbClr val="EDF0F5"/>
          </a:solidFill>
          <a:ln>
            <a:noFill/>
          </a:ln>
          <a:effectLst>
            <a:outerShdw blurRad="101600" dist="25400" dir="5400000" algn="t" rotWithShape="0">
              <a:srgbClr val="16294A">
                <a:alpha val="16000"/>
              </a:srgbClr>
            </a:outerShdw>
          </a:effectLst>
        </p:spPr>
        <p:txBody>
          <a:bodyPr wrap="square" lIns="0" tIns="0" rIns="0" bIns="0" anchor="ctr"/>
          <a:lstStyle/>
          <a:p>
            <a:endParaRPr lang="fr-FR"/>
          </a:p>
        </p:txBody>
      </p:sp>
      <p:sp>
        <p:nvSpPr>
          <p:cNvPr id="604" name="MetCard1"/>
          <p:cNvSpPr/>
          <p:nvPr/>
        </p:nvSpPr>
        <p:spPr>
          <a:xfrm>
            <a:off x="5981700" y="4749800"/>
            <a:ext cx="2565400" cy="1295400"/>
          </a:xfrm>
          <a:prstGeom prst="roundRect">
            <a:avLst>
              <a:gd name="adj" fmla="val 8000"/>
            </a:avLst>
          </a:prstGeom>
          <a:solidFill>
            <a:srgbClr val="EDF0F5"/>
          </a:solidFill>
          <a:ln>
            <a:noFill/>
          </a:ln>
          <a:effectLst>
            <a:outerShdw blurRad="101600" dist="25400" dir="5400000" algn="t" rotWithShape="0">
              <a:srgbClr val="16294A">
                <a:alpha val="16000"/>
              </a:srgbClr>
            </a:outerShdw>
          </a:effectLst>
        </p:spPr>
        <p:txBody>
          <a:bodyPr wrap="square" lIns="0" tIns="0" rIns="0" bIns="0" anchor="ctr"/>
          <a:lstStyle/>
          <a:p>
            <a:endParaRPr lang="fr-FR"/>
          </a:p>
        </p:txBody>
      </p:sp>
      <p:sp>
        <p:nvSpPr>
          <p:cNvPr id="601" name="AccCard"/>
          <p:cNvSpPr/>
          <p:nvPr/>
        </p:nvSpPr>
        <p:spPr>
          <a:xfrm>
            <a:off x="5981700" y="3048000"/>
            <a:ext cx="5321300" cy="1549400"/>
          </a:xfrm>
          <a:prstGeom prst="roundRect">
            <a:avLst>
              <a:gd name="adj" fmla="val 7000"/>
            </a:avLst>
          </a:prstGeom>
          <a:solidFill>
            <a:srgbClr val="EDF0F5"/>
          </a:solidFill>
          <a:ln>
            <a:noFill/>
          </a:ln>
          <a:effectLst>
            <a:outerShdw blurRad="101600" dist="25400" dir="5400000" algn="t" rotWithShape="0">
              <a:srgbClr val="16294A">
                <a:alpha val="16000"/>
              </a:srgbClr>
            </a:outerShdw>
          </a:effectLst>
        </p:spPr>
        <p:txBody>
          <a:bodyPr wrap="square" lIns="0" tIns="0" rIns="0" bIns="0" anchor="ctr"/>
          <a:lstStyle/>
          <a:p>
            <a:endParaRPr lang="fr-FR"/>
          </a:p>
        </p:txBody>
      </p:sp>
      <p:sp>
        <p:nvSpPr>
          <p:cNvPr id="37" name="P1Hero">
            <a:extLst>
              <a:ext uri="{FF2B5EF4-FFF2-40B4-BE49-F238E27FC236}">
                <a16:creationId xmlns:a16="http://schemas.microsoft.com/office/drawing/2014/main" id="{97D38BEF-4E23-45AB-AFBC-771B51641A6B}"/>
              </a:ext>
            </a:extLst>
          </p:cNvPr>
          <p:cNvSpPr/>
          <p:nvPr/>
        </p:nvSpPr>
        <p:spPr>
          <a:xfrm>
            <a:off x="901700" y="3048000"/>
            <a:ext cx="4826000" cy="2997200"/>
          </a:xfrm>
          <a:prstGeom prst="roundRect">
            <a:avLst>
              <a:gd name="adj" fmla="val 4000"/>
            </a:avLst>
          </a:prstGeom>
          <a:solidFill>
            <a:srgbClr val="16294A"/>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38" name="P1HeroEdge">
            <a:extLst>
              <a:ext uri="{FF2B5EF4-FFF2-40B4-BE49-F238E27FC236}">
                <a16:creationId xmlns:a16="http://schemas.microsoft.com/office/drawing/2014/main" id="{248CC588-7C19-4C48-AAA7-7FC5DB2BB675}"/>
              </a:ext>
            </a:extLst>
          </p:cNvPr>
          <p:cNvSpPr/>
          <p:nvPr/>
        </p:nvSpPr>
        <p:spPr>
          <a:xfrm>
            <a:off x="2298700" y="3251200"/>
            <a:ext cx="2032000" cy="330200"/>
          </a:xfrm>
          <a:prstGeom prst="roundRect">
            <a:avLst>
              <a:gd name="adj" fmla="val 50000"/>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lIns="0" tIns="0" rIns="0" bIns="0" rtlCol="0" anchor="ctr"/>
          <a:lstStyle/>
          <a:p>
            <a:pPr algn="ctr">
              <a:lnSpc>
                <a:spcPct val="100000"/>
              </a:lnSpc>
              <a:spcBef>
                <a:spcPts val="0"/>
              </a:spcBef>
              <a:buNone/>
            </a:pPr>
            <a:r>
              <a:rPr lang="fr-FR" sz="1400" b="1" spc="60" dirty="0">
                <a:solidFill>
                  <a:srgbClr val="FFFFFF"/>
                </a:solidFill>
                <a:latin typeface="Montserrat"/>
              </a:rPr>
              <a:t>MÉTRIQUE CLÉ</a:t>
            </a:r>
          </a:p>
        </p:txBody>
      </p:sp>
      <p:sp>
        <p:nvSpPr>
          <p:cNvPr id="40" name="P1HeroVal">
            <a:extLst>
              <a:ext uri="{FF2B5EF4-FFF2-40B4-BE49-F238E27FC236}">
                <a16:creationId xmlns:a16="http://schemas.microsoft.com/office/drawing/2014/main" id="{E3D2B43A-2931-4139-97E1-EA2C8E80E85B}"/>
              </a:ext>
            </a:extLst>
          </p:cNvPr>
          <p:cNvSpPr txBox="1"/>
          <p:nvPr/>
        </p:nvSpPr>
        <p:spPr>
          <a:xfrm>
            <a:off x="1155700" y="3759200"/>
            <a:ext cx="4318000" cy="685800"/>
          </a:xfrm>
          <a:prstGeom prst="rect">
            <a:avLst/>
          </a:prstGeom>
          <a:noFill/>
        </p:spPr>
        <p:txBody>
          <a:bodyPr vertOverflow="overflow" vert="horz" wrap="square" lIns="0" tIns="0" rIns="0" bIns="0" rtlCol="0" anchor="ctr">
            <a:spAutoFit/>
          </a:bodyPr>
          <a:lstStyle/>
          <a:p>
            <a:pPr algn="ctr">
              <a:lnSpc>
                <a:spcPct val="100000"/>
              </a:lnSpc>
              <a:spcBef>
                <a:spcPts val="0"/>
              </a:spcBef>
              <a:buNone/>
            </a:pPr>
            <a:r>
              <a:rPr lang="fr-FR" sz="4000" b="1" spc="0" dirty="0">
                <a:solidFill>
                  <a:srgbClr val="F26418"/>
                </a:solidFill>
                <a:latin typeface="Montserrat"/>
              </a:rPr>
              <a:t>90,72 %</a:t>
            </a:r>
          </a:p>
        </p:txBody>
      </p:sp>
      <p:sp>
        <p:nvSpPr>
          <p:cNvPr id="42" name="P1HeroLbl">
            <a:extLst>
              <a:ext uri="{FF2B5EF4-FFF2-40B4-BE49-F238E27FC236}">
                <a16:creationId xmlns:a16="http://schemas.microsoft.com/office/drawing/2014/main" id="{AD7AB6FE-A6CC-41E2-93C5-6C4105106F0E}"/>
              </a:ext>
            </a:extLst>
          </p:cNvPr>
          <p:cNvSpPr txBox="1"/>
          <p:nvPr/>
        </p:nvSpPr>
        <p:spPr>
          <a:xfrm>
            <a:off x="1155700" y="4470400"/>
            <a:ext cx="4318000" cy="330200"/>
          </a:xfrm>
          <a:prstGeom prst="rect">
            <a:avLst/>
          </a:prstGeom>
          <a:noFill/>
        </p:spPr>
        <p:txBody>
          <a:bodyPr vertOverflow="overflow" vert="horz" wrap="square" lIns="0" tIns="0" rIns="0" bIns="0" rtlCol="0" anchor="ctr">
            <a:spAutoFit/>
          </a:bodyPr>
          <a:lstStyle/>
          <a:p>
            <a:pPr algn="ctr">
              <a:lnSpc>
                <a:spcPct val="100000"/>
              </a:lnSpc>
              <a:spcBef>
                <a:spcPts val="0"/>
              </a:spcBef>
              <a:buNone/>
            </a:pPr>
            <a:r>
              <a:rPr lang="fr-FR" sz="1800" b="1" spc="60" dirty="0">
                <a:solidFill>
                  <a:srgbClr val="FFFFFF"/>
                </a:solidFill>
                <a:latin typeface="Montserrat"/>
              </a:rPr>
              <a:t>MACRO F1 SCORE</a:t>
            </a:r>
          </a:p>
        </p:txBody>
      </p:sp>
      <p:sp>
        <p:nvSpPr>
          <p:cNvPr id="44" name="P1HeroDesc">
            <a:extLst>
              <a:ext uri="{FF2B5EF4-FFF2-40B4-BE49-F238E27FC236}">
                <a16:creationId xmlns:a16="http://schemas.microsoft.com/office/drawing/2014/main" id="{A0E4F401-95B3-4E3D-9DF4-A1D0070C9B65}"/>
              </a:ext>
            </a:extLst>
          </p:cNvPr>
          <p:cNvSpPr txBox="1"/>
          <p:nvPr/>
        </p:nvSpPr>
        <p:spPr>
          <a:xfrm>
            <a:off x="1930400" y="5232400"/>
            <a:ext cx="3581400" cy="381000"/>
          </a:xfrm>
          <a:prstGeom prst="rect">
            <a:avLst/>
          </a:prstGeom>
          <a:noFill/>
        </p:spPr>
        <p:txBody>
          <a:bodyPr vertOverflow="overflow" vert="horz" wrap="square" lIns="0" tIns="0" rIns="0" bIns="0" rtlCol="0" anchor="ctr">
            <a:spAutoFit/>
          </a:bodyPr>
          <a:lstStyle/>
          <a:p>
            <a:pPr algn="l">
              <a:lnSpc>
                <a:spcPct val="100000"/>
              </a:lnSpc>
              <a:spcBef>
                <a:spcPts val="0"/>
              </a:spcBef>
              <a:buNone/>
            </a:pPr>
            <a:r>
              <a:rPr lang="fr-FR" sz="1400" b="1" spc="0" dirty="0">
                <a:solidFill>
                  <a:srgbClr val="FFFFFF"/>
                </a:solidFill>
                <a:latin typeface="Montserrat"/>
              </a:rPr>
              <a:t>Équilibre entre les 19 intentions</a:t>
            </a:r>
          </a:p>
        </p:txBody>
      </p:sp>
      <p:sp>
        <p:nvSpPr>
          <p:cNvPr id="46" name="P1Val0">
            <a:extLst>
              <a:ext uri="{FF2B5EF4-FFF2-40B4-BE49-F238E27FC236}">
                <a16:creationId xmlns:a16="http://schemas.microsoft.com/office/drawing/2014/main" id="{CDD6F9DC-040A-4593-BB0E-5B2A1879887B}"/>
              </a:ext>
            </a:extLst>
          </p:cNvPr>
          <p:cNvSpPr txBox="1"/>
          <p:nvPr/>
        </p:nvSpPr>
        <p:spPr>
          <a:xfrm>
            <a:off x="6184900" y="3240901"/>
            <a:ext cx="4368800" cy="553998"/>
          </a:xfrm>
          <a:prstGeom prst="rect">
            <a:avLst/>
          </a:prstGeom>
          <a:noFill/>
        </p:spPr>
        <p:txBody>
          <a:bodyPr vertOverflow="overflow" vert="horz" wrap="square" lIns="0" tIns="0" rIns="0" bIns="0" rtlCol="0" anchor="ctr">
            <a:spAutoFit/>
          </a:bodyPr>
          <a:lstStyle/>
          <a:p>
            <a:pPr algn="ctr">
              <a:lnSpc>
                <a:spcPct val="100000"/>
              </a:lnSpc>
              <a:spcBef>
                <a:spcPts val="0"/>
              </a:spcBef>
              <a:buNone/>
            </a:pPr>
            <a:r>
              <a:rPr lang="fr-FR" sz="3600" b="1" spc="0" dirty="0">
                <a:solidFill>
                  <a:srgbClr val="F26418"/>
                </a:solidFill>
                <a:latin typeface="Montserrat"/>
              </a:rPr>
              <a:t>91,6</a:t>
            </a:r>
            <a:r>
              <a:rPr lang="fr-FR" sz="3600" b="1" dirty="0">
                <a:solidFill>
                  <a:srgbClr val="F26418"/>
                </a:solidFill>
                <a:latin typeface="Montserrat"/>
              </a:rPr>
              <a:t>7</a:t>
            </a:r>
            <a:r>
              <a:rPr lang="fr-FR" sz="3600" b="1" spc="0" dirty="0">
                <a:solidFill>
                  <a:srgbClr val="F26418"/>
                </a:solidFill>
                <a:latin typeface="Montserrat"/>
              </a:rPr>
              <a:t> %</a:t>
            </a:r>
          </a:p>
        </p:txBody>
      </p:sp>
      <p:sp>
        <p:nvSpPr>
          <p:cNvPr id="48" name="P1Lbl0">
            <a:extLst>
              <a:ext uri="{FF2B5EF4-FFF2-40B4-BE49-F238E27FC236}">
                <a16:creationId xmlns:a16="http://schemas.microsoft.com/office/drawing/2014/main" id="{9EA08B72-EEF0-4A22-A733-8392F1041ED0}"/>
              </a:ext>
            </a:extLst>
          </p:cNvPr>
          <p:cNvSpPr txBox="1"/>
          <p:nvPr/>
        </p:nvSpPr>
        <p:spPr>
          <a:xfrm>
            <a:off x="6019800" y="3885084"/>
            <a:ext cx="4914900" cy="230832"/>
          </a:xfrm>
          <a:prstGeom prst="rect">
            <a:avLst/>
          </a:prstGeom>
          <a:noFill/>
        </p:spPr>
        <p:txBody>
          <a:bodyPr vertOverflow="overflow" vert="horz" wrap="square" lIns="0" tIns="0" rIns="0" bIns="0" rtlCol="0" anchor="ctr">
            <a:spAutoFit/>
          </a:bodyPr>
          <a:lstStyle/>
          <a:p>
            <a:pPr algn="ctr">
              <a:lnSpc>
                <a:spcPct val="100000"/>
              </a:lnSpc>
              <a:spcBef>
                <a:spcPts val="0"/>
              </a:spcBef>
              <a:buNone/>
            </a:pPr>
            <a:r>
              <a:rPr lang="fr-FR" sz="1500" b="1" spc="80" dirty="0">
                <a:solidFill>
                  <a:srgbClr val="16294A"/>
                </a:solidFill>
                <a:latin typeface="Montserrat"/>
              </a:rPr>
              <a:t>EXACTITUDE</a:t>
            </a:r>
          </a:p>
        </p:txBody>
      </p:sp>
      <p:sp>
        <p:nvSpPr>
          <p:cNvPr id="50" name="P1Desc0">
            <a:extLst>
              <a:ext uri="{FF2B5EF4-FFF2-40B4-BE49-F238E27FC236}">
                <a16:creationId xmlns:a16="http://schemas.microsoft.com/office/drawing/2014/main" id="{15DD7CCA-CD07-4752-876E-0A6E6116DDE0}"/>
              </a:ext>
            </a:extLst>
          </p:cNvPr>
          <p:cNvSpPr txBox="1"/>
          <p:nvPr/>
        </p:nvSpPr>
        <p:spPr>
          <a:xfrm>
            <a:off x="7543800" y="4191000"/>
            <a:ext cx="3708400" cy="330200"/>
          </a:xfrm>
          <a:prstGeom prst="rect">
            <a:avLst/>
          </a:prstGeom>
          <a:noFill/>
        </p:spPr>
        <p:txBody>
          <a:bodyPr vertOverflow="overflow" vert="horz" wrap="square" lIns="0" tIns="0" rIns="0" bIns="0" rtlCol="0" anchor="ctr">
            <a:spAutoFit/>
          </a:bodyPr>
          <a:lstStyle/>
          <a:p>
            <a:pPr algn="l">
              <a:lnSpc>
                <a:spcPct val="100000"/>
              </a:lnSpc>
              <a:spcBef>
                <a:spcPts val="0"/>
              </a:spcBef>
              <a:buNone/>
            </a:pPr>
            <a:r>
              <a:rPr lang="fr-FR" sz="1400" b="0" spc="0" dirty="0">
                <a:solidFill>
                  <a:srgbClr val="6B6560"/>
                </a:solidFill>
                <a:latin typeface="Montserrat"/>
              </a:rPr>
              <a:t>9 / 10 requêtes correctement classées</a:t>
            </a:r>
          </a:p>
        </p:txBody>
      </p:sp>
      <p:sp>
        <p:nvSpPr>
          <p:cNvPr id="52" name="P1Val1">
            <a:extLst>
              <a:ext uri="{FF2B5EF4-FFF2-40B4-BE49-F238E27FC236}">
                <a16:creationId xmlns:a16="http://schemas.microsoft.com/office/drawing/2014/main" id="{60738D47-E0F3-42B3-9768-39FAE179E2D0}"/>
              </a:ext>
            </a:extLst>
          </p:cNvPr>
          <p:cNvSpPr txBox="1"/>
          <p:nvPr/>
        </p:nvSpPr>
        <p:spPr>
          <a:xfrm>
            <a:off x="6108700" y="4910723"/>
            <a:ext cx="2311400" cy="338554"/>
          </a:xfrm>
          <a:prstGeom prst="rect">
            <a:avLst/>
          </a:prstGeom>
          <a:noFill/>
        </p:spPr>
        <p:txBody>
          <a:bodyPr vertOverflow="overflow" vert="horz" wrap="square" lIns="0" tIns="0" rIns="0" bIns="0" rtlCol="0" anchor="ctr">
            <a:spAutoFit/>
          </a:bodyPr>
          <a:lstStyle/>
          <a:p>
            <a:pPr algn="ctr">
              <a:lnSpc>
                <a:spcPct val="100000"/>
              </a:lnSpc>
              <a:spcBef>
                <a:spcPts val="0"/>
              </a:spcBef>
              <a:buNone/>
            </a:pPr>
            <a:r>
              <a:rPr lang="fr-FR" sz="2200" b="1" spc="0" dirty="0">
                <a:solidFill>
                  <a:srgbClr val="16294A"/>
                </a:solidFill>
                <a:latin typeface="Montserrat"/>
              </a:rPr>
              <a:t>91,66 %</a:t>
            </a:r>
          </a:p>
        </p:txBody>
      </p:sp>
      <p:sp>
        <p:nvSpPr>
          <p:cNvPr id="54" name="P1Lbl1">
            <a:extLst>
              <a:ext uri="{FF2B5EF4-FFF2-40B4-BE49-F238E27FC236}">
                <a16:creationId xmlns:a16="http://schemas.microsoft.com/office/drawing/2014/main" id="{723E25B1-944C-4026-81DF-33217710FDF2}"/>
              </a:ext>
            </a:extLst>
          </p:cNvPr>
          <p:cNvSpPr txBox="1"/>
          <p:nvPr/>
        </p:nvSpPr>
        <p:spPr>
          <a:xfrm>
            <a:off x="6108700" y="5308600"/>
            <a:ext cx="2311400" cy="254000"/>
          </a:xfrm>
          <a:prstGeom prst="rect">
            <a:avLst/>
          </a:prstGeom>
          <a:noFill/>
        </p:spPr>
        <p:txBody>
          <a:bodyPr vertOverflow="overflow" vert="horz" wrap="square" lIns="0" tIns="0" rIns="0" bIns="0" rtlCol="0" anchor="ctr">
            <a:spAutoFit/>
          </a:bodyPr>
          <a:lstStyle/>
          <a:p>
            <a:pPr algn="ctr">
              <a:lnSpc>
                <a:spcPct val="100000"/>
              </a:lnSpc>
              <a:spcBef>
                <a:spcPts val="0"/>
              </a:spcBef>
              <a:buNone/>
            </a:pPr>
            <a:r>
              <a:rPr lang="fr-FR" sz="1400" b="1" spc="60" dirty="0">
                <a:solidFill>
                  <a:srgbClr val="F26418"/>
                </a:solidFill>
                <a:latin typeface="Montserrat"/>
              </a:rPr>
              <a:t>WEIGHTED F1</a:t>
            </a:r>
          </a:p>
        </p:txBody>
      </p:sp>
      <p:sp>
        <p:nvSpPr>
          <p:cNvPr id="56" name="P1Desc1">
            <a:extLst>
              <a:ext uri="{FF2B5EF4-FFF2-40B4-BE49-F238E27FC236}">
                <a16:creationId xmlns:a16="http://schemas.microsoft.com/office/drawing/2014/main" id="{295070B9-A516-4DD2-93E3-22527EDE7084}"/>
              </a:ext>
            </a:extLst>
          </p:cNvPr>
          <p:cNvSpPr txBox="1"/>
          <p:nvPr/>
        </p:nvSpPr>
        <p:spPr>
          <a:xfrm>
            <a:off x="6515100" y="5588000"/>
            <a:ext cx="1803400" cy="381000"/>
          </a:xfrm>
          <a:prstGeom prst="rect">
            <a:avLst/>
          </a:prstGeom>
          <a:noFill/>
        </p:spPr>
        <p:txBody>
          <a:bodyPr vertOverflow="overflow" vert="horz" wrap="square" lIns="0" tIns="0" rIns="0" bIns="0" rtlCol="0" anchor="ctr">
            <a:spAutoFit/>
          </a:bodyPr>
          <a:lstStyle/>
          <a:p>
            <a:pPr algn="l">
              <a:lnSpc>
                <a:spcPct val="100000"/>
              </a:lnSpc>
              <a:spcBef>
                <a:spcPts val="0"/>
              </a:spcBef>
              <a:buNone/>
            </a:pPr>
            <a:r>
              <a:rPr lang="fr-FR" sz="1400" b="0" spc="0" dirty="0">
                <a:solidFill>
                  <a:srgbClr val="6B6560"/>
                </a:solidFill>
                <a:latin typeface="Montserrat"/>
              </a:rPr>
              <a:t>Performance globale pondérée</a:t>
            </a:r>
          </a:p>
        </p:txBody>
      </p:sp>
      <p:sp>
        <p:nvSpPr>
          <p:cNvPr id="58" name="P1Val2">
            <a:extLst>
              <a:ext uri="{FF2B5EF4-FFF2-40B4-BE49-F238E27FC236}">
                <a16:creationId xmlns:a16="http://schemas.microsoft.com/office/drawing/2014/main" id="{1F47562B-5CA2-4519-B6ED-BF4E236DAC85}"/>
              </a:ext>
            </a:extLst>
          </p:cNvPr>
          <p:cNvSpPr txBox="1"/>
          <p:nvPr/>
        </p:nvSpPr>
        <p:spPr>
          <a:xfrm>
            <a:off x="8864600" y="4876800"/>
            <a:ext cx="2311400" cy="406400"/>
          </a:xfrm>
          <a:prstGeom prst="rect">
            <a:avLst/>
          </a:prstGeom>
          <a:noFill/>
        </p:spPr>
        <p:txBody>
          <a:bodyPr vertOverflow="overflow" vert="horz" wrap="square" lIns="0" tIns="0" rIns="0" bIns="0" rtlCol="0" anchor="ctr">
            <a:spAutoFit/>
          </a:bodyPr>
          <a:lstStyle/>
          <a:p>
            <a:pPr algn="ctr">
              <a:lnSpc>
                <a:spcPct val="100000"/>
              </a:lnSpc>
              <a:spcBef>
                <a:spcPts val="0"/>
              </a:spcBef>
              <a:buNone/>
            </a:pPr>
            <a:r>
              <a:rPr lang="fr-FR" sz="2200" b="1" spc="0" dirty="0">
                <a:solidFill>
                  <a:srgbClr val="16294A"/>
                </a:solidFill>
                <a:latin typeface="Montserrat"/>
              </a:rPr>
              <a:t>0,44</a:t>
            </a:r>
          </a:p>
        </p:txBody>
      </p:sp>
      <p:sp>
        <p:nvSpPr>
          <p:cNvPr id="60" name="P1Lbl2">
            <a:extLst>
              <a:ext uri="{FF2B5EF4-FFF2-40B4-BE49-F238E27FC236}">
                <a16:creationId xmlns:a16="http://schemas.microsoft.com/office/drawing/2014/main" id="{09EDA80D-0788-4C9A-AF70-5FCD07A91AA3}"/>
              </a:ext>
            </a:extLst>
          </p:cNvPr>
          <p:cNvSpPr txBox="1"/>
          <p:nvPr/>
        </p:nvSpPr>
        <p:spPr>
          <a:xfrm>
            <a:off x="8864600" y="5308600"/>
            <a:ext cx="2311400" cy="254000"/>
          </a:xfrm>
          <a:prstGeom prst="rect">
            <a:avLst/>
          </a:prstGeom>
          <a:noFill/>
        </p:spPr>
        <p:txBody>
          <a:bodyPr vertOverflow="overflow" vert="horz" wrap="square" lIns="0" tIns="0" rIns="0" bIns="0" rtlCol="0" anchor="ctr">
            <a:spAutoFit/>
          </a:bodyPr>
          <a:lstStyle/>
          <a:p>
            <a:pPr algn="ctr">
              <a:lnSpc>
                <a:spcPct val="100000"/>
              </a:lnSpc>
              <a:spcBef>
                <a:spcPts val="0"/>
              </a:spcBef>
              <a:buNone/>
            </a:pPr>
            <a:r>
              <a:rPr lang="fr-FR" sz="1400" b="1" spc="60" dirty="0">
                <a:solidFill>
                  <a:srgbClr val="F26418"/>
                </a:solidFill>
                <a:latin typeface="Montserrat"/>
              </a:rPr>
              <a:t>LOG LOSS</a:t>
            </a:r>
          </a:p>
        </p:txBody>
      </p:sp>
      <p:sp>
        <p:nvSpPr>
          <p:cNvPr id="61" name="P1Desc2">
            <a:extLst>
              <a:ext uri="{FF2B5EF4-FFF2-40B4-BE49-F238E27FC236}">
                <a16:creationId xmlns:a16="http://schemas.microsoft.com/office/drawing/2014/main" id="{B7DB42BD-9250-4813-A51C-A023A6926027}"/>
              </a:ext>
            </a:extLst>
          </p:cNvPr>
          <p:cNvSpPr txBox="1"/>
          <p:nvPr/>
        </p:nvSpPr>
        <p:spPr>
          <a:xfrm>
            <a:off x="9271000" y="5588000"/>
            <a:ext cx="1803400" cy="381000"/>
          </a:xfrm>
          <a:prstGeom prst="rect">
            <a:avLst/>
          </a:prstGeom>
          <a:noFill/>
        </p:spPr>
        <p:txBody>
          <a:bodyPr vertOverflow="overflow" vert="horz" wrap="square" lIns="0" tIns="0" rIns="0" bIns="0" rtlCol="0" anchor="ctr">
            <a:spAutoFit/>
          </a:bodyPr>
          <a:lstStyle/>
          <a:p>
            <a:pPr algn="l">
              <a:lnSpc>
                <a:spcPct val="100000"/>
              </a:lnSpc>
              <a:spcBef>
                <a:spcPts val="0"/>
              </a:spcBef>
              <a:buNone/>
            </a:pPr>
            <a:r>
              <a:rPr lang="fr-FR" sz="1400" b="0" spc="0" dirty="0">
                <a:solidFill>
                  <a:srgbClr val="6B6560"/>
                </a:solidFill>
                <a:latin typeface="Montserrat"/>
              </a:rPr>
              <a:t>Confiance des prédictions</a:t>
            </a:r>
          </a:p>
        </p:txBody>
      </p:sp>
      <p:sp>
        <p:nvSpPr>
          <p:cNvPr id="600" name="HeroDiv"/>
          <p:cNvSpPr/>
          <p:nvPr/>
        </p:nvSpPr>
        <p:spPr>
          <a:xfrm>
            <a:off x="1663700" y="4978400"/>
            <a:ext cx="3302000" cy="19050"/>
          </a:xfrm>
          <a:prstGeom prst="rect">
            <a:avLst/>
          </a:prstGeom>
          <a:solidFill>
            <a:srgbClr val="F26418"/>
          </a:solidFill>
          <a:ln>
            <a:noFill/>
          </a:ln>
        </p:spPr>
        <p:txBody>
          <a:bodyPr wrap="square" lIns="0" tIns="0" rIns="0" bIns="0" anchor="ctr"/>
          <a:lstStyle/>
          <a:p>
            <a:endParaRPr lang="fr-FR"/>
          </a:p>
        </p:txBody>
      </p:sp>
      <p:sp>
        <p:nvSpPr>
          <p:cNvPr id="602" name="AccEdge"/>
          <p:cNvSpPr/>
          <p:nvPr/>
        </p:nvSpPr>
        <p:spPr>
          <a:xfrm>
            <a:off x="6083300" y="3048000"/>
            <a:ext cx="5118100" cy="44450"/>
          </a:xfrm>
          <a:prstGeom prst="rect">
            <a:avLst/>
          </a:prstGeom>
          <a:solidFill>
            <a:srgbClr val="F26418"/>
          </a:solidFill>
          <a:ln>
            <a:noFill/>
          </a:ln>
        </p:spPr>
        <p:txBody>
          <a:bodyPr wrap="square" lIns="0" tIns="0" rIns="0" bIns="0" anchor="ctr"/>
          <a:lstStyle/>
          <a:p>
            <a:endParaRPr lang="fr-FR"/>
          </a:p>
        </p:txBody>
      </p:sp>
      <p:sp>
        <p:nvSpPr>
          <p:cNvPr id="603" name="AccDiv"/>
          <p:cNvSpPr/>
          <p:nvPr/>
        </p:nvSpPr>
        <p:spPr>
          <a:xfrm>
            <a:off x="6870700" y="4140200"/>
            <a:ext cx="3543300" cy="12700"/>
          </a:xfrm>
          <a:prstGeom prst="rect">
            <a:avLst/>
          </a:prstGeom>
          <a:solidFill>
            <a:srgbClr val="E6EAF0"/>
          </a:solidFill>
          <a:ln>
            <a:noFill/>
          </a:ln>
        </p:spPr>
        <p:txBody>
          <a:bodyPr wrap="square" lIns="0" tIns="0" rIns="0" bIns="0" anchor="ctr"/>
          <a:lstStyle/>
          <a:p>
            <a:endParaRPr lang="fr-FR"/>
          </a:p>
        </p:txBody>
      </p:sp>
      <p:pic>
        <p:nvPicPr>
          <p:cNvPr id="606" name="Graphic 606" descr="Équilibr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98600" y="5232400"/>
            <a:ext cx="355600" cy="355600"/>
          </a:xfrm>
          <a:prstGeom prst="rect">
            <a:avLst/>
          </a:prstGeom>
        </p:spPr>
      </p:pic>
      <p:pic>
        <p:nvPicPr>
          <p:cNvPr id="609" name="Graphic 609" descr="Performance"/>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59500" y="5638800"/>
            <a:ext cx="279400" cy="279400"/>
          </a:xfrm>
          <a:prstGeom prst="rect">
            <a:avLst/>
          </a:prstGeom>
        </p:spPr>
      </p:pic>
      <p:pic>
        <p:nvPicPr>
          <p:cNvPr id="610" name="Graphic 610" descr="Confiance"/>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15400" y="5638800"/>
            <a:ext cx="279400" cy="279400"/>
          </a:xfrm>
          <a:prstGeom prst="rect">
            <a:avLst/>
          </a:prstGeom>
        </p:spPr>
      </p:pic>
      <p:pic>
        <p:nvPicPr>
          <p:cNvPr id="611" name="Graphic 611" descr="Requêtes classées"/>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88200" y="4216400"/>
            <a:ext cx="279400" cy="279400"/>
          </a:xfrm>
          <a:prstGeom prst="rect">
            <a:avLst/>
          </a:prstGeom>
        </p:spPr>
      </p:pic>
      <p:sp>
        <p:nvSpPr>
          <p:cNvPr id="9" name="Rectangle 8">
            <a:extLst>
              <a:ext uri="{FF2B5EF4-FFF2-40B4-BE49-F238E27FC236}">
                <a16:creationId xmlns:a16="http://schemas.microsoft.com/office/drawing/2014/main" id="{76A1F222-85C8-44AE-E509-A5150842857B}"/>
              </a:ext>
            </a:extLst>
          </p:cNvPr>
          <p:cNvSpPr>
            <a:spLocks/>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P1Title">
            <a:extLst>
              <a:ext uri="{FF2B5EF4-FFF2-40B4-BE49-F238E27FC236}">
                <a16:creationId xmlns:a16="http://schemas.microsoft.com/office/drawing/2014/main" id="{44DF368C-61BA-D2BB-5174-14C3654E8B2F}"/>
              </a:ext>
            </a:extLst>
          </p:cNvPr>
          <p:cNvSpPr txBox="1"/>
          <p:nvPr/>
        </p:nvSpPr>
        <p:spPr>
          <a:xfrm>
            <a:off x="2121408" y="1627632"/>
            <a:ext cx="7315200" cy="384048"/>
          </a:xfrm>
          <a:prstGeom prst="rect">
            <a:avLst/>
          </a:prstGeom>
          <a:noFill/>
        </p:spPr>
        <p:txBody>
          <a:bodyPr vertOverflow="overflow" vert="horz" wrap="square" rtlCol="0" anchor="t">
            <a:spAutoFit/>
          </a:bodyPr>
          <a:lstStyle/>
          <a:p>
            <a:pPr>
              <a:spcBef>
                <a:spcPct val="0"/>
              </a:spcBef>
            </a:pPr>
            <a:r>
              <a:rPr lang="fr-FR" sz="1500" b="1" dirty="0" err="1">
                <a:solidFill>
                  <a:srgbClr val="16294A"/>
                </a:solidFill>
              </a:rPr>
              <a:t>BGE</a:t>
            </a:r>
            <a:r>
              <a:rPr lang="fr-FR" sz="1500" b="1" dirty="0">
                <a:solidFill>
                  <a:srgbClr val="16294A"/>
                </a:solidFill>
              </a:rPr>
              <a:t> M3 + Régression logistique multinomiale </a:t>
            </a:r>
            <a:endParaRPr lang="fr-FR" sz="2400" b="1" dirty="0">
              <a:solidFill>
                <a:srgbClr val="16294A"/>
              </a:solidFill>
              <a:latin typeface="Montserrat"/>
            </a:endParaRPr>
          </a:p>
        </p:txBody>
      </p:sp>
      <p:sp>
        <p:nvSpPr>
          <p:cNvPr id="5001" name="DataDev"/>
          <p:cNvSpPr/>
          <p:nvPr/>
        </p:nvSpPr>
        <p:spPr>
          <a:xfrm>
            <a:off x="905256" y="2212848"/>
            <a:ext cx="2743200" cy="566928"/>
          </a:xfrm>
          <a:prstGeom prst="roundRect">
            <a:avLst>
              <a:gd name="adj" fmla="val 18000"/>
            </a:avLst>
          </a:prstGeom>
          <a:solidFill>
            <a:srgbClr val="EDF0F5"/>
          </a:solidFill>
          <a:ln>
            <a:noFill/>
          </a:ln>
          <a:effectLst>
            <a:outerShdw blurRad="101600" dist="25400" dir="5400000" algn="t" rotWithShape="0">
              <a:srgbClr val="16294A">
                <a:alpha val="16000"/>
              </a:srgbClr>
            </a:outerShdw>
          </a:effectLst>
        </p:spPr>
        <p:txBody>
          <a:bodyPr wrap="square" lIns="146304" tIns="36576" rIns="91440" bIns="36576" rtlCol="0" anchor="ctr">
            <a:noAutofit/>
          </a:bodyPr>
          <a:lstStyle/>
          <a:p>
            <a:pPr algn="l">
              <a:lnSpc>
                <a:spcPct val="90000"/>
              </a:lnSpc>
              <a:spcBef>
                <a:spcPts val="0"/>
              </a:spcBef>
              <a:spcAft>
                <a:spcPts val="0"/>
              </a:spcAft>
              <a:buNone/>
            </a:pPr>
            <a:r>
              <a:rPr lang="fr-FR" sz="1500" b="1" dirty="0">
                <a:solidFill>
                  <a:srgbClr val="16294A"/>
                </a:solidFill>
                <a:latin typeface="Montserrat"/>
                <a:cs typeface="Montserrat"/>
              </a:rPr>
              <a:t>8 000</a:t>
            </a:r>
            <a:r>
              <a:rPr lang="fr-FR" sz="1100" b="1" dirty="0">
                <a:solidFill>
                  <a:srgbClr val="16294A"/>
                </a:solidFill>
                <a:latin typeface="Montserrat"/>
                <a:cs typeface="Montserrat"/>
              </a:rPr>
              <a:t> requêtes</a:t>
            </a:r>
          </a:p>
          <a:p>
            <a:pPr algn="l">
              <a:spcBef>
                <a:spcPts val="0"/>
              </a:spcBef>
              <a:spcAft>
                <a:spcPts val="0"/>
              </a:spcAft>
              <a:buNone/>
            </a:pPr>
            <a:r>
              <a:rPr lang="fr-FR" sz="850" dirty="0">
                <a:solidFill>
                  <a:srgbClr val="5A5550"/>
                </a:solidFill>
                <a:latin typeface="Montserrat"/>
                <a:cs typeface="Montserrat"/>
              </a:rPr>
              <a:t>Entraînement et validation</a:t>
            </a:r>
          </a:p>
        </p:txBody>
      </p:sp>
      <p:sp>
        <p:nvSpPr>
          <p:cNvPr id="5002" name="DataArrow"/>
          <p:cNvSpPr/>
          <p:nvPr/>
        </p:nvSpPr>
        <p:spPr>
          <a:xfrm>
            <a:off x="3776472" y="2377440"/>
            <a:ext cx="347472" cy="237744"/>
          </a:xfrm>
          <a:prstGeom prst="rightArrow">
            <a:avLst/>
          </a:prstGeom>
          <a:solidFill>
            <a:srgbClr val="F96A09"/>
          </a:solidFill>
          <a:ln>
            <a:noFill/>
          </a:ln>
        </p:spPr>
        <p:txBody>
          <a:bodyPr/>
          <a:lstStyle/>
          <a:p>
            <a:endParaRPr lang="fr-FR"/>
          </a:p>
        </p:txBody>
      </p:sp>
      <p:sp>
        <p:nvSpPr>
          <p:cNvPr id="5003" name="DataTest"/>
          <p:cNvSpPr/>
          <p:nvPr/>
        </p:nvSpPr>
        <p:spPr>
          <a:xfrm>
            <a:off x="4251960" y="2212848"/>
            <a:ext cx="2743200" cy="566928"/>
          </a:xfrm>
          <a:prstGeom prst="roundRect">
            <a:avLst>
              <a:gd name="adj" fmla="val 18000"/>
            </a:avLst>
          </a:prstGeom>
          <a:solidFill>
            <a:srgbClr val="16294A"/>
          </a:solidFill>
          <a:ln>
            <a:noFill/>
          </a:ln>
          <a:effectLst>
            <a:outerShdw blurRad="101600" dist="25400" dir="5400000" algn="t" rotWithShape="0">
              <a:srgbClr val="16294A">
                <a:alpha val="16000"/>
              </a:srgbClr>
            </a:outerShdw>
          </a:effectLst>
        </p:spPr>
        <p:txBody>
          <a:bodyPr wrap="square" lIns="146304" tIns="36576" rIns="91440" bIns="36576" rtlCol="0" anchor="ctr">
            <a:noAutofit/>
          </a:bodyPr>
          <a:lstStyle/>
          <a:p>
            <a:pPr algn="l">
              <a:lnSpc>
                <a:spcPct val="90000"/>
              </a:lnSpc>
              <a:spcBef>
                <a:spcPts val="0"/>
              </a:spcBef>
              <a:spcAft>
                <a:spcPts val="0"/>
              </a:spcAft>
              <a:buNone/>
            </a:pPr>
            <a:r>
              <a:rPr lang="fr-FR" sz="1500" b="1" dirty="0">
                <a:solidFill>
                  <a:srgbClr val="F96A09"/>
                </a:solidFill>
                <a:latin typeface="Montserrat"/>
                <a:cs typeface="Montserrat"/>
              </a:rPr>
              <a:t>2 041</a:t>
            </a:r>
            <a:r>
              <a:rPr lang="fr-FR" sz="1100" b="1" dirty="0">
                <a:solidFill>
                  <a:srgbClr val="FFFFFF"/>
                </a:solidFill>
                <a:latin typeface="Montserrat"/>
                <a:cs typeface="Montserrat"/>
              </a:rPr>
              <a:t> requêtes réelles</a:t>
            </a:r>
          </a:p>
          <a:p>
            <a:pPr algn="l">
              <a:spcBef>
                <a:spcPts val="0"/>
              </a:spcBef>
              <a:spcAft>
                <a:spcPts val="0"/>
              </a:spcAft>
              <a:buNone/>
            </a:pPr>
            <a:r>
              <a:rPr lang="fr-FR" sz="850" dirty="0">
                <a:solidFill>
                  <a:srgbClr val="C9D2E0"/>
                </a:solidFill>
                <a:latin typeface="Montserrat"/>
                <a:cs typeface="Montserrat"/>
              </a:rPr>
              <a:t>Test final · jamais vues</a:t>
            </a:r>
          </a:p>
        </p:txBody>
      </p:sp>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57DBE8E0-E45D-4BB6-8681-3528C60E5A6F}" type="slidenum">
              <a:rPr lang="fr-FR" sz="1600" b="1" dirty="0">
                <a:solidFill>
                  <a:srgbClr val="FFFFFF"/>
                </a:solidFill>
                <a:latin typeface="Montserrat"/>
              </a:rPr>
              <a:t>18</a:t>
            </a:fld>
            <a:endParaRPr lang="fr-FR" sz="1600" b="1" dirty="0">
              <a:solidFill>
                <a:srgbClr val="FFFFFF"/>
              </a:solidFill>
              <a:latin typeface="Montserrat"/>
            </a:endParaRPr>
          </a:p>
        </p:txBody>
      </p:sp>
    </p:spTree>
    <p:extLst>
      <p:ext uri="{BB962C8B-B14F-4D97-AF65-F5344CB8AC3E}">
        <p14:creationId xmlns:p14="http://schemas.microsoft.com/office/powerpoint/2010/main" val="2691206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anim calcmode="lin" valueType="num">
                                      <p:cBhvr>
                                        <p:cTn id="8" dur="450" fill="hold"/>
                                        <p:tgtEl>
                                          <p:spTgt spid="5"/>
                                        </p:tgtEl>
                                        <p:attrNameLst>
                                          <p:attrName>ppt_x</p:attrName>
                                        </p:attrNameLst>
                                      </p:cBhvr>
                                      <p:tavLst>
                                        <p:tav tm="0">
                                          <p:val>
                                            <p:strVal val="#ppt_x"/>
                                          </p:val>
                                        </p:tav>
                                        <p:tav tm="100000">
                                          <p:val>
                                            <p:strVal val="#ppt_x"/>
                                          </p:val>
                                        </p:tav>
                                      </p:tavLst>
                                    </p:anim>
                                    <p:anim calcmode="lin" valueType="num">
                                      <p:cBhvr>
                                        <p:cTn id="9" dur="450" fill="hold"/>
                                        <p:tgtEl>
                                          <p:spTgt spid="5"/>
                                        </p:tgtEl>
                                        <p:attrNameLst>
                                          <p:attrName>ppt_y</p:attrName>
                                        </p:attrNameLst>
                                      </p:cBhvr>
                                      <p:tavLst>
                                        <p:tav tm="0">
                                          <p:val>
                                            <p:strVal val="#ppt_y+.03"/>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anim calcmode="lin" valueType="num">
                                      <p:cBhvr>
                                        <p:cTn id="13" dur="450" fill="hold"/>
                                        <p:tgtEl>
                                          <p:spTgt spid="11"/>
                                        </p:tgtEl>
                                        <p:attrNameLst>
                                          <p:attrName>ppt_x</p:attrName>
                                        </p:attrNameLst>
                                      </p:cBhvr>
                                      <p:tavLst>
                                        <p:tav tm="0">
                                          <p:val>
                                            <p:strVal val="#ppt_x"/>
                                          </p:val>
                                        </p:tav>
                                        <p:tav tm="100000">
                                          <p:val>
                                            <p:strVal val="#ppt_x"/>
                                          </p:val>
                                        </p:tav>
                                      </p:tavLst>
                                    </p:anim>
                                    <p:anim calcmode="lin" valueType="num">
                                      <p:cBhvr>
                                        <p:cTn id="14" dur="450" fill="hold"/>
                                        <p:tgtEl>
                                          <p:spTgt spid="11"/>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450"/>
                                        <p:tgtEl>
                                          <p:spTgt spid="3"/>
                                        </p:tgtEl>
                                      </p:cBhvr>
                                    </p:animEffect>
                                    <p:anim calcmode="lin" valueType="num">
                                      <p:cBhvr>
                                        <p:cTn id="18" dur="450" fill="hold"/>
                                        <p:tgtEl>
                                          <p:spTgt spid="3"/>
                                        </p:tgtEl>
                                        <p:attrNameLst>
                                          <p:attrName>ppt_x</p:attrName>
                                        </p:attrNameLst>
                                      </p:cBhvr>
                                      <p:tavLst>
                                        <p:tav tm="0">
                                          <p:val>
                                            <p:strVal val="#ppt_x"/>
                                          </p:val>
                                        </p:tav>
                                        <p:tav tm="100000">
                                          <p:val>
                                            <p:strVal val="#ppt_x"/>
                                          </p:val>
                                        </p:tav>
                                      </p:tavLst>
                                    </p:anim>
                                    <p:anim calcmode="lin" valueType="num">
                                      <p:cBhvr>
                                        <p:cTn id="19" dur="450" fill="hold"/>
                                        <p:tgtEl>
                                          <p:spTgt spid="3"/>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14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50"/>
                                        <p:tgtEl>
                                          <p:spTgt spid="14"/>
                                        </p:tgtEl>
                                      </p:cBhvr>
                                    </p:animEffect>
                                    <p:anim calcmode="lin" valueType="num">
                                      <p:cBhvr>
                                        <p:cTn id="23" dur="450" fill="hold"/>
                                        <p:tgtEl>
                                          <p:spTgt spid="14"/>
                                        </p:tgtEl>
                                        <p:attrNameLst>
                                          <p:attrName>ppt_x</p:attrName>
                                        </p:attrNameLst>
                                      </p:cBhvr>
                                      <p:tavLst>
                                        <p:tav tm="0">
                                          <p:val>
                                            <p:strVal val="#ppt_x"/>
                                          </p:val>
                                        </p:tav>
                                        <p:tav tm="100000">
                                          <p:val>
                                            <p:strVal val="#ppt_x"/>
                                          </p:val>
                                        </p:tav>
                                      </p:tavLst>
                                    </p:anim>
                                    <p:anim calcmode="lin" valueType="num">
                                      <p:cBhvr>
                                        <p:cTn id="24" dur="450" fill="hold"/>
                                        <p:tgtEl>
                                          <p:spTgt spid="14"/>
                                        </p:tgtEl>
                                        <p:attrNameLst>
                                          <p:attrName>ppt_y</p:attrName>
                                        </p:attrNameLst>
                                      </p:cBhvr>
                                      <p:tavLst>
                                        <p:tav tm="0">
                                          <p:val>
                                            <p:strVal val="#ppt_y+.03"/>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5001"/>
                                        </p:tgtEl>
                                        <p:attrNameLst>
                                          <p:attrName>style.visibility</p:attrName>
                                        </p:attrNameLst>
                                      </p:cBhvr>
                                      <p:to>
                                        <p:strVal val="visible"/>
                                      </p:to>
                                    </p:set>
                                    <p:animEffect transition="in" filter="fade">
                                      <p:cBhvr>
                                        <p:cTn id="29" dur="500"/>
                                        <p:tgtEl>
                                          <p:spTgt spid="5001"/>
                                        </p:tgtEl>
                                      </p:cBhvr>
                                    </p:animEffect>
                                    <p:anim calcmode="lin" valueType="num">
                                      <p:cBhvr>
                                        <p:cTn id="30" dur="500" fill="hold"/>
                                        <p:tgtEl>
                                          <p:spTgt spid="5001"/>
                                        </p:tgtEl>
                                        <p:attrNameLst>
                                          <p:attrName>ppt_x</p:attrName>
                                        </p:attrNameLst>
                                      </p:cBhvr>
                                      <p:tavLst>
                                        <p:tav tm="0">
                                          <p:val>
                                            <p:strVal val="#ppt_x-.035"/>
                                          </p:val>
                                        </p:tav>
                                        <p:tav tm="100000">
                                          <p:val>
                                            <p:strVal val="#ppt_x"/>
                                          </p:val>
                                        </p:tav>
                                      </p:tavLst>
                                    </p:anim>
                                    <p:anim calcmode="lin" valueType="num">
                                      <p:cBhvr>
                                        <p:cTn id="31" dur="500" fill="hold"/>
                                        <p:tgtEl>
                                          <p:spTgt spid="5001"/>
                                        </p:tgtEl>
                                        <p:attrNameLst>
                                          <p:attrName>ppt_y</p:attrName>
                                        </p:attrNameLst>
                                      </p:cBhvr>
                                      <p:tavLst>
                                        <p:tav tm="0">
                                          <p:val>
                                            <p:strVal val="#ppt_y"/>
                                          </p:val>
                                        </p:tav>
                                        <p:tav tm="100000">
                                          <p:val>
                                            <p:strVal val="#ppt_y"/>
                                          </p:val>
                                        </p:tav>
                                      </p:tavLst>
                                    </p:anim>
                                  </p:childTnLst>
                                </p:cTn>
                              </p:par>
                              <p:par>
                                <p:cTn id="32" presetID="22" presetClass="entr" presetSubtype="8" fill="hold" grpId="0" nodeType="withEffect">
                                  <p:stCondLst>
                                    <p:cond delay="140"/>
                                  </p:stCondLst>
                                  <p:childTnLst>
                                    <p:set>
                                      <p:cBhvr>
                                        <p:cTn id="33" dur="1" fill="hold">
                                          <p:stCondLst>
                                            <p:cond delay="0"/>
                                          </p:stCondLst>
                                        </p:cTn>
                                        <p:tgtEl>
                                          <p:spTgt spid="5002"/>
                                        </p:tgtEl>
                                        <p:attrNameLst>
                                          <p:attrName>style.visibility</p:attrName>
                                        </p:attrNameLst>
                                      </p:cBhvr>
                                      <p:to>
                                        <p:strVal val="visible"/>
                                      </p:to>
                                    </p:set>
                                    <p:animEffect transition="in" filter="wipe(left)">
                                      <p:cBhvr>
                                        <p:cTn id="34" dur="400"/>
                                        <p:tgtEl>
                                          <p:spTgt spid="5002"/>
                                        </p:tgtEl>
                                      </p:cBhvr>
                                    </p:animEffect>
                                  </p:childTnLst>
                                </p:cTn>
                              </p:par>
                              <p:par>
                                <p:cTn id="35" presetID="42" presetClass="entr" presetSubtype="0" fill="hold" grpId="0" nodeType="withEffect">
                                  <p:stCondLst>
                                    <p:cond delay="420"/>
                                  </p:stCondLst>
                                  <p:childTnLst>
                                    <p:set>
                                      <p:cBhvr>
                                        <p:cTn id="36" dur="1" fill="hold">
                                          <p:stCondLst>
                                            <p:cond delay="0"/>
                                          </p:stCondLst>
                                        </p:cTn>
                                        <p:tgtEl>
                                          <p:spTgt spid="5003"/>
                                        </p:tgtEl>
                                        <p:attrNameLst>
                                          <p:attrName>style.visibility</p:attrName>
                                        </p:attrNameLst>
                                      </p:cBhvr>
                                      <p:to>
                                        <p:strVal val="visible"/>
                                      </p:to>
                                    </p:set>
                                    <p:animEffect transition="in" filter="fade">
                                      <p:cBhvr>
                                        <p:cTn id="37" dur="500"/>
                                        <p:tgtEl>
                                          <p:spTgt spid="5003"/>
                                        </p:tgtEl>
                                      </p:cBhvr>
                                    </p:animEffect>
                                    <p:anim calcmode="lin" valueType="num">
                                      <p:cBhvr>
                                        <p:cTn id="38" dur="500" fill="hold"/>
                                        <p:tgtEl>
                                          <p:spTgt spid="5003"/>
                                        </p:tgtEl>
                                        <p:attrNameLst>
                                          <p:attrName>ppt_x</p:attrName>
                                        </p:attrNameLst>
                                      </p:cBhvr>
                                      <p:tavLst>
                                        <p:tav tm="0">
                                          <p:val>
                                            <p:strVal val="#ppt_x+.035"/>
                                          </p:val>
                                        </p:tav>
                                        <p:tav tm="100000">
                                          <p:val>
                                            <p:strVal val="#ppt_x"/>
                                          </p:val>
                                        </p:tav>
                                      </p:tavLst>
                                    </p:anim>
                                    <p:anim calcmode="lin" valueType="num">
                                      <p:cBhvr>
                                        <p:cTn id="39" dur="500" fill="hold"/>
                                        <p:tgtEl>
                                          <p:spTgt spid="5003"/>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601"/>
                                        </p:tgtEl>
                                        <p:attrNameLst>
                                          <p:attrName>style.visibility</p:attrName>
                                        </p:attrNameLst>
                                      </p:cBhvr>
                                      <p:to>
                                        <p:strVal val="visible"/>
                                      </p:to>
                                    </p:set>
                                    <p:animEffect transition="in" filter="fade">
                                      <p:cBhvr>
                                        <p:cTn id="44" dur="500"/>
                                        <p:tgtEl>
                                          <p:spTgt spid="601"/>
                                        </p:tgtEl>
                                      </p:cBhvr>
                                    </p:animEffect>
                                    <p:anim calcmode="lin" valueType="num">
                                      <p:cBhvr>
                                        <p:cTn id="45" dur="500" fill="hold"/>
                                        <p:tgtEl>
                                          <p:spTgt spid="601"/>
                                        </p:tgtEl>
                                        <p:attrNameLst>
                                          <p:attrName>ppt_x</p:attrName>
                                        </p:attrNameLst>
                                      </p:cBhvr>
                                      <p:tavLst>
                                        <p:tav tm="0">
                                          <p:val>
                                            <p:strVal val="#ppt_x+.035"/>
                                          </p:val>
                                        </p:tav>
                                        <p:tav tm="100000">
                                          <p:val>
                                            <p:strVal val="#ppt_x"/>
                                          </p:val>
                                        </p:tav>
                                      </p:tavLst>
                                    </p:anim>
                                    <p:anim calcmode="lin" valueType="num">
                                      <p:cBhvr>
                                        <p:cTn id="46" dur="500" fill="hold"/>
                                        <p:tgtEl>
                                          <p:spTgt spid="601"/>
                                        </p:tgtEl>
                                        <p:attrNameLst>
                                          <p:attrName>ppt_y</p:attrName>
                                        </p:attrNameLst>
                                      </p:cBhvr>
                                      <p:tavLst>
                                        <p:tav tm="0">
                                          <p:val>
                                            <p:strVal val="#ppt_y"/>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602"/>
                                        </p:tgtEl>
                                        <p:attrNameLst>
                                          <p:attrName>style.visibility</p:attrName>
                                        </p:attrNameLst>
                                      </p:cBhvr>
                                      <p:to>
                                        <p:strVal val="visible"/>
                                      </p:to>
                                    </p:set>
                                    <p:animEffect transition="in" filter="fade">
                                      <p:cBhvr>
                                        <p:cTn id="49" dur="500"/>
                                        <p:tgtEl>
                                          <p:spTgt spid="602"/>
                                        </p:tgtEl>
                                      </p:cBhvr>
                                    </p:animEffect>
                                    <p:anim calcmode="lin" valueType="num">
                                      <p:cBhvr>
                                        <p:cTn id="50" dur="500" fill="hold"/>
                                        <p:tgtEl>
                                          <p:spTgt spid="602"/>
                                        </p:tgtEl>
                                        <p:attrNameLst>
                                          <p:attrName>ppt_x</p:attrName>
                                        </p:attrNameLst>
                                      </p:cBhvr>
                                      <p:tavLst>
                                        <p:tav tm="0">
                                          <p:val>
                                            <p:strVal val="#ppt_x+.035"/>
                                          </p:val>
                                        </p:tav>
                                        <p:tav tm="100000">
                                          <p:val>
                                            <p:strVal val="#ppt_x"/>
                                          </p:val>
                                        </p:tav>
                                      </p:tavLst>
                                    </p:anim>
                                    <p:anim calcmode="lin" valueType="num">
                                      <p:cBhvr>
                                        <p:cTn id="51" dur="500" fill="hold"/>
                                        <p:tgtEl>
                                          <p:spTgt spid="602"/>
                                        </p:tgtEl>
                                        <p:attrNameLst>
                                          <p:attrName>ppt_y</p:attrName>
                                        </p:attrNameLst>
                                      </p:cBhvr>
                                      <p:tavLst>
                                        <p:tav tm="0">
                                          <p:val>
                                            <p:strVal val="#ppt_y"/>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46"/>
                                        </p:tgtEl>
                                        <p:attrNameLst>
                                          <p:attrName>style.visibility</p:attrName>
                                        </p:attrNameLst>
                                      </p:cBhvr>
                                      <p:to>
                                        <p:strVal val="visible"/>
                                      </p:to>
                                    </p:set>
                                    <p:animEffect transition="in" filter="fade">
                                      <p:cBhvr>
                                        <p:cTn id="54" dur="500"/>
                                        <p:tgtEl>
                                          <p:spTgt spid="46"/>
                                        </p:tgtEl>
                                      </p:cBhvr>
                                    </p:animEffect>
                                    <p:anim calcmode="lin" valueType="num">
                                      <p:cBhvr>
                                        <p:cTn id="55" dur="500" fill="hold"/>
                                        <p:tgtEl>
                                          <p:spTgt spid="46"/>
                                        </p:tgtEl>
                                        <p:attrNameLst>
                                          <p:attrName>ppt_x</p:attrName>
                                        </p:attrNameLst>
                                      </p:cBhvr>
                                      <p:tavLst>
                                        <p:tav tm="0">
                                          <p:val>
                                            <p:strVal val="#ppt_x+.035"/>
                                          </p:val>
                                        </p:tav>
                                        <p:tav tm="100000">
                                          <p:val>
                                            <p:strVal val="#ppt_x"/>
                                          </p:val>
                                        </p:tav>
                                      </p:tavLst>
                                    </p:anim>
                                    <p:anim calcmode="lin" valueType="num">
                                      <p:cBhvr>
                                        <p:cTn id="56" dur="500" fill="hold"/>
                                        <p:tgtEl>
                                          <p:spTgt spid="46"/>
                                        </p:tgtEl>
                                        <p:attrNameLst>
                                          <p:attrName>ppt_y</p:attrName>
                                        </p:attrNameLst>
                                      </p:cBhvr>
                                      <p:tavLst>
                                        <p:tav tm="0">
                                          <p:val>
                                            <p:strVal val="#ppt_y"/>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animEffect transition="in" filter="fade">
                                      <p:cBhvr>
                                        <p:cTn id="59" dur="500"/>
                                        <p:tgtEl>
                                          <p:spTgt spid="48"/>
                                        </p:tgtEl>
                                      </p:cBhvr>
                                    </p:animEffect>
                                    <p:anim calcmode="lin" valueType="num">
                                      <p:cBhvr>
                                        <p:cTn id="60" dur="500" fill="hold"/>
                                        <p:tgtEl>
                                          <p:spTgt spid="48"/>
                                        </p:tgtEl>
                                        <p:attrNameLst>
                                          <p:attrName>ppt_x</p:attrName>
                                        </p:attrNameLst>
                                      </p:cBhvr>
                                      <p:tavLst>
                                        <p:tav tm="0">
                                          <p:val>
                                            <p:strVal val="#ppt_x+.035"/>
                                          </p:val>
                                        </p:tav>
                                        <p:tav tm="100000">
                                          <p:val>
                                            <p:strVal val="#ppt_x"/>
                                          </p:val>
                                        </p:tav>
                                      </p:tavLst>
                                    </p:anim>
                                    <p:anim calcmode="lin" valueType="num">
                                      <p:cBhvr>
                                        <p:cTn id="61" dur="500" fill="hold"/>
                                        <p:tgtEl>
                                          <p:spTgt spid="48"/>
                                        </p:tgtEl>
                                        <p:attrNameLst>
                                          <p:attrName>ppt_y</p:attrName>
                                        </p:attrNameLst>
                                      </p:cBhvr>
                                      <p:tavLst>
                                        <p:tav tm="0">
                                          <p:val>
                                            <p:strVal val="#ppt_y"/>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50"/>
                                        </p:tgtEl>
                                        <p:attrNameLst>
                                          <p:attrName>style.visibility</p:attrName>
                                        </p:attrNameLst>
                                      </p:cBhvr>
                                      <p:to>
                                        <p:strVal val="visible"/>
                                      </p:to>
                                    </p:set>
                                    <p:animEffect transition="in" filter="fade">
                                      <p:cBhvr>
                                        <p:cTn id="64" dur="500"/>
                                        <p:tgtEl>
                                          <p:spTgt spid="50"/>
                                        </p:tgtEl>
                                      </p:cBhvr>
                                    </p:animEffect>
                                    <p:anim calcmode="lin" valueType="num">
                                      <p:cBhvr>
                                        <p:cTn id="65" dur="500" fill="hold"/>
                                        <p:tgtEl>
                                          <p:spTgt spid="50"/>
                                        </p:tgtEl>
                                        <p:attrNameLst>
                                          <p:attrName>ppt_x</p:attrName>
                                        </p:attrNameLst>
                                      </p:cBhvr>
                                      <p:tavLst>
                                        <p:tav tm="0">
                                          <p:val>
                                            <p:strVal val="#ppt_x+.035"/>
                                          </p:val>
                                        </p:tav>
                                        <p:tav tm="100000">
                                          <p:val>
                                            <p:strVal val="#ppt_x"/>
                                          </p:val>
                                        </p:tav>
                                      </p:tavLst>
                                    </p:anim>
                                    <p:anim calcmode="lin" valueType="num">
                                      <p:cBhvr>
                                        <p:cTn id="66" dur="500" fill="hold"/>
                                        <p:tgtEl>
                                          <p:spTgt spid="50"/>
                                        </p:tgtEl>
                                        <p:attrNameLst>
                                          <p:attrName>ppt_y</p:attrName>
                                        </p:attrNameLst>
                                      </p:cBhvr>
                                      <p:tavLst>
                                        <p:tav tm="0">
                                          <p:val>
                                            <p:strVal val="#ppt_y"/>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603"/>
                                        </p:tgtEl>
                                        <p:attrNameLst>
                                          <p:attrName>style.visibility</p:attrName>
                                        </p:attrNameLst>
                                      </p:cBhvr>
                                      <p:to>
                                        <p:strVal val="visible"/>
                                      </p:to>
                                    </p:set>
                                    <p:animEffect transition="in" filter="fade">
                                      <p:cBhvr>
                                        <p:cTn id="69" dur="500"/>
                                        <p:tgtEl>
                                          <p:spTgt spid="603"/>
                                        </p:tgtEl>
                                      </p:cBhvr>
                                    </p:animEffect>
                                    <p:anim calcmode="lin" valueType="num">
                                      <p:cBhvr>
                                        <p:cTn id="70" dur="500" fill="hold"/>
                                        <p:tgtEl>
                                          <p:spTgt spid="603"/>
                                        </p:tgtEl>
                                        <p:attrNameLst>
                                          <p:attrName>ppt_x</p:attrName>
                                        </p:attrNameLst>
                                      </p:cBhvr>
                                      <p:tavLst>
                                        <p:tav tm="0">
                                          <p:val>
                                            <p:strVal val="#ppt_x+.035"/>
                                          </p:val>
                                        </p:tav>
                                        <p:tav tm="100000">
                                          <p:val>
                                            <p:strVal val="#ppt_x"/>
                                          </p:val>
                                        </p:tav>
                                      </p:tavLst>
                                    </p:anim>
                                    <p:anim calcmode="lin" valueType="num">
                                      <p:cBhvr>
                                        <p:cTn id="71" dur="500" fill="hold"/>
                                        <p:tgtEl>
                                          <p:spTgt spid="603"/>
                                        </p:tgtEl>
                                        <p:attrNameLst>
                                          <p:attrName>ppt_y</p:attrName>
                                        </p:attrNameLst>
                                      </p:cBhvr>
                                      <p:tavLst>
                                        <p:tav tm="0">
                                          <p:val>
                                            <p:strVal val="#ppt_y"/>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611"/>
                                        </p:tgtEl>
                                        <p:attrNameLst>
                                          <p:attrName>style.visibility</p:attrName>
                                        </p:attrNameLst>
                                      </p:cBhvr>
                                      <p:to>
                                        <p:strVal val="visible"/>
                                      </p:to>
                                    </p:set>
                                    <p:animEffect transition="in" filter="fade">
                                      <p:cBhvr>
                                        <p:cTn id="74" dur="500"/>
                                        <p:tgtEl>
                                          <p:spTgt spid="611"/>
                                        </p:tgtEl>
                                      </p:cBhvr>
                                    </p:animEffect>
                                    <p:anim calcmode="lin" valueType="num">
                                      <p:cBhvr>
                                        <p:cTn id="75" dur="500" fill="hold"/>
                                        <p:tgtEl>
                                          <p:spTgt spid="611"/>
                                        </p:tgtEl>
                                        <p:attrNameLst>
                                          <p:attrName>ppt_x</p:attrName>
                                        </p:attrNameLst>
                                      </p:cBhvr>
                                      <p:tavLst>
                                        <p:tav tm="0">
                                          <p:val>
                                            <p:strVal val="#ppt_x+.035"/>
                                          </p:val>
                                        </p:tav>
                                        <p:tav tm="100000">
                                          <p:val>
                                            <p:strVal val="#ppt_x"/>
                                          </p:val>
                                        </p:tav>
                                      </p:tavLst>
                                    </p:anim>
                                    <p:anim calcmode="lin" valueType="num">
                                      <p:cBhvr>
                                        <p:cTn id="76" dur="500" fill="hold"/>
                                        <p:tgtEl>
                                          <p:spTgt spid="611"/>
                                        </p:tgtEl>
                                        <p:attrNameLst>
                                          <p:attrName>ppt_y</p:attrName>
                                        </p:attrNameLst>
                                      </p:cBhvr>
                                      <p:tavLst>
                                        <p:tav tm="0">
                                          <p:val>
                                            <p:strVal val="#ppt_y"/>
                                          </p:val>
                                        </p:tav>
                                        <p:tav tm="100000">
                                          <p:val>
                                            <p:strVal val="#ppt_y"/>
                                          </p:val>
                                        </p:tav>
                                      </p:tavLst>
                                    </p:anim>
                                  </p:childTnLst>
                                </p:cTn>
                              </p:par>
                              <p:par>
                                <p:cTn id="77" presetID="42" presetClass="entr" presetSubtype="0" fill="hold" grpId="0" nodeType="withEffect">
                                  <p:stCondLst>
                                    <p:cond delay="140"/>
                                  </p:stCondLst>
                                  <p:childTnLst>
                                    <p:set>
                                      <p:cBhvr>
                                        <p:cTn id="78" dur="1" fill="hold">
                                          <p:stCondLst>
                                            <p:cond delay="0"/>
                                          </p:stCondLst>
                                        </p:cTn>
                                        <p:tgtEl>
                                          <p:spTgt spid="604"/>
                                        </p:tgtEl>
                                        <p:attrNameLst>
                                          <p:attrName>style.visibility</p:attrName>
                                        </p:attrNameLst>
                                      </p:cBhvr>
                                      <p:to>
                                        <p:strVal val="visible"/>
                                      </p:to>
                                    </p:set>
                                    <p:animEffect transition="in" filter="fade">
                                      <p:cBhvr>
                                        <p:cTn id="79" dur="500"/>
                                        <p:tgtEl>
                                          <p:spTgt spid="604"/>
                                        </p:tgtEl>
                                      </p:cBhvr>
                                    </p:animEffect>
                                    <p:anim calcmode="lin" valueType="num">
                                      <p:cBhvr>
                                        <p:cTn id="80" dur="500" fill="hold"/>
                                        <p:tgtEl>
                                          <p:spTgt spid="604"/>
                                        </p:tgtEl>
                                        <p:attrNameLst>
                                          <p:attrName>ppt_x</p:attrName>
                                        </p:attrNameLst>
                                      </p:cBhvr>
                                      <p:tavLst>
                                        <p:tav tm="0">
                                          <p:val>
                                            <p:strVal val="#ppt_x+.035"/>
                                          </p:val>
                                        </p:tav>
                                        <p:tav tm="100000">
                                          <p:val>
                                            <p:strVal val="#ppt_x"/>
                                          </p:val>
                                        </p:tav>
                                      </p:tavLst>
                                    </p:anim>
                                    <p:anim calcmode="lin" valueType="num">
                                      <p:cBhvr>
                                        <p:cTn id="81" dur="500" fill="hold"/>
                                        <p:tgtEl>
                                          <p:spTgt spid="604"/>
                                        </p:tgtEl>
                                        <p:attrNameLst>
                                          <p:attrName>ppt_y</p:attrName>
                                        </p:attrNameLst>
                                      </p:cBhvr>
                                      <p:tavLst>
                                        <p:tav tm="0">
                                          <p:val>
                                            <p:strVal val="#ppt_y"/>
                                          </p:val>
                                        </p:tav>
                                        <p:tav tm="100000">
                                          <p:val>
                                            <p:strVal val="#ppt_y"/>
                                          </p:val>
                                        </p:tav>
                                      </p:tavLst>
                                    </p:anim>
                                  </p:childTnLst>
                                </p:cTn>
                              </p:par>
                              <p:par>
                                <p:cTn id="82" presetID="42" presetClass="entr" presetSubtype="0" fill="hold" grpId="0" nodeType="withEffect">
                                  <p:stCondLst>
                                    <p:cond delay="140"/>
                                  </p:stCondLst>
                                  <p:childTnLst>
                                    <p:set>
                                      <p:cBhvr>
                                        <p:cTn id="83" dur="1" fill="hold">
                                          <p:stCondLst>
                                            <p:cond delay="0"/>
                                          </p:stCondLst>
                                        </p:cTn>
                                        <p:tgtEl>
                                          <p:spTgt spid="52"/>
                                        </p:tgtEl>
                                        <p:attrNameLst>
                                          <p:attrName>style.visibility</p:attrName>
                                        </p:attrNameLst>
                                      </p:cBhvr>
                                      <p:to>
                                        <p:strVal val="visible"/>
                                      </p:to>
                                    </p:set>
                                    <p:animEffect transition="in" filter="fade">
                                      <p:cBhvr>
                                        <p:cTn id="84" dur="500"/>
                                        <p:tgtEl>
                                          <p:spTgt spid="52"/>
                                        </p:tgtEl>
                                      </p:cBhvr>
                                    </p:animEffect>
                                    <p:anim calcmode="lin" valueType="num">
                                      <p:cBhvr>
                                        <p:cTn id="85" dur="500" fill="hold"/>
                                        <p:tgtEl>
                                          <p:spTgt spid="52"/>
                                        </p:tgtEl>
                                        <p:attrNameLst>
                                          <p:attrName>ppt_x</p:attrName>
                                        </p:attrNameLst>
                                      </p:cBhvr>
                                      <p:tavLst>
                                        <p:tav tm="0">
                                          <p:val>
                                            <p:strVal val="#ppt_x+.035"/>
                                          </p:val>
                                        </p:tav>
                                        <p:tav tm="100000">
                                          <p:val>
                                            <p:strVal val="#ppt_x"/>
                                          </p:val>
                                        </p:tav>
                                      </p:tavLst>
                                    </p:anim>
                                    <p:anim calcmode="lin" valueType="num">
                                      <p:cBhvr>
                                        <p:cTn id="86" dur="500" fill="hold"/>
                                        <p:tgtEl>
                                          <p:spTgt spid="52"/>
                                        </p:tgtEl>
                                        <p:attrNameLst>
                                          <p:attrName>ppt_y</p:attrName>
                                        </p:attrNameLst>
                                      </p:cBhvr>
                                      <p:tavLst>
                                        <p:tav tm="0">
                                          <p:val>
                                            <p:strVal val="#ppt_y"/>
                                          </p:val>
                                        </p:tav>
                                        <p:tav tm="100000">
                                          <p:val>
                                            <p:strVal val="#ppt_y"/>
                                          </p:val>
                                        </p:tav>
                                      </p:tavLst>
                                    </p:anim>
                                  </p:childTnLst>
                                </p:cTn>
                              </p:par>
                              <p:par>
                                <p:cTn id="87" presetID="42" presetClass="entr" presetSubtype="0" fill="hold" grpId="0" nodeType="withEffect">
                                  <p:stCondLst>
                                    <p:cond delay="140"/>
                                  </p:stCondLst>
                                  <p:childTnLst>
                                    <p:set>
                                      <p:cBhvr>
                                        <p:cTn id="88" dur="1" fill="hold">
                                          <p:stCondLst>
                                            <p:cond delay="0"/>
                                          </p:stCondLst>
                                        </p:cTn>
                                        <p:tgtEl>
                                          <p:spTgt spid="54"/>
                                        </p:tgtEl>
                                        <p:attrNameLst>
                                          <p:attrName>style.visibility</p:attrName>
                                        </p:attrNameLst>
                                      </p:cBhvr>
                                      <p:to>
                                        <p:strVal val="visible"/>
                                      </p:to>
                                    </p:set>
                                    <p:animEffect transition="in" filter="fade">
                                      <p:cBhvr>
                                        <p:cTn id="89" dur="500"/>
                                        <p:tgtEl>
                                          <p:spTgt spid="54"/>
                                        </p:tgtEl>
                                      </p:cBhvr>
                                    </p:animEffect>
                                    <p:anim calcmode="lin" valueType="num">
                                      <p:cBhvr>
                                        <p:cTn id="90" dur="500" fill="hold"/>
                                        <p:tgtEl>
                                          <p:spTgt spid="54"/>
                                        </p:tgtEl>
                                        <p:attrNameLst>
                                          <p:attrName>ppt_x</p:attrName>
                                        </p:attrNameLst>
                                      </p:cBhvr>
                                      <p:tavLst>
                                        <p:tav tm="0">
                                          <p:val>
                                            <p:strVal val="#ppt_x+.035"/>
                                          </p:val>
                                        </p:tav>
                                        <p:tav tm="100000">
                                          <p:val>
                                            <p:strVal val="#ppt_x"/>
                                          </p:val>
                                        </p:tav>
                                      </p:tavLst>
                                    </p:anim>
                                    <p:anim calcmode="lin" valueType="num">
                                      <p:cBhvr>
                                        <p:cTn id="91" dur="500" fill="hold"/>
                                        <p:tgtEl>
                                          <p:spTgt spid="54"/>
                                        </p:tgtEl>
                                        <p:attrNameLst>
                                          <p:attrName>ppt_y</p:attrName>
                                        </p:attrNameLst>
                                      </p:cBhvr>
                                      <p:tavLst>
                                        <p:tav tm="0">
                                          <p:val>
                                            <p:strVal val="#ppt_y"/>
                                          </p:val>
                                        </p:tav>
                                        <p:tav tm="100000">
                                          <p:val>
                                            <p:strVal val="#ppt_y"/>
                                          </p:val>
                                        </p:tav>
                                      </p:tavLst>
                                    </p:anim>
                                  </p:childTnLst>
                                </p:cTn>
                              </p:par>
                              <p:par>
                                <p:cTn id="92" presetID="42" presetClass="entr" presetSubtype="0" fill="hold" grpId="0" nodeType="withEffect">
                                  <p:stCondLst>
                                    <p:cond delay="140"/>
                                  </p:stCondLst>
                                  <p:childTnLst>
                                    <p:set>
                                      <p:cBhvr>
                                        <p:cTn id="93" dur="1" fill="hold">
                                          <p:stCondLst>
                                            <p:cond delay="0"/>
                                          </p:stCondLst>
                                        </p:cTn>
                                        <p:tgtEl>
                                          <p:spTgt spid="56"/>
                                        </p:tgtEl>
                                        <p:attrNameLst>
                                          <p:attrName>style.visibility</p:attrName>
                                        </p:attrNameLst>
                                      </p:cBhvr>
                                      <p:to>
                                        <p:strVal val="visible"/>
                                      </p:to>
                                    </p:set>
                                    <p:animEffect transition="in" filter="fade">
                                      <p:cBhvr>
                                        <p:cTn id="94" dur="500"/>
                                        <p:tgtEl>
                                          <p:spTgt spid="56"/>
                                        </p:tgtEl>
                                      </p:cBhvr>
                                    </p:animEffect>
                                    <p:anim calcmode="lin" valueType="num">
                                      <p:cBhvr>
                                        <p:cTn id="95" dur="500" fill="hold"/>
                                        <p:tgtEl>
                                          <p:spTgt spid="56"/>
                                        </p:tgtEl>
                                        <p:attrNameLst>
                                          <p:attrName>ppt_x</p:attrName>
                                        </p:attrNameLst>
                                      </p:cBhvr>
                                      <p:tavLst>
                                        <p:tav tm="0">
                                          <p:val>
                                            <p:strVal val="#ppt_x+.035"/>
                                          </p:val>
                                        </p:tav>
                                        <p:tav tm="100000">
                                          <p:val>
                                            <p:strVal val="#ppt_x"/>
                                          </p:val>
                                        </p:tav>
                                      </p:tavLst>
                                    </p:anim>
                                    <p:anim calcmode="lin" valueType="num">
                                      <p:cBhvr>
                                        <p:cTn id="96" dur="500" fill="hold"/>
                                        <p:tgtEl>
                                          <p:spTgt spid="56"/>
                                        </p:tgtEl>
                                        <p:attrNameLst>
                                          <p:attrName>ppt_y</p:attrName>
                                        </p:attrNameLst>
                                      </p:cBhvr>
                                      <p:tavLst>
                                        <p:tav tm="0">
                                          <p:val>
                                            <p:strVal val="#ppt_y"/>
                                          </p:val>
                                        </p:tav>
                                        <p:tav tm="100000">
                                          <p:val>
                                            <p:strVal val="#ppt_y"/>
                                          </p:val>
                                        </p:tav>
                                      </p:tavLst>
                                    </p:anim>
                                  </p:childTnLst>
                                </p:cTn>
                              </p:par>
                              <p:par>
                                <p:cTn id="97" presetID="42" presetClass="entr" presetSubtype="0" fill="hold" nodeType="withEffect">
                                  <p:stCondLst>
                                    <p:cond delay="140"/>
                                  </p:stCondLst>
                                  <p:childTnLst>
                                    <p:set>
                                      <p:cBhvr>
                                        <p:cTn id="98" dur="1" fill="hold">
                                          <p:stCondLst>
                                            <p:cond delay="0"/>
                                          </p:stCondLst>
                                        </p:cTn>
                                        <p:tgtEl>
                                          <p:spTgt spid="609"/>
                                        </p:tgtEl>
                                        <p:attrNameLst>
                                          <p:attrName>style.visibility</p:attrName>
                                        </p:attrNameLst>
                                      </p:cBhvr>
                                      <p:to>
                                        <p:strVal val="visible"/>
                                      </p:to>
                                    </p:set>
                                    <p:animEffect transition="in" filter="fade">
                                      <p:cBhvr>
                                        <p:cTn id="99" dur="500"/>
                                        <p:tgtEl>
                                          <p:spTgt spid="609"/>
                                        </p:tgtEl>
                                      </p:cBhvr>
                                    </p:animEffect>
                                    <p:anim calcmode="lin" valueType="num">
                                      <p:cBhvr>
                                        <p:cTn id="100" dur="500" fill="hold"/>
                                        <p:tgtEl>
                                          <p:spTgt spid="609"/>
                                        </p:tgtEl>
                                        <p:attrNameLst>
                                          <p:attrName>ppt_x</p:attrName>
                                        </p:attrNameLst>
                                      </p:cBhvr>
                                      <p:tavLst>
                                        <p:tav tm="0">
                                          <p:val>
                                            <p:strVal val="#ppt_x+.035"/>
                                          </p:val>
                                        </p:tav>
                                        <p:tav tm="100000">
                                          <p:val>
                                            <p:strVal val="#ppt_x"/>
                                          </p:val>
                                        </p:tav>
                                      </p:tavLst>
                                    </p:anim>
                                    <p:anim calcmode="lin" valueType="num">
                                      <p:cBhvr>
                                        <p:cTn id="101" dur="500" fill="hold"/>
                                        <p:tgtEl>
                                          <p:spTgt spid="609"/>
                                        </p:tgtEl>
                                        <p:attrNameLst>
                                          <p:attrName>ppt_y</p:attrName>
                                        </p:attrNameLst>
                                      </p:cBhvr>
                                      <p:tavLst>
                                        <p:tav tm="0">
                                          <p:val>
                                            <p:strVal val="#ppt_y"/>
                                          </p:val>
                                        </p:tav>
                                        <p:tav tm="100000">
                                          <p:val>
                                            <p:strVal val="#ppt_y"/>
                                          </p:val>
                                        </p:tav>
                                      </p:tavLst>
                                    </p:anim>
                                  </p:childTnLst>
                                </p:cTn>
                              </p:par>
                              <p:par>
                                <p:cTn id="102" presetID="42" presetClass="entr" presetSubtype="0" fill="hold" grpId="0" nodeType="withEffect">
                                  <p:stCondLst>
                                    <p:cond delay="280"/>
                                  </p:stCondLst>
                                  <p:childTnLst>
                                    <p:set>
                                      <p:cBhvr>
                                        <p:cTn id="103" dur="1" fill="hold">
                                          <p:stCondLst>
                                            <p:cond delay="0"/>
                                          </p:stCondLst>
                                        </p:cTn>
                                        <p:tgtEl>
                                          <p:spTgt spid="605"/>
                                        </p:tgtEl>
                                        <p:attrNameLst>
                                          <p:attrName>style.visibility</p:attrName>
                                        </p:attrNameLst>
                                      </p:cBhvr>
                                      <p:to>
                                        <p:strVal val="visible"/>
                                      </p:to>
                                    </p:set>
                                    <p:animEffect transition="in" filter="fade">
                                      <p:cBhvr>
                                        <p:cTn id="104" dur="500"/>
                                        <p:tgtEl>
                                          <p:spTgt spid="605"/>
                                        </p:tgtEl>
                                      </p:cBhvr>
                                    </p:animEffect>
                                    <p:anim calcmode="lin" valueType="num">
                                      <p:cBhvr>
                                        <p:cTn id="105" dur="500" fill="hold"/>
                                        <p:tgtEl>
                                          <p:spTgt spid="605"/>
                                        </p:tgtEl>
                                        <p:attrNameLst>
                                          <p:attrName>ppt_x</p:attrName>
                                        </p:attrNameLst>
                                      </p:cBhvr>
                                      <p:tavLst>
                                        <p:tav tm="0">
                                          <p:val>
                                            <p:strVal val="#ppt_x+.035"/>
                                          </p:val>
                                        </p:tav>
                                        <p:tav tm="100000">
                                          <p:val>
                                            <p:strVal val="#ppt_x"/>
                                          </p:val>
                                        </p:tav>
                                      </p:tavLst>
                                    </p:anim>
                                    <p:anim calcmode="lin" valueType="num">
                                      <p:cBhvr>
                                        <p:cTn id="106" dur="500" fill="hold"/>
                                        <p:tgtEl>
                                          <p:spTgt spid="605"/>
                                        </p:tgtEl>
                                        <p:attrNameLst>
                                          <p:attrName>ppt_y</p:attrName>
                                        </p:attrNameLst>
                                      </p:cBhvr>
                                      <p:tavLst>
                                        <p:tav tm="0">
                                          <p:val>
                                            <p:strVal val="#ppt_y"/>
                                          </p:val>
                                        </p:tav>
                                        <p:tav tm="100000">
                                          <p:val>
                                            <p:strVal val="#ppt_y"/>
                                          </p:val>
                                        </p:tav>
                                      </p:tavLst>
                                    </p:anim>
                                  </p:childTnLst>
                                </p:cTn>
                              </p:par>
                              <p:par>
                                <p:cTn id="107" presetID="42" presetClass="entr" presetSubtype="0" fill="hold" grpId="0" nodeType="withEffect">
                                  <p:stCondLst>
                                    <p:cond delay="280"/>
                                  </p:stCondLst>
                                  <p:childTnLst>
                                    <p:set>
                                      <p:cBhvr>
                                        <p:cTn id="108" dur="1" fill="hold">
                                          <p:stCondLst>
                                            <p:cond delay="0"/>
                                          </p:stCondLst>
                                        </p:cTn>
                                        <p:tgtEl>
                                          <p:spTgt spid="58"/>
                                        </p:tgtEl>
                                        <p:attrNameLst>
                                          <p:attrName>style.visibility</p:attrName>
                                        </p:attrNameLst>
                                      </p:cBhvr>
                                      <p:to>
                                        <p:strVal val="visible"/>
                                      </p:to>
                                    </p:set>
                                    <p:animEffect transition="in" filter="fade">
                                      <p:cBhvr>
                                        <p:cTn id="109" dur="500"/>
                                        <p:tgtEl>
                                          <p:spTgt spid="58"/>
                                        </p:tgtEl>
                                      </p:cBhvr>
                                    </p:animEffect>
                                    <p:anim calcmode="lin" valueType="num">
                                      <p:cBhvr>
                                        <p:cTn id="110" dur="500" fill="hold"/>
                                        <p:tgtEl>
                                          <p:spTgt spid="58"/>
                                        </p:tgtEl>
                                        <p:attrNameLst>
                                          <p:attrName>ppt_x</p:attrName>
                                        </p:attrNameLst>
                                      </p:cBhvr>
                                      <p:tavLst>
                                        <p:tav tm="0">
                                          <p:val>
                                            <p:strVal val="#ppt_x+.035"/>
                                          </p:val>
                                        </p:tav>
                                        <p:tav tm="100000">
                                          <p:val>
                                            <p:strVal val="#ppt_x"/>
                                          </p:val>
                                        </p:tav>
                                      </p:tavLst>
                                    </p:anim>
                                    <p:anim calcmode="lin" valueType="num">
                                      <p:cBhvr>
                                        <p:cTn id="111" dur="500" fill="hold"/>
                                        <p:tgtEl>
                                          <p:spTgt spid="58"/>
                                        </p:tgtEl>
                                        <p:attrNameLst>
                                          <p:attrName>ppt_y</p:attrName>
                                        </p:attrNameLst>
                                      </p:cBhvr>
                                      <p:tavLst>
                                        <p:tav tm="0">
                                          <p:val>
                                            <p:strVal val="#ppt_y"/>
                                          </p:val>
                                        </p:tav>
                                        <p:tav tm="100000">
                                          <p:val>
                                            <p:strVal val="#ppt_y"/>
                                          </p:val>
                                        </p:tav>
                                      </p:tavLst>
                                    </p:anim>
                                  </p:childTnLst>
                                </p:cTn>
                              </p:par>
                              <p:par>
                                <p:cTn id="112" presetID="42" presetClass="entr" presetSubtype="0" fill="hold" grpId="0" nodeType="withEffect">
                                  <p:stCondLst>
                                    <p:cond delay="280"/>
                                  </p:stCondLst>
                                  <p:childTnLst>
                                    <p:set>
                                      <p:cBhvr>
                                        <p:cTn id="113" dur="1" fill="hold">
                                          <p:stCondLst>
                                            <p:cond delay="0"/>
                                          </p:stCondLst>
                                        </p:cTn>
                                        <p:tgtEl>
                                          <p:spTgt spid="60"/>
                                        </p:tgtEl>
                                        <p:attrNameLst>
                                          <p:attrName>style.visibility</p:attrName>
                                        </p:attrNameLst>
                                      </p:cBhvr>
                                      <p:to>
                                        <p:strVal val="visible"/>
                                      </p:to>
                                    </p:set>
                                    <p:animEffect transition="in" filter="fade">
                                      <p:cBhvr>
                                        <p:cTn id="114" dur="500"/>
                                        <p:tgtEl>
                                          <p:spTgt spid="60"/>
                                        </p:tgtEl>
                                      </p:cBhvr>
                                    </p:animEffect>
                                    <p:anim calcmode="lin" valueType="num">
                                      <p:cBhvr>
                                        <p:cTn id="115" dur="500" fill="hold"/>
                                        <p:tgtEl>
                                          <p:spTgt spid="60"/>
                                        </p:tgtEl>
                                        <p:attrNameLst>
                                          <p:attrName>ppt_x</p:attrName>
                                        </p:attrNameLst>
                                      </p:cBhvr>
                                      <p:tavLst>
                                        <p:tav tm="0">
                                          <p:val>
                                            <p:strVal val="#ppt_x+.035"/>
                                          </p:val>
                                        </p:tav>
                                        <p:tav tm="100000">
                                          <p:val>
                                            <p:strVal val="#ppt_x"/>
                                          </p:val>
                                        </p:tav>
                                      </p:tavLst>
                                    </p:anim>
                                    <p:anim calcmode="lin" valueType="num">
                                      <p:cBhvr>
                                        <p:cTn id="116" dur="500" fill="hold"/>
                                        <p:tgtEl>
                                          <p:spTgt spid="60"/>
                                        </p:tgtEl>
                                        <p:attrNameLst>
                                          <p:attrName>ppt_y</p:attrName>
                                        </p:attrNameLst>
                                      </p:cBhvr>
                                      <p:tavLst>
                                        <p:tav tm="0">
                                          <p:val>
                                            <p:strVal val="#ppt_y"/>
                                          </p:val>
                                        </p:tav>
                                        <p:tav tm="100000">
                                          <p:val>
                                            <p:strVal val="#ppt_y"/>
                                          </p:val>
                                        </p:tav>
                                      </p:tavLst>
                                    </p:anim>
                                  </p:childTnLst>
                                </p:cTn>
                              </p:par>
                              <p:par>
                                <p:cTn id="117" presetID="42" presetClass="entr" presetSubtype="0" fill="hold" grpId="0" nodeType="withEffect">
                                  <p:stCondLst>
                                    <p:cond delay="280"/>
                                  </p:stCondLst>
                                  <p:childTnLst>
                                    <p:set>
                                      <p:cBhvr>
                                        <p:cTn id="118" dur="1" fill="hold">
                                          <p:stCondLst>
                                            <p:cond delay="0"/>
                                          </p:stCondLst>
                                        </p:cTn>
                                        <p:tgtEl>
                                          <p:spTgt spid="61"/>
                                        </p:tgtEl>
                                        <p:attrNameLst>
                                          <p:attrName>style.visibility</p:attrName>
                                        </p:attrNameLst>
                                      </p:cBhvr>
                                      <p:to>
                                        <p:strVal val="visible"/>
                                      </p:to>
                                    </p:set>
                                    <p:animEffect transition="in" filter="fade">
                                      <p:cBhvr>
                                        <p:cTn id="119" dur="500"/>
                                        <p:tgtEl>
                                          <p:spTgt spid="61"/>
                                        </p:tgtEl>
                                      </p:cBhvr>
                                    </p:animEffect>
                                    <p:anim calcmode="lin" valueType="num">
                                      <p:cBhvr>
                                        <p:cTn id="120" dur="500" fill="hold"/>
                                        <p:tgtEl>
                                          <p:spTgt spid="61"/>
                                        </p:tgtEl>
                                        <p:attrNameLst>
                                          <p:attrName>ppt_x</p:attrName>
                                        </p:attrNameLst>
                                      </p:cBhvr>
                                      <p:tavLst>
                                        <p:tav tm="0">
                                          <p:val>
                                            <p:strVal val="#ppt_x+.035"/>
                                          </p:val>
                                        </p:tav>
                                        <p:tav tm="100000">
                                          <p:val>
                                            <p:strVal val="#ppt_x"/>
                                          </p:val>
                                        </p:tav>
                                      </p:tavLst>
                                    </p:anim>
                                    <p:anim calcmode="lin" valueType="num">
                                      <p:cBhvr>
                                        <p:cTn id="121" dur="500" fill="hold"/>
                                        <p:tgtEl>
                                          <p:spTgt spid="61"/>
                                        </p:tgtEl>
                                        <p:attrNameLst>
                                          <p:attrName>ppt_y</p:attrName>
                                        </p:attrNameLst>
                                      </p:cBhvr>
                                      <p:tavLst>
                                        <p:tav tm="0">
                                          <p:val>
                                            <p:strVal val="#ppt_y"/>
                                          </p:val>
                                        </p:tav>
                                        <p:tav tm="100000">
                                          <p:val>
                                            <p:strVal val="#ppt_y"/>
                                          </p:val>
                                        </p:tav>
                                      </p:tavLst>
                                    </p:anim>
                                  </p:childTnLst>
                                </p:cTn>
                              </p:par>
                              <p:par>
                                <p:cTn id="122" presetID="42" presetClass="entr" presetSubtype="0" fill="hold" nodeType="withEffect">
                                  <p:stCondLst>
                                    <p:cond delay="280"/>
                                  </p:stCondLst>
                                  <p:childTnLst>
                                    <p:set>
                                      <p:cBhvr>
                                        <p:cTn id="123" dur="1" fill="hold">
                                          <p:stCondLst>
                                            <p:cond delay="0"/>
                                          </p:stCondLst>
                                        </p:cTn>
                                        <p:tgtEl>
                                          <p:spTgt spid="610"/>
                                        </p:tgtEl>
                                        <p:attrNameLst>
                                          <p:attrName>style.visibility</p:attrName>
                                        </p:attrNameLst>
                                      </p:cBhvr>
                                      <p:to>
                                        <p:strVal val="visible"/>
                                      </p:to>
                                    </p:set>
                                    <p:animEffect transition="in" filter="fade">
                                      <p:cBhvr>
                                        <p:cTn id="124" dur="500"/>
                                        <p:tgtEl>
                                          <p:spTgt spid="610"/>
                                        </p:tgtEl>
                                      </p:cBhvr>
                                    </p:animEffect>
                                    <p:anim calcmode="lin" valueType="num">
                                      <p:cBhvr>
                                        <p:cTn id="125" dur="500" fill="hold"/>
                                        <p:tgtEl>
                                          <p:spTgt spid="610"/>
                                        </p:tgtEl>
                                        <p:attrNameLst>
                                          <p:attrName>ppt_x</p:attrName>
                                        </p:attrNameLst>
                                      </p:cBhvr>
                                      <p:tavLst>
                                        <p:tav tm="0">
                                          <p:val>
                                            <p:strVal val="#ppt_x+.035"/>
                                          </p:val>
                                        </p:tav>
                                        <p:tav tm="100000">
                                          <p:val>
                                            <p:strVal val="#ppt_x"/>
                                          </p:val>
                                        </p:tav>
                                      </p:tavLst>
                                    </p:anim>
                                    <p:anim calcmode="lin" valueType="num">
                                      <p:cBhvr>
                                        <p:cTn id="126" dur="500" fill="hold"/>
                                        <p:tgtEl>
                                          <p:spTgt spid="610"/>
                                        </p:tgtEl>
                                        <p:attrNameLst>
                                          <p:attrName>ppt_y</p:attrName>
                                        </p:attrNameLst>
                                      </p:cBhvr>
                                      <p:tavLst>
                                        <p:tav tm="0">
                                          <p:val>
                                            <p:strVal val="#ppt_y"/>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9" presetID="53" presetClass="entr" presetSubtype="16" fill="hold" grpId="0" nodeType="clickEffect">
                                  <p:stCondLst>
                                    <p:cond delay="0"/>
                                  </p:stCondLst>
                                  <p:childTnLst>
                                    <p:set>
                                      <p:cBhvr>
                                        <p:cTn id="130" dur="1" fill="hold">
                                          <p:stCondLst>
                                            <p:cond delay="0"/>
                                          </p:stCondLst>
                                        </p:cTn>
                                        <p:tgtEl>
                                          <p:spTgt spid="37"/>
                                        </p:tgtEl>
                                        <p:attrNameLst>
                                          <p:attrName>style.visibility</p:attrName>
                                        </p:attrNameLst>
                                      </p:cBhvr>
                                      <p:to>
                                        <p:strVal val="visible"/>
                                      </p:to>
                                    </p:set>
                                    <p:anim calcmode="lin" valueType="num">
                                      <p:cBhvr>
                                        <p:cTn id="131" dur="500" fill="hold"/>
                                        <p:tgtEl>
                                          <p:spTgt spid="37"/>
                                        </p:tgtEl>
                                        <p:attrNameLst>
                                          <p:attrName>ppt_w</p:attrName>
                                        </p:attrNameLst>
                                      </p:cBhvr>
                                      <p:tavLst>
                                        <p:tav tm="0">
                                          <p:val>
                                            <p:strVal val="#ppt_w*0.85"/>
                                          </p:val>
                                        </p:tav>
                                        <p:tav tm="100000">
                                          <p:val>
                                            <p:strVal val="#ppt_w"/>
                                          </p:val>
                                        </p:tav>
                                      </p:tavLst>
                                    </p:anim>
                                    <p:anim calcmode="lin" valueType="num">
                                      <p:cBhvr>
                                        <p:cTn id="132" dur="500" fill="hold"/>
                                        <p:tgtEl>
                                          <p:spTgt spid="37"/>
                                        </p:tgtEl>
                                        <p:attrNameLst>
                                          <p:attrName>ppt_h</p:attrName>
                                        </p:attrNameLst>
                                      </p:cBhvr>
                                      <p:tavLst>
                                        <p:tav tm="0">
                                          <p:val>
                                            <p:strVal val="#ppt_h*0.85"/>
                                          </p:val>
                                        </p:tav>
                                        <p:tav tm="100000">
                                          <p:val>
                                            <p:strVal val="#ppt_h"/>
                                          </p:val>
                                        </p:tav>
                                      </p:tavLst>
                                    </p:anim>
                                    <p:animEffect transition="in" filter="fade">
                                      <p:cBhvr>
                                        <p:cTn id="133" dur="500"/>
                                        <p:tgtEl>
                                          <p:spTgt spid="37"/>
                                        </p:tgtEl>
                                      </p:cBhvr>
                                    </p:animEffect>
                                  </p:childTnLst>
                                </p:cTn>
                              </p:par>
                              <p:par>
                                <p:cTn id="134" presetID="53" presetClass="entr" presetSubtype="16" fill="hold" grpId="0" nodeType="withEffect">
                                  <p:stCondLst>
                                    <p:cond delay="0"/>
                                  </p:stCondLst>
                                  <p:childTnLst>
                                    <p:set>
                                      <p:cBhvr>
                                        <p:cTn id="135" dur="1" fill="hold">
                                          <p:stCondLst>
                                            <p:cond delay="0"/>
                                          </p:stCondLst>
                                        </p:cTn>
                                        <p:tgtEl>
                                          <p:spTgt spid="38"/>
                                        </p:tgtEl>
                                        <p:attrNameLst>
                                          <p:attrName>style.visibility</p:attrName>
                                        </p:attrNameLst>
                                      </p:cBhvr>
                                      <p:to>
                                        <p:strVal val="visible"/>
                                      </p:to>
                                    </p:set>
                                    <p:anim calcmode="lin" valueType="num">
                                      <p:cBhvr>
                                        <p:cTn id="136" dur="500" fill="hold"/>
                                        <p:tgtEl>
                                          <p:spTgt spid="38"/>
                                        </p:tgtEl>
                                        <p:attrNameLst>
                                          <p:attrName>ppt_w</p:attrName>
                                        </p:attrNameLst>
                                      </p:cBhvr>
                                      <p:tavLst>
                                        <p:tav tm="0">
                                          <p:val>
                                            <p:strVal val="#ppt_w*0.85"/>
                                          </p:val>
                                        </p:tav>
                                        <p:tav tm="100000">
                                          <p:val>
                                            <p:strVal val="#ppt_w"/>
                                          </p:val>
                                        </p:tav>
                                      </p:tavLst>
                                    </p:anim>
                                    <p:anim calcmode="lin" valueType="num">
                                      <p:cBhvr>
                                        <p:cTn id="137" dur="500" fill="hold"/>
                                        <p:tgtEl>
                                          <p:spTgt spid="38"/>
                                        </p:tgtEl>
                                        <p:attrNameLst>
                                          <p:attrName>ppt_h</p:attrName>
                                        </p:attrNameLst>
                                      </p:cBhvr>
                                      <p:tavLst>
                                        <p:tav tm="0">
                                          <p:val>
                                            <p:strVal val="#ppt_h*0.85"/>
                                          </p:val>
                                        </p:tav>
                                        <p:tav tm="100000">
                                          <p:val>
                                            <p:strVal val="#ppt_h"/>
                                          </p:val>
                                        </p:tav>
                                      </p:tavLst>
                                    </p:anim>
                                    <p:animEffect transition="in" filter="fade">
                                      <p:cBhvr>
                                        <p:cTn id="138" dur="500"/>
                                        <p:tgtEl>
                                          <p:spTgt spid="38"/>
                                        </p:tgtEl>
                                      </p:cBhvr>
                                    </p:animEffect>
                                  </p:childTnLst>
                                </p:cTn>
                              </p:par>
                              <p:par>
                                <p:cTn id="139" presetID="53" presetClass="entr" presetSubtype="16" fill="hold" grpId="0" nodeType="withEffect">
                                  <p:stCondLst>
                                    <p:cond delay="0"/>
                                  </p:stCondLst>
                                  <p:childTnLst>
                                    <p:set>
                                      <p:cBhvr>
                                        <p:cTn id="140" dur="1" fill="hold">
                                          <p:stCondLst>
                                            <p:cond delay="0"/>
                                          </p:stCondLst>
                                        </p:cTn>
                                        <p:tgtEl>
                                          <p:spTgt spid="40"/>
                                        </p:tgtEl>
                                        <p:attrNameLst>
                                          <p:attrName>style.visibility</p:attrName>
                                        </p:attrNameLst>
                                      </p:cBhvr>
                                      <p:to>
                                        <p:strVal val="visible"/>
                                      </p:to>
                                    </p:set>
                                    <p:anim calcmode="lin" valueType="num">
                                      <p:cBhvr>
                                        <p:cTn id="141" dur="500" fill="hold"/>
                                        <p:tgtEl>
                                          <p:spTgt spid="40"/>
                                        </p:tgtEl>
                                        <p:attrNameLst>
                                          <p:attrName>ppt_w</p:attrName>
                                        </p:attrNameLst>
                                      </p:cBhvr>
                                      <p:tavLst>
                                        <p:tav tm="0">
                                          <p:val>
                                            <p:strVal val="#ppt_w*0.85"/>
                                          </p:val>
                                        </p:tav>
                                        <p:tav tm="100000">
                                          <p:val>
                                            <p:strVal val="#ppt_w"/>
                                          </p:val>
                                        </p:tav>
                                      </p:tavLst>
                                    </p:anim>
                                    <p:anim calcmode="lin" valueType="num">
                                      <p:cBhvr>
                                        <p:cTn id="142" dur="500" fill="hold"/>
                                        <p:tgtEl>
                                          <p:spTgt spid="40"/>
                                        </p:tgtEl>
                                        <p:attrNameLst>
                                          <p:attrName>ppt_h</p:attrName>
                                        </p:attrNameLst>
                                      </p:cBhvr>
                                      <p:tavLst>
                                        <p:tav tm="0">
                                          <p:val>
                                            <p:strVal val="#ppt_h*0.85"/>
                                          </p:val>
                                        </p:tav>
                                        <p:tav tm="100000">
                                          <p:val>
                                            <p:strVal val="#ppt_h"/>
                                          </p:val>
                                        </p:tav>
                                      </p:tavLst>
                                    </p:anim>
                                    <p:animEffect transition="in" filter="fade">
                                      <p:cBhvr>
                                        <p:cTn id="143" dur="500"/>
                                        <p:tgtEl>
                                          <p:spTgt spid="40"/>
                                        </p:tgtEl>
                                      </p:cBhvr>
                                    </p:animEffect>
                                  </p:childTnLst>
                                </p:cTn>
                              </p:par>
                              <p:par>
                                <p:cTn id="144" presetID="53" presetClass="entr" presetSubtype="16" fill="hold" grpId="0" nodeType="withEffect">
                                  <p:stCondLst>
                                    <p:cond delay="0"/>
                                  </p:stCondLst>
                                  <p:childTnLst>
                                    <p:set>
                                      <p:cBhvr>
                                        <p:cTn id="145" dur="1" fill="hold">
                                          <p:stCondLst>
                                            <p:cond delay="0"/>
                                          </p:stCondLst>
                                        </p:cTn>
                                        <p:tgtEl>
                                          <p:spTgt spid="42"/>
                                        </p:tgtEl>
                                        <p:attrNameLst>
                                          <p:attrName>style.visibility</p:attrName>
                                        </p:attrNameLst>
                                      </p:cBhvr>
                                      <p:to>
                                        <p:strVal val="visible"/>
                                      </p:to>
                                    </p:set>
                                    <p:anim calcmode="lin" valueType="num">
                                      <p:cBhvr>
                                        <p:cTn id="146" dur="500" fill="hold"/>
                                        <p:tgtEl>
                                          <p:spTgt spid="42"/>
                                        </p:tgtEl>
                                        <p:attrNameLst>
                                          <p:attrName>ppt_w</p:attrName>
                                        </p:attrNameLst>
                                      </p:cBhvr>
                                      <p:tavLst>
                                        <p:tav tm="0">
                                          <p:val>
                                            <p:strVal val="#ppt_w*0.85"/>
                                          </p:val>
                                        </p:tav>
                                        <p:tav tm="100000">
                                          <p:val>
                                            <p:strVal val="#ppt_w"/>
                                          </p:val>
                                        </p:tav>
                                      </p:tavLst>
                                    </p:anim>
                                    <p:anim calcmode="lin" valueType="num">
                                      <p:cBhvr>
                                        <p:cTn id="147" dur="500" fill="hold"/>
                                        <p:tgtEl>
                                          <p:spTgt spid="42"/>
                                        </p:tgtEl>
                                        <p:attrNameLst>
                                          <p:attrName>ppt_h</p:attrName>
                                        </p:attrNameLst>
                                      </p:cBhvr>
                                      <p:tavLst>
                                        <p:tav tm="0">
                                          <p:val>
                                            <p:strVal val="#ppt_h*0.85"/>
                                          </p:val>
                                        </p:tav>
                                        <p:tav tm="100000">
                                          <p:val>
                                            <p:strVal val="#ppt_h"/>
                                          </p:val>
                                        </p:tav>
                                      </p:tavLst>
                                    </p:anim>
                                    <p:animEffect transition="in" filter="fade">
                                      <p:cBhvr>
                                        <p:cTn id="148" dur="500"/>
                                        <p:tgtEl>
                                          <p:spTgt spid="42"/>
                                        </p:tgtEl>
                                      </p:cBhvr>
                                    </p:animEffect>
                                  </p:childTnLst>
                                </p:cTn>
                              </p:par>
                              <p:par>
                                <p:cTn id="149" presetID="53" presetClass="entr" presetSubtype="16" fill="hold" grpId="0" nodeType="withEffect">
                                  <p:stCondLst>
                                    <p:cond delay="0"/>
                                  </p:stCondLst>
                                  <p:childTnLst>
                                    <p:set>
                                      <p:cBhvr>
                                        <p:cTn id="150" dur="1" fill="hold">
                                          <p:stCondLst>
                                            <p:cond delay="0"/>
                                          </p:stCondLst>
                                        </p:cTn>
                                        <p:tgtEl>
                                          <p:spTgt spid="44"/>
                                        </p:tgtEl>
                                        <p:attrNameLst>
                                          <p:attrName>style.visibility</p:attrName>
                                        </p:attrNameLst>
                                      </p:cBhvr>
                                      <p:to>
                                        <p:strVal val="visible"/>
                                      </p:to>
                                    </p:set>
                                    <p:anim calcmode="lin" valueType="num">
                                      <p:cBhvr>
                                        <p:cTn id="151" dur="500" fill="hold"/>
                                        <p:tgtEl>
                                          <p:spTgt spid="44"/>
                                        </p:tgtEl>
                                        <p:attrNameLst>
                                          <p:attrName>ppt_w</p:attrName>
                                        </p:attrNameLst>
                                      </p:cBhvr>
                                      <p:tavLst>
                                        <p:tav tm="0">
                                          <p:val>
                                            <p:strVal val="#ppt_w*0.85"/>
                                          </p:val>
                                        </p:tav>
                                        <p:tav tm="100000">
                                          <p:val>
                                            <p:strVal val="#ppt_w"/>
                                          </p:val>
                                        </p:tav>
                                      </p:tavLst>
                                    </p:anim>
                                    <p:anim calcmode="lin" valueType="num">
                                      <p:cBhvr>
                                        <p:cTn id="152" dur="500" fill="hold"/>
                                        <p:tgtEl>
                                          <p:spTgt spid="44"/>
                                        </p:tgtEl>
                                        <p:attrNameLst>
                                          <p:attrName>ppt_h</p:attrName>
                                        </p:attrNameLst>
                                      </p:cBhvr>
                                      <p:tavLst>
                                        <p:tav tm="0">
                                          <p:val>
                                            <p:strVal val="#ppt_h*0.85"/>
                                          </p:val>
                                        </p:tav>
                                        <p:tav tm="100000">
                                          <p:val>
                                            <p:strVal val="#ppt_h"/>
                                          </p:val>
                                        </p:tav>
                                      </p:tavLst>
                                    </p:anim>
                                    <p:animEffect transition="in" filter="fade">
                                      <p:cBhvr>
                                        <p:cTn id="153" dur="500"/>
                                        <p:tgtEl>
                                          <p:spTgt spid="44"/>
                                        </p:tgtEl>
                                      </p:cBhvr>
                                    </p:animEffect>
                                  </p:childTnLst>
                                </p:cTn>
                              </p:par>
                              <p:par>
                                <p:cTn id="154" presetID="53" presetClass="entr" presetSubtype="16" fill="hold" grpId="0" nodeType="withEffect">
                                  <p:stCondLst>
                                    <p:cond delay="0"/>
                                  </p:stCondLst>
                                  <p:childTnLst>
                                    <p:set>
                                      <p:cBhvr>
                                        <p:cTn id="155" dur="1" fill="hold">
                                          <p:stCondLst>
                                            <p:cond delay="0"/>
                                          </p:stCondLst>
                                        </p:cTn>
                                        <p:tgtEl>
                                          <p:spTgt spid="600"/>
                                        </p:tgtEl>
                                        <p:attrNameLst>
                                          <p:attrName>style.visibility</p:attrName>
                                        </p:attrNameLst>
                                      </p:cBhvr>
                                      <p:to>
                                        <p:strVal val="visible"/>
                                      </p:to>
                                    </p:set>
                                    <p:anim calcmode="lin" valueType="num">
                                      <p:cBhvr>
                                        <p:cTn id="156" dur="500" fill="hold"/>
                                        <p:tgtEl>
                                          <p:spTgt spid="600"/>
                                        </p:tgtEl>
                                        <p:attrNameLst>
                                          <p:attrName>ppt_w</p:attrName>
                                        </p:attrNameLst>
                                      </p:cBhvr>
                                      <p:tavLst>
                                        <p:tav tm="0">
                                          <p:val>
                                            <p:strVal val="#ppt_w*0.85"/>
                                          </p:val>
                                        </p:tav>
                                        <p:tav tm="100000">
                                          <p:val>
                                            <p:strVal val="#ppt_w"/>
                                          </p:val>
                                        </p:tav>
                                      </p:tavLst>
                                    </p:anim>
                                    <p:anim calcmode="lin" valueType="num">
                                      <p:cBhvr>
                                        <p:cTn id="157" dur="500" fill="hold"/>
                                        <p:tgtEl>
                                          <p:spTgt spid="600"/>
                                        </p:tgtEl>
                                        <p:attrNameLst>
                                          <p:attrName>ppt_h</p:attrName>
                                        </p:attrNameLst>
                                      </p:cBhvr>
                                      <p:tavLst>
                                        <p:tav tm="0">
                                          <p:val>
                                            <p:strVal val="#ppt_h*0.85"/>
                                          </p:val>
                                        </p:tav>
                                        <p:tav tm="100000">
                                          <p:val>
                                            <p:strVal val="#ppt_h"/>
                                          </p:val>
                                        </p:tav>
                                      </p:tavLst>
                                    </p:anim>
                                    <p:animEffect transition="in" filter="fade">
                                      <p:cBhvr>
                                        <p:cTn id="158" dur="500"/>
                                        <p:tgtEl>
                                          <p:spTgt spid="600"/>
                                        </p:tgtEl>
                                      </p:cBhvr>
                                    </p:animEffect>
                                  </p:childTnLst>
                                </p:cTn>
                              </p:par>
                              <p:par>
                                <p:cTn id="159" presetID="53" presetClass="entr" presetSubtype="16" fill="hold" nodeType="withEffect">
                                  <p:stCondLst>
                                    <p:cond delay="0"/>
                                  </p:stCondLst>
                                  <p:childTnLst>
                                    <p:set>
                                      <p:cBhvr>
                                        <p:cTn id="160" dur="1" fill="hold">
                                          <p:stCondLst>
                                            <p:cond delay="0"/>
                                          </p:stCondLst>
                                        </p:cTn>
                                        <p:tgtEl>
                                          <p:spTgt spid="606"/>
                                        </p:tgtEl>
                                        <p:attrNameLst>
                                          <p:attrName>style.visibility</p:attrName>
                                        </p:attrNameLst>
                                      </p:cBhvr>
                                      <p:to>
                                        <p:strVal val="visible"/>
                                      </p:to>
                                    </p:set>
                                    <p:anim calcmode="lin" valueType="num">
                                      <p:cBhvr>
                                        <p:cTn id="161" dur="500" fill="hold"/>
                                        <p:tgtEl>
                                          <p:spTgt spid="606"/>
                                        </p:tgtEl>
                                        <p:attrNameLst>
                                          <p:attrName>ppt_w</p:attrName>
                                        </p:attrNameLst>
                                      </p:cBhvr>
                                      <p:tavLst>
                                        <p:tav tm="0">
                                          <p:val>
                                            <p:strVal val="#ppt_w*0.85"/>
                                          </p:val>
                                        </p:tav>
                                        <p:tav tm="100000">
                                          <p:val>
                                            <p:strVal val="#ppt_w"/>
                                          </p:val>
                                        </p:tav>
                                      </p:tavLst>
                                    </p:anim>
                                    <p:anim calcmode="lin" valueType="num">
                                      <p:cBhvr>
                                        <p:cTn id="162" dur="500" fill="hold"/>
                                        <p:tgtEl>
                                          <p:spTgt spid="606"/>
                                        </p:tgtEl>
                                        <p:attrNameLst>
                                          <p:attrName>ppt_h</p:attrName>
                                        </p:attrNameLst>
                                      </p:cBhvr>
                                      <p:tavLst>
                                        <p:tav tm="0">
                                          <p:val>
                                            <p:strVal val="#ppt_h*0.85"/>
                                          </p:val>
                                        </p:tav>
                                        <p:tav tm="100000">
                                          <p:val>
                                            <p:strVal val="#ppt_h"/>
                                          </p:val>
                                        </p:tav>
                                      </p:tavLst>
                                    </p:anim>
                                    <p:animEffect transition="in" filter="fade">
                                      <p:cBhvr>
                                        <p:cTn id="163" dur="500"/>
                                        <p:tgtEl>
                                          <p:spTgt spid="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605" grpId="0" animBg="1"/>
      <p:bldP spid="604" grpId="0" animBg="1"/>
      <p:bldP spid="601" grpId="0" animBg="1"/>
      <p:bldP spid="37" grpId="0" animBg="1"/>
      <p:bldP spid="38" grpId="0" animBg="1"/>
      <p:bldP spid="40" grpId="0" animBg="1"/>
      <p:bldP spid="42" grpId="0" animBg="1"/>
      <p:bldP spid="44" grpId="0" animBg="1"/>
      <p:bldP spid="46" grpId="0" animBg="1"/>
      <p:bldP spid="48" grpId="0" animBg="1"/>
      <p:bldP spid="50" grpId="0" animBg="1"/>
      <p:bldP spid="52" grpId="0" animBg="1"/>
      <p:bldP spid="54" grpId="0" animBg="1"/>
      <p:bldP spid="56" grpId="0" animBg="1"/>
      <p:bldP spid="58" grpId="0" animBg="1"/>
      <p:bldP spid="60" grpId="0" animBg="1"/>
      <p:bldP spid="61" grpId="0" animBg="1"/>
      <p:bldP spid="600" grpId="0" animBg="1"/>
      <p:bldP spid="602" grpId="0" animBg="1"/>
      <p:bldP spid="603" grpId="0" animBg="1"/>
      <p:bldP spid="14" grpId="0" animBg="1"/>
      <p:bldP spid="5001" grpId="0" animBg="1"/>
      <p:bldP spid="5002" grpId="0" animBg="1"/>
      <p:bldP spid="500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34E4B-D940-E397-123E-0828479AB41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6FA64D6-7CF2-DA66-147C-E17B4A32C290}"/>
              </a:ext>
            </a:extLst>
          </p:cNvPr>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0C5AFB22-C85E-0616-16D7-2AD14EC80BF5}"/>
              </a:ext>
            </a:extLst>
          </p:cNvPr>
          <p:cNvSpPr/>
          <p:nvPr/>
        </p:nvSpPr>
        <p:spPr>
          <a:xfrm>
            <a:off x="1435099"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1</a:t>
            </a:r>
          </a:p>
        </p:txBody>
      </p:sp>
      <p:sp>
        <p:nvSpPr>
          <p:cNvPr id="39" name="Ellipse 38">
            <a:extLst>
              <a:ext uri="{FF2B5EF4-FFF2-40B4-BE49-F238E27FC236}">
                <a16:creationId xmlns:a16="http://schemas.microsoft.com/office/drawing/2014/main" id="{0F49749D-BAC0-CE40-7FC9-7B41935FDF50}"/>
              </a:ext>
            </a:extLst>
          </p:cNvPr>
          <p:cNvSpPr/>
          <p:nvPr/>
        </p:nvSpPr>
        <p:spPr>
          <a:xfrm>
            <a:off x="3276885"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2</a:t>
            </a:r>
          </a:p>
        </p:txBody>
      </p:sp>
      <p:sp>
        <p:nvSpPr>
          <p:cNvPr id="41" name="Ellipse 40">
            <a:extLst>
              <a:ext uri="{FF2B5EF4-FFF2-40B4-BE49-F238E27FC236}">
                <a16:creationId xmlns:a16="http://schemas.microsoft.com/office/drawing/2014/main" id="{F666FFA3-59F4-6900-31A2-19A5E78104B9}"/>
              </a:ext>
            </a:extLst>
          </p:cNvPr>
          <p:cNvSpPr/>
          <p:nvPr/>
        </p:nvSpPr>
        <p:spPr>
          <a:xfrm>
            <a:off x="5118671"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3</a:t>
            </a:r>
          </a:p>
        </p:txBody>
      </p:sp>
      <p:sp>
        <p:nvSpPr>
          <p:cNvPr id="43" name="Ellipse 42">
            <a:extLst>
              <a:ext uri="{FF2B5EF4-FFF2-40B4-BE49-F238E27FC236}">
                <a16:creationId xmlns:a16="http://schemas.microsoft.com/office/drawing/2014/main" id="{45D59D05-A2E2-C4E8-7C2E-D070E9997B53}"/>
              </a:ext>
            </a:extLst>
          </p:cNvPr>
          <p:cNvSpPr/>
          <p:nvPr/>
        </p:nvSpPr>
        <p:spPr>
          <a:xfrm>
            <a:off x="696045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4</a:t>
            </a:r>
          </a:p>
        </p:txBody>
      </p:sp>
      <p:sp>
        <p:nvSpPr>
          <p:cNvPr id="45" name="Ellipse 44">
            <a:extLst>
              <a:ext uri="{FF2B5EF4-FFF2-40B4-BE49-F238E27FC236}">
                <a16:creationId xmlns:a16="http://schemas.microsoft.com/office/drawing/2014/main" id="{5C8FB12B-0859-5B37-1C2F-2A37DB932930}"/>
              </a:ext>
            </a:extLst>
          </p:cNvPr>
          <p:cNvSpPr/>
          <p:nvPr/>
        </p:nvSpPr>
        <p:spPr>
          <a:xfrm>
            <a:off x="8802243" y="205023"/>
            <a:ext cx="246063" cy="253765"/>
          </a:xfrm>
          <a:prstGeom prst="ellipse">
            <a:avLst/>
          </a:prstGeom>
          <a:noFill/>
          <a:ln>
            <a:solidFill>
              <a:srgbClr val="F96A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F96A09"/>
                </a:solidFill>
              </a:rPr>
              <a:t>5</a:t>
            </a:r>
          </a:p>
        </p:txBody>
      </p:sp>
      <p:sp>
        <p:nvSpPr>
          <p:cNvPr id="47" name="Ellipse 46">
            <a:extLst>
              <a:ext uri="{FF2B5EF4-FFF2-40B4-BE49-F238E27FC236}">
                <a16:creationId xmlns:a16="http://schemas.microsoft.com/office/drawing/2014/main" id="{EE7C8120-729A-1E77-F295-857E7DE21D00}"/>
              </a:ext>
            </a:extLst>
          </p:cNvPr>
          <p:cNvSpPr/>
          <p:nvPr/>
        </p:nvSpPr>
        <p:spPr>
          <a:xfrm>
            <a:off x="1064402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6</a:t>
            </a:r>
          </a:p>
        </p:txBody>
      </p:sp>
      <p:cxnSp>
        <p:nvCxnSpPr>
          <p:cNvPr id="49" name="Connecteur droit 48">
            <a:extLst>
              <a:ext uri="{FF2B5EF4-FFF2-40B4-BE49-F238E27FC236}">
                <a16:creationId xmlns:a16="http://schemas.microsoft.com/office/drawing/2014/main" id="{56D58F6E-11EF-65EB-1B3B-21A5366750D6}"/>
              </a:ext>
            </a:extLst>
          </p:cNvPr>
          <p:cNvCxnSpPr>
            <a:endCxn id="25" idx="2"/>
          </p:cNvCxnSpPr>
          <p:nvPr/>
        </p:nvCxnSpPr>
        <p:spPr>
          <a:xfrm flipV="1">
            <a:off x="387416" y="331905"/>
            <a:ext cx="10476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6F68E7C8-73EF-4560-B025-8C1FDAC3E08D}"/>
              </a:ext>
            </a:extLst>
          </p:cNvPr>
          <p:cNvCxnSpPr>
            <a:stCxn id="25" idx="6"/>
            <a:endCxn id="39" idx="2"/>
          </p:cNvCxnSpPr>
          <p:nvPr/>
        </p:nvCxnSpPr>
        <p:spPr>
          <a:xfrm flipV="1">
            <a:off x="1681162"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98872FFB-D8A3-1B3D-50D3-1AD61DCCE9C6}"/>
              </a:ext>
            </a:extLst>
          </p:cNvPr>
          <p:cNvCxnSpPr>
            <a:stCxn id="39" idx="6"/>
            <a:endCxn id="41" idx="2"/>
          </p:cNvCxnSpPr>
          <p:nvPr/>
        </p:nvCxnSpPr>
        <p:spPr>
          <a:xfrm>
            <a:off x="3522948"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Connecteur droit 54">
            <a:extLst>
              <a:ext uri="{FF2B5EF4-FFF2-40B4-BE49-F238E27FC236}">
                <a16:creationId xmlns:a16="http://schemas.microsoft.com/office/drawing/2014/main" id="{03AAC927-4899-BF0D-63C6-CDC3A54C4D1C}"/>
              </a:ext>
            </a:extLst>
          </p:cNvPr>
          <p:cNvCxnSpPr>
            <a:stCxn id="41" idx="6"/>
            <a:endCxn id="43" idx="2"/>
          </p:cNvCxnSpPr>
          <p:nvPr/>
        </p:nvCxnSpPr>
        <p:spPr>
          <a:xfrm>
            <a:off x="5364734"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5DA4F19E-9FEB-0627-207A-738FE18589D2}"/>
              </a:ext>
            </a:extLst>
          </p:cNvPr>
          <p:cNvCxnSpPr>
            <a:stCxn id="43" idx="6"/>
            <a:endCxn id="45" idx="2"/>
          </p:cNvCxnSpPr>
          <p:nvPr/>
        </p:nvCxnSpPr>
        <p:spPr>
          <a:xfrm>
            <a:off x="7206520" y="331905"/>
            <a:ext cx="1595723"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59" name="Connecteur droit 58">
            <a:extLst>
              <a:ext uri="{FF2B5EF4-FFF2-40B4-BE49-F238E27FC236}">
                <a16:creationId xmlns:a16="http://schemas.microsoft.com/office/drawing/2014/main" id="{84E5A159-52FB-7A5B-072C-DFC7BB336E5A}"/>
              </a:ext>
            </a:extLst>
          </p:cNvPr>
          <p:cNvCxnSpPr>
            <a:stCxn id="45" idx="6"/>
            <a:endCxn id="47" idx="2"/>
          </p:cNvCxnSpPr>
          <p:nvPr/>
        </p:nvCxnSpPr>
        <p:spPr>
          <a:xfrm flipV="1">
            <a:off x="9048306" y="331905"/>
            <a:ext cx="1595721"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62" name="Connecteur droit 61">
            <a:extLst>
              <a:ext uri="{FF2B5EF4-FFF2-40B4-BE49-F238E27FC236}">
                <a16:creationId xmlns:a16="http://schemas.microsoft.com/office/drawing/2014/main" id="{E8878DFE-3A06-B063-B56F-BDF3872BB035}"/>
              </a:ext>
            </a:extLst>
          </p:cNvPr>
          <p:cNvCxnSpPr>
            <a:stCxn id="47" idx="6"/>
          </p:cNvCxnSpPr>
          <p:nvPr/>
        </p:nvCxnSpPr>
        <p:spPr>
          <a:xfrm>
            <a:off x="10890090" y="331905"/>
            <a:ext cx="130191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ZoneTexte 5">
            <a:extLst>
              <a:ext uri="{FF2B5EF4-FFF2-40B4-BE49-F238E27FC236}">
                <a16:creationId xmlns:a16="http://schemas.microsoft.com/office/drawing/2014/main" id="{65A2284C-E2CD-6862-3FD5-7167AA6E8F43}"/>
              </a:ext>
            </a:extLst>
          </p:cNvPr>
          <p:cNvSpPr txBox="1"/>
          <p:nvPr/>
        </p:nvSpPr>
        <p:spPr>
          <a:xfrm>
            <a:off x="624823" y="479710"/>
            <a:ext cx="1965977" cy="600164"/>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a:t>
            </a:r>
            <a:r>
              <a:rPr lang="fr-FR" sz="1100" b="1" dirty="0">
                <a:latin typeface="Montserrat"/>
              </a:rPr>
              <a:t> </a:t>
            </a:r>
            <a:r>
              <a:rPr lang="fr-FR" sz="1100" b="1" dirty="0">
                <a:latin typeface="Montserrat"/>
                <a:cs typeface="Montserrat"/>
              </a:rPr>
              <a:t>STRUCTURE D’ACCUEIL</a:t>
            </a:r>
          </a:p>
        </p:txBody>
      </p:sp>
      <p:sp>
        <p:nvSpPr>
          <p:cNvPr id="8" name="ZoneTexte 7">
            <a:extLst>
              <a:ext uri="{FF2B5EF4-FFF2-40B4-BE49-F238E27FC236}">
                <a16:creationId xmlns:a16="http://schemas.microsoft.com/office/drawing/2014/main" id="{D9056B9E-CAE4-D123-6050-E4DF706F971D}"/>
              </a:ext>
            </a:extLst>
          </p:cNvPr>
          <p:cNvSpPr txBox="1"/>
          <p:nvPr/>
        </p:nvSpPr>
        <p:spPr>
          <a:xfrm>
            <a:off x="2643588" y="417161"/>
            <a:ext cx="1481708" cy="430887"/>
          </a:xfrm>
          <a:prstGeom prst="rect">
            <a:avLst/>
          </a:prstGeom>
          <a:noFill/>
        </p:spPr>
        <p:txBody>
          <a:bodyPr wrap="square" rtlCol="0">
            <a:spAutoFit/>
          </a:bodyPr>
          <a:lstStyle/>
          <a:p>
            <a:r>
              <a:rPr lang="fr-FR" sz="1100" b="1" dirty="0">
                <a:latin typeface="Montserrat"/>
                <a:cs typeface="Montserrat"/>
              </a:rPr>
              <a:t>CONTEXTE ET </a:t>
            </a:r>
          </a:p>
          <a:p>
            <a:r>
              <a:rPr lang="fr-FR" sz="1100" b="1" dirty="0">
                <a:latin typeface="Montserrat"/>
                <a:cs typeface="Montserrat"/>
              </a:rPr>
              <a:t>PROBLÉMATIQUE</a:t>
            </a:r>
          </a:p>
        </p:txBody>
      </p:sp>
      <p:sp>
        <p:nvSpPr>
          <p:cNvPr id="10" name="ZoneTexte 9">
            <a:extLst>
              <a:ext uri="{FF2B5EF4-FFF2-40B4-BE49-F238E27FC236}">
                <a16:creationId xmlns:a16="http://schemas.microsoft.com/office/drawing/2014/main" id="{86072962-243A-4F7F-5400-F02D8C919126}"/>
              </a:ext>
            </a:extLst>
          </p:cNvPr>
          <p:cNvSpPr txBox="1"/>
          <p:nvPr/>
        </p:nvSpPr>
        <p:spPr>
          <a:xfrm>
            <a:off x="4178084" y="501799"/>
            <a:ext cx="1921727" cy="261610"/>
          </a:xfrm>
          <a:prstGeom prst="rect">
            <a:avLst/>
          </a:prstGeom>
          <a:noFill/>
        </p:spPr>
        <p:txBody>
          <a:bodyPr wrap="square" rtlCol="0">
            <a:spAutoFit/>
          </a:bodyPr>
          <a:lstStyle/>
          <a:p>
            <a:r>
              <a:rPr lang="fr-FR" sz="1100" b="1" dirty="0">
                <a:latin typeface="Montserrat"/>
                <a:cs typeface="Montserrat"/>
              </a:rPr>
              <a:t>ÉTUDE CONCEPTUELLE</a:t>
            </a:r>
          </a:p>
        </p:txBody>
      </p:sp>
      <p:sp>
        <p:nvSpPr>
          <p:cNvPr id="13" name="ZoneTexte 12">
            <a:extLst>
              <a:ext uri="{FF2B5EF4-FFF2-40B4-BE49-F238E27FC236}">
                <a16:creationId xmlns:a16="http://schemas.microsoft.com/office/drawing/2014/main" id="{1C442C0A-1AE5-8BFB-2AF5-84A7518EA78A}"/>
              </a:ext>
            </a:extLst>
          </p:cNvPr>
          <p:cNvSpPr txBox="1"/>
          <p:nvPr/>
        </p:nvSpPr>
        <p:spPr>
          <a:xfrm>
            <a:off x="6152599" y="425597"/>
            <a:ext cx="1595723" cy="430887"/>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 SOLUTION</a:t>
            </a:r>
          </a:p>
        </p:txBody>
      </p:sp>
      <p:sp>
        <p:nvSpPr>
          <p:cNvPr id="15" name="ZoneTexte 14">
            <a:extLst>
              <a:ext uri="{FF2B5EF4-FFF2-40B4-BE49-F238E27FC236}">
                <a16:creationId xmlns:a16="http://schemas.microsoft.com/office/drawing/2014/main" id="{5ADDF1C6-62B1-F86C-A98A-CDABEE658868}"/>
              </a:ext>
            </a:extLst>
          </p:cNvPr>
          <p:cNvSpPr txBox="1"/>
          <p:nvPr/>
        </p:nvSpPr>
        <p:spPr>
          <a:xfrm>
            <a:off x="7801110" y="458786"/>
            <a:ext cx="1860500" cy="430887"/>
          </a:xfrm>
          <a:prstGeom prst="rect">
            <a:avLst/>
          </a:prstGeom>
          <a:noFill/>
        </p:spPr>
        <p:txBody>
          <a:bodyPr wrap="square" rtlCol="0">
            <a:spAutoFit/>
          </a:bodyPr>
          <a:lstStyle/>
          <a:p>
            <a:r>
              <a:rPr lang="fr-FR" sz="1100" b="1" dirty="0">
                <a:solidFill>
                  <a:srgbClr val="F96A09"/>
                </a:solidFill>
                <a:latin typeface="Montserrat"/>
                <a:cs typeface="Montserrat"/>
              </a:rPr>
              <a:t>RÉSULTATS ET VALIDATION</a:t>
            </a:r>
          </a:p>
        </p:txBody>
      </p:sp>
      <p:sp>
        <p:nvSpPr>
          <p:cNvPr id="17" name="ZoneTexte 16">
            <a:extLst>
              <a:ext uri="{FF2B5EF4-FFF2-40B4-BE49-F238E27FC236}">
                <a16:creationId xmlns:a16="http://schemas.microsoft.com/office/drawing/2014/main" id="{B2E5CE0B-3932-1E45-F6A3-8395953FB96B}"/>
              </a:ext>
            </a:extLst>
          </p:cNvPr>
          <p:cNvSpPr txBox="1"/>
          <p:nvPr/>
        </p:nvSpPr>
        <p:spPr>
          <a:xfrm>
            <a:off x="9716922" y="479710"/>
            <a:ext cx="2346335" cy="261610"/>
          </a:xfrm>
          <a:prstGeom prst="rect">
            <a:avLst/>
          </a:prstGeom>
          <a:noFill/>
        </p:spPr>
        <p:txBody>
          <a:bodyPr wrap="square" rtlCol="0">
            <a:spAutoFit/>
          </a:bodyPr>
          <a:lstStyle/>
          <a:p>
            <a:r>
              <a:rPr lang="fr-FR" sz="1100" b="1" dirty="0">
                <a:latin typeface="Montserrat"/>
                <a:cs typeface="Montserrat"/>
              </a:rPr>
              <a:t>LIMITES ET PERSPECTIVES</a:t>
            </a:r>
          </a:p>
        </p:txBody>
      </p:sp>
      <p:sp>
        <p:nvSpPr>
          <p:cNvPr id="14" name="P2Title">
            <a:extLst>
              <a:ext uri="{FF2B5EF4-FFF2-40B4-BE49-F238E27FC236}">
                <a16:creationId xmlns:a16="http://schemas.microsoft.com/office/drawing/2014/main" id="{96CF32DA-AEF7-4538-A0AF-CCC34BEA5330}"/>
              </a:ext>
            </a:extLst>
          </p:cNvPr>
          <p:cNvSpPr txBox="1"/>
          <p:nvPr/>
        </p:nvSpPr>
        <p:spPr>
          <a:xfrm>
            <a:off x="895350" y="1427055"/>
            <a:ext cx="9652000" cy="451406"/>
          </a:xfrm>
          <a:prstGeom prst="rect">
            <a:avLst/>
          </a:prstGeom>
          <a:noFill/>
        </p:spPr>
        <p:txBody>
          <a:bodyPr vertOverflow="overflow" vert="horz" wrap="square" rtlCol="0" anchor="t">
            <a:spAutoFit/>
          </a:bodyPr>
          <a:lstStyle/>
          <a:p>
            <a:pPr algn="l">
              <a:lnSpc>
                <a:spcPts val="2800"/>
              </a:lnSpc>
              <a:spcBef>
                <a:spcPct val="0"/>
              </a:spcBef>
              <a:buNone/>
            </a:pPr>
            <a:r>
              <a:rPr lang="fr-FR" sz="2400" b="1" dirty="0">
                <a:solidFill>
                  <a:srgbClr val="16294A"/>
                </a:solidFill>
                <a:latin typeface="Montserrat"/>
              </a:rPr>
              <a:t>De la compréhension à la résolution</a:t>
            </a:r>
          </a:p>
        </p:txBody>
      </p:sp>
      <p:sp>
        <p:nvSpPr>
          <p:cNvPr id="18" name="P2Chip">
            <a:extLst>
              <a:ext uri="{FF2B5EF4-FFF2-40B4-BE49-F238E27FC236}">
                <a16:creationId xmlns:a16="http://schemas.microsoft.com/office/drawing/2014/main" id="{739F572D-D3F5-45A0-BE0B-80B0D0FC1733}"/>
              </a:ext>
            </a:extLst>
          </p:cNvPr>
          <p:cNvSpPr/>
          <p:nvPr/>
        </p:nvSpPr>
        <p:spPr>
          <a:xfrm>
            <a:off x="1097374" y="2046101"/>
            <a:ext cx="4499634" cy="596150"/>
          </a:xfrm>
          <a:prstGeom prst="roundRect">
            <a:avLst/>
          </a:prstGeom>
          <a:solidFill>
            <a:srgbClr val="EDF0F5"/>
          </a:solidFill>
          <a:ln>
            <a:noFill/>
          </a:ln>
          <a:effectLst>
            <a:outerShdw blurRad="101600" dist="25400" dir="5400000" algn="t" rotWithShape="0">
              <a:srgbClr val="16294A">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lnSpc>
                <a:spcPts val="1800"/>
              </a:lnSpc>
              <a:spcBef>
                <a:spcPct val="0"/>
              </a:spcBef>
              <a:buNone/>
            </a:pPr>
            <a:r>
              <a:rPr lang="fr-FR" sz="1400" b="1" spc="200" dirty="0">
                <a:solidFill>
                  <a:srgbClr val="16294A"/>
                </a:solidFill>
                <a:latin typeface="Montserrat"/>
              </a:rPr>
              <a:t>2 041 REQUÊTES RÉELLES</a:t>
            </a:r>
          </a:p>
        </p:txBody>
      </p:sp>
      <p:sp>
        <p:nvSpPr>
          <p:cNvPr id="19" name="P2A1">
            <a:extLst>
              <a:ext uri="{FF2B5EF4-FFF2-40B4-BE49-F238E27FC236}">
                <a16:creationId xmlns:a16="http://schemas.microsoft.com/office/drawing/2014/main" id="{E5F6BCFB-BD06-47F9-834A-A6410D336501}"/>
              </a:ext>
            </a:extLst>
          </p:cNvPr>
          <p:cNvSpPr/>
          <p:nvPr/>
        </p:nvSpPr>
        <p:spPr>
          <a:xfrm>
            <a:off x="3272197" y="2712386"/>
            <a:ext cx="149988" cy="210406"/>
          </a:xfrm>
          <a:prstGeom prst="downArrow">
            <a:avLst/>
          </a:prstGeom>
          <a:solidFill>
            <a:srgbClr val="1629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20" name="P2Agent">
            <a:extLst>
              <a:ext uri="{FF2B5EF4-FFF2-40B4-BE49-F238E27FC236}">
                <a16:creationId xmlns:a16="http://schemas.microsoft.com/office/drawing/2014/main" id="{4CC1D415-8435-4783-AA5A-A0FE6CDA16F5}"/>
              </a:ext>
            </a:extLst>
          </p:cNvPr>
          <p:cNvSpPr/>
          <p:nvPr/>
        </p:nvSpPr>
        <p:spPr>
          <a:xfrm>
            <a:off x="1097374" y="2992927"/>
            <a:ext cx="4499634" cy="666285"/>
          </a:xfrm>
          <a:prstGeom prst="roundRect">
            <a:avLst/>
          </a:prstGeom>
          <a:solidFill>
            <a:srgbClr val="1629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ctr">
              <a:lnSpc>
                <a:spcPts val="1800"/>
              </a:lnSpc>
              <a:spcBef>
                <a:spcPct val="0"/>
              </a:spcBef>
              <a:buNone/>
            </a:pPr>
            <a:r>
              <a:rPr lang="fr-FR" sz="1400" b="1" spc="200" dirty="0">
                <a:solidFill>
                  <a:srgbClr val="FFFFFF"/>
                </a:solidFill>
                <a:latin typeface="Montserrat"/>
              </a:rPr>
              <a:t>AGENT CONVERSATIONNEL</a:t>
            </a:r>
          </a:p>
        </p:txBody>
      </p:sp>
      <p:sp>
        <p:nvSpPr>
          <p:cNvPr id="21" name="P2A2">
            <a:extLst>
              <a:ext uri="{FF2B5EF4-FFF2-40B4-BE49-F238E27FC236}">
                <a16:creationId xmlns:a16="http://schemas.microsoft.com/office/drawing/2014/main" id="{D8AA1D1A-B2B8-4500-9D4B-6CEDEFA9BE6B}"/>
              </a:ext>
            </a:extLst>
          </p:cNvPr>
          <p:cNvSpPr/>
          <p:nvPr/>
        </p:nvSpPr>
        <p:spPr>
          <a:xfrm>
            <a:off x="3272197" y="3729347"/>
            <a:ext cx="149988" cy="210406"/>
          </a:xfrm>
          <a:prstGeom prst="downArrow">
            <a:avLst/>
          </a:prstGeom>
          <a:solidFill>
            <a:srgbClr val="1629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22" name="P2Box0">
            <a:extLst>
              <a:ext uri="{FF2B5EF4-FFF2-40B4-BE49-F238E27FC236}">
                <a16:creationId xmlns:a16="http://schemas.microsoft.com/office/drawing/2014/main" id="{6C6C8F3F-39F6-4579-9BFD-BDFA65148BBE}"/>
              </a:ext>
            </a:extLst>
          </p:cNvPr>
          <p:cNvSpPr/>
          <p:nvPr/>
        </p:nvSpPr>
        <p:spPr>
          <a:xfrm>
            <a:off x="1097374" y="4009888"/>
            <a:ext cx="2159824" cy="1227367"/>
          </a:xfrm>
          <a:prstGeom prst="roundRect">
            <a:avLst/>
          </a:prstGeom>
          <a:solidFill>
            <a:srgbClr val="EDF0F5"/>
          </a:solidFill>
          <a:ln>
            <a:noFill/>
          </a:ln>
          <a:effectLst>
            <a:outerShdw blurRad="101600" dist="25400" dir="5400000" algn="t" rotWithShape="0">
              <a:srgbClr val="16294A">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23" name="P2Box1">
            <a:extLst>
              <a:ext uri="{FF2B5EF4-FFF2-40B4-BE49-F238E27FC236}">
                <a16:creationId xmlns:a16="http://schemas.microsoft.com/office/drawing/2014/main" id="{B151E212-CB9C-4484-B714-BE6E79183CAF}"/>
              </a:ext>
            </a:extLst>
          </p:cNvPr>
          <p:cNvSpPr/>
          <p:nvPr/>
        </p:nvSpPr>
        <p:spPr>
          <a:xfrm>
            <a:off x="3437184" y="4009888"/>
            <a:ext cx="2159824" cy="1227367"/>
          </a:xfrm>
          <a:prstGeom prst="roundRect">
            <a:avLst/>
          </a:prstGeom>
          <a:solidFill>
            <a:srgbClr val="EDF0F5"/>
          </a:solidFill>
          <a:ln>
            <a:noFill/>
          </a:ln>
          <a:effectLst>
            <a:outerShdw blurRad="101600" dist="25400" dir="5400000" algn="t" rotWithShape="0">
              <a:srgbClr val="16294A">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24" name="P2BoxTxt0">
            <a:extLst>
              <a:ext uri="{FF2B5EF4-FFF2-40B4-BE49-F238E27FC236}">
                <a16:creationId xmlns:a16="http://schemas.microsoft.com/office/drawing/2014/main" id="{A15E5A1D-551D-48BF-A26F-D0877F9A5B9B}"/>
              </a:ext>
            </a:extLst>
          </p:cNvPr>
          <p:cNvSpPr txBox="1"/>
          <p:nvPr/>
        </p:nvSpPr>
        <p:spPr>
          <a:xfrm>
            <a:off x="1157369" y="4150158"/>
            <a:ext cx="2039834" cy="876690"/>
          </a:xfrm>
          <a:prstGeom prst="rect">
            <a:avLst/>
          </a:prstGeom>
          <a:noFill/>
        </p:spPr>
        <p:txBody>
          <a:bodyPr vertOverflow="overflow" vert="horz" wrap="square" rtlCol="0" anchor="t">
            <a:spAutoFit/>
          </a:bodyPr>
          <a:lstStyle/>
          <a:p>
            <a:pPr algn="ctr">
              <a:lnSpc>
                <a:spcPts val="2400"/>
              </a:lnSpc>
              <a:spcBef>
                <a:spcPct val="0"/>
              </a:spcBef>
              <a:buNone/>
            </a:pPr>
            <a:r>
              <a:rPr lang="fr-FR" sz="2200" b="1" dirty="0">
                <a:solidFill>
                  <a:srgbClr val="16294A"/>
                </a:solidFill>
                <a:latin typeface="Montserrat"/>
              </a:rPr>
              <a:t>1 830</a:t>
            </a:r>
          </a:p>
          <a:p>
            <a:pPr algn="ctr">
              <a:lnSpc>
                <a:spcPts val="1800"/>
              </a:lnSpc>
              <a:spcBef>
                <a:spcPct val="0"/>
              </a:spcBef>
              <a:buNone/>
            </a:pPr>
            <a:r>
              <a:rPr lang="fr-FR" sz="1400" dirty="0">
                <a:solidFill>
                  <a:srgbClr val="5A5550"/>
                </a:solidFill>
                <a:latin typeface="Montserrat"/>
              </a:rPr>
              <a:t>classées et résolues</a:t>
            </a:r>
          </a:p>
        </p:txBody>
      </p:sp>
      <p:sp>
        <p:nvSpPr>
          <p:cNvPr id="26" name="P2BoxTxt1">
            <a:extLst>
              <a:ext uri="{FF2B5EF4-FFF2-40B4-BE49-F238E27FC236}">
                <a16:creationId xmlns:a16="http://schemas.microsoft.com/office/drawing/2014/main" id="{E5FA0341-0AF2-424A-B653-4AEC27B26DD9}"/>
              </a:ext>
            </a:extLst>
          </p:cNvPr>
          <p:cNvSpPr txBox="1"/>
          <p:nvPr/>
        </p:nvSpPr>
        <p:spPr>
          <a:xfrm>
            <a:off x="3497179" y="4150158"/>
            <a:ext cx="2039834" cy="1171365"/>
          </a:xfrm>
          <a:prstGeom prst="rect">
            <a:avLst/>
          </a:prstGeom>
          <a:noFill/>
        </p:spPr>
        <p:txBody>
          <a:bodyPr vertOverflow="overflow" vert="horz" wrap="square" rtlCol="0" anchor="t">
            <a:spAutoFit/>
          </a:bodyPr>
          <a:lstStyle/>
          <a:p>
            <a:pPr algn="ctr">
              <a:lnSpc>
                <a:spcPts val="2400"/>
              </a:lnSpc>
              <a:spcBef>
                <a:spcPct val="0"/>
              </a:spcBef>
              <a:buNone/>
            </a:pPr>
            <a:r>
              <a:rPr lang="fr-FR" sz="2200" b="1" dirty="0">
                <a:solidFill>
                  <a:srgbClr val="16294A"/>
                </a:solidFill>
                <a:latin typeface="Montserrat"/>
              </a:rPr>
              <a:t>44</a:t>
            </a:r>
          </a:p>
          <a:p>
            <a:pPr algn="ctr">
              <a:lnSpc>
                <a:spcPts val="1800"/>
              </a:lnSpc>
              <a:spcBef>
                <a:spcPct val="0"/>
              </a:spcBef>
              <a:buNone/>
            </a:pPr>
            <a:r>
              <a:rPr lang="fr-FR" sz="1400" dirty="0">
                <a:solidFill>
                  <a:srgbClr val="5A5550"/>
                </a:solidFill>
                <a:latin typeface="Montserrat"/>
              </a:rPr>
              <a:t>récupérées par le </a:t>
            </a:r>
            <a:r>
              <a:rPr lang="fr-FR" sz="1400" dirty="0" err="1">
                <a:solidFill>
                  <a:srgbClr val="5A5550"/>
                </a:solidFill>
                <a:latin typeface="Montserrat"/>
              </a:rPr>
              <a:t>fallback</a:t>
            </a:r>
            <a:endParaRPr lang="fr-FR" sz="1400" dirty="0">
              <a:solidFill>
                <a:srgbClr val="5A5550"/>
              </a:solidFill>
              <a:latin typeface="Montserrat"/>
            </a:endParaRPr>
          </a:p>
        </p:txBody>
      </p:sp>
      <p:grpSp>
        <p:nvGrpSpPr>
          <p:cNvPr id="4" name="Groupe 3">
            <a:extLst>
              <a:ext uri="{FF2B5EF4-FFF2-40B4-BE49-F238E27FC236}">
                <a16:creationId xmlns:a16="http://schemas.microsoft.com/office/drawing/2014/main" id="{6B74D721-D4A3-A0B8-E166-EFA23E9C9C1E}"/>
              </a:ext>
            </a:extLst>
          </p:cNvPr>
          <p:cNvGrpSpPr/>
          <p:nvPr/>
        </p:nvGrpSpPr>
        <p:grpSpPr>
          <a:xfrm>
            <a:off x="6343650" y="2138254"/>
            <a:ext cx="4953000" cy="2841285"/>
            <a:chOff x="6343650" y="2138255"/>
            <a:chExt cx="4953000" cy="2362200"/>
          </a:xfrm>
        </p:grpSpPr>
        <p:sp>
          <p:nvSpPr>
            <p:cNvPr id="28" name="P2Res">
              <a:extLst>
                <a:ext uri="{FF2B5EF4-FFF2-40B4-BE49-F238E27FC236}">
                  <a16:creationId xmlns:a16="http://schemas.microsoft.com/office/drawing/2014/main" id="{D8789815-A849-4C5C-B379-1A235482FAA9}"/>
                </a:ext>
              </a:extLst>
            </p:cNvPr>
            <p:cNvSpPr/>
            <p:nvPr/>
          </p:nvSpPr>
          <p:spPr>
            <a:xfrm>
              <a:off x="6343650" y="2138255"/>
              <a:ext cx="4953000" cy="2362200"/>
            </a:xfrm>
            <a:prstGeom prst="roundRect">
              <a:avLst/>
            </a:prstGeom>
            <a:solidFill>
              <a:srgbClr val="16294A"/>
            </a:solidFill>
            <a:ln w="38100" cap="flat" cmpd="sng" algn="ctr">
              <a:solidFill>
                <a:srgbClr val="F96A0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dirty="0"/>
            </a:p>
          </p:txBody>
        </p:sp>
        <p:sp>
          <p:nvSpPr>
            <p:cNvPr id="30" name="P2ResVal">
              <a:extLst>
                <a:ext uri="{FF2B5EF4-FFF2-40B4-BE49-F238E27FC236}">
                  <a16:creationId xmlns:a16="http://schemas.microsoft.com/office/drawing/2014/main" id="{CD353FB9-693C-4A89-9B2F-779C1F53921F}"/>
                </a:ext>
              </a:extLst>
            </p:cNvPr>
            <p:cNvSpPr txBox="1"/>
            <p:nvPr/>
          </p:nvSpPr>
          <p:spPr>
            <a:xfrm>
              <a:off x="6470650" y="2525902"/>
              <a:ext cx="4699000" cy="1168400"/>
            </a:xfrm>
            <a:prstGeom prst="rect">
              <a:avLst/>
            </a:prstGeom>
            <a:noFill/>
          </p:spPr>
          <p:txBody>
            <a:bodyPr vertOverflow="overflow" vert="horz" wrap="square" rtlCol="0" anchor="t">
              <a:spAutoFit/>
            </a:bodyPr>
            <a:lstStyle/>
            <a:p>
              <a:pPr algn="ctr">
                <a:lnSpc>
                  <a:spcPts val="6800"/>
                </a:lnSpc>
                <a:spcBef>
                  <a:spcPct val="0"/>
                </a:spcBef>
                <a:buNone/>
              </a:pPr>
              <a:r>
                <a:rPr lang="fr-FR" sz="6600" b="1" dirty="0">
                  <a:solidFill>
                    <a:srgbClr val="F96A09"/>
                  </a:solidFill>
                  <a:latin typeface="Montserrat"/>
                </a:rPr>
                <a:t>91,81 %</a:t>
              </a:r>
            </a:p>
          </p:txBody>
        </p:sp>
        <p:sp>
          <p:nvSpPr>
            <p:cNvPr id="31" name="P2ResLbl">
              <a:extLst>
                <a:ext uri="{FF2B5EF4-FFF2-40B4-BE49-F238E27FC236}">
                  <a16:creationId xmlns:a16="http://schemas.microsoft.com/office/drawing/2014/main" id="{D5038D83-41E4-4199-91E8-3E984ABDB782}"/>
                </a:ext>
              </a:extLst>
            </p:cNvPr>
            <p:cNvSpPr txBox="1"/>
            <p:nvPr/>
          </p:nvSpPr>
          <p:spPr>
            <a:xfrm>
              <a:off x="6470650" y="3509855"/>
              <a:ext cx="4699000" cy="268195"/>
            </a:xfrm>
            <a:prstGeom prst="rect">
              <a:avLst/>
            </a:prstGeom>
            <a:noFill/>
          </p:spPr>
          <p:txBody>
            <a:bodyPr vertOverflow="overflow" vert="horz" wrap="square" rtlCol="0" anchor="t">
              <a:spAutoFit/>
            </a:bodyPr>
            <a:lstStyle/>
            <a:p>
              <a:pPr algn="ctr">
                <a:lnSpc>
                  <a:spcPts val="1900"/>
                </a:lnSpc>
                <a:spcBef>
                  <a:spcPct val="0"/>
                </a:spcBef>
                <a:buNone/>
              </a:pPr>
              <a:r>
                <a:rPr lang="fr-FR" sz="1500" b="1" spc="250" dirty="0">
                  <a:solidFill>
                    <a:schemeClr val="bg1"/>
                  </a:solidFill>
                  <a:latin typeface="Montserrat"/>
                </a:rPr>
                <a:t>DES DEMANDES RÉSOLUES</a:t>
              </a:r>
            </a:p>
          </p:txBody>
        </p:sp>
        <p:sp>
          <p:nvSpPr>
            <p:cNvPr id="60" name="P2TimeDesc">
              <a:extLst>
                <a:ext uri="{FF2B5EF4-FFF2-40B4-BE49-F238E27FC236}">
                  <a16:creationId xmlns:a16="http://schemas.microsoft.com/office/drawing/2014/main" id="{A232E11D-1FC8-438F-A9FA-C4E8E8E4980D}"/>
                </a:ext>
              </a:extLst>
            </p:cNvPr>
            <p:cNvSpPr txBox="1"/>
            <p:nvPr/>
          </p:nvSpPr>
          <p:spPr>
            <a:xfrm>
              <a:off x="6470650" y="3865455"/>
              <a:ext cx="4699000" cy="268195"/>
            </a:xfrm>
            <a:prstGeom prst="rect">
              <a:avLst/>
            </a:prstGeom>
            <a:noFill/>
          </p:spPr>
          <p:txBody>
            <a:bodyPr vertOverflow="overflow" vert="horz" wrap="square" rtlCol="0" anchor="t">
              <a:spAutoFit/>
            </a:bodyPr>
            <a:lstStyle/>
            <a:p>
              <a:pPr algn="ctr">
                <a:lnSpc>
                  <a:spcPts val="1900"/>
                </a:lnSpc>
                <a:spcBef>
                  <a:spcPct val="0"/>
                </a:spcBef>
                <a:buNone/>
              </a:pPr>
              <a:r>
                <a:rPr lang="fr-FR" sz="1500" dirty="0">
                  <a:solidFill>
                    <a:schemeClr val="bg1"/>
                  </a:solidFill>
                  <a:latin typeface="Montserrat"/>
                </a:rPr>
                <a:t>1 874 / 2 041 sans intervention humaine</a:t>
              </a:r>
            </a:p>
          </p:txBody>
        </p:sp>
      </p:grpSp>
      <p:sp>
        <p:nvSpPr>
          <p:cNvPr id="66" name="P2Pipe">
            <a:extLst>
              <a:ext uri="{FF2B5EF4-FFF2-40B4-BE49-F238E27FC236}">
                <a16:creationId xmlns:a16="http://schemas.microsoft.com/office/drawing/2014/main" id="{B7026812-6BCB-4BE4-A2E9-A59F92F93023}"/>
              </a:ext>
            </a:extLst>
          </p:cNvPr>
          <p:cNvSpPr txBox="1"/>
          <p:nvPr/>
        </p:nvSpPr>
        <p:spPr>
          <a:xfrm>
            <a:off x="895350" y="5367599"/>
            <a:ext cx="3810000" cy="279400"/>
          </a:xfrm>
          <a:prstGeom prst="rect">
            <a:avLst/>
          </a:prstGeom>
          <a:noFill/>
        </p:spPr>
        <p:txBody>
          <a:bodyPr vertOverflow="overflow" vert="horz" wrap="square" rtlCol="0" anchor="t">
            <a:spAutoFit/>
          </a:bodyPr>
          <a:lstStyle/>
          <a:p>
            <a:pPr algn="l">
              <a:lnSpc>
                <a:spcPts val="1800"/>
              </a:lnSpc>
              <a:spcBef>
                <a:spcPct val="0"/>
              </a:spcBef>
              <a:buNone/>
            </a:pPr>
            <a:r>
              <a:rPr lang="fr-FR" sz="1400" dirty="0">
                <a:solidFill>
                  <a:srgbClr val="5A5550"/>
                </a:solidFill>
                <a:latin typeface="Montserrat"/>
              </a:rPr>
              <a:t>167 requêtes non résolues</a:t>
            </a:r>
          </a:p>
        </p:txBody>
      </p:sp>
      <p:sp>
        <p:nvSpPr>
          <p:cNvPr id="27" name="Rectangle 26">
            <a:extLst>
              <a:ext uri="{FF2B5EF4-FFF2-40B4-BE49-F238E27FC236}">
                <a16:creationId xmlns:a16="http://schemas.microsoft.com/office/drawing/2014/main" id="{76278D8F-DCF0-552A-2149-47642FFC6161}"/>
              </a:ext>
            </a:extLst>
          </p:cNvPr>
          <p:cNvSpPr>
            <a:spLocks/>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6" name="Graphic 607" descr="Récompense">
            <a:extLst>
              <a:ext uri="{FF2B5EF4-FFF2-40B4-BE49-F238E27FC236}">
                <a16:creationId xmlns:a16="http://schemas.microsoft.com/office/drawing/2014/main" id="{51767F85-9C1B-9170-A47D-6B5DB0994F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23389" y="2290655"/>
            <a:ext cx="533400" cy="533400"/>
          </a:xfrm>
          <a:prstGeom prst="rect">
            <a:avLst/>
          </a:prstGeom>
        </p:spPr>
      </p:pic>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5C65FA00-63BA-464B-AE1E-70331DC6D778}" type="slidenum">
              <a:rPr lang="fr-FR" sz="1600" b="1" dirty="0">
                <a:solidFill>
                  <a:srgbClr val="FFFFFF"/>
                </a:solidFill>
                <a:latin typeface="Montserrat"/>
              </a:rPr>
              <a:t>19</a:t>
            </a:fld>
            <a:endParaRPr lang="fr-FR" sz="1600" b="1" dirty="0">
              <a:solidFill>
                <a:srgbClr val="FFFFFF"/>
              </a:solidFill>
              <a:latin typeface="Montserrat"/>
            </a:endParaRPr>
          </a:p>
        </p:txBody>
      </p:sp>
    </p:spTree>
    <p:extLst>
      <p:ext uri="{BB962C8B-B14F-4D97-AF65-F5344CB8AC3E}">
        <p14:creationId xmlns:p14="http://schemas.microsoft.com/office/powerpoint/2010/main" val="1358510080"/>
      </p:ext>
    </p:extLst>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anim calcmode="lin" valueType="num">
                                      <p:cBhvr>
                                        <p:cTn id="8" dur="450" fill="hold"/>
                                        <p:tgtEl>
                                          <p:spTgt spid="14"/>
                                        </p:tgtEl>
                                        <p:attrNameLst>
                                          <p:attrName>ppt_x</p:attrName>
                                        </p:attrNameLst>
                                      </p:cBhvr>
                                      <p:tavLst>
                                        <p:tav tm="0">
                                          <p:val>
                                            <p:strVal val="#ppt_x"/>
                                          </p:val>
                                        </p:tav>
                                        <p:tav tm="100000">
                                          <p:val>
                                            <p:strVal val="#ppt_x"/>
                                          </p:val>
                                        </p:tav>
                                      </p:tavLst>
                                    </p:anim>
                                    <p:anim calcmode="lin" valueType="num">
                                      <p:cBhvr>
                                        <p:cTn id="9" dur="450" fill="hold"/>
                                        <p:tgtEl>
                                          <p:spTgt spid="14"/>
                                        </p:tgtEl>
                                        <p:attrNameLst>
                                          <p:attrName>ppt_y</p:attrName>
                                        </p:attrNameLst>
                                      </p:cBhvr>
                                      <p:tavLst>
                                        <p:tav tm="0">
                                          <p:val>
                                            <p:strVal val="#ppt_y+.03"/>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450"/>
                                        <p:tgtEl>
                                          <p:spTgt spid="18"/>
                                        </p:tgtEl>
                                      </p:cBhvr>
                                    </p:animEffect>
                                    <p:anim calcmode="lin" valueType="num">
                                      <p:cBhvr>
                                        <p:cTn id="15" dur="450" fill="hold"/>
                                        <p:tgtEl>
                                          <p:spTgt spid="18"/>
                                        </p:tgtEl>
                                        <p:attrNameLst>
                                          <p:attrName>ppt_x</p:attrName>
                                        </p:attrNameLst>
                                      </p:cBhvr>
                                      <p:tavLst>
                                        <p:tav tm="0">
                                          <p:val>
                                            <p:strVal val="#ppt_x"/>
                                          </p:val>
                                        </p:tav>
                                        <p:tav tm="100000">
                                          <p:val>
                                            <p:strVal val="#ppt_x"/>
                                          </p:val>
                                        </p:tav>
                                      </p:tavLst>
                                    </p:anim>
                                    <p:anim calcmode="lin" valueType="num">
                                      <p:cBhvr>
                                        <p:cTn id="16" dur="450" fill="hold"/>
                                        <p:tgtEl>
                                          <p:spTgt spid="18"/>
                                        </p:tgtEl>
                                        <p:attrNameLst>
                                          <p:attrName>ppt_y</p:attrName>
                                        </p:attrNameLst>
                                      </p:cBhvr>
                                      <p:tavLst>
                                        <p:tav tm="0">
                                          <p:val>
                                            <p:strVal val="#ppt_y-.04"/>
                                          </p:val>
                                        </p:tav>
                                        <p:tav tm="100000">
                                          <p:val>
                                            <p:strVal val="#ppt_y"/>
                                          </p:val>
                                        </p:tav>
                                      </p:tavLst>
                                    </p:anim>
                                  </p:childTnLst>
                                </p:cTn>
                              </p:par>
                              <p:par>
                                <p:cTn id="17" presetID="42" presetClass="entr" presetSubtype="0" fill="hold" grpId="0" nodeType="withEffect">
                                  <p:stCondLst>
                                    <p:cond delay="28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50"/>
                                        <p:tgtEl>
                                          <p:spTgt spid="19"/>
                                        </p:tgtEl>
                                      </p:cBhvr>
                                    </p:animEffect>
                                    <p:anim calcmode="lin" valueType="num">
                                      <p:cBhvr>
                                        <p:cTn id="20" dur="450" fill="hold"/>
                                        <p:tgtEl>
                                          <p:spTgt spid="19"/>
                                        </p:tgtEl>
                                        <p:attrNameLst>
                                          <p:attrName>ppt_x</p:attrName>
                                        </p:attrNameLst>
                                      </p:cBhvr>
                                      <p:tavLst>
                                        <p:tav tm="0">
                                          <p:val>
                                            <p:strVal val="#ppt_x"/>
                                          </p:val>
                                        </p:tav>
                                        <p:tav tm="100000">
                                          <p:val>
                                            <p:strVal val="#ppt_x"/>
                                          </p:val>
                                        </p:tav>
                                      </p:tavLst>
                                    </p:anim>
                                    <p:anim calcmode="lin" valueType="num">
                                      <p:cBhvr>
                                        <p:cTn id="21" dur="450" fill="hold"/>
                                        <p:tgtEl>
                                          <p:spTgt spid="19"/>
                                        </p:tgtEl>
                                        <p:attrNameLst>
                                          <p:attrName>ppt_y</p:attrName>
                                        </p:attrNameLst>
                                      </p:cBhvr>
                                      <p:tavLst>
                                        <p:tav tm="0">
                                          <p:val>
                                            <p:strVal val="#ppt_y-.04"/>
                                          </p:val>
                                        </p:tav>
                                        <p:tav tm="100000">
                                          <p:val>
                                            <p:strVal val="#ppt_y"/>
                                          </p:val>
                                        </p:tav>
                                      </p:tavLst>
                                    </p:anim>
                                  </p:childTnLst>
                                </p:cTn>
                              </p:par>
                              <p:par>
                                <p:cTn id="22" presetID="42" presetClass="entr" presetSubtype="0" fill="hold" grpId="0" nodeType="withEffect">
                                  <p:stCondLst>
                                    <p:cond delay="56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450"/>
                                        <p:tgtEl>
                                          <p:spTgt spid="20"/>
                                        </p:tgtEl>
                                      </p:cBhvr>
                                    </p:animEffect>
                                    <p:anim calcmode="lin" valueType="num">
                                      <p:cBhvr>
                                        <p:cTn id="25" dur="450" fill="hold"/>
                                        <p:tgtEl>
                                          <p:spTgt spid="20"/>
                                        </p:tgtEl>
                                        <p:attrNameLst>
                                          <p:attrName>ppt_x</p:attrName>
                                        </p:attrNameLst>
                                      </p:cBhvr>
                                      <p:tavLst>
                                        <p:tav tm="0">
                                          <p:val>
                                            <p:strVal val="#ppt_x"/>
                                          </p:val>
                                        </p:tav>
                                        <p:tav tm="100000">
                                          <p:val>
                                            <p:strVal val="#ppt_x"/>
                                          </p:val>
                                        </p:tav>
                                      </p:tavLst>
                                    </p:anim>
                                    <p:anim calcmode="lin" valueType="num">
                                      <p:cBhvr>
                                        <p:cTn id="26" dur="450" fill="hold"/>
                                        <p:tgtEl>
                                          <p:spTgt spid="20"/>
                                        </p:tgtEl>
                                        <p:attrNameLst>
                                          <p:attrName>ppt_y</p:attrName>
                                        </p:attrNameLst>
                                      </p:cBhvr>
                                      <p:tavLst>
                                        <p:tav tm="0">
                                          <p:val>
                                            <p:strVal val="#ppt_y-.04"/>
                                          </p:val>
                                        </p:tav>
                                        <p:tav tm="100000">
                                          <p:val>
                                            <p:strVal val="#ppt_y"/>
                                          </p:val>
                                        </p:tav>
                                      </p:tavLst>
                                    </p:anim>
                                  </p:childTnLst>
                                </p:cTn>
                              </p:par>
                              <p:par>
                                <p:cTn id="27" presetID="42" presetClass="entr" presetSubtype="0" fill="hold" grpId="0" nodeType="withEffect">
                                  <p:stCondLst>
                                    <p:cond delay="840"/>
                                  </p:stCondLst>
                                  <p:childTnLst>
                                    <p:set>
                                      <p:cBhvr>
                                        <p:cTn id="28" dur="1" fill="hold">
                                          <p:stCondLst>
                                            <p:cond delay="0"/>
                                          </p:stCondLst>
                                        </p:cTn>
                                        <p:tgtEl>
                                          <p:spTgt spid="21"/>
                                        </p:tgtEl>
                                        <p:attrNameLst>
                                          <p:attrName>style.visibility</p:attrName>
                                        </p:attrNameLst>
                                      </p:cBhvr>
                                      <p:to>
                                        <p:strVal val="visible"/>
                                      </p:to>
                                    </p:set>
                                    <p:animEffect transition="in" filter="fade">
                                      <p:cBhvr>
                                        <p:cTn id="29" dur="450"/>
                                        <p:tgtEl>
                                          <p:spTgt spid="21"/>
                                        </p:tgtEl>
                                      </p:cBhvr>
                                    </p:animEffect>
                                    <p:anim calcmode="lin" valueType="num">
                                      <p:cBhvr>
                                        <p:cTn id="30" dur="450" fill="hold"/>
                                        <p:tgtEl>
                                          <p:spTgt spid="21"/>
                                        </p:tgtEl>
                                        <p:attrNameLst>
                                          <p:attrName>ppt_x</p:attrName>
                                        </p:attrNameLst>
                                      </p:cBhvr>
                                      <p:tavLst>
                                        <p:tav tm="0">
                                          <p:val>
                                            <p:strVal val="#ppt_x"/>
                                          </p:val>
                                        </p:tav>
                                        <p:tav tm="100000">
                                          <p:val>
                                            <p:strVal val="#ppt_x"/>
                                          </p:val>
                                        </p:tav>
                                      </p:tavLst>
                                    </p:anim>
                                    <p:anim calcmode="lin" valueType="num">
                                      <p:cBhvr>
                                        <p:cTn id="31" dur="450" fill="hold"/>
                                        <p:tgtEl>
                                          <p:spTgt spid="21"/>
                                        </p:tgtEl>
                                        <p:attrNameLst>
                                          <p:attrName>ppt_y</p:attrName>
                                        </p:attrNameLst>
                                      </p:cBhvr>
                                      <p:tavLst>
                                        <p:tav tm="0">
                                          <p:val>
                                            <p:strVal val="#ppt_y-.04"/>
                                          </p:val>
                                        </p:tav>
                                        <p:tav tm="100000">
                                          <p:val>
                                            <p:strVal val="#ppt_y"/>
                                          </p:val>
                                        </p:tav>
                                      </p:tavLst>
                                    </p:anim>
                                  </p:childTnLst>
                                </p:cTn>
                              </p:par>
                              <p:par>
                                <p:cTn id="32" presetID="42" presetClass="entr" presetSubtype="0" fill="hold" grpId="0" nodeType="withEffect">
                                  <p:stCondLst>
                                    <p:cond delay="112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50"/>
                                        <p:tgtEl>
                                          <p:spTgt spid="22"/>
                                        </p:tgtEl>
                                      </p:cBhvr>
                                    </p:animEffect>
                                    <p:anim calcmode="lin" valueType="num">
                                      <p:cBhvr>
                                        <p:cTn id="35" dur="450" fill="hold"/>
                                        <p:tgtEl>
                                          <p:spTgt spid="22"/>
                                        </p:tgtEl>
                                        <p:attrNameLst>
                                          <p:attrName>ppt_x</p:attrName>
                                        </p:attrNameLst>
                                      </p:cBhvr>
                                      <p:tavLst>
                                        <p:tav tm="0">
                                          <p:val>
                                            <p:strVal val="#ppt_x"/>
                                          </p:val>
                                        </p:tav>
                                        <p:tav tm="100000">
                                          <p:val>
                                            <p:strVal val="#ppt_x"/>
                                          </p:val>
                                        </p:tav>
                                      </p:tavLst>
                                    </p:anim>
                                    <p:anim calcmode="lin" valueType="num">
                                      <p:cBhvr>
                                        <p:cTn id="36" dur="450" fill="hold"/>
                                        <p:tgtEl>
                                          <p:spTgt spid="22"/>
                                        </p:tgtEl>
                                        <p:attrNameLst>
                                          <p:attrName>ppt_y</p:attrName>
                                        </p:attrNameLst>
                                      </p:cBhvr>
                                      <p:tavLst>
                                        <p:tav tm="0">
                                          <p:val>
                                            <p:strVal val="#ppt_y-.04"/>
                                          </p:val>
                                        </p:tav>
                                        <p:tav tm="100000">
                                          <p:val>
                                            <p:strVal val="#ppt_y"/>
                                          </p:val>
                                        </p:tav>
                                      </p:tavLst>
                                    </p:anim>
                                  </p:childTnLst>
                                </p:cTn>
                              </p:par>
                              <p:par>
                                <p:cTn id="37" presetID="42" presetClass="entr" presetSubtype="0" fill="hold" grpId="0" nodeType="withEffect">
                                  <p:stCondLst>
                                    <p:cond delay="112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450"/>
                                        <p:tgtEl>
                                          <p:spTgt spid="24"/>
                                        </p:tgtEl>
                                      </p:cBhvr>
                                    </p:animEffect>
                                    <p:anim calcmode="lin" valueType="num">
                                      <p:cBhvr>
                                        <p:cTn id="40" dur="450" fill="hold"/>
                                        <p:tgtEl>
                                          <p:spTgt spid="24"/>
                                        </p:tgtEl>
                                        <p:attrNameLst>
                                          <p:attrName>ppt_x</p:attrName>
                                        </p:attrNameLst>
                                      </p:cBhvr>
                                      <p:tavLst>
                                        <p:tav tm="0">
                                          <p:val>
                                            <p:strVal val="#ppt_x"/>
                                          </p:val>
                                        </p:tav>
                                        <p:tav tm="100000">
                                          <p:val>
                                            <p:strVal val="#ppt_x"/>
                                          </p:val>
                                        </p:tav>
                                      </p:tavLst>
                                    </p:anim>
                                    <p:anim calcmode="lin" valueType="num">
                                      <p:cBhvr>
                                        <p:cTn id="41" dur="450" fill="hold"/>
                                        <p:tgtEl>
                                          <p:spTgt spid="24"/>
                                        </p:tgtEl>
                                        <p:attrNameLst>
                                          <p:attrName>ppt_y</p:attrName>
                                        </p:attrNameLst>
                                      </p:cBhvr>
                                      <p:tavLst>
                                        <p:tav tm="0">
                                          <p:val>
                                            <p:strVal val="#ppt_y-.04"/>
                                          </p:val>
                                        </p:tav>
                                        <p:tav tm="100000">
                                          <p:val>
                                            <p:strVal val="#ppt_y"/>
                                          </p:val>
                                        </p:tav>
                                      </p:tavLst>
                                    </p:anim>
                                  </p:childTnLst>
                                </p:cTn>
                              </p:par>
                              <p:par>
                                <p:cTn id="42" presetID="42" presetClass="entr" presetSubtype="0" fill="hold" grpId="0" nodeType="withEffect">
                                  <p:stCondLst>
                                    <p:cond delay="126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50"/>
                                        <p:tgtEl>
                                          <p:spTgt spid="23"/>
                                        </p:tgtEl>
                                      </p:cBhvr>
                                    </p:animEffect>
                                    <p:anim calcmode="lin" valueType="num">
                                      <p:cBhvr>
                                        <p:cTn id="45" dur="450" fill="hold"/>
                                        <p:tgtEl>
                                          <p:spTgt spid="23"/>
                                        </p:tgtEl>
                                        <p:attrNameLst>
                                          <p:attrName>ppt_x</p:attrName>
                                        </p:attrNameLst>
                                      </p:cBhvr>
                                      <p:tavLst>
                                        <p:tav tm="0">
                                          <p:val>
                                            <p:strVal val="#ppt_x"/>
                                          </p:val>
                                        </p:tav>
                                        <p:tav tm="100000">
                                          <p:val>
                                            <p:strVal val="#ppt_x"/>
                                          </p:val>
                                        </p:tav>
                                      </p:tavLst>
                                    </p:anim>
                                    <p:anim calcmode="lin" valueType="num">
                                      <p:cBhvr>
                                        <p:cTn id="46" dur="450" fill="hold"/>
                                        <p:tgtEl>
                                          <p:spTgt spid="23"/>
                                        </p:tgtEl>
                                        <p:attrNameLst>
                                          <p:attrName>ppt_y</p:attrName>
                                        </p:attrNameLst>
                                      </p:cBhvr>
                                      <p:tavLst>
                                        <p:tav tm="0">
                                          <p:val>
                                            <p:strVal val="#ppt_y-.04"/>
                                          </p:val>
                                        </p:tav>
                                        <p:tav tm="100000">
                                          <p:val>
                                            <p:strVal val="#ppt_y"/>
                                          </p:val>
                                        </p:tav>
                                      </p:tavLst>
                                    </p:anim>
                                  </p:childTnLst>
                                </p:cTn>
                              </p:par>
                              <p:par>
                                <p:cTn id="47" presetID="42" presetClass="entr" presetSubtype="0" fill="hold" grpId="0" nodeType="withEffect">
                                  <p:stCondLst>
                                    <p:cond delay="126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50"/>
                                        <p:tgtEl>
                                          <p:spTgt spid="26"/>
                                        </p:tgtEl>
                                      </p:cBhvr>
                                    </p:animEffect>
                                    <p:anim calcmode="lin" valueType="num">
                                      <p:cBhvr>
                                        <p:cTn id="50" dur="450" fill="hold"/>
                                        <p:tgtEl>
                                          <p:spTgt spid="26"/>
                                        </p:tgtEl>
                                        <p:attrNameLst>
                                          <p:attrName>ppt_x</p:attrName>
                                        </p:attrNameLst>
                                      </p:cBhvr>
                                      <p:tavLst>
                                        <p:tav tm="0">
                                          <p:val>
                                            <p:strVal val="#ppt_x"/>
                                          </p:val>
                                        </p:tav>
                                        <p:tav tm="100000">
                                          <p:val>
                                            <p:strVal val="#ppt_x"/>
                                          </p:val>
                                        </p:tav>
                                      </p:tavLst>
                                    </p:anim>
                                    <p:anim calcmode="lin" valueType="num">
                                      <p:cBhvr>
                                        <p:cTn id="51" dur="450" fill="hold"/>
                                        <p:tgtEl>
                                          <p:spTgt spid="26"/>
                                        </p:tgtEl>
                                        <p:attrNameLst>
                                          <p:attrName>ppt_y</p:attrName>
                                        </p:attrNameLst>
                                      </p:cBhvr>
                                      <p:tavLst>
                                        <p:tav tm="0">
                                          <p:val>
                                            <p:strVal val="#ppt_y-.04"/>
                                          </p:val>
                                        </p:tav>
                                        <p:tav tm="100000">
                                          <p:val>
                                            <p:strVal val="#ppt_y"/>
                                          </p:val>
                                        </p:tav>
                                      </p:tavLst>
                                    </p:anim>
                                  </p:childTnLst>
                                </p:cTn>
                              </p:par>
                              <p:par>
                                <p:cTn id="52" presetID="10" presetClass="entr" presetSubtype="0" fill="hold" grpId="0" nodeType="withEffect">
                                  <p:stCondLst>
                                    <p:cond delay="1680"/>
                                  </p:stCondLst>
                                  <p:childTnLst>
                                    <p:set>
                                      <p:cBhvr>
                                        <p:cTn id="53" dur="1" fill="hold">
                                          <p:stCondLst>
                                            <p:cond delay="0"/>
                                          </p:stCondLst>
                                        </p:cTn>
                                        <p:tgtEl>
                                          <p:spTgt spid="66"/>
                                        </p:tgtEl>
                                        <p:attrNameLst>
                                          <p:attrName>style.visibility</p:attrName>
                                        </p:attrNameLst>
                                      </p:cBhvr>
                                      <p:to>
                                        <p:strVal val="visible"/>
                                      </p:to>
                                    </p:set>
                                    <p:animEffect transition="in" filter="fade">
                                      <p:cBhvr>
                                        <p:cTn id="54" dur="450"/>
                                        <p:tgtEl>
                                          <p:spTgt spid="66"/>
                                        </p:tgtEl>
                                      </p:cBhvr>
                                    </p:animEffect>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nodeType="clickEffect">
                                  <p:stCondLst>
                                    <p:cond delay="0"/>
                                  </p:stCondLst>
                                  <p:childTnLst>
                                    <p:set>
                                      <p:cBhvr>
                                        <p:cTn id="58" dur="1" fill="hold">
                                          <p:stCondLst>
                                            <p:cond delay="0"/>
                                          </p:stCondLst>
                                        </p:cTn>
                                        <p:tgtEl>
                                          <p:spTgt spid="4"/>
                                        </p:tgtEl>
                                        <p:attrNameLst>
                                          <p:attrName>style.visibility</p:attrName>
                                        </p:attrNameLst>
                                      </p:cBhvr>
                                      <p:to>
                                        <p:strVal val="visible"/>
                                      </p:to>
                                    </p:set>
                                    <p:anim calcmode="lin" valueType="num">
                                      <p:cBhvr>
                                        <p:cTn id="59" dur="500" fill="hold"/>
                                        <p:tgtEl>
                                          <p:spTgt spid="4"/>
                                        </p:tgtEl>
                                        <p:attrNameLst>
                                          <p:attrName>ppt_w</p:attrName>
                                        </p:attrNameLst>
                                      </p:cBhvr>
                                      <p:tavLst>
                                        <p:tav tm="0">
                                          <p:val>
                                            <p:strVal val="#ppt_w*0.85"/>
                                          </p:val>
                                        </p:tav>
                                        <p:tav tm="100000">
                                          <p:val>
                                            <p:strVal val="#ppt_w"/>
                                          </p:val>
                                        </p:tav>
                                      </p:tavLst>
                                    </p:anim>
                                    <p:anim calcmode="lin" valueType="num">
                                      <p:cBhvr>
                                        <p:cTn id="60" dur="500" fill="hold"/>
                                        <p:tgtEl>
                                          <p:spTgt spid="4"/>
                                        </p:tgtEl>
                                        <p:attrNameLst>
                                          <p:attrName>ppt_h</p:attrName>
                                        </p:attrNameLst>
                                      </p:cBhvr>
                                      <p:tavLst>
                                        <p:tav tm="0">
                                          <p:val>
                                            <p:strVal val="#ppt_h*0.85"/>
                                          </p:val>
                                        </p:tav>
                                        <p:tav tm="100000">
                                          <p:val>
                                            <p:strVal val="#ppt_h"/>
                                          </p:val>
                                        </p:tav>
                                      </p:tavLst>
                                    </p:anim>
                                    <p:animEffect transition="in" filter="fade">
                                      <p:cBhvr>
                                        <p:cTn id="61" dur="500"/>
                                        <p:tgtEl>
                                          <p:spTgt spid="4"/>
                                        </p:tgtEl>
                                      </p:cBhvr>
                                    </p:animEffect>
                                  </p:childTnLst>
                                </p:cTn>
                              </p:par>
                              <p:par>
                                <p:cTn id="62" presetID="53" presetClass="entr" presetSubtype="16" fill="hold" nodeType="withEffect">
                                  <p:stCondLst>
                                    <p:cond delay="0"/>
                                  </p:stCondLst>
                                  <p:childTnLst>
                                    <p:set>
                                      <p:cBhvr>
                                        <p:cTn id="63" dur="1" fill="hold">
                                          <p:stCondLst>
                                            <p:cond delay="0"/>
                                          </p:stCondLst>
                                        </p:cTn>
                                        <p:tgtEl>
                                          <p:spTgt spid="36"/>
                                        </p:tgtEl>
                                        <p:attrNameLst>
                                          <p:attrName>style.visibility</p:attrName>
                                        </p:attrNameLst>
                                      </p:cBhvr>
                                      <p:to>
                                        <p:strVal val="visible"/>
                                      </p:to>
                                    </p:set>
                                    <p:anim calcmode="lin" valueType="num">
                                      <p:cBhvr>
                                        <p:cTn id="64" dur="500" fill="hold"/>
                                        <p:tgtEl>
                                          <p:spTgt spid="36"/>
                                        </p:tgtEl>
                                        <p:attrNameLst>
                                          <p:attrName>ppt_w</p:attrName>
                                        </p:attrNameLst>
                                      </p:cBhvr>
                                      <p:tavLst>
                                        <p:tav tm="0">
                                          <p:val>
                                            <p:strVal val="#ppt_w*0.85"/>
                                          </p:val>
                                        </p:tav>
                                        <p:tav tm="100000">
                                          <p:val>
                                            <p:strVal val="#ppt_w"/>
                                          </p:val>
                                        </p:tav>
                                      </p:tavLst>
                                    </p:anim>
                                    <p:anim calcmode="lin" valueType="num">
                                      <p:cBhvr>
                                        <p:cTn id="65" dur="500" fill="hold"/>
                                        <p:tgtEl>
                                          <p:spTgt spid="36"/>
                                        </p:tgtEl>
                                        <p:attrNameLst>
                                          <p:attrName>ppt_h</p:attrName>
                                        </p:attrNameLst>
                                      </p:cBhvr>
                                      <p:tavLst>
                                        <p:tav tm="0">
                                          <p:val>
                                            <p:strVal val="#ppt_h*0.85"/>
                                          </p:val>
                                        </p:tav>
                                        <p:tav tm="100000">
                                          <p:val>
                                            <p:strVal val="#ppt_h"/>
                                          </p:val>
                                        </p:tav>
                                      </p:tavLst>
                                    </p:anim>
                                    <p:animEffect transition="in" filter="fade">
                                      <p:cBhvr>
                                        <p:cTn id="66"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animBg="1"/>
      <p:bldP spid="19" grpId="0" animBg="1"/>
      <p:bldP spid="20" grpId="0" animBg="1"/>
      <p:bldP spid="21" grpId="0" animBg="1"/>
      <p:bldP spid="22" grpId="0" animBg="1"/>
      <p:bldP spid="23" grpId="0" animBg="1"/>
      <p:bldP spid="24" grpId="0" animBg="1"/>
      <p:bldP spid="26" grpId="0" animBg="1"/>
      <p:bldP spid="6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B0E82-26D0-69BE-88CE-A38DA066F2D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93F5D6-0063-A260-8A7B-2B70A642B910}"/>
              </a:ext>
            </a:extLst>
          </p:cNvPr>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8D42D926-221A-79C6-30C5-1AC442A2F643}"/>
              </a:ext>
            </a:extLst>
          </p:cNvPr>
          <p:cNvSpPr txBox="1"/>
          <p:nvPr/>
        </p:nvSpPr>
        <p:spPr>
          <a:xfrm>
            <a:off x="627116" y="1006292"/>
            <a:ext cx="1376915" cy="1446550"/>
          </a:xfrm>
          <a:prstGeom prst="rect">
            <a:avLst/>
          </a:prstGeom>
          <a:noFill/>
        </p:spPr>
        <p:txBody>
          <a:bodyPr wrap="square" rtlCol="0">
            <a:spAutoFit/>
          </a:bodyPr>
          <a:lstStyle/>
          <a:p>
            <a:r>
              <a:rPr lang="fr-FR" sz="8600" dirty="0">
                <a:solidFill>
                  <a:srgbClr val="F96A09"/>
                </a:solidFill>
                <a:latin typeface="Times New Roman" panose="02020603050405020304" pitchFamily="18" charset="0"/>
                <a:cs typeface="Times New Roman" panose="02020603050405020304" pitchFamily="18" charset="0"/>
              </a:rPr>
              <a:t>06</a:t>
            </a:r>
          </a:p>
        </p:txBody>
      </p:sp>
      <p:cxnSp>
        <p:nvCxnSpPr>
          <p:cNvPr id="11" name="Connecteur droit 10">
            <a:extLst>
              <a:ext uri="{FF2B5EF4-FFF2-40B4-BE49-F238E27FC236}">
                <a16:creationId xmlns:a16="http://schemas.microsoft.com/office/drawing/2014/main" id="{8BF6B469-865A-75F9-DD37-56E820D8C467}"/>
              </a:ext>
            </a:extLst>
          </p:cNvPr>
          <p:cNvCxnSpPr>
            <a:cxnSpLocks/>
          </p:cNvCxnSpPr>
          <p:nvPr/>
        </p:nvCxnSpPr>
        <p:spPr>
          <a:xfrm>
            <a:off x="2007270" y="1066800"/>
            <a:ext cx="0" cy="1117600"/>
          </a:xfrm>
          <a:prstGeom prst="line">
            <a:avLst/>
          </a:prstGeom>
          <a:ln w="28575">
            <a:solidFill>
              <a:srgbClr val="F96A09"/>
            </a:solidFill>
          </a:ln>
        </p:spPr>
        <p:style>
          <a:lnRef idx="1">
            <a:schemeClr val="accent1"/>
          </a:lnRef>
          <a:fillRef idx="0">
            <a:schemeClr val="accent1"/>
          </a:fillRef>
          <a:effectRef idx="0">
            <a:schemeClr val="accent1"/>
          </a:effectRef>
          <a:fontRef idx="minor">
            <a:schemeClr val="tx1"/>
          </a:fontRef>
        </p:style>
      </p:cxnSp>
      <p:sp>
        <p:nvSpPr>
          <p:cNvPr id="25" name="Ellipse 24">
            <a:extLst>
              <a:ext uri="{FF2B5EF4-FFF2-40B4-BE49-F238E27FC236}">
                <a16:creationId xmlns:a16="http://schemas.microsoft.com/office/drawing/2014/main" id="{84B3950D-E46C-D4B1-8098-B317F136FB6A}"/>
              </a:ext>
            </a:extLst>
          </p:cNvPr>
          <p:cNvSpPr/>
          <p:nvPr/>
        </p:nvSpPr>
        <p:spPr>
          <a:xfrm>
            <a:off x="1435099"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1</a:t>
            </a:r>
          </a:p>
        </p:txBody>
      </p:sp>
      <p:sp>
        <p:nvSpPr>
          <p:cNvPr id="39" name="Ellipse 38">
            <a:extLst>
              <a:ext uri="{FF2B5EF4-FFF2-40B4-BE49-F238E27FC236}">
                <a16:creationId xmlns:a16="http://schemas.microsoft.com/office/drawing/2014/main" id="{65060E68-CA67-C4DC-075D-0340C1508F66}"/>
              </a:ext>
            </a:extLst>
          </p:cNvPr>
          <p:cNvSpPr/>
          <p:nvPr/>
        </p:nvSpPr>
        <p:spPr>
          <a:xfrm>
            <a:off x="3276885"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2</a:t>
            </a:r>
          </a:p>
        </p:txBody>
      </p:sp>
      <p:sp>
        <p:nvSpPr>
          <p:cNvPr id="41" name="Ellipse 40">
            <a:extLst>
              <a:ext uri="{FF2B5EF4-FFF2-40B4-BE49-F238E27FC236}">
                <a16:creationId xmlns:a16="http://schemas.microsoft.com/office/drawing/2014/main" id="{22414B0D-F38D-1F2A-DFAD-809A76688576}"/>
              </a:ext>
            </a:extLst>
          </p:cNvPr>
          <p:cNvSpPr/>
          <p:nvPr/>
        </p:nvSpPr>
        <p:spPr>
          <a:xfrm>
            <a:off x="5118671"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3</a:t>
            </a:r>
          </a:p>
        </p:txBody>
      </p:sp>
      <p:sp>
        <p:nvSpPr>
          <p:cNvPr id="43" name="Ellipse 42">
            <a:extLst>
              <a:ext uri="{FF2B5EF4-FFF2-40B4-BE49-F238E27FC236}">
                <a16:creationId xmlns:a16="http://schemas.microsoft.com/office/drawing/2014/main" id="{078EBBCA-0138-017B-FFAE-FAAF40C8E30C}"/>
              </a:ext>
            </a:extLst>
          </p:cNvPr>
          <p:cNvSpPr/>
          <p:nvPr/>
        </p:nvSpPr>
        <p:spPr>
          <a:xfrm>
            <a:off x="6960457"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4</a:t>
            </a:r>
          </a:p>
        </p:txBody>
      </p:sp>
      <p:sp>
        <p:nvSpPr>
          <p:cNvPr id="45" name="Ellipse 44">
            <a:extLst>
              <a:ext uri="{FF2B5EF4-FFF2-40B4-BE49-F238E27FC236}">
                <a16:creationId xmlns:a16="http://schemas.microsoft.com/office/drawing/2014/main" id="{B2D08B19-1824-7434-CBFF-2AA86B8CB534}"/>
              </a:ext>
            </a:extLst>
          </p:cNvPr>
          <p:cNvSpPr/>
          <p:nvPr/>
        </p:nvSpPr>
        <p:spPr>
          <a:xfrm>
            <a:off x="8802243" y="205023"/>
            <a:ext cx="246063" cy="253765"/>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fr-FR" dirty="0">
                <a:solidFill>
                  <a:schemeClr val="tx1"/>
                </a:solidFill>
              </a:rPr>
              <a:t>5</a:t>
            </a:r>
          </a:p>
        </p:txBody>
      </p:sp>
      <p:sp>
        <p:nvSpPr>
          <p:cNvPr id="47" name="Ellipse 46">
            <a:extLst>
              <a:ext uri="{FF2B5EF4-FFF2-40B4-BE49-F238E27FC236}">
                <a16:creationId xmlns:a16="http://schemas.microsoft.com/office/drawing/2014/main" id="{BDC9DFE7-79AD-B226-4AD8-BF873600C322}"/>
              </a:ext>
            </a:extLst>
          </p:cNvPr>
          <p:cNvSpPr/>
          <p:nvPr/>
        </p:nvSpPr>
        <p:spPr>
          <a:xfrm>
            <a:off x="10644027" y="205023"/>
            <a:ext cx="246063" cy="253765"/>
          </a:xfrm>
          <a:prstGeom prst="ellipse">
            <a:avLst/>
          </a:prstGeom>
          <a:noFill/>
          <a:ln>
            <a:solidFill>
              <a:srgbClr val="F96A0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F96A09"/>
                </a:solidFill>
              </a:rPr>
              <a:t>6</a:t>
            </a:r>
          </a:p>
        </p:txBody>
      </p:sp>
      <p:cxnSp>
        <p:nvCxnSpPr>
          <p:cNvPr id="49" name="Connecteur droit 48">
            <a:extLst>
              <a:ext uri="{FF2B5EF4-FFF2-40B4-BE49-F238E27FC236}">
                <a16:creationId xmlns:a16="http://schemas.microsoft.com/office/drawing/2014/main" id="{DFF629EC-319E-64A5-DB49-782E99759072}"/>
              </a:ext>
            </a:extLst>
          </p:cNvPr>
          <p:cNvCxnSpPr>
            <a:endCxn id="25" idx="2"/>
          </p:cNvCxnSpPr>
          <p:nvPr/>
        </p:nvCxnSpPr>
        <p:spPr>
          <a:xfrm flipV="1">
            <a:off x="387416" y="331905"/>
            <a:ext cx="10476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Connecteur droit 50">
            <a:extLst>
              <a:ext uri="{FF2B5EF4-FFF2-40B4-BE49-F238E27FC236}">
                <a16:creationId xmlns:a16="http://schemas.microsoft.com/office/drawing/2014/main" id="{97EE13DE-87EB-FB57-63DD-6DF3A2DBAFC0}"/>
              </a:ext>
            </a:extLst>
          </p:cNvPr>
          <p:cNvCxnSpPr>
            <a:stCxn id="25" idx="6"/>
            <a:endCxn id="39" idx="2"/>
          </p:cNvCxnSpPr>
          <p:nvPr/>
        </p:nvCxnSpPr>
        <p:spPr>
          <a:xfrm flipV="1">
            <a:off x="1681162"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Connecteur droit 52">
            <a:extLst>
              <a:ext uri="{FF2B5EF4-FFF2-40B4-BE49-F238E27FC236}">
                <a16:creationId xmlns:a16="http://schemas.microsoft.com/office/drawing/2014/main" id="{60B7A0DD-1431-3FD3-B97D-F7A305926FDE}"/>
              </a:ext>
            </a:extLst>
          </p:cNvPr>
          <p:cNvCxnSpPr>
            <a:stCxn id="39" idx="6"/>
            <a:endCxn id="41" idx="2"/>
          </p:cNvCxnSpPr>
          <p:nvPr/>
        </p:nvCxnSpPr>
        <p:spPr>
          <a:xfrm>
            <a:off x="3522948"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Connecteur droit 54">
            <a:extLst>
              <a:ext uri="{FF2B5EF4-FFF2-40B4-BE49-F238E27FC236}">
                <a16:creationId xmlns:a16="http://schemas.microsoft.com/office/drawing/2014/main" id="{688C943A-0B8B-EFAF-C857-87C17225C2E9}"/>
              </a:ext>
            </a:extLst>
          </p:cNvPr>
          <p:cNvCxnSpPr>
            <a:stCxn id="41" idx="6"/>
            <a:endCxn id="43" idx="2"/>
          </p:cNvCxnSpPr>
          <p:nvPr/>
        </p:nvCxnSpPr>
        <p:spPr>
          <a:xfrm>
            <a:off x="5364734"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Connecteur droit 56">
            <a:extLst>
              <a:ext uri="{FF2B5EF4-FFF2-40B4-BE49-F238E27FC236}">
                <a16:creationId xmlns:a16="http://schemas.microsoft.com/office/drawing/2014/main" id="{7FF9E7A2-929E-716C-BAF5-CCFC066DFF37}"/>
              </a:ext>
            </a:extLst>
          </p:cNvPr>
          <p:cNvCxnSpPr>
            <a:stCxn id="43" idx="6"/>
            <a:endCxn id="45" idx="2"/>
          </p:cNvCxnSpPr>
          <p:nvPr/>
        </p:nvCxnSpPr>
        <p:spPr>
          <a:xfrm>
            <a:off x="7206520" y="331905"/>
            <a:ext cx="15957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Connecteur droit 58">
            <a:extLst>
              <a:ext uri="{FF2B5EF4-FFF2-40B4-BE49-F238E27FC236}">
                <a16:creationId xmlns:a16="http://schemas.microsoft.com/office/drawing/2014/main" id="{90B58305-8DB9-C487-2DB5-0A9A73F8BC0A}"/>
              </a:ext>
            </a:extLst>
          </p:cNvPr>
          <p:cNvCxnSpPr>
            <a:stCxn id="45" idx="6"/>
            <a:endCxn id="47" idx="2"/>
          </p:cNvCxnSpPr>
          <p:nvPr/>
        </p:nvCxnSpPr>
        <p:spPr>
          <a:xfrm flipV="1">
            <a:off x="9048306" y="331905"/>
            <a:ext cx="1595721"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cxnSp>
        <p:nvCxnSpPr>
          <p:cNvPr id="62" name="Connecteur droit 61">
            <a:extLst>
              <a:ext uri="{FF2B5EF4-FFF2-40B4-BE49-F238E27FC236}">
                <a16:creationId xmlns:a16="http://schemas.microsoft.com/office/drawing/2014/main" id="{7A1FCDD6-69DF-C052-4924-9ADD0A847C77}"/>
              </a:ext>
            </a:extLst>
          </p:cNvPr>
          <p:cNvCxnSpPr>
            <a:stCxn id="47" idx="6"/>
          </p:cNvCxnSpPr>
          <p:nvPr/>
        </p:nvCxnSpPr>
        <p:spPr>
          <a:xfrm>
            <a:off x="10890090" y="331905"/>
            <a:ext cx="1301910" cy="0"/>
          </a:xfrm>
          <a:prstGeom prst="line">
            <a:avLst/>
          </a:prstGeom>
          <a:ln>
            <a:solidFill>
              <a:srgbClr val="F96A09"/>
            </a:solidFill>
          </a:ln>
        </p:spPr>
        <p:style>
          <a:lnRef idx="1">
            <a:schemeClr val="dk1"/>
          </a:lnRef>
          <a:fillRef idx="0">
            <a:schemeClr val="dk1"/>
          </a:fillRef>
          <a:effectRef idx="0">
            <a:schemeClr val="dk1"/>
          </a:effectRef>
          <a:fontRef idx="minor">
            <a:schemeClr val="tx1"/>
          </a:fontRef>
        </p:style>
      </p:cxnSp>
      <p:sp>
        <p:nvSpPr>
          <p:cNvPr id="6" name="ZoneTexte 5">
            <a:extLst>
              <a:ext uri="{FF2B5EF4-FFF2-40B4-BE49-F238E27FC236}">
                <a16:creationId xmlns:a16="http://schemas.microsoft.com/office/drawing/2014/main" id="{9C5A863B-B47D-15F4-5DEE-E1656D91A67A}"/>
              </a:ext>
            </a:extLst>
          </p:cNvPr>
          <p:cNvSpPr txBox="1"/>
          <p:nvPr/>
        </p:nvSpPr>
        <p:spPr>
          <a:xfrm>
            <a:off x="624823" y="479710"/>
            <a:ext cx="1965977" cy="600164"/>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a:t>
            </a:r>
            <a:r>
              <a:rPr lang="fr-FR" sz="1100" b="1" dirty="0">
                <a:latin typeface="Montserrat"/>
              </a:rPr>
              <a:t> </a:t>
            </a:r>
            <a:r>
              <a:rPr lang="fr-FR" sz="1100" b="1" dirty="0">
                <a:latin typeface="Montserrat"/>
                <a:cs typeface="Montserrat"/>
              </a:rPr>
              <a:t>STRUCTURE D’ACCUEIL</a:t>
            </a:r>
          </a:p>
        </p:txBody>
      </p:sp>
      <p:sp>
        <p:nvSpPr>
          <p:cNvPr id="8" name="ZoneTexte 7">
            <a:extLst>
              <a:ext uri="{FF2B5EF4-FFF2-40B4-BE49-F238E27FC236}">
                <a16:creationId xmlns:a16="http://schemas.microsoft.com/office/drawing/2014/main" id="{4FB0F755-47D0-5547-AE5E-A7408409748A}"/>
              </a:ext>
            </a:extLst>
          </p:cNvPr>
          <p:cNvSpPr txBox="1"/>
          <p:nvPr/>
        </p:nvSpPr>
        <p:spPr>
          <a:xfrm>
            <a:off x="2643588" y="417161"/>
            <a:ext cx="1481708" cy="430887"/>
          </a:xfrm>
          <a:prstGeom prst="rect">
            <a:avLst/>
          </a:prstGeom>
          <a:noFill/>
        </p:spPr>
        <p:txBody>
          <a:bodyPr wrap="square" rtlCol="0">
            <a:spAutoFit/>
          </a:bodyPr>
          <a:lstStyle/>
          <a:p>
            <a:r>
              <a:rPr lang="fr-FR" sz="1100" b="1" dirty="0">
                <a:latin typeface="Montserrat"/>
                <a:cs typeface="Montserrat"/>
              </a:rPr>
              <a:t>CONTEXTE ET </a:t>
            </a:r>
          </a:p>
          <a:p>
            <a:r>
              <a:rPr lang="fr-FR" sz="1100" b="1" dirty="0">
                <a:latin typeface="Montserrat"/>
                <a:cs typeface="Montserrat"/>
              </a:rPr>
              <a:t>PROBLÉMATIQUE</a:t>
            </a:r>
          </a:p>
        </p:txBody>
      </p:sp>
      <p:sp>
        <p:nvSpPr>
          <p:cNvPr id="10" name="ZoneTexte 9">
            <a:extLst>
              <a:ext uri="{FF2B5EF4-FFF2-40B4-BE49-F238E27FC236}">
                <a16:creationId xmlns:a16="http://schemas.microsoft.com/office/drawing/2014/main" id="{63672BB3-ED89-51D7-9BCB-37A6A4FC58C8}"/>
              </a:ext>
            </a:extLst>
          </p:cNvPr>
          <p:cNvSpPr txBox="1"/>
          <p:nvPr/>
        </p:nvSpPr>
        <p:spPr>
          <a:xfrm>
            <a:off x="4178084" y="501799"/>
            <a:ext cx="1921727" cy="261610"/>
          </a:xfrm>
          <a:prstGeom prst="rect">
            <a:avLst/>
          </a:prstGeom>
          <a:noFill/>
        </p:spPr>
        <p:txBody>
          <a:bodyPr wrap="square" rtlCol="0">
            <a:spAutoFit/>
          </a:bodyPr>
          <a:lstStyle/>
          <a:p>
            <a:r>
              <a:rPr lang="fr-FR" sz="1100" b="1" dirty="0">
                <a:latin typeface="Montserrat"/>
                <a:cs typeface="Montserrat"/>
              </a:rPr>
              <a:t>ÉTUDE CONCEPTUELLE</a:t>
            </a:r>
          </a:p>
        </p:txBody>
      </p:sp>
      <p:sp>
        <p:nvSpPr>
          <p:cNvPr id="13" name="ZoneTexte 12">
            <a:extLst>
              <a:ext uri="{FF2B5EF4-FFF2-40B4-BE49-F238E27FC236}">
                <a16:creationId xmlns:a16="http://schemas.microsoft.com/office/drawing/2014/main" id="{9D38283B-3A40-364F-EB91-9052DEFAE98A}"/>
              </a:ext>
            </a:extLst>
          </p:cNvPr>
          <p:cNvSpPr txBox="1"/>
          <p:nvPr/>
        </p:nvSpPr>
        <p:spPr>
          <a:xfrm>
            <a:off x="6152599" y="425597"/>
            <a:ext cx="1595723" cy="430887"/>
          </a:xfrm>
          <a:prstGeom prst="rect">
            <a:avLst/>
          </a:prstGeom>
          <a:noFill/>
        </p:spPr>
        <p:txBody>
          <a:bodyPr wrap="square" rtlCol="0">
            <a:spAutoFit/>
          </a:bodyPr>
          <a:lstStyle/>
          <a:p>
            <a:r>
              <a:rPr lang="fr-FR" sz="1100" b="1" dirty="0">
                <a:latin typeface="Montserrat"/>
                <a:cs typeface="Montserrat"/>
              </a:rPr>
              <a:t>PRÉSENTATION DE </a:t>
            </a:r>
          </a:p>
          <a:p>
            <a:r>
              <a:rPr lang="fr-FR" sz="1100" b="1" dirty="0">
                <a:latin typeface="Montserrat"/>
                <a:cs typeface="Montserrat"/>
              </a:rPr>
              <a:t>LA SOLUTION</a:t>
            </a:r>
          </a:p>
        </p:txBody>
      </p:sp>
      <p:sp>
        <p:nvSpPr>
          <p:cNvPr id="15" name="ZoneTexte 14">
            <a:extLst>
              <a:ext uri="{FF2B5EF4-FFF2-40B4-BE49-F238E27FC236}">
                <a16:creationId xmlns:a16="http://schemas.microsoft.com/office/drawing/2014/main" id="{264D6C9D-4B59-5E22-1C13-B1EE099D2C97}"/>
              </a:ext>
            </a:extLst>
          </p:cNvPr>
          <p:cNvSpPr txBox="1"/>
          <p:nvPr/>
        </p:nvSpPr>
        <p:spPr>
          <a:xfrm>
            <a:off x="7801110" y="458786"/>
            <a:ext cx="1860500" cy="430887"/>
          </a:xfrm>
          <a:prstGeom prst="rect">
            <a:avLst/>
          </a:prstGeom>
          <a:noFill/>
        </p:spPr>
        <p:txBody>
          <a:bodyPr wrap="square" rtlCol="0">
            <a:spAutoFit/>
          </a:bodyPr>
          <a:lstStyle/>
          <a:p>
            <a:r>
              <a:rPr lang="fr-FR" sz="1100" b="1" dirty="0">
                <a:latin typeface="Montserrat"/>
                <a:cs typeface="Montserrat"/>
              </a:rPr>
              <a:t>RÉSULTATS ET VALIDATION</a:t>
            </a:r>
          </a:p>
        </p:txBody>
      </p:sp>
      <p:sp>
        <p:nvSpPr>
          <p:cNvPr id="17" name="ZoneTexte 16">
            <a:extLst>
              <a:ext uri="{FF2B5EF4-FFF2-40B4-BE49-F238E27FC236}">
                <a16:creationId xmlns:a16="http://schemas.microsoft.com/office/drawing/2014/main" id="{202F6513-F91D-3389-C52C-CCD06625B1B3}"/>
              </a:ext>
            </a:extLst>
          </p:cNvPr>
          <p:cNvSpPr txBox="1"/>
          <p:nvPr/>
        </p:nvSpPr>
        <p:spPr>
          <a:xfrm>
            <a:off x="9716922" y="479710"/>
            <a:ext cx="2346335" cy="261610"/>
          </a:xfrm>
          <a:prstGeom prst="rect">
            <a:avLst/>
          </a:prstGeom>
          <a:noFill/>
        </p:spPr>
        <p:txBody>
          <a:bodyPr wrap="square" rtlCol="0">
            <a:spAutoFit/>
          </a:bodyPr>
          <a:lstStyle/>
          <a:p>
            <a:r>
              <a:rPr lang="fr-FR" sz="1100" b="1" dirty="0">
                <a:solidFill>
                  <a:srgbClr val="F96A09"/>
                </a:solidFill>
                <a:latin typeface="Montserrat"/>
                <a:cs typeface="Montserrat"/>
              </a:rPr>
              <a:t>LIMITES ET PERSPECTIVES</a:t>
            </a:r>
          </a:p>
        </p:txBody>
      </p:sp>
      <p:sp>
        <p:nvSpPr>
          <p:cNvPr id="3" name="HdrTitle">
            <a:extLst>
              <a:ext uri="{FF2B5EF4-FFF2-40B4-BE49-F238E27FC236}">
                <a16:creationId xmlns:a16="http://schemas.microsoft.com/office/drawing/2014/main" id="{AFCE6A63-05D7-5035-05C7-959C1FB770AC}"/>
              </a:ext>
            </a:extLst>
          </p:cNvPr>
          <p:cNvSpPr txBox="1"/>
          <p:nvPr/>
        </p:nvSpPr>
        <p:spPr>
          <a:xfrm>
            <a:off x="2120900" y="1346200"/>
            <a:ext cx="5334000" cy="523220"/>
          </a:xfrm>
          <a:prstGeom prst="rect">
            <a:avLst/>
          </a:prstGeom>
          <a:noFill/>
        </p:spPr>
        <p:txBody>
          <a:bodyPr vertOverflow="overflow" vert="horz" wrap="square" rtlCol="0" anchor="t">
            <a:spAutoFit/>
          </a:bodyPr>
          <a:lstStyle/>
          <a:p>
            <a:r>
              <a:rPr lang="fr-FR" sz="2800" b="1" dirty="0">
                <a:latin typeface="Times New Roman" panose="02020603050405020304" pitchFamily="18" charset="0"/>
                <a:cs typeface="Times New Roman" panose="02020603050405020304" pitchFamily="18" charset="0"/>
              </a:rPr>
              <a:t>LIMITES ET PERSPECTIVES</a:t>
            </a:r>
          </a:p>
        </p:txBody>
      </p:sp>
      <p:sp>
        <p:nvSpPr>
          <p:cNvPr id="7" name="HdrRule">
            <a:extLst>
              <a:ext uri="{FF2B5EF4-FFF2-40B4-BE49-F238E27FC236}">
                <a16:creationId xmlns:a16="http://schemas.microsoft.com/office/drawing/2014/main" id="{FCFD628E-71F9-C63F-1757-74A08CED0E91}"/>
              </a:ext>
            </a:extLst>
          </p:cNvPr>
          <p:cNvSpPr/>
          <p:nvPr/>
        </p:nvSpPr>
        <p:spPr>
          <a:xfrm>
            <a:off x="1003300" y="2451100"/>
            <a:ext cx="10388600" cy="12700"/>
          </a:xfrm>
          <a:prstGeom prst="rect">
            <a:avLst/>
          </a:prstGeom>
          <a:solidFill>
            <a:srgbClr val="D8CCC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12" name="Rectangle 11">
            <a:extLst>
              <a:ext uri="{FF2B5EF4-FFF2-40B4-BE49-F238E27FC236}">
                <a16:creationId xmlns:a16="http://schemas.microsoft.com/office/drawing/2014/main" id="{51F1BE83-8DD2-FD7D-F7D3-5930CAD166D0}"/>
              </a:ext>
            </a:extLst>
          </p:cNvPr>
          <p:cNvSpPr>
            <a:spLocks/>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01" name="ColLimits"/>
          <p:cNvSpPr txBox="1"/>
          <p:nvPr/>
        </p:nvSpPr>
        <p:spPr>
          <a:xfrm>
            <a:off x="905256" y="2670048"/>
            <a:ext cx="4846320"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050" b="1" spc="200" dirty="0">
                <a:solidFill>
                  <a:srgbClr val="16294A"/>
                </a:solidFill>
                <a:latin typeface="Montserrat"/>
                <a:cs typeface="Montserrat"/>
              </a:rPr>
              <a:t>LIMITE ACTUELLE</a:t>
            </a:r>
          </a:p>
        </p:txBody>
      </p:sp>
      <p:sp>
        <p:nvSpPr>
          <p:cNvPr id="2002" name="ColPersp"/>
          <p:cNvSpPr txBox="1"/>
          <p:nvPr/>
        </p:nvSpPr>
        <p:spPr>
          <a:xfrm>
            <a:off x="6537960" y="2670048"/>
            <a:ext cx="4773168"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050" b="1" spc="200" dirty="0">
                <a:solidFill>
                  <a:srgbClr val="F96A09"/>
                </a:solidFill>
                <a:latin typeface="Montserrat"/>
                <a:cs typeface="Montserrat"/>
              </a:rPr>
              <a:t>PERSPECTIVE</a:t>
            </a:r>
          </a:p>
        </p:txBody>
      </p:sp>
      <p:sp>
        <p:nvSpPr>
          <p:cNvPr id="2003" name="LimCard0"/>
          <p:cNvSpPr/>
          <p:nvPr/>
        </p:nvSpPr>
        <p:spPr>
          <a:xfrm>
            <a:off x="905256" y="3044952"/>
            <a:ext cx="4846320" cy="731520"/>
          </a:xfrm>
          <a:prstGeom prst="roundRect">
            <a:avLst>
              <a:gd name="adj" fmla="val 14000"/>
            </a:avLst>
          </a:prstGeom>
          <a:solidFill>
            <a:srgbClr val="EDF0F5"/>
          </a:solidFill>
          <a:ln>
            <a:noFill/>
          </a:ln>
          <a:effectLst>
            <a:outerShdw blurRad="101600" dist="25400" dir="5400000" algn="t" rotWithShape="0">
              <a:srgbClr val="16294A">
                <a:alpha val="16000"/>
              </a:srgbClr>
            </a:outerShdw>
          </a:effectLst>
        </p:spPr>
        <p:txBody>
          <a:bodyPr/>
          <a:lstStyle/>
          <a:p>
            <a:endParaRPr lang="fr-FR"/>
          </a:p>
        </p:txBody>
      </p:sp>
      <p:sp>
        <p:nvSpPr>
          <p:cNvPr id="2004" name="LimNum0"/>
          <p:cNvSpPr/>
          <p:nvPr/>
        </p:nvSpPr>
        <p:spPr>
          <a:xfrm>
            <a:off x="1069848" y="3209544"/>
            <a:ext cx="402336" cy="402336"/>
          </a:xfrm>
          <a:prstGeom prst="ellipse">
            <a:avLst/>
          </a:prstGeom>
          <a:solidFill>
            <a:srgbClr val="16294A"/>
          </a:solidFill>
          <a:ln>
            <a:noFill/>
          </a:ln>
        </p:spPr>
        <p:txBody>
          <a:bodyPr wrap="square" lIns="0" tIns="0" rIns="0" bIns="0" rtlCol="0" anchor="ctr">
            <a:noAutofit/>
          </a:bodyPr>
          <a:lstStyle/>
          <a:p>
            <a:pPr algn="ctr">
              <a:spcBef>
                <a:spcPts val="0"/>
              </a:spcBef>
              <a:spcAft>
                <a:spcPts val="0"/>
              </a:spcAft>
              <a:buNone/>
            </a:pPr>
            <a:r>
              <a:rPr lang="fr-FR" sz="1200" b="1" dirty="0">
                <a:solidFill>
                  <a:srgbClr val="FFFFFF"/>
                </a:solidFill>
                <a:latin typeface="Montserrat"/>
                <a:cs typeface="Montserrat"/>
              </a:rPr>
              <a:t>1</a:t>
            </a:r>
          </a:p>
        </p:txBody>
      </p:sp>
      <p:sp>
        <p:nvSpPr>
          <p:cNvPr id="2005" name="LimTitle0"/>
          <p:cNvSpPr txBox="1"/>
          <p:nvPr/>
        </p:nvSpPr>
        <p:spPr>
          <a:xfrm>
            <a:off x="1645920" y="3154680"/>
            <a:ext cx="3931920"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300" b="1" dirty="0">
                <a:solidFill>
                  <a:srgbClr val="1F1B18"/>
                </a:solidFill>
                <a:latin typeface="Montserrat"/>
                <a:cs typeface="Montserrat"/>
              </a:rPr>
              <a:t>Environnement de test</a:t>
            </a:r>
          </a:p>
        </p:txBody>
      </p:sp>
      <p:sp>
        <p:nvSpPr>
          <p:cNvPr id="2006" name="LimDesc0"/>
          <p:cNvSpPr txBox="1"/>
          <p:nvPr/>
        </p:nvSpPr>
        <p:spPr>
          <a:xfrm>
            <a:off x="1645920" y="3447288"/>
            <a:ext cx="3931920" cy="237744"/>
          </a:xfrm>
          <a:prstGeom prst="rect">
            <a:avLst/>
          </a:prstGeom>
          <a:noFill/>
          <a:ln>
            <a:noFill/>
          </a:ln>
        </p:spPr>
        <p:txBody>
          <a:bodyPr wrap="square" lIns="0" tIns="0" rIns="0" bIns="0" rtlCol="0" anchor="t">
            <a:noAutofit/>
          </a:bodyPr>
          <a:lstStyle/>
          <a:p>
            <a:pPr algn="l">
              <a:spcBef>
                <a:spcPts val="0"/>
              </a:spcBef>
              <a:spcAft>
                <a:spcPts val="0"/>
              </a:spcAft>
              <a:buNone/>
            </a:pPr>
            <a:r>
              <a:rPr lang="fr-FR" sz="1100" dirty="0">
                <a:solidFill>
                  <a:srgbClr val="6B6560"/>
                </a:solidFill>
                <a:latin typeface="Montserrat"/>
                <a:cs typeface="Montserrat"/>
              </a:rPr>
              <a:t>Évaluation menée en staging</a:t>
            </a:r>
          </a:p>
        </p:txBody>
      </p:sp>
      <p:sp>
        <p:nvSpPr>
          <p:cNvPr id="2007" name="Arrow0"/>
          <p:cNvSpPr/>
          <p:nvPr/>
        </p:nvSpPr>
        <p:spPr>
          <a:xfrm>
            <a:off x="5916168" y="3255264"/>
            <a:ext cx="457200" cy="310896"/>
          </a:xfrm>
          <a:prstGeom prst="rightArrow">
            <a:avLst/>
          </a:prstGeom>
          <a:solidFill>
            <a:srgbClr val="F96A09"/>
          </a:solidFill>
          <a:ln>
            <a:noFill/>
          </a:ln>
        </p:spPr>
        <p:txBody>
          <a:bodyPr/>
          <a:lstStyle/>
          <a:p>
            <a:endParaRPr lang="fr-FR"/>
          </a:p>
        </p:txBody>
      </p:sp>
      <p:sp>
        <p:nvSpPr>
          <p:cNvPr id="2008" name="PerspCard0"/>
          <p:cNvSpPr/>
          <p:nvPr/>
        </p:nvSpPr>
        <p:spPr>
          <a:xfrm>
            <a:off x="6537960" y="3044952"/>
            <a:ext cx="4773168" cy="731520"/>
          </a:xfrm>
          <a:prstGeom prst="roundRect">
            <a:avLst>
              <a:gd name="adj" fmla="val 14000"/>
            </a:avLst>
          </a:prstGeom>
          <a:solidFill>
            <a:srgbClr val="16294A"/>
          </a:solidFill>
          <a:ln>
            <a:noFill/>
          </a:ln>
          <a:effectLst>
            <a:outerShdw blurRad="101600" dist="25400" dir="5400000" algn="t" rotWithShape="0">
              <a:srgbClr val="16294A">
                <a:alpha val="16000"/>
              </a:srgbClr>
            </a:outerShdw>
          </a:effectLst>
        </p:spPr>
        <p:txBody>
          <a:bodyPr/>
          <a:lstStyle/>
          <a:p>
            <a:endParaRPr lang="fr-FR"/>
          </a:p>
        </p:txBody>
      </p:sp>
      <p:sp>
        <p:nvSpPr>
          <p:cNvPr id="2009" name="PerspNum0"/>
          <p:cNvSpPr/>
          <p:nvPr/>
        </p:nvSpPr>
        <p:spPr>
          <a:xfrm>
            <a:off x="6702552" y="3209544"/>
            <a:ext cx="402336" cy="402336"/>
          </a:xfrm>
          <a:prstGeom prst="ellipse">
            <a:avLst/>
          </a:prstGeom>
          <a:solidFill>
            <a:srgbClr val="F96A09"/>
          </a:solidFill>
          <a:ln>
            <a:noFill/>
          </a:ln>
        </p:spPr>
        <p:txBody>
          <a:bodyPr wrap="square" lIns="0" tIns="0" rIns="0" bIns="0" rtlCol="0" anchor="ctr">
            <a:noAutofit/>
          </a:bodyPr>
          <a:lstStyle/>
          <a:p>
            <a:pPr algn="ctr">
              <a:spcBef>
                <a:spcPts val="0"/>
              </a:spcBef>
              <a:spcAft>
                <a:spcPts val="0"/>
              </a:spcAft>
              <a:buNone/>
            </a:pPr>
            <a:r>
              <a:rPr lang="fr-FR" sz="1200" b="1" dirty="0">
                <a:solidFill>
                  <a:srgbClr val="FFFFFF"/>
                </a:solidFill>
                <a:latin typeface="Montserrat"/>
                <a:cs typeface="Montserrat"/>
              </a:rPr>
              <a:t>1</a:t>
            </a:r>
          </a:p>
        </p:txBody>
      </p:sp>
      <p:sp>
        <p:nvSpPr>
          <p:cNvPr id="2010" name="PerspTitle0"/>
          <p:cNvSpPr txBox="1"/>
          <p:nvPr/>
        </p:nvSpPr>
        <p:spPr>
          <a:xfrm>
            <a:off x="7278624" y="3154680"/>
            <a:ext cx="3840480"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300" b="1" dirty="0">
                <a:solidFill>
                  <a:srgbClr val="FFFFFF"/>
                </a:solidFill>
                <a:latin typeface="Montserrat"/>
                <a:cs typeface="Montserrat"/>
              </a:rPr>
              <a:t>Connexion à NGONI</a:t>
            </a:r>
          </a:p>
        </p:txBody>
      </p:sp>
      <p:sp>
        <p:nvSpPr>
          <p:cNvPr id="2011" name="PerspDesc0"/>
          <p:cNvSpPr txBox="1"/>
          <p:nvPr/>
        </p:nvSpPr>
        <p:spPr>
          <a:xfrm>
            <a:off x="7278624" y="3447288"/>
            <a:ext cx="3840480" cy="237744"/>
          </a:xfrm>
          <a:prstGeom prst="rect">
            <a:avLst/>
          </a:prstGeom>
          <a:noFill/>
          <a:ln>
            <a:noFill/>
          </a:ln>
        </p:spPr>
        <p:txBody>
          <a:bodyPr wrap="square" lIns="0" tIns="0" rIns="0" bIns="0" rtlCol="0" anchor="t">
            <a:noAutofit/>
          </a:bodyPr>
          <a:lstStyle/>
          <a:p>
            <a:pPr algn="l">
              <a:spcBef>
                <a:spcPts val="0"/>
              </a:spcBef>
              <a:spcAft>
                <a:spcPts val="0"/>
              </a:spcAft>
              <a:buNone/>
            </a:pPr>
            <a:r>
              <a:rPr lang="fr-FR" sz="1100" dirty="0">
                <a:solidFill>
                  <a:srgbClr val="C9D2E0"/>
                </a:solidFill>
                <a:latin typeface="Montserrat"/>
                <a:cs typeface="Montserrat"/>
              </a:rPr>
              <a:t>Intégration dans la plateforme</a:t>
            </a:r>
          </a:p>
        </p:txBody>
      </p:sp>
      <p:sp>
        <p:nvSpPr>
          <p:cNvPr id="2012" name="LimCard1"/>
          <p:cNvSpPr/>
          <p:nvPr/>
        </p:nvSpPr>
        <p:spPr>
          <a:xfrm>
            <a:off x="905256" y="3895344"/>
            <a:ext cx="4846320" cy="731520"/>
          </a:xfrm>
          <a:prstGeom prst="roundRect">
            <a:avLst>
              <a:gd name="adj" fmla="val 14000"/>
            </a:avLst>
          </a:prstGeom>
          <a:solidFill>
            <a:srgbClr val="EDF0F5"/>
          </a:solidFill>
          <a:ln>
            <a:noFill/>
          </a:ln>
          <a:effectLst>
            <a:outerShdw blurRad="101600" dist="25400" dir="5400000" algn="t" rotWithShape="0">
              <a:srgbClr val="16294A">
                <a:alpha val="16000"/>
              </a:srgbClr>
            </a:outerShdw>
          </a:effectLst>
        </p:spPr>
        <p:txBody>
          <a:bodyPr/>
          <a:lstStyle/>
          <a:p>
            <a:endParaRPr lang="fr-FR"/>
          </a:p>
        </p:txBody>
      </p:sp>
      <p:sp>
        <p:nvSpPr>
          <p:cNvPr id="2013" name="LimNum1"/>
          <p:cNvSpPr/>
          <p:nvPr/>
        </p:nvSpPr>
        <p:spPr>
          <a:xfrm>
            <a:off x="1069848" y="4059936"/>
            <a:ext cx="402336" cy="402336"/>
          </a:xfrm>
          <a:prstGeom prst="ellipse">
            <a:avLst/>
          </a:prstGeom>
          <a:solidFill>
            <a:srgbClr val="16294A"/>
          </a:solidFill>
          <a:ln>
            <a:noFill/>
          </a:ln>
        </p:spPr>
        <p:txBody>
          <a:bodyPr wrap="square" lIns="0" tIns="0" rIns="0" bIns="0" rtlCol="0" anchor="ctr">
            <a:noAutofit/>
          </a:bodyPr>
          <a:lstStyle/>
          <a:p>
            <a:pPr algn="ctr">
              <a:spcBef>
                <a:spcPts val="0"/>
              </a:spcBef>
              <a:spcAft>
                <a:spcPts val="0"/>
              </a:spcAft>
              <a:buNone/>
            </a:pPr>
            <a:r>
              <a:rPr lang="fr-FR" sz="1200" b="1" dirty="0">
                <a:solidFill>
                  <a:srgbClr val="FFFFFF"/>
                </a:solidFill>
                <a:latin typeface="Montserrat"/>
                <a:cs typeface="Montserrat"/>
              </a:rPr>
              <a:t>2</a:t>
            </a:r>
          </a:p>
        </p:txBody>
      </p:sp>
      <p:sp>
        <p:nvSpPr>
          <p:cNvPr id="2014" name="LimTitle1"/>
          <p:cNvSpPr txBox="1"/>
          <p:nvPr/>
        </p:nvSpPr>
        <p:spPr>
          <a:xfrm>
            <a:off x="1645920" y="4005072"/>
            <a:ext cx="3931920"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300" b="1" dirty="0">
                <a:solidFill>
                  <a:srgbClr val="1F1B18"/>
                </a:solidFill>
                <a:latin typeface="Montserrat"/>
                <a:cs typeface="Montserrat"/>
              </a:rPr>
              <a:t>Requêtes ambiguës</a:t>
            </a:r>
          </a:p>
        </p:txBody>
      </p:sp>
      <p:sp>
        <p:nvSpPr>
          <p:cNvPr id="2015" name="LimDesc1"/>
          <p:cNvSpPr txBox="1"/>
          <p:nvPr/>
        </p:nvSpPr>
        <p:spPr>
          <a:xfrm>
            <a:off x="1645920" y="4297680"/>
            <a:ext cx="3931920" cy="237744"/>
          </a:xfrm>
          <a:prstGeom prst="rect">
            <a:avLst/>
          </a:prstGeom>
          <a:noFill/>
          <a:ln>
            <a:noFill/>
          </a:ln>
        </p:spPr>
        <p:txBody>
          <a:bodyPr wrap="square" lIns="0" tIns="0" rIns="0" bIns="0" rtlCol="0" anchor="t">
            <a:noAutofit/>
          </a:bodyPr>
          <a:lstStyle/>
          <a:p>
            <a:pPr algn="l">
              <a:spcBef>
                <a:spcPts val="0"/>
              </a:spcBef>
              <a:spcAft>
                <a:spcPts val="0"/>
              </a:spcAft>
              <a:buNone/>
            </a:pPr>
            <a:r>
              <a:rPr lang="fr-FR" sz="1100" dirty="0">
                <a:solidFill>
                  <a:srgbClr val="6B6560"/>
                </a:solidFill>
                <a:latin typeface="Montserrat"/>
                <a:cs typeface="Montserrat"/>
              </a:rPr>
              <a:t>Performance dégradée</a:t>
            </a:r>
          </a:p>
        </p:txBody>
      </p:sp>
      <p:sp>
        <p:nvSpPr>
          <p:cNvPr id="2016" name="Arrow1"/>
          <p:cNvSpPr/>
          <p:nvPr/>
        </p:nvSpPr>
        <p:spPr>
          <a:xfrm>
            <a:off x="5916168" y="4105656"/>
            <a:ext cx="457200" cy="310896"/>
          </a:xfrm>
          <a:prstGeom prst="rightArrow">
            <a:avLst/>
          </a:prstGeom>
          <a:solidFill>
            <a:srgbClr val="F96A09"/>
          </a:solidFill>
          <a:ln>
            <a:noFill/>
          </a:ln>
        </p:spPr>
        <p:txBody>
          <a:bodyPr/>
          <a:lstStyle/>
          <a:p>
            <a:endParaRPr lang="fr-FR"/>
          </a:p>
        </p:txBody>
      </p:sp>
      <p:sp>
        <p:nvSpPr>
          <p:cNvPr id="2017" name="PerspCard1"/>
          <p:cNvSpPr/>
          <p:nvPr/>
        </p:nvSpPr>
        <p:spPr>
          <a:xfrm>
            <a:off x="6537960" y="3895344"/>
            <a:ext cx="4773168" cy="731520"/>
          </a:xfrm>
          <a:prstGeom prst="roundRect">
            <a:avLst>
              <a:gd name="adj" fmla="val 14000"/>
            </a:avLst>
          </a:prstGeom>
          <a:solidFill>
            <a:srgbClr val="16294A"/>
          </a:solidFill>
          <a:ln>
            <a:noFill/>
          </a:ln>
          <a:effectLst>
            <a:outerShdw blurRad="101600" dist="25400" dir="5400000" algn="t" rotWithShape="0">
              <a:srgbClr val="16294A">
                <a:alpha val="16000"/>
              </a:srgbClr>
            </a:outerShdw>
          </a:effectLst>
        </p:spPr>
        <p:txBody>
          <a:bodyPr/>
          <a:lstStyle/>
          <a:p>
            <a:endParaRPr lang="fr-FR"/>
          </a:p>
        </p:txBody>
      </p:sp>
      <p:sp>
        <p:nvSpPr>
          <p:cNvPr id="2018" name="PerspNum1"/>
          <p:cNvSpPr/>
          <p:nvPr/>
        </p:nvSpPr>
        <p:spPr>
          <a:xfrm>
            <a:off x="6702552" y="4059936"/>
            <a:ext cx="402336" cy="402336"/>
          </a:xfrm>
          <a:prstGeom prst="ellipse">
            <a:avLst/>
          </a:prstGeom>
          <a:solidFill>
            <a:srgbClr val="F96A09"/>
          </a:solidFill>
          <a:ln>
            <a:noFill/>
          </a:ln>
        </p:spPr>
        <p:txBody>
          <a:bodyPr wrap="square" lIns="0" tIns="0" rIns="0" bIns="0" rtlCol="0" anchor="ctr">
            <a:noAutofit/>
          </a:bodyPr>
          <a:lstStyle/>
          <a:p>
            <a:pPr algn="ctr">
              <a:spcBef>
                <a:spcPts val="0"/>
              </a:spcBef>
              <a:spcAft>
                <a:spcPts val="0"/>
              </a:spcAft>
              <a:buNone/>
            </a:pPr>
            <a:r>
              <a:rPr lang="fr-FR" sz="1200" b="1" dirty="0">
                <a:solidFill>
                  <a:srgbClr val="FFFFFF"/>
                </a:solidFill>
                <a:latin typeface="Montserrat"/>
                <a:cs typeface="Montserrat"/>
              </a:rPr>
              <a:t>2</a:t>
            </a:r>
          </a:p>
        </p:txBody>
      </p:sp>
      <p:sp>
        <p:nvSpPr>
          <p:cNvPr id="2019" name="PerspTitle1"/>
          <p:cNvSpPr txBox="1"/>
          <p:nvPr/>
        </p:nvSpPr>
        <p:spPr>
          <a:xfrm>
            <a:off x="7278624" y="4005072"/>
            <a:ext cx="3840480"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300" b="1" dirty="0">
                <a:solidFill>
                  <a:srgbClr val="FFFFFF"/>
                </a:solidFill>
                <a:latin typeface="Montserrat"/>
                <a:cs typeface="Montserrat"/>
              </a:rPr>
              <a:t>LLM + MCP</a:t>
            </a:r>
          </a:p>
        </p:txBody>
      </p:sp>
      <p:sp>
        <p:nvSpPr>
          <p:cNvPr id="2020" name="PerspDesc1"/>
          <p:cNvSpPr txBox="1"/>
          <p:nvPr/>
        </p:nvSpPr>
        <p:spPr>
          <a:xfrm>
            <a:off x="7278624" y="4297680"/>
            <a:ext cx="3840480" cy="237744"/>
          </a:xfrm>
          <a:prstGeom prst="rect">
            <a:avLst/>
          </a:prstGeom>
          <a:noFill/>
          <a:ln>
            <a:noFill/>
          </a:ln>
        </p:spPr>
        <p:txBody>
          <a:bodyPr wrap="square" lIns="0" tIns="0" rIns="0" bIns="0" rtlCol="0" anchor="t">
            <a:noAutofit/>
          </a:bodyPr>
          <a:lstStyle/>
          <a:p>
            <a:pPr algn="l">
              <a:spcBef>
                <a:spcPts val="0"/>
              </a:spcBef>
              <a:spcAft>
                <a:spcPts val="0"/>
              </a:spcAft>
              <a:buNone/>
            </a:pPr>
            <a:r>
              <a:rPr lang="fr-FR" sz="1100" dirty="0">
                <a:solidFill>
                  <a:srgbClr val="C9D2E0"/>
                </a:solidFill>
                <a:latin typeface="Montserrat"/>
                <a:cs typeface="Montserrat"/>
              </a:rPr>
              <a:t>Requêtes complexes mieux comprises</a:t>
            </a:r>
          </a:p>
        </p:txBody>
      </p:sp>
      <p:sp>
        <p:nvSpPr>
          <p:cNvPr id="2021" name="LimCard2"/>
          <p:cNvSpPr/>
          <p:nvPr/>
        </p:nvSpPr>
        <p:spPr>
          <a:xfrm>
            <a:off x="905256" y="4745736"/>
            <a:ext cx="4846320" cy="731520"/>
          </a:xfrm>
          <a:prstGeom prst="roundRect">
            <a:avLst>
              <a:gd name="adj" fmla="val 14000"/>
            </a:avLst>
          </a:prstGeom>
          <a:solidFill>
            <a:srgbClr val="EDF0F5"/>
          </a:solidFill>
          <a:ln>
            <a:noFill/>
          </a:ln>
          <a:effectLst>
            <a:outerShdw blurRad="101600" dist="25400" dir="5400000" algn="t" rotWithShape="0">
              <a:srgbClr val="16294A">
                <a:alpha val="16000"/>
              </a:srgbClr>
            </a:outerShdw>
          </a:effectLst>
        </p:spPr>
        <p:txBody>
          <a:bodyPr/>
          <a:lstStyle/>
          <a:p>
            <a:endParaRPr lang="fr-FR"/>
          </a:p>
        </p:txBody>
      </p:sp>
      <p:sp>
        <p:nvSpPr>
          <p:cNvPr id="2022" name="LimNum2"/>
          <p:cNvSpPr/>
          <p:nvPr/>
        </p:nvSpPr>
        <p:spPr>
          <a:xfrm>
            <a:off x="1069848" y="4910328"/>
            <a:ext cx="402336" cy="402336"/>
          </a:xfrm>
          <a:prstGeom prst="ellipse">
            <a:avLst/>
          </a:prstGeom>
          <a:solidFill>
            <a:srgbClr val="16294A"/>
          </a:solidFill>
          <a:ln>
            <a:noFill/>
          </a:ln>
        </p:spPr>
        <p:txBody>
          <a:bodyPr wrap="square" lIns="0" tIns="0" rIns="0" bIns="0" rtlCol="0" anchor="ctr">
            <a:noAutofit/>
          </a:bodyPr>
          <a:lstStyle/>
          <a:p>
            <a:pPr algn="ctr">
              <a:spcBef>
                <a:spcPts val="0"/>
              </a:spcBef>
              <a:spcAft>
                <a:spcPts val="0"/>
              </a:spcAft>
              <a:buNone/>
            </a:pPr>
            <a:r>
              <a:rPr lang="fr-FR" sz="1200" b="1" dirty="0">
                <a:solidFill>
                  <a:srgbClr val="FFFFFF"/>
                </a:solidFill>
                <a:latin typeface="Montserrat"/>
                <a:cs typeface="Montserrat"/>
              </a:rPr>
              <a:t>3</a:t>
            </a:r>
          </a:p>
        </p:txBody>
      </p:sp>
      <p:sp>
        <p:nvSpPr>
          <p:cNvPr id="2023" name="LimTitle2"/>
          <p:cNvSpPr txBox="1"/>
          <p:nvPr/>
        </p:nvSpPr>
        <p:spPr>
          <a:xfrm>
            <a:off x="1645920" y="4855464"/>
            <a:ext cx="3931920"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300" b="1" dirty="0">
                <a:solidFill>
                  <a:srgbClr val="1F1B18"/>
                </a:solidFill>
                <a:latin typeface="Montserrat"/>
                <a:cs typeface="Montserrat"/>
              </a:rPr>
              <a:t>Requêtes inédites</a:t>
            </a:r>
          </a:p>
        </p:txBody>
      </p:sp>
      <p:sp>
        <p:nvSpPr>
          <p:cNvPr id="2024" name="LimDesc2"/>
          <p:cNvSpPr txBox="1"/>
          <p:nvPr/>
        </p:nvSpPr>
        <p:spPr>
          <a:xfrm>
            <a:off x="1645920" y="5148072"/>
            <a:ext cx="3931920" cy="237744"/>
          </a:xfrm>
          <a:prstGeom prst="rect">
            <a:avLst/>
          </a:prstGeom>
          <a:noFill/>
          <a:ln>
            <a:noFill/>
          </a:ln>
        </p:spPr>
        <p:txBody>
          <a:bodyPr wrap="square" lIns="0" tIns="0" rIns="0" bIns="0" rtlCol="0" anchor="t">
            <a:noAutofit/>
          </a:bodyPr>
          <a:lstStyle/>
          <a:p>
            <a:pPr algn="l">
              <a:spcBef>
                <a:spcPts val="0"/>
              </a:spcBef>
              <a:spcAft>
                <a:spcPts val="0"/>
              </a:spcAft>
              <a:buNone/>
            </a:pPr>
            <a:r>
              <a:rPr lang="fr-FR" sz="1100" dirty="0">
                <a:solidFill>
                  <a:srgbClr val="6B6560"/>
                </a:solidFill>
                <a:latin typeface="Montserrat"/>
                <a:cs typeface="Montserrat"/>
              </a:rPr>
              <a:t>Généralisation limitée</a:t>
            </a:r>
          </a:p>
        </p:txBody>
      </p:sp>
      <p:sp>
        <p:nvSpPr>
          <p:cNvPr id="2025" name="Arrow2"/>
          <p:cNvSpPr/>
          <p:nvPr/>
        </p:nvSpPr>
        <p:spPr>
          <a:xfrm>
            <a:off x="5916168" y="4956048"/>
            <a:ext cx="457200" cy="310896"/>
          </a:xfrm>
          <a:prstGeom prst="rightArrow">
            <a:avLst/>
          </a:prstGeom>
          <a:solidFill>
            <a:srgbClr val="F96A09"/>
          </a:solidFill>
          <a:ln>
            <a:noFill/>
          </a:ln>
        </p:spPr>
        <p:txBody>
          <a:bodyPr/>
          <a:lstStyle/>
          <a:p>
            <a:endParaRPr lang="fr-FR"/>
          </a:p>
        </p:txBody>
      </p:sp>
      <p:sp>
        <p:nvSpPr>
          <p:cNvPr id="2026" name="PerspCard2"/>
          <p:cNvSpPr/>
          <p:nvPr/>
        </p:nvSpPr>
        <p:spPr>
          <a:xfrm>
            <a:off x="6537960" y="4745736"/>
            <a:ext cx="4773168" cy="731520"/>
          </a:xfrm>
          <a:prstGeom prst="roundRect">
            <a:avLst>
              <a:gd name="adj" fmla="val 14000"/>
            </a:avLst>
          </a:prstGeom>
          <a:solidFill>
            <a:srgbClr val="16294A"/>
          </a:solidFill>
          <a:ln>
            <a:noFill/>
          </a:ln>
          <a:effectLst>
            <a:outerShdw blurRad="101600" dist="25400" dir="5400000" algn="t" rotWithShape="0">
              <a:srgbClr val="16294A">
                <a:alpha val="16000"/>
              </a:srgbClr>
            </a:outerShdw>
          </a:effectLst>
        </p:spPr>
        <p:txBody>
          <a:bodyPr/>
          <a:lstStyle/>
          <a:p>
            <a:endParaRPr lang="fr-FR"/>
          </a:p>
        </p:txBody>
      </p:sp>
      <p:sp>
        <p:nvSpPr>
          <p:cNvPr id="2027" name="PerspNum2"/>
          <p:cNvSpPr/>
          <p:nvPr/>
        </p:nvSpPr>
        <p:spPr>
          <a:xfrm>
            <a:off x="6702552" y="4910328"/>
            <a:ext cx="402336" cy="402336"/>
          </a:xfrm>
          <a:prstGeom prst="ellipse">
            <a:avLst/>
          </a:prstGeom>
          <a:solidFill>
            <a:srgbClr val="F96A09"/>
          </a:solidFill>
          <a:ln>
            <a:noFill/>
          </a:ln>
        </p:spPr>
        <p:txBody>
          <a:bodyPr wrap="square" lIns="0" tIns="0" rIns="0" bIns="0" rtlCol="0" anchor="ctr">
            <a:noAutofit/>
          </a:bodyPr>
          <a:lstStyle/>
          <a:p>
            <a:pPr algn="ctr">
              <a:spcBef>
                <a:spcPts val="0"/>
              </a:spcBef>
              <a:spcAft>
                <a:spcPts val="0"/>
              </a:spcAft>
              <a:buNone/>
            </a:pPr>
            <a:r>
              <a:rPr lang="fr-FR" sz="1200" b="1" dirty="0">
                <a:solidFill>
                  <a:srgbClr val="FFFFFF"/>
                </a:solidFill>
                <a:latin typeface="Montserrat"/>
                <a:cs typeface="Montserrat"/>
              </a:rPr>
              <a:t>3</a:t>
            </a:r>
          </a:p>
        </p:txBody>
      </p:sp>
      <p:sp>
        <p:nvSpPr>
          <p:cNvPr id="2028" name="PerspTitle2"/>
          <p:cNvSpPr txBox="1"/>
          <p:nvPr/>
        </p:nvSpPr>
        <p:spPr>
          <a:xfrm>
            <a:off x="7278624" y="4855464"/>
            <a:ext cx="3840480"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300" b="1" dirty="0">
                <a:solidFill>
                  <a:srgbClr val="FFFFFF"/>
                </a:solidFill>
                <a:latin typeface="Montserrat"/>
                <a:cs typeface="Montserrat"/>
              </a:rPr>
              <a:t>Corpus enrichi</a:t>
            </a:r>
          </a:p>
        </p:txBody>
      </p:sp>
      <p:sp>
        <p:nvSpPr>
          <p:cNvPr id="2029" name="PerspDesc2"/>
          <p:cNvSpPr txBox="1"/>
          <p:nvPr/>
        </p:nvSpPr>
        <p:spPr>
          <a:xfrm>
            <a:off x="7278624" y="5148072"/>
            <a:ext cx="3840480" cy="237744"/>
          </a:xfrm>
          <a:prstGeom prst="rect">
            <a:avLst/>
          </a:prstGeom>
          <a:noFill/>
          <a:ln>
            <a:noFill/>
          </a:ln>
        </p:spPr>
        <p:txBody>
          <a:bodyPr wrap="square" lIns="0" tIns="0" rIns="0" bIns="0" rtlCol="0" anchor="t">
            <a:noAutofit/>
          </a:bodyPr>
          <a:lstStyle/>
          <a:p>
            <a:pPr algn="l">
              <a:spcBef>
                <a:spcPts val="0"/>
              </a:spcBef>
              <a:spcAft>
                <a:spcPts val="0"/>
              </a:spcAft>
              <a:buNone/>
            </a:pPr>
            <a:r>
              <a:rPr lang="fr-FR" sz="1100" dirty="0">
                <a:solidFill>
                  <a:srgbClr val="C9D2E0"/>
                </a:solidFill>
                <a:latin typeface="Montserrat"/>
                <a:cs typeface="Montserrat"/>
              </a:rPr>
              <a:t>Plus de formulations et de cas d’usage</a:t>
            </a:r>
          </a:p>
        </p:txBody>
      </p:sp>
      <p:sp>
        <p:nvSpPr>
          <p:cNvPr id="2030" name="LimCard3"/>
          <p:cNvSpPr/>
          <p:nvPr/>
        </p:nvSpPr>
        <p:spPr>
          <a:xfrm>
            <a:off x="905256" y="5596128"/>
            <a:ext cx="4846320" cy="731520"/>
          </a:xfrm>
          <a:prstGeom prst="roundRect">
            <a:avLst>
              <a:gd name="adj" fmla="val 14000"/>
            </a:avLst>
          </a:prstGeom>
          <a:solidFill>
            <a:srgbClr val="EDF0F5"/>
          </a:solidFill>
          <a:ln>
            <a:noFill/>
          </a:ln>
          <a:effectLst>
            <a:outerShdw blurRad="101600" dist="25400" dir="5400000" algn="t" rotWithShape="0">
              <a:srgbClr val="16294A">
                <a:alpha val="16000"/>
              </a:srgbClr>
            </a:outerShdw>
          </a:effectLst>
        </p:spPr>
        <p:txBody>
          <a:bodyPr/>
          <a:lstStyle/>
          <a:p>
            <a:endParaRPr lang="fr-FR"/>
          </a:p>
        </p:txBody>
      </p:sp>
      <p:sp>
        <p:nvSpPr>
          <p:cNvPr id="2031" name="LimNum3"/>
          <p:cNvSpPr/>
          <p:nvPr/>
        </p:nvSpPr>
        <p:spPr>
          <a:xfrm>
            <a:off x="1069848" y="5760720"/>
            <a:ext cx="402336" cy="402336"/>
          </a:xfrm>
          <a:prstGeom prst="ellipse">
            <a:avLst/>
          </a:prstGeom>
          <a:solidFill>
            <a:srgbClr val="16294A"/>
          </a:solidFill>
          <a:ln>
            <a:noFill/>
          </a:ln>
        </p:spPr>
        <p:txBody>
          <a:bodyPr wrap="square" lIns="0" tIns="0" rIns="0" bIns="0" rtlCol="0" anchor="ctr">
            <a:noAutofit/>
          </a:bodyPr>
          <a:lstStyle/>
          <a:p>
            <a:pPr algn="ctr">
              <a:spcBef>
                <a:spcPts val="0"/>
              </a:spcBef>
              <a:spcAft>
                <a:spcPts val="0"/>
              </a:spcAft>
              <a:buNone/>
            </a:pPr>
            <a:r>
              <a:rPr lang="fr-FR" sz="1200" b="1" dirty="0">
                <a:solidFill>
                  <a:srgbClr val="FFFFFF"/>
                </a:solidFill>
                <a:latin typeface="Montserrat"/>
                <a:cs typeface="Montserrat"/>
              </a:rPr>
              <a:t>4</a:t>
            </a:r>
          </a:p>
        </p:txBody>
      </p:sp>
      <p:sp>
        <p:nvSpPr>
          <p:cNvPr id="2032" name="LimTitle3"/>
          <p:cNvSpPr txBox="1"/>
          <p:nvPr/>
        </p:nvSpPr>
        <p:spPr>
          <a:xfrm>
            <a:off x="1645920" y="5705856"/>
            <a:ext cx="3931920"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300" b="1" dirty="0">
                <a:solidFill>
                  <a:srgbClr val="1F1B18"/>
                </a:solidFill>
                <a:latin typeface="Montserrat"/>
                <a:cs typeface="Montserrat"/>
              </a:rPr>
              <a:t>Langues peu couvertes</a:t>
            </a:r>
          </a:p>
        </p:txBody>
      </p:sp>
      <p:sp>
        <p:nvSpPr>
          <p:cNvPr id="2033" name="LimDesc3"/>
          <p:cNvSpPr txBox="1"/>
          <p:nvPr/>
        </p:nvSpPr>
        <p:spPr>
          <a:xfrm>
            <a:off x="1645920" y="5998464"/>
            <a:ext cx="3931920" cy="237744"/>
          </a:xfrm>
          <a:prstGeom prst="rect">
            <a:avLst/>
          </a:prstGeom>
          <a:noFill/>
          <a:ln>
            <a:noFill/>
          </a:ln>
        </p:spPr>
        <p:txBody>
          <a:bodyPr wrap="square" lIns="0" tIns="0" rIns="0" bIns="0" rtlCol="0" anchor="t">
            <a:noAutofit/>
          </a:bodyPr>
          <a:lstStyle/>
          <a:p>
            <a:pPr algn="l">
              <a:spcBef>
                <a:spcPts val="0"/>
              </a:spcBef>
              <a:spcAft>
                <a:spcPts val="0"/>
              </a:spcAft>
              <a:buNone/>
            </a:pPr>
            <a:r>
              <a:rPr lang="fr-FR" sz="1100" dirty="0">
                <a:solidFill>
                  <a:srgbClr val="6B6560"/>
                </a:solidFill>
                <a:latin typeface="Montserrat"/>
                <a:cs typeface="Montserrat"/>
              </a:rPr>
              <a:t>Accès restreint</a:t>
            </a:r>
          </a:p>
        </p:txBody>
      </p:sp>
      <p:sp>
        <p:nvSpPr>
          <p:cNvPr id="2034" name="Arrow3"/>
          <p:cNvSpPr/>
          <p:nvPr/>
        </p:nvSpPr>
        <p:spPr>
          <a:xfrm>
            <a:off x="5916168" y="5806440"/>
            <a:ext cx="457200" cy="310896"/>
          </a:xfrm>
          <a:prstGeom prst="rightArrow">
            <a:avLst/>
          </a:prstGeom>
          <a:solidFill>
            <a:srgbClr val="F96A09"/>
          </a:solidFill>
          <a:ln>
            <a:noFill/>
          </a:ln>
        </p:spPr>
        <p:txBody>
          <a:bodyPr/>
          <a:lstStyle/>
          <a:p>
            <a:endParaRPr lang="fr-FR"/>
          </a:p>
        </p:txBody>
      </p:sp>
      <p:sp>
        <p:nvSpPr>
          <p:cNvPr id="2035" name="PerspCard3"/>
          <p:cNvSpPr/>
          <p:nvPr/>
        </p:nvSpPr>
        <p:spPr>
          <a:xfrm>
            <a:off x="6537960" y="5596128"/>
            <a:ext cx="4773168" cy="731520"/>
          </a:xfrm>
          <a:prstGeom prst="roundRect">
            <a:avLst>
              <a:gd name="adj" fmla="val 14000"/>
            </a:avLst>
          </a:prstGeom>
          <a:solidFill>
            <a:srgbClr val="16294A"/>
          </a:solidFill>
          <a:ln>
            <a:noFill/>
          </a:ln>
          <a:effectLst>
            <a:outerShdw blurRad="101600" dist="25400" dir="5400000" algn="t" rotWithShape="0">
              <a:srgbClr val="16294A">
                <a:alpha val="16000"/>
              </a:srgbClr>
            </a:outerShdw>
          </a:effectLst>
        </p:spPr>
        <p:txBody>
          <a:bodyPr/>
          <a:lstStyle/>
          <a:p>
            <a:endParaRPr lang="fr-FR"/>
          </a:p>
        </p:txBody>
      </p:sp>
      <p:sp>
        <p:nvSpPr>
          <p:cNvPr id="2036" name="PerspNum3"/>
          <p:cNvSpPr/>
          <p:nvPr/>
        </p:nvSpPr>
        <p:spPr>
          <a:xfrm>
            <a:off x="6702552" y="5760720"/>
            <a:ext cx="402336" cy="402336"/>
          </a:xfrm>
          <a:prstGeom prst="ellipse">
            <a:avLst/>
          </a:prstGeom>
          <a:solidFill>
            <a:srgbClr val="F96A09"/>
          </a:solidFill>
          <a:ln>
            <a:noFill/>
          </a:ln>
        </p:spPr>
        <p:txBody>
          <a:bodyPr wrap="square" lIns="0" tIns="0" rIns="0" bIns="0" rtlCol="0" anchor="ctr">
            <a:noAutofit/>
          </a:bodyPr>
          <a:lstStyle/>
          <a:p>
            <a:pPr algn="ctr">
              <a:spcBef>
                <a:spcPts val="0"/>
              </a:spcBef>
              <a:spcAft>
                <a:spcPts val="0"/>
              </a:spcAft>
              <a:buNone/>
            </a:pPr>
            <a:r>
              <a:rPr lang="fr-FR" sz="1200" b="1" dirty="0">
                <a:solidFill>
                  <a:srgbClr val="FFFFFF"/>
                </a:solidFill>
                <a:latin typeface="Montserrat"/>
                <a:cs typeface="Montserrat"/>
              </a:rPr>
              <a:t>4</a:t>
            </a:r>
          </a:p>
        </p:txBody>
      </p:sp>
      <p:sp>
        <p:nvSpPr>
          <p:cNvPr id="2037" name="PerspTitle3"/>
          <p:cNvSpPr txBox="1"/>
          <p:nvPr/>
        </p:nvSpPr>
        <p:spPr>
          <a:xfrm>
            <a:off x="7278624" y="5705856"/>
            <a:ext cx="3840480"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300" b="1" dirty="0">
                <a:solidFill>
                  <a:srgbClr val="FFFFFF"/>
                </a:solidFill>
                <a:latin typeface="Montserrat"/>
                <a:cs typeface="Montserrat"/>
              </a:rPr>
              <a:t>Multilingue étendu</a:t>
            </a:r>
          </a:p>
        </p:txBody>
      </p:sp>
      <p:sp>
        <p:nvSpPr>
          <p:cNvPr id="2038" name="PerspDesc3"/>
          <p:cNvSpPr txBox="1"/>
          <p:nvPr/>
        </p:nvSpPr>
        <p:spPr>
          <a:xfrm>
            <a:off x="7278624" y="5998464"/>
            <a:ext cx="3840480" cy="237744"/>
          </a:xfrm>
          <a:prstGeom prst="rect">
            <a:avLst/>
          </a:prstGeom>
          <a:noFill/>
          <a:ln>
            <a:noFill/>
          </a:ln>
        </p:spPr>
        <p:txBody>
          <a:bodyPr wrap="square" lIns="0" tIns="0" rIns="0" bIns="0" rtlCol="0" anchor="t">
            <a:noAutofit/>
          </a:bodyPr>
          <a:lstStyle/>
          <a:p>
            <a:pPr algn="l">
              <a:spcBef>
                <a:spcPts val="0"/>
              </a:spcBef>
              <a:spcAft>
                <a:spcPts val="0"/>
              </a:spcAft>
              <a:buNone/>
            </a:pPr>
            <a:r>
              <a:rPr lang="fr-FR" sz="1100" dirty="0">
                <a:solidFill>
                  <a:srgbClr val="C9D2E0"/>
                </a:solidFill>
                <a:latin typeface="Montserrat"/>
                <a:cs typeface="Montserrat"/>
              </a:rPr>
              <a:t>Couverture utilisateur élargie</a:t>
            </a:r>
          </a:p>
        </p:txBody>
      </p:sp>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3896E03A-C7A1-46C5-95B8-08E87F53610F}" type="slidenum">
              <a:rPr lang="fr-FR" sz="1600" b="1" dirty="0">
                <a:solidFill>
                  <a:srgbClr val="FFFFFF"/>
                </a:solidFill>
                <a:latin typeface="Montserrat"/>
              </a:rPr>
              <a:t>20</a:t>
            </a:fld>
            <a:endParaRPr lang="fr-FR" sz="1600" b="1" dirty="0">
              <a:solidFill>
                <a:srgbClr val="FFFFFF"/>
              </a:solidFill>
              <a:latin typeface="Montserrat"/>
            </a:endParaRPr>
          </a:p>
        </p:txBody>
      </p:sp>
    </p:spTree>
    <p:extLst>
      <p:ext uri="{BB962C8B-B14F-4D97-AF65-F5344CB8AC3E}">
        <p14:creationId xmlns:p14="http://schemas.microsoft.com/office/powerpoint/2010/main" val="1245080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anim calcmode="lin" valueType="num">
                                      <p:cBhvr>
                                        <p:cTn id="8" dur="450" fill="hold"/>
                                        <p:tgtEl>
                                          <p:spTgt spid="5"/>
                                        </p:tgtEl>
                                        <p:attrNameLst>
                                          <p:attrName>ppt_x</p:attrName>
                                        </p:attrNameLst>
                                      </p:cBhvr>
                                      <p:tavLst>
                                        <p:tav tm="0">
                                          <p:val>
                                            <p:strVal val="#ppt_x"/>
                                          </p:val>
                                        </p:tav>
                                        <p:tav tm="100000">
                                          <p:val>
                                            <p:strVal val="#ppt_x"/>
                                          </p:val>
                                        </p:tav>
                                      </p:tavLst>
                                    </p:anim>
                                    <p:anim calcmode="lin" valueType="num">
                                      <p:cBhvr>
                                        <p:cTn id="9" dur="450" fill="hold"/>
                                        <p:tgtEl>
                                          <p:spTgt spid="5"/>
                                        </p:tgtEl>
                                        <p:attrNameLst>
                                          <p:attrName>ppt_y</p:attrName>
                                        </p:attrNameLst>
                                      </p:cBhvr>
                                      <p:tavLst>
                                        <p:tav tm="0">
                                          <p:val>
                                            <p:strVal val="#ppt_y+.03"/>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450"/>
                                        <p:tgtEl>
                                          <p:spTgt spid="11"/>
                                        </p:tgtEl>
                                      </p:cBhvr>
                                    </p:animEffect>
                                    <p:anim calcmode="lin" valueType="num">
                                      <p:cBhvr>
                                        <p:cTn id="13" dur="450" fill="hold"/>
                                        <p:tgtEl>
                                          <p:spTgt spid="11"/>
                                        </p:tgtEl>
                                        <p:attrNameLst>
                                          <p:attrName>ppt_x</p:attrName>
                                        </p:attrNameLst>
                                      </p:cBhvr>
                                      <p:tavLst>
                                        <p:tav tm="0">
                                          <p:val>
                                            <p:strVal val="#ppt_x"/>
                                          </p:val>
                                        </p:tav>
                                        <p:tav tm="100000">
                                          <p:val>
                                            <p:strVal val="#ppt_x"/>
                                          </p:val>
                                        </p:tav>
                                      </p:tavLst>
                                    </p:anim>
                                    <p:anim calcmode="lin" valueType="num">
                                      <p:cBhvr>
                                        <p:cTn id="14" dur="450" fill="hold"/>
                                        <p:tgtEl>
                                          <p:spTgt spid="11"/>
                                        </p:tgtEl>
                                        <p:attrNameLst>
                                          <p:attrName>ppt_y</p:attrName>
                                        </p:attrNameLst>
                                      </p:cBhvr>
                                      <p:tavLst>
                                        <p:tav tm="0">
                                          <p:val>
                                            <p:strVal val="#ppt_y+.03"/>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450"/>
                                        <p:tgtEl>
                                          <p:spTgt spid="3"/>
                                        </p:tgtEl>
                                      </p:cBhvr>
                                    </p:animEffect>
                                    <p:anim calcmode="lin" valueType="num">
                                      <p:cBhvr>
                                        <p:cTn id="18" dur="450" fill="hold"/>
                                        <p:tgtEl>
                                          <p:spTgt spid="3"/>
                                        </p:tgtEl>
                                        <p:attrNameLst>
                                          <p:attrName>ppt_x</p:attrName>
                                        </p:attrNameLst>
                                      </p:cBhvr>
                                      <p:tavLst>
                                        <p:tav tm="0">
                                          <p:val>
                                            <p:strVal val="#ppt_x"/>
                                          </p:val>
                                        </p:tav>
                                        <p:tav tm="100000">
                                          <p:val>
                                            <p:strVal val="#ppt_x"/>
                                          </p:val>
                                        </p:tav>
                                      </p:tavLst>
                                    </p:anim>
                                    <p:anim calcmode="lin" valueType="num">
                                      <p:cBhvr>
                                        <p:cTn id="19" dur="450" fill="hold"/>
                                        <p:tgtEl>
                                          <p:spTgt spid="3"/>
                                        </p:tgtEl>
                                        <p:attrNameLst>
                                          <p:attrName>ppt_y</p:attrName>
                                        </p:attrNameLst>
                                      </p:cBhvr>
                                      <p:tavLst>
                                        <p:tav tm="0">
                                          <p:val>
                                            <p:strVal val="#ppt_y+.03"/>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anim calcmode="lin" valueType="num">
                                      <p:cBhvr>
                                        <p:cTn id="23" dur="450" fill="hold"/>
                                        <p:tgtEl>
                                          <p:spTgt spid="7"/>
                                        </p:tgtEl>
                                        <p:attrNameLst>
                                          <p:attrName>ppt_x</p:attrName>
                                        </p:attrNameLst>
                                      </p:cBhvr>
                                      <p:tavLst>
                                        <p:tav tm="0">
                                          <p:val>
                                            <p:strVal val="#ppt_x"/>
                                          </p:val>
                                        </p:tav>
                                        <p:tav tm="100000">
                                          <p:val>
                                            <p:strVal val="#ppt_x"/>
                                          </p:val>
                                        </p:tav>
                                      </p:tavLst>
                                    </p:anim>
                                    <p:anim calcmode="lin" valueType="num">
                                      <p:cBhvr>
                                        <p:cTn id="24" dur="450" fill="hold"/>
                                        <p:tgtEl>
                                          <p:spTgt spid="7"/>
                                        </p:tgtEl>
                                        <p:attrNameLst>
                                          <p:attrName>ppt_y</p:attrName>
                                        </p:attrNameLst>
                                      </p:cBhvr>
                                      <p:tavLst>
                                        <p:tav tm="0">
                                          <p:val>
                                            <p:strVal val="#ppt_y+.03"/>
                                          </p:val>
                                        </p:tav>
                                        <p:tav tm="100000">
                                          <p:val>
                                            <p:strVal val="#ppt_y"/>
                                          </p:val>
                                        </p:tav>
                                      </p:tavLst>
                                    </p:anim>
                                  </p:childTnLst>
                                </p:cTn>
                              </p:par>
                              <p:par>
                                <p:cTn id="25" presetID="10" presetClass="entr" presetSubtype="0" fill="hold" grpId="0" nodeType="withEffect">
                                  <p:stCondLst>
                                    <p:cond delay="140"/>
                                  </p:stCondLst>
                                  <p:childTnLst>
                                    <p:set>
                                      <p:cBhvr>
                                        <p:cTn id="26" dur="1" fill="hold">
                                          <p:stCondLst>
                                            <p:cond delay="0"/>
                                          </p:stCondLst>
                                        </p:cTn>
                                        <p:tgtEl>
                                          <p:spTgt spid="2001"/>
                                        </p:tgtEl>
                                        <p:attrNameLst>
                                          <p:attrName>style.visibility</p:attrName>
                                        </p:attrNameLst>
                                      </p:cBhvr>
                                      <p:to>
                                        <p:strVal val="visible"/>
                                      </p:to>
                                    </p:set>
                                    <p:animEffect transition="in" filter="fade">
                                      <p:cBhvr>
                                        <p:cTn id="27" dur="450"/>
                                        <p:tgtEl>
                                          <p:spTgt spid="2001"/>
                                        </p:tgtEl>
                                      </p:cBhvr>
                                    </p:animEffect>
                                  </p:childTnLst>
                                </p:cTn>
                              </p:par>
                              <p:par>
                                <p:cTn id="28" presetID="10" presetClass="entr" presetSubtype="0" fill="hold" grpId="0" nodeType="withEffect">
                                  <p:stCondLst>
                                    <p:cond delay="140"/>
                                  </p:stCondLst>
                                  <p:childTnLst>
                                    <p:set>
                                      <p:cBhvr>
                                        <p:cTn id="29" dur="1" fill="hold">
                                          <p:stCondLst>
                                            <p:cond delay="0"/>
                                          </p:stCondLst>
                                        </p:cTn>
                                        <p:tgtEl>
                                          <p:spTgt spid="2002"/>
                                        </p:tgtEl>
                                        <p:attrNameLst>
                                          <p:attrName>style.visibility</p:attrName>
                                        </p:attrNameLst>
                                      </p:cBhvr>
                                      <p:to>
                                        <p:strVal val="visible"/>
                                      </p:to>
                                    </p:set>
                                    <p:animEffect transition="in" filter="fade">
                                      <p:cBhvr>
                                        <p:cTn id="30" dur="450"/>
                                        <p:tgtEl>
                                          <p:spTgt spid="2002"/>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003"/>
                                        </p:tgtEl>
                                        <p:attrNameLst>
                                          <p:attrName>style.visibility</p:attrName>
                                        </p:attrNameLst>
                                      </p:cBhvr>
                                      <p:to>
                                        <p:strVal val="visible"/>
                                      </p:to>
                                    </p:set>
                                    <p:animEffect transition="in" filter="fade">
                                      <p:cBhvr>
                                        <p:cTn id="35" dur="500"/>
                                        <p:tgtEl>
                                          <p:spTgt spid="2003"/>
                                        </p:tgtEl>
                                      </p:cBhvr>
                                    </p:animEffect>
                                    <p:anim calcmode="lin" valueType="num">
                                      <p:cBhvr>
                                        <p:cTn id="36" dur="500" fill="hold"/>
                                        <p:tgtEl>
                                          <p:spTgt spid="2003"/>
                                        </p:tgtEl>
                                        <p:attrNameLst>
                                          <p:attrName>ppt_x</p:attrName>
                                        </p:attrNameLst>
                                      </p:cBhvr>
                                      <p:tavLst>
                                        <p:tav tm="0">
                                          <p:val>
                                            <p:strVal val="#ppt_x-.035"/>
                                          </p:val>
                                        </p:tav>
                                        <p:tav tm="100000">
                                          <p:val>
                                            <p:strVal val="#ppt_x"/>
                                          </p:val>
                                        </p:tav>
                                      </p:tavLst>
                                    </p:anim>
                                    <p:anim calcmode="lin" valueType="num">
                                      <p:cBhvr>
                                        <p:cTn id="37" dur="500" fill="hold"/>
                                        <p:tgtEl>
                                          <p:spTgt spid="2003"/>
                                        </p:tgtEl>
                                        <p:attrNameLst>
                                          <p:attrName>ppt_y</p:attrName>
                                        </p:attrNameLst>
                                      </p:cBhvr>
                                      <p:tavLst>
                                        <p:tav tm="0">
                                          <p:val>
                                            <p:strVal val="#ppt_y"/>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2004"/>
                                        </p:tgtEl>
                                        <p:attrNameLst>
                                          <p:attrName>style.visibility</p:attrName>
                                        </p:attrNameLst>
                                      </p:cBhvr>
                                      <p:to>
                                        <p:strVal val="visible"/>
                                      </p:to>
                                    </p:set>
                                    <p:animEffect transition="in" filter="fade">
                                      <p:cBhvr>
                                        <p:cTn id="40" dur="500"/>
                                        <p:tgtEl>
                                          <p:spTgt spid="2004"/>
                                        </p:tgtEl>
                                      </p:cBhvr>
                                    </p:animEffect>
                                    <p:anim calcmode="lin" valueType="num">
                                      <p:cBhvr>
                                        <p:cTn id="41" dur="500" fill="hold"/>
                                        <p:tgtEl>
                                          <p:spTgt spid="2004"/>
                                        </p:tgtEl>
                                        <p:attrNameLst>
                                          <p:attrName>ppt_x</p:attrName>
                                        </p:attrNameLst>
                                      </p:cBhvr>
                                      <p:tavLst>
                                        <p:tav tm="0">
                                          <p:val>
                                            <p:strVal val="#ppt_x-.035"/>
                                          </p:val>
                                        </p:tav>
                                        <p:tav tm="100000">
                                          <p:val>
                                            <p:strVal val="#ppt_x"/>
                                          </p:val>
                                        </p:tav>
                                      </p:tavLst>
                                    </p:anim>
                                    <p:anim calcmode="lin" valueType="num">
                                      <p:cBhvr>
                                        <p:cTn id="42" dur="500" fill="hold"/>
                                        <p:tgtEl>
                                          <p:spTgt spid="2004"/>
                                        </p:tgtEl>
                                        <p:attrNameLst>
                                          <p:attrName>ppt_y</p:attrName>
                                        </p:attrNameLst>
                                      </p:cBhvr>
                                      <p:tavLst>
                                        <p:tav tm="0">
                                          <p:val>
                                            <p:strVal val="#ppt_y"/>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2005"/>
                                        </p:tgtEl>
                                        <p:attrNameLst>
                                          <p:attrName>style.visibility</p:attrName>
                                        </p:attrNameLst>
                                      </p:cBhvr>
                                      <p:to>
                                        <p:strVal val="visible"/>
                                      </p:to>
                                    </p:set>
                                    <p:animEffect transition="in" filter="fade">
                                      <p:cBhvr>
                                        <p:cTn id="45" dur="500"/>
                                        <p:tgtEl>
                                          <p:spTgt spid="2005"/>
                                        </p:tgtEl>
                                      </p:cBhvr>
                                    </p:animEffect>
                                    <p:anim calcmode="lin" valueType="num">
                                      <p:cBhvr>
                                        <p:cTn id="46" dur="500" fill="hold"/>
                                        <p:tgtEl>
                                          <p:spTgt spid="2005"/>
                                        </p:tgtEl>
                                        <p:attrNameLst>
                                          <p:attrName>ppt_x</p:attrName>
                                        </p:attrNameLst>
                                      </p:cBhvr>
                                      <p:tavLst>
                                        <p:tav tm="0">
                                          <p:val>
                                            <p:strVal val="#ppt_x-.035"/>
                                          </p:val>
                                        </p:tav>
                                        <p:tav tm="100000">
                                          <p:val>
                                            <p:strVal val="#ppt_x"/>
                                          </p:val>
                                        </p:tav>
                                      </p:tavLst>
                                    </p:anim>
                                    <p:anim calcmode="lin" valueType="num">
                                      <p:cBhvr>
                                        <p:cTn id="47" dur="500" fill="hold"/>
                                        <p:tgtEl>
                                          <p:spTgt spid="2005"/>
                                        </p:tgtEl>
                                        <p:attrNameLst>
                                          <p:attrName>ppt_y</p:attrName>
                                        </p:attrNameLst>
                                      </p:cBhvr>
                                      <p:tavLst>
                                        <p:tav tm="0">
                                          <p:val>
                                            <p:strVal val="#ppt_y"/>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2006"/>
                                        </p:tgtEl>
                                        <p:attrNameLst>
                                          <p:attrName>style.visibility</p:attrName>
                                        </p:attrNameLst>
                                      </p:cBhvr>
                                      <p:to>
                                        <p:strVal val="visible"/>
                                      </p:to>
                                    </p:set>
                                    <p:animEffect transition="in" filter="fade">
                                      <p:cBhvr>
                                        <p:cTn id="50" dur="500"/>
                                        <p:tgtEl>
                                          <p:spTgt spid="2006"/>
                                        </p:tgtEl>
                                      </p:cBhvr>
                                    </p:animEffect>
                                    <p:anim calcmode="lin" valueType="num">
                                      <p:cBhvr>
                                        <p:cTn id="51" dur="500" fill="hold"/>
                                        <p:tgtEl>
                                          <p:spTgt spid="2006"/>
                                        </p:tgtEl>
                                        <p:attrNameLst>
                                          <p:attrName>ppt_x</p:attrName>
                                        </p:attrNameLst>
                                      </p:cBhvr>
                                      <p:tavLst>
                                        <p:tav tm="0">
                                          <p:val>
                                            <p:strVal val="#ppt_x-.035"/>
                                          </p:val>
                                        </p:tav>
                                        <p:tav tm="100000">
                                          <p:val>
                                            <p:strVal val="#ppt_x"/>
                                          </p:val>
                                        </p:tav>
                                      </p:tavLst>
                                    </p:anim>
                                    <p:anim calcmode="lin" valueType="num">
                                      <p:cBhvr>
                                        <p:cTn id="52" dur="500" fill="hold"/>
                                        <p:tgtEl>
                                          <p:spTgt spid="2006"/>
                                        </p:tgtEl>
                                        <p:attrNameLst>
                                          <p:attrName>ppt_y</p:attrName>
                                        </p:attrNameLst>
                                      </p:cBhvr>
                                      <p:tavLst>
                                        <p:tav tm="0">
                                          <p:val>
                                            <p:strVal val="#ppt_y"/>
                                          </p:val>
                                        </p:tav>
                                        <p:tav tm="100000">
                                          <p:val>
                                            <p:strVal val="#ppt_y"/>
                                          </p:val>
                                        </p:tav>
                                      </p:tavLst>
                                    </p:anim>
                                  </p:childTnLst>
                                </p:cTn>
                              </p:par>
                              <p:par>
                                <p:cTn id="53" presetID="22" presetClass="entr" presetSubtype="8" fill="hold" grpId="0" nodeType="withEffect">
                                  <p:stCondLst>
                                    <p:cond delay="140"/>
                                  </p:stCondLst>
                                  <p:childTnLst>
                                    <p:set>
                                      <p:cBhvr>
                                        <p:cTn id="54" dur="1" fill="hold">
                                          <p:stCondLst>
                                            <p:cond delay="0"/>
                                          </p:stCondLst>
                                        </p:cTn>
                                        <p:tgtEl>
                                          <p:spTgt spid="2007"/>
                                        </p:tgtEl>
                                        <p:attrNameLst>
                                          <p:attrName>style.visibility</p:attrName>
                                        </p:attrNameLst>
                                      </p:cBhvr>
                                      <p:to>
                                        <p:strVal val="visible"/>
                                      </p:to>
                                    </p:set>
                                    <p:animEffect transition="in" filter="wipe(left)">
                                      <p:cBhvr>
                                        <p:cTn id="55" dur="400"/>
                                        <p:tgtEl>
                                          <p:spTgt spid="2007"/>
                                        </p:tgtEl>
                                      </p:cBhvr>
                                    </p:animEffect>
                                  </p:childTnLst>
                                </p:cTn>
                              </p:par>
                              <p:par>
                                <p:cTn id="56" presetID="42" presetClass="entr" presetSubtype="0" fill="hold" grpId="0" nodeType="withEffect">
                                  <p:stCondLst>
                                    <p:cond delay="420"/>
                                  </p:stCondLst>
                                  <p:childTnLst>
                                    <p:set>
                                      <p:cBhvr>
                                        <p:cTn id="57" dur="1" fill="hold">
                                          <p:stCondLst>
                                            <p:cond delay="0"/>
                                          </p:stCondLst>
                                        </p:cTn>
                                        <p:tgtEl>
                                          <p:spTgt spid="2008"/>
                                        </p:tgtEl>
                                        <p:attrNameLst>
                                          <p:attrName>style.visibility</p:attrName>
                                        </p:attrNameLst>
                                      </p:cBhvr>
                                      <p:to>
                                        <p:strVal val="visible"/>
                                      </p:to>
                                    </p:set>
                                    <p:animEffect transition="in" filter="fade">
                                      <p:cBhvr>
                                        <p:cTn id="58" dur="500"/>
                                        <p:tgtEl>
                                          <p:spTgt spid="2008"/>
                                        </p:tgtEl>
                                      </p:cBhvr>
                                    </p:animEffect>
                                    <p:anim calcmode="lin" valueType="num">
                                      <p:cBhvr>
                                        <p:cTn id="59" dur="500" fill="hold"/>
                                        <p:tgtEl>
                                          <p:spTgt spid="2008"/>
                                        </p:tgtEl>
                                        <p:attrNameLst>
                                          <p:attrName>ppt_x</p:attrName>
                                        </p:attrNameLst>
                                      </p:cBhvr>
                                      <p:tavLst>
                                        <p:tav tm="0">
                                          <p:val>
                                            <p:strVal val="#ppt_x+.035"/>
                                          </p:val>
                                        </p:tav>
                                        <p:tav tm="100000">
                                          <p:val>
                                            <p:strVal val="#ppt_x"/>
                                          </p:val>
                                        </p:tav>
                                      </p:tavLst>
                                    </p:anim>
                                    <p:anim calcmode="lin" valueType="num">
                                      <p:cBhvr>
                                        <p:cTn id="60" dur="500" fill="hold"/>
                                        <p:tgtEl>
                                          <p:spTgt spid="2008"/>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420"/>
                                  </p:stCondLst>
                                  <p:childTnLst>
                                    <p:set>
                                      <p:cBhvr>
                                        <p:cTn id="62" dur="1" fill="hold">
                                          <p:stCondLst>
                                            <p:cond delay="0"/>
                                          </p:stCondLst>
                                        </p:cTn>
                                        <p:tgtEl>
                                          <p:spTgt spid="2009"/>
                                        </p:tgtEl>
                                        <p:attrNameLst>
                                          <p:attrName>style.visibility</p:attrName>
                                        </p:attrNameLst>
                                      </p:cBhvr>
                                      <p:to>
                                        <p:strVal val="visible"/>
                                      </p:to>
                                    </p:set>
                                    <p:animEffect transition="in" filter="fade">
                                      <p:cBhvr>
                                        <p:cTn id="63" dur="500"/>
                                        <p:tgtEl>
                                          <p:spTgt spid="2009"/>
                                        </p:tgtEl>
                                      </p:cBhvr>
                                    </p:animEffect>
                                    <p:anim calcmode="lin" valueType="num">
                                      <p:cBhvr>
                                        <p:cTn id="64" dur="500" fill="hold"/>
                                        <p:tgtEl>
                                          <p:spTgt spid="2009"/>
                                        </p:tgtEl>
                                        <p:attrNameLst>
                                          <p:attrName>ppt_x</p:attrName>
                                        </p:attrNameLst>
                                      </p:cBhvr>
                                      <p:tavLst>
                                        <p:tav tm="0">
                                          <p:val>
                                            <p:strVal val="#ppt_x+.035"/>
                                          </p:val>
                                        </p:tav>
                                        <p:tav tm="100000">
                                          <p:val>
                                            <p:strVal val="#ppt_x"/>
                                          </p:val>
                                        </p:tav>
                                      </p:tavLst>
                                    </p:anim>
                                    <p:anim calcmode="lin" valueType="num">
                                      <p:cBhvr>
                                        <p:cTn id="65" dur="500" fill="hold"/>
                                        <p:tgtEl>
                                          <p:spTgt spid="2009"/>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420"/>
                                  </p:stCondLst>
                                  <p:childTnLst>
                                    <p:set>
                                      <p:cBhvr>
                                        <p:cTn id="67" dur="1" fill="hold">
                                          <p:stCondLst>
                                            <p:cond delay="0"/>
                                          </p:stCondLst>
                                        </p:cTn>
                                        <p:tgtEl>
                                          <p:spTgt spid="2010"/>
                                        </p:tgtEl>
                                        <p:attrNameLst>
                                          <p:attrName>style.visibility</p:attrName>
                                        </p:attrNameLst>
                                      </p:cBhvr>
                                      <p:to>
                                        <p:strVal val="visible"/>
                                      </p:to>
                                    </p:set>
                                    <p:animEffect transition="in" filter="fade">
                                      <p:cBhvr>
                                        <p:cTn id="68" dur="500"/>
                                        <p:tgtEl>
                                          <p:spTgt spid="2010"/>
                                        </p:tgtEl>
                                      </p:cBhvr>
                                    </p:animEffect>
                                    <p:anim calcmode="lin" valueType="num">
                                      <p:cBhvr>
                                        <p:cTn id="69" dur="500" fill="hold"/>
                                        <p:tgtEl>
                                          <p:spTgt spid="2010"/>
                                        </p:tgtEl>
                                        <p:attrNameLst>
                                          <p:attrName>ppt_x</p:attrName>
                                        </p:attrNameLst>
                                      </p:cBhvr>
                                      <p:tavLst>
                                        <p:tav tm="0">
                                          <p:val>
                                            <p:strVal val="#ppt_x+.035"/>
                                          </p:val>
                                        </p:tav>
                                        <p:tav tm="100000">
                                          <p:val>
                                            <p:strVal val="#ppt_x"/>
                                          </p:val>
                                        </p:tav>
                                      </p:tavLst>
                                    </p:anim>
                                    <p:anim calcmode="lin" valueType="num">
                                      <p:cBhvr>
                                        <p:cTn id="70" dur="500" fill="hold"/>
                                        <p:tgtEl>
                                          <p:spTgt spid="2010"/>
                                        </p:tgtEl>
                                        <p:attrNameLst>
                                          <p:attrName>ppt_y</p:attrName>
                                        </p:attrNameLst>
                                      </p:cBhvr>
                                      <p:tavLst>
                                        <p:tav tm="0">
                                          <p:val>
                                            <p:strVal val="#ppt_y"/>
                                          </p:val>
                                        </p:tav>
                                        <p:tav tm="100000">
                                          <p:val>
                                            <p:strVal val="#ppt_y"/>
                                          </p:val>
                                        </p:tav>
                                      </p:tavLst>
                                    </p:anim>
                                  </p:childTnLst>
                                </p:cTn>
                              </p:par>
                              <p:par>
                                <p:cTn id="71" presetID="42" presetClass="entr" presetSubtype="0" fill="hold" grpId="0" nodeType="withEffect">
                                  <p:stCondLst>
                                    <p:cond delay="420"/>
                                  </p:stCondLst>
                                  <p:childTnLst>
                                    <p:set>
                                      <p:cBhvr>
                                        <p:cTn id="72" dur="1" fill="hold">
                                          <p:stCondLst>
                                            <p:cond delay="0"/>
                                          </p:stCondLst>
                                        </p:cTn>
                                        <p:tgtEl>
                                          <p:spTgt spid="2011"/>
                                        </p:tgtEl>
                                        <p:attrNameLst>
                                          <p:attrName>style.visibility</p:attrName>
                                        </p:attrNameLst>
                                      </p:cBhvr>
                                      <p:to>
                                        <p:strVal val="visible"/>
                                      </p:to>
                                    </p:set>
                                    <p:animEffect transition="in" filter="fade">
                                      <p:cBhvr>
                                        <p:cTn id="73" dur="500"/>
                                        <p:tgtEl>
                                          <p:spTgt spid="2011"/>
                                        </p:tgtEl>
                                      </p:cBhvr>
                                    </p:animEffect>
                                    <p:anim calcmode="lin" valueType="num">
                                      <p:cBhvr>
                                        <p:cTn id="74" dur="500" fill="hold"/>
                                        <p:tgtEl>
                                          <p:spTgt spid="2011"/>
                                        </p:tgtEl>
                                        <p:attrNameLst>
                                          <p:attrName>ppt_x</p:attrName>
                                        </p:attrNameLst>
                                      </p:cBhvr>
                                      <p:tavLst>
                                        <p:tav tm="0">
                                          <p:val>
                                            <p:strVal val="#ppt_x+.035"/>
                                          </p:val>
                                        </p:tav>
                                        <p:tav tm="100000">
                                          <p:val>
                                            <p:strVal val="#ppt_x"/>
                                          </p:val>
                                        </p:tav>
                                      </p:tavLst>
                                    </p:anim>
                                    <p:anim calcmode="lin" valueType="num">
                                      <p:cBhvr>
                                        <p:cTn id="75" dur="500" fill="hold"/>
                                        <p:tgtEl>
                                          <p:spTgt spid="2011"/>
                                        </p:tgtEl>
                                        <p:attrNameLst>
                                          <p:attrName>ppt_y</p:attrName>
                                        </p:attrNameLst>
                                      </p:cBhvr>
                                      <p:tavLst>
                                        <p:tav tm="0">
                                          <p:val>
                                            <p:strVal val="#ppt_y"/>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2012"/>
                                        </p:tgtEl>
                                        <p:attrNameLst>
                                          <p:attrName>style.visibility</p:attrName>
                                        </p:attrNameLst>
                                      </p:cBhvr>
                                      <p:to>
                                        <p:strVal val="visible"/>
                                      </p:to>
                                    </p:set>
                                    <p:animEffect transition="in" filter="fade">
                                      <p:cBhvr>
                                        <p:cTn id="80" dur="500"/>
                                        <p:tgtEl>
                                          <p:spTgt spid="2012"/>
                                        </p:tgtEl>
                                      </p:cBhvr>
                                    </p:animEffect>
                                    <p:anim calcmode="lin" valueType="num">
                                      <p:cBhvr>
                                        <p:cTn id="81" dur="500" fill="hold"/>
                                        <p:tgtEl>
                                          <p:spTgt spid="2012"/>
                                        </p:tgtEl>
                                        <p:attrNameLst>
                                          <p:attrName>ppt_x</p:attrName>
                                        </p:attrNameLst>
                                      </p:cBhvr>
                                      <p:tavLst>
                                        <p:tav tm="0">
                                          <p:val>
                                            <p:strVal val="#ppt_x-.035"/>
                                          </p:val>
                                        </p:tav>
                                        <p:tav tm="100000">
                                          <p:val>
                                            <p:strVal val="#ppt_x"/>
                                          </p:val>
                                        </p:tav>
                                      </p:tavLst>
                                    </p:anim>
                                    <p:anim calcmode="lin" valueType="num">
                                      <p:cBhvr>
                                        <p:cTn id="82" dur="500" fill="hold"/>
                                        <p:tgtEl>
                                          <p:spTgt spid="2012"/>
                                        </p:tgtEl>
                                        <p:attrNameLst>
                                          <p:attrName>ppt_y</p:attrName>
                                        </p:attrNameLst>
                                      </p:cBhvr>
                                      <p:tavLst>
                                        <p:tav tm="0">
                                          <p:val>
                                            <p:strVal val="#ppt_y"/>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2013"/>
                                        </p:tgtEl>
                                        <p:attrNameLst>
                                          <p:attrName>style.visibility</p:attrName>
                                        </p:attrNameLst>
                                      </p:cBhvr>
                                      <p:to>
                                        <p:strVal val="visible"/>
                                      </p:to>
                                    </p:set>
                                    <p:animEffect transition="in" filter="fade">
                                      <p:cBhvr>
                                        <p:cTn id="85" dur="500"/>
                                        <p:tgtEl>
                                          <p:spTgt spid="2013"/>
                                        </p:tgtEl>
                                      </p:cBhvr>
                                    </p:animEffect>
                                    <p:anim calcmode="lin" valueType="num">
                                      <p:cBhvr>
                                        <p:cTn id="86" dur="500" fill="hold"/>
                                        <p:tgtEl>
                                          <p:spTgt spid="2013"/>
                                        </p:tgtEl>
                                        <p:attrNameLst>
                                          <p:attrName>ppt_x</p:attrName>
                                        </p:attrNameLst>
                                      </p:cBhvr>
                                      <p:tavLst>
                                        <p:tav tm="0">
                                          <p:val>
                                            <p:strVal val="#ppt_x-.035"/>
                                          </p:val>
                                        </p:tav>
                                        <p:tav tm="100000">
                                          <p:val>
                                            <p:strVal val="#ppt_x"/>
                                          </p:val>
                                        </p:tav>
                                      </p:tavLst>
                                    </p:anim>
                                    <p:anim calcmode="lin" valueType="num">
                                      <p:cBhvr>
                                        <p:cTn id="87" dur="500" fill="hold"/>
                                        <p:tgtEl>
                                          <p:spTgt spid="2013"/>
                                        </p:tgtEl>
                                        <p:attrNameLst>
                                          <p:attrName>ppt_y</p:attrName>
                                        </p:attrNameLst>
                                      </p:cBhvr>
                                      <p:tavLst>
                                        <p:tav tm="0">
                                          <p:val>
                                            <p:strVal val="#ppt_y"/>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2014"/>
                                        </p:tgtEl>
                                        <p:attrNameLst>
                                          <p:attrName>style.visibility</p:attrName>
                                        </p:attrNameLst>
                                      </p:cBhvr>
                                      <p:to>
                                        <p:strVal val="visible"/>
                                      </p:to>
                                    </p:set>
                                    <p:animEffect transition="in" filter="fade">
                                      <p:cBhvr>
                                        <p:cTn id="90" dur="500"/>
                                        <p:tgtEl>
                                          <p:spTgt spid="2014"/>
                                        </p:tgtEl>
                                      </p:cBhvr>
                                    </p:animEffect>
                                    <p:anim calcmode="lin" valueType="num">
                                      <p:cBhvr>
                                        <p:cTn id="91" dur="500" fill="hold"/>
                                        <p:tgtEl>
                                          <p:spTgt spid="2014"/>
                                        </p:tgtEl>
                                        <p:attrNameLst>
                                          <p:attrName>ppt_x</p:attrName>
                                        </p:attrNameLst>
                                      </p:cBhvr>
                                      <p:tavLst>
                                        <p:tav tm="0">
                                          <p:val>
                                            <p:strVal val="#ppt_x-.035"/>
                                          </p:val>
                                        </p:tav>
                                        <p:tav tm="100000">
                                          <p:val>
                                            <p:strVal val="#ppt_x"/>
                                          </p:val>
                                        </p:tav>
                                      </p:tavLst>
                                    </p:anim>
                                    <p:anim calcmode="lin" valueType="num">
                                      <p:cBhvr>
                                        <p:cTn id="92" dur="500" fill="hold"/>
                                        <p:tgtEl>
                                          <p:spTgt spid="2014"/>
                                        </p:tgtEl>
                                        <p:attrNameLst>
                                          <p:attrName>ppt_y</p:attrName>
                                        </p:attrNameLst>
                                      </p:cBhvr>
                                      <p:tavLst>
                                        <p:tav tm="0">
                                          <p:val>
                                            <p:strVal val="#ppt_y"/>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2015"/>
                                        </p:tgtEl>
                                        <p:attrNameLst>
                                          <p:attrName>style.visibility</p:attrName>
                                        </p:attrNameLst>
                                      </p:cBhvr>
                                      <p:to>
                                        <p:strVal val="visible"/>
                                      </p:to>
                                    </p:set>
                                    <p:animEffect transition="in" filter="fade">
                                      <p:cBhvr>
                                        <p:cTn id="95" dur="500"/>
                                        <p:tgtEl>
                                          <p:spTgt spid="2015"/>
                                        </p:tgtEl>
                                      </p:cBhvr>
                                    </p:animEffect>
                                    <p:anim calcmode="lin" valueType="num">
                                      <p:cBhvr>
                                        <p:cTn id="96" dur="500" fill="hold"/>
                                        <p:tgtEl>
                                          <p:spTgt spid="2015"/>
                                        </p:tgtEl>
                                        <p:attrNameLst>
                                          <p:attrName>ppt_x</p:attrName>
                                        </p:attrNameLst>
                                      </p:cBhvr>
                                      <p:tavLst>
                                        <p:tav tm="0">
                                          <p:val>
                                            <p:strVal val="#ppt_x-.035"/>
                                          </p:val>
                                        </p:tav>
                                        <p:tav tm="100000">
                                          <p:val>
                                            <p:strVal val="#ppt_x"/>
                                          </p:val>
                                        </p:tav>
                                      </p:tavLst>
                                    </p:anim>
                                    <p:anim calcmode="lin" valueType="num">
                                      <p:cBhvr>
                                        <p:cTn id="97" dur="500" fill="hold"/>
                                        <p:tgtEl>
                                          <p:spTgt spid="2015"/>
                                        </p:tgtEl>
                                        <p:attrNameLst>
                                          <p:attrName>ppt_y</p:attrName>
                                        </p:attrNameLst>
                                      </p:cBhvr>
                                      <p:tavLst>
                                        <p:tav tm="0">
                                          <p:val>
                                            <p:strVal val="#ppt_y"/>
                                          </p:val>
                                        </p:tav>
                                        <p:tav tm="100000">
                                          <p:val>
                                            <p:strVal val="#ppt_y"/>
                                          </p:val>
                                        </p:tav>
                                      </p:tavLst>
                                    </p:anim>
                                  </p:childTnLst>
                                </p:cTn>
                              </p:par>
                              <p:par>
                                <p:cTn id="98" presetID="22" presetClass="entr" presetSubtype="8" fill="hold" grpId="0" nodeType="withEffect">
                                  <p:stCondLst>
                                    <p:cond delay="140"/>
                                  </p:stCondLst>
                                  <p:childTnLst>
                                    <p:set>
                                      <p:cBhvr>
                                        <p:cTn id="99" dur="1" fill="hold">
                                          <p:stCondLst>
                                            <p:cond delay="0"/>
                                          </p:stCondLst>
                                        </p:cTn>
                                        <p:tgtEl>
                                          <p:spTgt spid="2016"/>
                                        </p:tgtEl>
                                        <p:attrNameLst>
                                          <p:attrName>style.visibility</p:attrName>
                                        </p:attrNameLst>
                                      </p:cBhvr>
                                      <p:to>
                                        <p:strVal val="visible"/>
                                      </p:to>
                                    </p:set>
                                    <p:animEffect transition="in" filter="wipe(left)">
                                      <p:cBhvr>
                                        <p:cTn id="100" dur="400"/>
                                        <p:tgtEl>
                                          <p:spTgt spid="2016"/>
                                        </p:tgtEl>
                                      </p:cBhvr>
                                    </p:animEffect>
                                  </p:childTnLst>
                                </p:cTn>
                              </p:par>
                              <p:par>
                                <p:cTn id="101" presetID="42" presetClass="entr" presetSubtype="0" fill="hold" grpId="0" nodeType="withEffect">
                                  <p:stCondLst>
                                    <p:cond delay="420"/>
                                  </p:stCondLst>
                                  <p:childTnLst>
                                    <p:set>
                                      <p:cBhvr>
                                        <p:cTn id="102" dur="1" fill="hold">
                                          <p:stCondLst>
                                            <p:cond delay="0"/>
                                          </p:stCondLst>
                                        </p:cTn>
                                        <p:tgtEl>
                                          <p:spTgt spid="2017"/>
                                        </p:tgtEl>
                                        <p:attrNameLst>
                                          <p:attrName>style.visibility</p:attrName>
                                        </p:attrNameLst>
                                      </p:cBhvr>
                                      <p:to>
                                        <p:strVal val="visible"/>
                                      </p:to>
                                    </p:set>
                                    <p:animEffect transition="in" filter="fade">
                                      <p:cBhvr>
                                        <p:cTn id="103" dur="500"/>
                                        <p:tgtEl>
                                          <p:spTgt spid="2017"/>
                                        </p:tgtEl>
                                      </p:cBhvr>
                                    </p:animEffect>
                                    <p:anim calcmode="lin" valueType="num">
                                      <p:cBhvr>
                                        <p:cTn id="104" dur="500" fill="hold"/>
                                        <p:tgtEl>
                                          <p:spTgt spid="2017"/>
                                        </p:tgtEl>
                                        <p:attrNameLst>
                                          <p:attrName>ppt_x</p:attrName>
                                        </p:attrNameLst>
                                      </p:cBhvr>
                                      <p:tavLst>
                                        <p:tav tm="0">
                                          <p:val>
                                            <p:strVal val="#ppt_x+.035"/>
                                          </p:val>
                                        </p:tav>
                                        <p:tav tm="100000">
                                          <p:val>
                                            <p:strVal val="#ppt_x"/>
                                          </p:val>
                                        </p:tav>
                                      </p:tavLst>
                                    </p:anim>
                                    <p:anim calcmode="lin" valueType="num">
                                      <p:cBhvr>
                                        <p:cTn id="105" dur="500" fill="hold"/>
                                        <p:tgtEl>
                                          <p:spTgt spid="2017"/>
                                        </p:tgtEl>
                                        <p:attrNameLst>
                                          <p:attrName>ppt_y</p:attrName>
                                        </p:attrNameLst>
                                      </p:cBhvr>
                                      <p:tavLst>
                                        <p:tav tm="0">
                                          <p:val>
                                            <p:strVal val="#ppt_y"/>
                                          </p:val>
                                        </p:tav>
                                        <p:tav tm="100000">
                                          <p:val>
                                            <p:strVal val="#ppt_y"/>
                                          </p:val>
                                        </p:tav>
                                      </p:tavLst>
                                    </p:anim>
                                  </p:childTnLst>
                                </p:cTn>
                              </p:par>
                              <p:par>
                                <p:cTn id="106" presetID="42" presetClass="entr" presetSubtype="0" fill="hold" grpId="0" nodeType="withEffect">
                                  <p:stCondLst>
                                    <p:cond delay="420"/>
                                  </p:stCondLst>
                                  <p:childTnLst>
                                    <p:set>
                                      <p:cBhvr>
                                        <p:cTn id="107" dur="1" fill="hold">
                                          <p:stCondLst>
                                            <p:cond delay="0"/>
                                          </p:stCondLst>
                                        </p:cTn>
                                        <p:tgtEl>
                                          <p:spTgt spid="2018"/>
                                        </p:tgtEl>
                                        <p:attrNameLst>
                                          <p:attrName>style.visibility</p:attrName>
                                        </p:attrNameLst>
                                      </p:cBhvr>
                                      <p:to>
                                        <p:strVal val="visible"/>
                                      </p:to>
                                    </p:set>
                                    <p:animEffect transition="in" filter="fade">
                                      <p:cBhvr>
                                        <p:cTn id="108" dur="500"/>
                                        <p:tgtEl>
                                          <p:spTgt spid="2018"/>
                                        </p:tgtEl>
                                      </p:cBhvr>
                                    </p:animEffect>
                                    <p:anim calcmode="lin" valueType="num">
                                      <p:cBhvr>
                                        <p:cTn id="109" dur="500" fill="hold"/>
                                        <p:tgtEl>
                                          <p:spTgt spid="2018"/>
                                        </p:tgtEl>
                                        <p:attrNameLst>
                                          <p:attrName>ppt_x</p:attrName>
                                        </p:attrNameLst>
                                      </p:cBhvr>
                                      <p:tavLst>
                                        <p:tav tm="0">
                                          <p:val>
                                            <p:strVal val="#ppt_x+.035"/>
                                          </p:val>
                                        </p:tav>
                                        <p:tav tm="100000">
                                          <p:val>
                                            <p:strVal val="#ppt_x"/>
                                          </p:val>
                                        </p:tav>
                                      </p:tavLst>
                                    </p:anim>
                                    <p:anim calcmode="lin" valueType="num">
                                      <p:cBhvr>
                                        <p:cTn id="110" dur="500" fill="hold"/>
                                        <p:tgtEl>
                                          <p:spTgt spid="2018"/>
                                        </p:tgtEl>
                                        <p:attrNameLst>
                                          <p:attrName>ppt_y</p:attrName>
                                        </p:attrNameLst>
                                      </p:cBhvr>
                                      <p:tavLst>
                                        <p:tav tm="0">
                                          <p:val>
                                            <p:strVal val="#ppt_y"/>
                                          </p:val>
                                        </p:tav>
                                        <p:tav tm="100000">
                                          <p:val>
                                            <p:strVal val="#ppt_y"/>
                                          </p:val>
                                        </p:tav>
                                      </p:tavLst>
                                    </p:anim>
                                  </p:childTnLst>
                                </p:cTn>
                              </p:par>
                              <p:par>
                                <p:cTn id="111" presetID="42" presetClass="entr" presetSubtype="0" fill="hold" grpId="0" nodeType="withEffect">
                                  <p:stCondLst>
                                    <p:cond delay="420"/>
                                  </p:stCondLst>
                                  <p:childTnLst>
                                    <p:set>
                                      <p:cBhvr>
                                        <p:cTn id="112" dur="1" fill="hold">
                                          <p:stCondLst>
                                            <p:cond delay="0"/>
                                          </p:stCondLst>
                                        </p:cTn>
                                        <p:tgtEl>
                                          <p:spTgt spid="2019"/>
                                        </p:tgtEl>
                                        <p:attrNameLst>
                                          <p:attrName>style.visibility</p:attrName>
                                        </p:attrNameLst>
                                      </p:cBhvr>
                                      <p:to>
                                        <p:strVal val="visible"/>
                                      </p:to>
                                    </p:set>
                                    <p:animEffect transition="in" filter="fade">
                                      <p:cBhvr>
                                        <p:cTn id="113" dur="500"/>
                                        <p:tgtEl>
                                          <p:spTgt spid="2019"/>
                                        </p:tgtEl>
                                      </p:cBhvr>
                                    </p:animEffect>
                                    <p:anim calcmode="lin" valueType="num">
                                      <p:cBhvr>
                                        <p:cTn id="114" dur="500" fill="hold"/>
                                        <p:tgtEl>
                                          <p:spTgt spid="2019"/>
                                        </p:tgtEl>
                                        <p:attrNameLst>
                                          <p:attrName>ppt_x</p:attrName>
                                        </p:attrNameLst>
                                      </p:cBhvr>
                                      <p:tavLst>
                                        <p:tav tm="0">
                                          <p:val>
                                            <p:strVal val="#ppt_x+.035"/>
                                          </p:val>
                                        </p:tav>
                                        <p:tav tm="100000">
                                          <p:val>
                                            <p:strVal val="#ppt_x"/>
                                          </p:val>
                                        </p:tav>
                                      </p:tavLst>
                                    </p:anim>
                                    <p:anim calcmode="lin" valueType="num">
                                      <p:cBhvr>
                                        <p:cTn id="115" dur="500" fill="hold"/>
                                        <p:tgtEl>
                                          <p:spTgt spid="2019"/>
                                        </p:tgtEl>
                                        <p:attrNameLst>
                                          <p:attrName>ppt_y</p:attrName>
                                        </p:attrNameLst>
                                      </p:cBhvr>
                                      <p:tavLst>
                                        <p:tav tm="0">
                                          <p:val>
                                            <p:strVal val="#ppt_y"/>
                                          </p:val>
                                        </p:tav>
                                        <p:tav tm="100000">
                                          <p:val>
                                            <p:strVal val="#ppt_y"/>
                                          </p:val>
                                        </p:tav>
                                      </p:tavLst>
                                    </p:anim>
                                  </p:childTnLst>
                                </p:cTn>
                              </p:par>
                              <p:par>
                                <p:cTn id="116" presetID="42" presetClass="entr" presetSubtype="0" fill="hold" grpId="0" nodeType="withEffect">
                                  <p:stCondLst>
                                    <p:cond delay="420"/>
                                  </p:stCondLst>
                                  <p:childTnLst>
                                    <p:set>
                                      <p:cBhvr>
                                        <p:cTn id="117" dur="1" fill="hold">
                                          <p:stCondLst>
                                            <p:cond delay="0"/>
                                          </p:stCondLst>
                                        </p:cTn>
                                        <p:tgtEl>
                                          <p:spTgt spid="2020"/>
                                        </p:tgtEl>
                                        <p:attrNameLst>
                                          <p:attrName>style.visibility</p:attrName>
                                        </p:attrNameLst>
                                      </p:cBhvr>
                                      <p:to>
                                        <p:strVal val="visible"/>
                                      </p:to>
                                    </p:set>
                                    <p:animEffect transition="in" filter="fade">
                                      <p:cBhvr>
                                        <p:cTn id="118" dur="500"/>
                                        <p:tgtEl>
                                          <p:spTgt spid="2020"/>
                                        </p:tgtEl>
                                      </p:cBhvr>
                                    </p:animEffect>
                                    <p:anim calcmode="lin" valueType="num">
                                      <p:cBhvr>
                                        <p:cTn id="119" dur="500" fill="hold"/>
                                        <p:tgtEl>
                                          <p:spTgt spid="2020"/>
                                        </p:tgtEl>
                                        <p:attrNameLst>
                                          <p:attrName>ppt_x</p:attrName>
                                        </p:attrNameLst>
                                      </p:cBhvr>
                                      <p:tavLst>
                                        <p:tav tm="0">
                                          <p:val>
                                            <p:strVal val="#ppt_x+.035"/>
                                          </p:val>
                                        </p:tav>
                                        <p:tav tm="100000">
                                          <p:val>
                                            <p:strVal val="#ppt_x"/>
                                          </p:val>
                                        </p:tav>
                                      </p:tavLst>
                                    </p:anim>
                                    <p:anim calcmode="lin" valueType="num">
                                      <p:cBhvr>
                                        <p:cTn id="120" dur="500" fill="hold"/>
                                        <p:tgtEl>
                                          <p:spTgt spid="2020"/>
                                        </p:tgtEl>
                                        <p:attrNameLst>
                                          <p:attrName>ppt_y</p:attrName>
                                        </p:attrNameLst>
                                      </p:cBhvr>
                                      <p:tavLst>
                                        <p:tav tm="0">
                                          <p:val>
                                            <p:strVal val="#ppt_y"/>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42" presetClass="entr" presetSubtype="0" fill="hold" grpId="0" nodeType="clickEffect">
                                  <p:stCondLst>
                                    <p:cond delay="0"/>
                                  </p:stCondLst>
                                  <p:childTnLst>
                                    <p:set>
                                      <p:cBhvr>
                                        <p:cTn id="124" dur="1" fill="hold">
                                          <p:stCondLst>
                                            <p:cond delay="0"/>
                                          </p:stCondLst>
                                        </p:cTn>
                                        <p:tgtEl>
                                          <p:spTgt spid="2021"/>
                                        </p:tgtEl>
                                        <p:attrNameLst>
                                          <p:attrName>style.visibility</p:attrName>
                                        </p:attrNameLst>
                                      </p:cBhvr>
                                      <p:to>
                                        <p:strVal val="visible"/>
                                      </p:to>
                                    </p:set>
                                    <p:animEffect transition="in" filter="fade">
                                      <p:cBhvr>
                                        <p:cTn id="125" dur="500"/>
                                        <p:tgtEl>
                                          <p:spTgt spid="2021"/>
                                        </p:tgtEl>
                                      </p:cBhvr>
                                    </p:animEffect>
                                    <p:anim calcmode="lin" valueType="num">
                                      <p:cBhvr>
                                        <p:cTn id="126" dur="500" fill="hold"/>
                                        <p:tgtEl>
                                          <p:spTgt spid="2021"/>
                                        </p:tgtEl>
                                        <p:attrNameLst>
                                          <p:attrName>ppt_x</p:attrName>
                                        </p:attrNameLst>
                                      </p:cBhvr>
                                      <p:tavLst>
                                        <p:tav tm="0">
                                          <p:val>
                                            <p:strVal val="#ppt_x-.035"/>
                                          </p:val>
                                        </p:tav>
                                        <p:tav tm="100000">
                                          <p:val>
                                            <p:strVal val="#ppt_x"/>
                                          </p:val>
                                        </p:tav>
                                      </p:tavLst>
                                    </p:anim>
                                    <p:anim calcmode="lin" valueType="num">
                                      <p:cBhvr>
                                        <p:cTn id="127" dur="500" fill="hold"/>
                                        <p:tgtEl>
                                          <p:spTgt spid="2021"/>
                                        </p:tgtEl>
                                        <p:attrNameLst>
                                          <p:attrName>ppt_y</p:attrName>
                                        </p:attrNameLst>
                                      </p:cBhvr>
                                      <p:tavLst>
                                        <p:tav tm="0">
                                          <p:val>
                                            <p:strVal val="#ppt_y"/>
                                          </p:val>
                                        </p:tav>
                                        <p:tav tm="100000">
                                          <p:val>
                                            <p:strVal val="#ppt_y"/>
                                          </p:val>
                                        </p:tav>
                                      </p:tavLst>
                                    </p:anim>
                                  </p:childTnLst>
                                </p:cTn>
                              </p:par>
                              <p:par>
                                <p:cTn id="128" presetID="42" presetClass="entr" presetSubtype="0" fill="hold" grpId="0" nodeType="withEffect">
                                  <p:stCondLst>
                                    <p:cond delay="0"/>
                                  </p:stCondLst>
                                  <p:childTnLst>
                                    <p:set>
                                      <p:cBhvr>
                                        <p:cTn id="129" dur="1" fill="hold">
                                          <p:stCondLst>
                                            <p:cond delay="0"/>
                                          </p:stCondLst>
                                        </p:cTn>
                                        <p:tgtEl>
                                          <p:spTgt spid="2022"/>
                                        </p:tgtEl>
                                        <p:attrNameLst>
                                          <p:attrName>style.visibility</p:attrName>
                                        </p:attrNameLst>
                                      </p:cBhvr>
                                      <p:to>
                                        <p:strVal val="visible"/>
                                      </p:to>
                                    </p:set>
                                    <p:animEffect transition="in" filter="fade">
                                      <p:cBhvr>
                                        <p:cTn id="130" dur="500"/>
                                        <p:tgtEl>
                                          <p:spTgt spid="2022"/>
                                        </p:tgtEl>
                                      </p:cBhvr>
                                    </p:animEffect>
                                    <p:anim calcmode="lin" valueType="num">
                                      <p:cBhvr>
                                        <p:cTn id="131" dur="500" fill="hold"/>
                                        <p:tgtEl>
                                          <p:spTgt spid="2022"/>
                                        </p:tgtEl>
                                        <p:attrNameLst>
                                          <p:attrName>ppt_x</p:attrName>
                                        </p:attrNameLst>
                                      </p:cBhvr>
                                      <p:tavLst>
                                        <p:tav tm="0">
                                          <p:val>
                                            <p:strVal val="#ppt_x-.035"/>
                                          </p:val>
                                        </p:tav>
                                        <p:tav tm="100000">
                                          <p:val>
                                            <p:strVal val="#ppt_x"/>
                                          </p:val>
                                        </p:tav>
                                      </p:tavLst>
                                    </p:anim>
                                    <p:anim calcmode="lin" valueType="num">
                                      <p:cBhvr>
                                        <p:cTn id="132" dur="500" fill="hold"/>
                                        <p:tgtEl>
                                          <p:spTgt spid="2022"/>
                                        </p:tgtEl>
                                        <p:attrNameLst>
                                          <p:attrName>ppt_y</p:attrName>
                                        </p:attrNameLst>
                                      </p:cBhvr>
                                      <p:tavLst>
                                        <p:tav tm="0">
                                          <p:val>
                                            <p:strVal val="#ppt_y"/>
                                          </p:val>
                                        </p:tav>
                                        <p:tav tm="100000">
                                          <p:val>
                                            <p:strVal val="#ppt_y"/>
                                          </p:val>
                                        </p:tav>
                                      </p:tavLst>
                                    </p:anim>
                                  </p:childTnLst>
                                </p:cTn>
                              </p:par>
                              <p:par>
                                <p:cTn id="133" presetID="42" presetClass="entr" presetSubtype="0" fill="hold" grpId="0" nodeType="withEffect">
                                  <p:stCondLst>
                                    <p:cond delay="0"/>
                                  </p:stCondLst>
                                  <p:childTnLst>
                                    <p:set>
                                      <p:cBhvr>
                                        <p:cTn id="134" dur="1" fill="hold">
                                          <p:stCondLst>
                                            <p:cond delay="0"/>
                                          </p:stCondLst>
                                        </p:cTn>
                                        <p:tgtEl>
                                          <p:spTgt spid="2023"/>
                                        </p:tgtEl>
                                        <p:attrNameLst>
                                          <p:attrName>style.visibility</p:attrName>
                                        </p:attrNameLst>
                                      </p:cBhvr>
                                      <p:to>
                                        <p:strVal val="visible"/>
                                      </p:to>
                                    </p:set>
                                    <p:animEffect transition="in" filter="fade">
                                      <p:cBhvr>
                                        <p:cTn id="135" dur="500"/>
                                        <p:tgtEl>
                                          <p:spTgt spid="2023"/>
                                        </p:tgtEl>
                                      </p:cBhvr>
                                    </p:animEffect>
                                    <p:anim calcmode="lin" valueType="num">
                                      <p:cBhvr>
                                        <p:cTn id="136" dur="500" fill="hold"/>
                                        <p:tgtEl>
                                          <p:spTgt spid="2023"/>
                                        </p:tgtEl>
                                        <p:attrNameLst>
                                          <p:attrName>ppt_x</p:attrName>
                                        </p:attrNameLst>
                                      </p:cBhvr>
                                      <p:tavLst>
                                        <p:tav tm="0">
                                          <p:val>
                                            <p:strVal val="#ppt_x-.035"/>
                                          </p:val>
                                        </p:tav>
                                        <p:tav tm="100000">
                                          <p:val>
                                            <p:strVal val="#ppt_x"/>
                                          </p:val>
                                        </p:tav>
                                      </p:tavLst>
                                    </p:anim>
                                    <p:anim calcmode="lin" valueType="num">
                                      <p:cBhvr>
                                        <p:cTn id="137" dur="500" fill="hold"/>
                                        <p:tgtEl>
                                          <p:spTgt spid="2023"/>
                                        </p:tgtEl>
                                        <p:attrNameLst>
                                          <p:attrName>ppt_y</p:attrName>
                                        </p:attrNameLst>
                                      </p:cBhvr>
                                      <p:tavLst>
                                        <p:tav tm="0">
                                          <p:val>
                                            <p:strVal val="#ppt_y"/>
                                          </p:val>
                                        </p:tav>
                                        <p:tav tm="100000">
                                          <p:val>
                                            <p:strVal val="#ppt_y"/>
                                          </p:val>
                                        </p:tav>
                                      </p:tavLst>
                                    </p:anim>
                                  </p:childTnLst>
                                </p:cTn>
                              </p:par>
                              <p:par>
                                <p:cTn id="138" presetID="42" presetClass="entr" presetSubtype="0" fill="hold" grpId="0" nodeType="withEffect">
                                  <p:stCondLst>
                                    <p:cond delay="0"/>
                                  </p:stCondLst>
                                  <p:childTnLst>
                                    <p:set>
                                      <p:cBhvr>
                                        <p:cTn id="139" dur="1" fill="hold">
                                          <p:stCondLst>
                                            <p:cond delay="0"/>
                                          </p:stCondLst>
                                        </p:cTn>
                                        <p:tgtEl>
                                          <p:spTgt spid="2024"/>
                                        </p:tgtEl>
                                        <p:attrNameLst>
                                          <p:attrName>style.visibility</p:attrName>
                                        </p:attrNameLst>
                                      </p:cBhvr>
                                      <p:to>
                                        <p:strVal val="visible"/>
                                      </p:to>
                                    </p:set>
                                    <p:animEffect transition="in" filter="fade">
                                      <p:cBhvr>
                                        <p:cTn id="140" dur="500"/>
                                        <p:tgtEl>
                                          <p:spTgt spid="2024"/>
                                        </p:tgtEl>
                                      </p:cBhvr>
                                    </p:animEffect>
                                    <p:anim calcmode="lin" valueType="num">
                                      <p:cBhvr>
                                        <p:cTn id="141" dur="500" fill="hold"/>
                                        <p:tgtEl>
                                          <p:spTgt spid="2024"/>
                                        </p:tgtEl>
                                        <p:attrNameLst>
                                          <p:attrName>ppt_x</p:attrName>
                                        </p:attrNameLst>
                                      </p:cBhvr>
                                      <p:tavLst>
                                        <p:tav tm="0">
                                          <p:val>
                                            <p:strVal val="#ppt_x-.035"/>
                                          </p:val>
                                        </p:tav>
                                        <p:tav tm="100000">
                                          <p:val>
                                            <p:strVal val="#ppt_x"/>
                                          </p:val>
                                        </p:tav>
                                      </p:tavLst>
                                    </p:anim>
                                    <p:anim calcmode="lin" valueType="num">
                                      <p:cBhvr>
                                        <p:cTn id="142" dur="500" fill="hold"/>
                                        <p:tgtEl>
                                          <p:spTgt spid="2024"/>
                                        </p:tgtEl>
                                        <p:attrNameLst>
                                          <p:attrName>ppt_y</p:attrName>
                                        </p:attrNameLst>
                                      </p:cBhvr>
                                      <p:tavLst>
                                        <p:tav tm="0">
                                          <p:val>
                                            <p:strVal val="#ppt_y"/>
                                          </p:val>
                                        </p:tav>
                                        <p:tav tm="100000">
                                          <p:val>
                                            <p:strVal val="#ppt_y"/>
                                          </p:val>
                                        </p:tav>
                                      </p:tavLst>
                                    </p:anim>
                                  </p:childTnLst>
                                </p:cTn>
                              </p:par>
                              <p:par>
                                <p:cTn id="143" presetID="22" presetClass="entr" presetSubtype="8" fill="hold" grpId="0" nodeType="withEffect">
                                  <p:stCondLst>
                                    <p:cond delay="140"/>
                                  </p:stCondLst>
                                  <p:childTnLst>
                                    <p:set>
                                      <p:cBhvr>
                                        <p:cTn id="144" dur="1" fill="hold">
                                          <p:stCondLst>
                                            <p:cond delay="0"/>
                                          </p:stCondLst>
                                        </p:cTn>
                                        <p:tgtEl>
                                          <p:spTgt spid="2025"/>
                                        </p:tgtEl>
                                        <p:attrNameLst>
                                          <p:attrName>style.visibility</p:attrName>
                                        </p:attrNameLst>
                                      </p:cBhvr>
                                      <p:to>
                                        <p:strVal val="visible"/>
                                      </p:to>
                                    </p:set>
                                    <p:animEffect transition="in" filter="wipe(left)">
                                      <p:cBhvr>
                                        <p:cTn id="145" dur="400"/>
                                        <p:tgtEl>
                                          <p:spTgt spid="2025"/>
                                        </p:tgtEl>
                                      </p:cBhvr>
                                    </p:animEffect>
                                  </p:childTnLst>
                                </p:cTn>
                              </p:par>
                              <p:par>
                                <p:cTn id="146" presetID="42" presetClass="entr" presetSubtype="0" fill="hold" grpId="0" nodeType="withEffect">
                                  <p:stCondLst>
                                    <p:cond delay="420"/>
                                  </p:stCondLst>
                                  <p:childTnLst>
                                    <p:set>
                                      <p:cBhvr>
                                        <p:cTn id="147" dur="1" fill="hold">
                                          <p:stCondLst>
                                            <p:cond delay="0"/>
                                          </p:stCondLst>
                                        </p:cTn>
                                        <p:tgtEl>
                                          <p:spTgt spid="2026"/>
                                        </p:tgtEl>
                                        <p:attrNameLst>
                                          <p:attrName>style.visibility</p:attrName>
                                        </p:attrNameLst>
                                      </p:cBhvr>
                                      <p:to>
                                        <p:strVal val="visible"/>
                                      </p:to>
                                    </p:set>
                                    <p:animEffect transition="in" filter="fade">
                                      <p:cBhvr>
                                        <p:cTn id="148" dur="500"/>
                                        <p:tgtEl>
                                          <p:spTgt spid="2026"/>
                                        </p:tgtEl>
                                      </p:cBhvr>
                                    </p:animEffect>
                                    <p:anim calcmode="lin" valueType="num">
                                      <p:cBhvr>
                                        <p:cTn id="149" dur="500" fill="hold"/>
                                        <p:tgtEl>
                                          <p:spTgt spid="2026"/>
                                        </p:tgtEl>
                                        <p:attrNameLst>
                                          <p:attrName>ppt_x</p:attrName>
                                        </p:attrNameLst>
                                      </p:cBhvr>
                                      <p:tavLst>
                                        <p:tav tm="0">
                                          <p:val>
                                            <p:strVal val="#ppt_x+.035"/>
                                          </p:val>
                                        </p:tav>
                                        <p:tav tm="100000">
                                          <p:val>
                                            <p:strVal val="#ppt_x"/>
                                          </p:val>
                                        </p:tav>
                                      </p:tavLst>
                                    </p:anim>
                                    <p:anim calcmode="lin" valueType="num">
                                      <p:cBhvr>
                                        <p:cTn id="150" dur="500" fill="hold"/>
                                        <p:tgtEl>
                                          <p:spTgt spid="2026"/>
                                        </p:tgtEl>
                                        <p:attrNameLst>
                                          <p:attrName>ppt_y</p:attrName>
                                        </p:attrNameLst>
                                      </p:cBhvr>
                                      <p:tavLst>
                                        <p:tav tm="0">
                                          <p:val>
                                            <p:strVal val="#ppt_y"/>
                                          </p:val>
                                        </p:tav>
                                        <p:tav tm="100000">
                                          <p:val>
                                            <p:strVal val="#ppt_y"/>
                                          </p:val>
                                        </p:tav>
                                      </p:tavLst>
                                    </p:anim>
                                  </p:childTnLst>
                                </p:cTn>
                              </p:par>
                              <p:par>
                                <p:cTn id="151" presetID="42" presetClass="entr" presetSubtype="0" fill="hold" grpId="0" nodeType="withEffect">
                                  <p:stCondLst>
                                    <p:cond delay="420"/>
                                  </p:stCondLst>
                                  <p:childTnLst>
                                    <p:set>
                                      <p:cBhvr>
                                        <p:cTn id="152" dur="1" fill="hold">
                                          <p:stCondLst>
                                            <p:cond delay="0"/>
                                          </p:stCondLst>
                                        </p:cTn>
                                        <p:tgtEl>
                                          <p:spTgt spid="2027"/>
                                        </p:tgtEl>
                                        <p:attrNameLst>
                                          <p:attrName>style.visibility</p:attrName>
                                        </p:attrNameLst>
                                      </p:cBhvr>
                                      <p:to>
                                        <p:strVal val="visible"/>
                                      </p:to>
                                    </p:set>
                                    <p:animEffect transition="in" filter="fade">
                                      <p:cBhvr>
                                        <p:cTn id="153" dur="500"/>
                                        <p:tgtEl>
                                          <p:spTgt spid="2027"/>
                                        </p:tgtEl>
                                      </p:cBhvr>
                                    </p:animEffect>
                                    <p:anim calcmode="lin" valueType="num">
                                      <p:cBhvr>
                                        <p:cTn id="154" dur="500" fill="hold"/>
                                        <p:tgtEl>
                                          <p:spTgt spid="2027"/>
                                        </p:tgtEl>
                                        <p:attrNameLst>
                                          <p:attrName>ppt_x</p:attrName>
                                        </p:attrNameLst>
                                      </p:cBhvr>
                                      <p:tavLst>
                                        <p:tav tm="0">
                                          <p:val>
                                            <p:strVal val="#ppt_x+.035"/>
                                          </p:val>
                                        </p:tav>
                                        <p:tav tm="100000">
                                          <p:val>
                                            <p:strVal val="#ppt_x"/>
                                          </p:val>
                                        </p:tav>
                                      </p:tavLst>
                                    </p:anim>
                                    <p:anim calcmode="lin" valueType="num">
                                      <p:cBhvr>
                                        <p:cTn id="155" dur="500" fill="hold"/>
                                        <p:tgtEl>
                                          <p:spTgt spid="2027"/>
                                        </p:tgtEl>
                                        <p:attrNameLst>
                                          <p:attrName>ppt_y</p:attrName>
                                        </p:attrNameLst>
                                      </p:cBhvr>
                                      <p:tavLst>
                                        <p:tav tm="0">
                                          <p:val>
                                            <p:strVal val="#ppt_y"/>
                                          </p:val>
                                        </p:tav>
                                        <p:tav tm="100000">
                                          <p:val>
                                            <p:strVal val="#ppt_y"/>
                                          </p:val>
                                        </p:tav>
                                      </p:tavLst>
                                    </p:anim>
                                  </p:childTnLst>
                                </p:cTn>
                              </p:par>
                              <p:par>
                                <p:cTn id="156" presetID="42" presetClass="entr" presetSubtype="0" fill="hold" grpId="0" nodeType="withEffect">
                                  <p:stCondLst>
                                    <p:cond delay="420"/>
                                  </p:stCondLst>
                                  <p:childTnLst>
                                    <p:set>
                                      <p:cBhvr>
                                        <p:cTn id="157" dur="1" fill="hold">
                                          <p:stCondLst>
                                            <p:cond delay="0"/>
                                          </p:stCondLst>
                                        </p:cTn>
                                        <p:tgtEl>
                                          <p:spTgt spid="2028"/>
                                        </p:tgtEl>
                                        <p:attrNameLst>
                                          <p:attrName>style.visibility</p:attrName>
                                        </p:attrNameLst>
                                      </p:cBhvr>
                                      <p:to>
                                        <p:strVal val="visible"/>
                                      </p:to>
                                    </p:set>
                                    <p:animEffect transition="in" filter="fade">
                                      <p:cBhvr>
                                        <p:cTn id="158" dur="500"/>
                                        <p:tgtEl>
                                          <p:spTgt spid="2028"/>
                                        </p:tgtEl>
                                      </p:cBhvr>
                                    </p:animEffect>
                                    <p:anim calcmode="lin" valueType="num">
                                      <p:cBhvr>
                                        <p:cTn id="159" dur="500" fill="hold"/>
                                        <p:tgtEl>
                                          <p:spTgt spid="2028"/>
                                        </p:tgtEl>
                                        <p:attrNameLst>
                                          <p:attrName>ppt_x</p:attrName>
                                        </p:attrNameLst>
                                      </p:cBhvr>
                                      <p:tavLst>
                                        <p:tav tm="0">
                                          <p:val>
                                            <p:strVal val="#ppt_x+.035"/>
                                          </p:val>
                                        </p:tav>
                                        <p:tav tm="100000">
                                          <p:val>
                                            <p:strVal val="#ppt_x"/>
                                          </p:val>
                                        </p:tav>
                                      </p:tavLst>
                                    </p:anim>
                                    <p:anim calcmode="lin" valueType="num">
                                      <p:cBhvr>
                                        <p:cTn id="160" dur="500" fill="hold"/>
                                        <p:tgtEl>
                                          <p:spTgt spid="2028"/>
                                        </p:tgtEl>
                                        <p:attrNameLst>
                                          <p:attrName>ppt_y</p:attrName>
                                        </p:attrNameLst>
                                      </p:cBhvr>
                                      <p:tavLst>
                                        <p:tav tm="0">
                                          <p:val>
                                            <p:strVal val="#ppt_y"/>
                                          </p:val>
                                        </p:tav>
                                        <p:tav tm="100000">
                                          <p:val>
                                            <p:strVal val="#ppt_y"/>
                                          </p:val>
                                        </p:tav>
                                      </p:tavLst>
                                    </p:anim>
                                  </p:childTnLst>
                                </p:cTn>
                              </p:par>
                              <p:par>
                                <p:cTn id="161" presetID="42" presetClass="entr" presetSubtype="0" fill="hold" grpId="0" nodeType="withEffect">
                                  <p:stCondLst>
                                    <p:cond delay="420"/>
                                  </p:stCondLst>
                                  <p:childTnLst>
                                    <p:set>
                                      <p:cBhvr>
                                        <p:cTn id="162" dur="1" fill="hold">
                                          <p:stCondLst>
                                            <p:cond delay="0"/>
                                          </p:stCondLst>
                                        </p:cTn>
                                        <p:tgtEl>
                                          <p:spTgt spid="2029"/>
                                        </p:tgtEl>
                                        <p:attrNameLst>
                                          <p:attrName>style.visibility</p:attrName>
                                        </p:attrNameLst>
                                      </p:cBhvr>
                                      <p:to>
                                        <p:strVal val="visible"/>
                                      </p:to>
                                    </p:set>
                                    <p:animEffect transition="in" filter="fade">
                                      <p:cBhvr>
                                        <p:cTn id="163" dur="500"/>
                                        <p:tgtEl>
                                          <p:spTgt spid="2029"/>
                                        </p:tgtEl>
                                      </p:cBhvr>
                                    </p:animEffect>
                                    <p:anim calcmode="lin" valueType="num">
                                      <p:cBhvr>
                                        <p:cTn id="164" dur="500" fill="hold"/>
                                        <p:tgtEl>
                                          <p:spTgt spid="2029"/>
                                        </p:tgtEl>
                                        <p:attrNameLst>
                                          <p:attrName>ppt_x</p:attrName>
                                        </p:attrNameLst>
                                      </p:cBhvr>
                                      <p:tavLst>
                                        <p:tav tm="0">
                                          <p:val>
                                            <p:strVal val="#ppt_x+.035"/>
                                          </p:val>
                                        </p:tav>
                                        <p:tav tm="100000">
                                          <p:val>
                                            <p:strVal val="#ppt_x"/>
                                          </p:val>
                                        </p:tav>
                                      </p:tavLst>
                                    </p:anim>
                                    <p:anim calcmode="lin" valueType="num">
                                      <p:cBhvr>
                                        <p:cTn id="165" dur="500" fill="hold"/>
                                        <p:tgtEl>
                                          <p:spTgt spid="2029"/>
                                        </p:tgtEl>
                                        <p:attrNameLst>
                                          <p:attrName>ppt_y</p:attrName>
                                        </p:attrNameLst>
                                      </p:cBhvr>
                                      <p:tavLst>
                                        <p:tav tm="0">
                                          <p:val>
                                            <p:strVal val="#ppt_y"/>
                                          </p:val>
                                        </p:tav>
                                        <p:tav tm="100000">
                                          <p:val>
                                            <p:strVal val="#ppt_y"/>
                                          </p:val>
                                        </p:tav>
                                      </p:tavLst>
                                    </p:anim>
                                  </p:childTnLst>
                                </p:cTn>
                              </p:par>
                            </p:childTnLst>
                          </p:cTn>
                        </p:par>
                      </p:childTnLst>
                    </p:cTn>
                  </p:par>
                  <p:par>
                    <p:cTn id="166" fill="hold">
                      <p:stCondLst>
                        <p:cond delay="indefinite"/>
                      </p:stCondLst>
                      <p:childTnLst>
                        <p:par>
                          <p:cTn id="167" fill="hold">
                            <p:stCondLst>
                              <p:cond delay="0"/>
                            </p:stCondLst>
                            <p:childTnLst>
                              <p:par>
                                <p:cTn id="168" presetID="42" presetClass="entr" presetSubtype="0" fill="hold" grpId="0" nodeType="clickEffect">
                                  <p:stCondLst>
                                    <p:cond delay="0"/>
                                  </p:stCondLst>
                                  <p:childTnLst>
                                    <p:set>
                                      <p:cBhvr>
                                        <p:cTn id="169" dur="1" fill="hold">
                                          <p:stCondLst>
                                            <p:cond delay="0"/>
                                          </p:stCondLst>
                                        </p:cTn>
                                        <p:tgtEl>
                                          <p:spTgt spid="2030"/>
                                        </p:tgtEl>
                                        <p:attrNameLst>
                                          <p:attrName>style.visibility</p:attrName>
                                        </p:attrNameLst>
                                      </p:cBhvr>
                                      <p:to>
                                        <p:strVal val="visible"/>
                                      </p:to>
                                    </p:set>
                                    <p:animEffect transition="in" filter="fade">
                                      <p:cBhvr>
                                        <p:cTn id="170" dur="500"/>
                                        <p:tgtEl>
                                          <p:spTgt spid="2030"/>
                                        </p:tgtEl>
                                      </p:cBhvr>
                                    </p:animEffect>
                                    <p:anim calcmode="lin" valueType="num">
                                      <p:cBhvr>
                                        <p:cTn id="171" dur="500" fill="hold"/>
                                        <p:tgtEl>
                                          <p:spTgt spid="2030"/>
                                        </p:tgtEl>
                                        <p:attrNameLst>
                                          <p:attrName>ppt_x</p:attrName>
                                        </p:attrNameLst>
                                      </p:cBhvr>
                                      <p:tavLst>
                                        <p:tav tm="0">
                                          <p:val>
                                            <p:strVal val="#ppt_x-.035"/>
                                          </p:val>
                                        </p:tav>
                                        <p:tav tm="100000">
                                          <p:val>
                                            <p:strVal val="#ppt_x"/>
                                          </p:val>
                                        </p:tav>
                                      </p:tavLst>
                                    </p:anim>
                                    <p:anim calcmode="lin" valueType="num">
                                      <p:cBhvr>
                                        <p:cTn id="172" dur="500" fill="hold"/>
                                        <p:tgtEl>
                                          <p:spTgt spid="2030"/>
                                        </p:tgtEl>
                                        <p:attrNameLst>
                                          <p:attrName>ppt_y</p:attrName>
                                        </p:attrNameLst>
                                      </p:cBhvr>
                                      <p:tavLst>
                                        <p:tav tm="0">
                                          <p:val>
                                            <p:strVal val="#ppt_y"/>
                                          </p:val>
                                        </p:tav>
                                        <p:tav tm="100000">
                                          <p:val>
                                            <p:strVal val="#ppt_y"/>
                                          </p:val>
                                        </p:tav>
                                      </p:tavLst>
                                    </p:anim>
                                  </p:childTnLst>
                                </p:cTn>
                              </p:par>
                              <p:par>
                                <p:cTn id="173" presetID="42" presetClass="entr" presetSubtype="0" fill="hold" grpId="0" nodeType="withEffect">
                                  <p:stCondLst>
                                    <p:cond delay="0"/>
                                  </p:stCondLst>
                                  <p:childTnLst>
                                    <p:set>
                                      <p:cBhvr>
                                        <p:cTn id="174" dur="1" fill="hold">
                                          <p:stCondLst>
                                            <p:cond delay="0"/>
                                          </p:stCondLst>
                                        </p:cTn>
                                        <p:tgtEl>
                                          <p:spTgt spid="2031"/>
                                        </p:tgtEl>
                                        <p:attrNameLst>
                                          <p:attrName>style.visibility</p:attrName>
                                        </p:attrNameLst>
                                      </p:cBhvr>
                                      <p:to>
                                        <p:strVal val="visible"/>
                                      </p:to>
                                    </p:set>
                                    <p:animEffect transition="in" filter="fade">
                                      <p:cBhvr>
                                        <p:cTn id="175" dur="500"/>
                                        <p:tgtEl>
                                          <p:spTgt spid="2031"/>
                                        </p:tgtEl>
                                      </p:cBhvr>
                                    </p:animEffect>
                                    <p:anim calcmode="lin" valueType="num">
                                      <p:cBhvr>
                                        <p:cTn id="176" dur="500" fill="hold"/>
                                        <p:tgtEl>
                                          <p:spTgt spid="2031"/>
                                        </p:tgtEl>
                                        <p:attrNameLst>
                                          <p:attrName>ppt_x</p:attrName>
                                        </p:attrNameLst>
                                      </p:cBhvr>
                                      <p:tavLst>
                                        <p:tav tm="0">
                                          <p:val>
                                            <p:strVal val="#ppt_x-.035"/>
                                          </p:val>
                                        </p:tav>
                                        <p:tav tm="100000">
                                          <p:val>
                                            <p:strVal val="#ppt_x"/>
                                          </p:val>
                                        </p:tav>
                                      </p:tavLst>
                                    </p:anim>
                                    <p:anim calcmode="lin" valueType="num">
                                      <p:cBhvr>
                                        <p:cTn id="177" dur="500" fill="hold"/>
                                        <p:tgtEl>
                                          <p:spTgt spid="2031"/>
                                        </p:tgtEl>
                                        <p:attrNameLst>
                                          <p:attrName>ppt_y</p:attrName>
                                        </p:attrNameLst>
                                      </p:cBhvr>
                                      <p:tavLst>
                                        <p:tav tm="0">
                                          <p:val>
                                            <p:strVal val="#ppt_y"/>
                                          </p:val>
                                        </p:tav>
                                        <p:tav tm="100000">
                                          <p:val>
                                            <p:strVal val="#ppt_y"/>
                                          </p:val>
                                        </p:tav>
                                      </p:tavLst>
                                    </p:anim>
                                  </p:childTnLst>
                                </p:cTn>
                              </p:par>
                              <p:par>
                                <p:cTn id="178" presetID="42" presetClass="entr" presetSubtype="0" fill="hold" grpId="0" nodeType="withEffect">
                                  <p:stCondLst>
                                    <p:cond delay="0"/>
                                  </p:stCondLst>
                                  <p:childTnLst>
                                    <p:set>
                                      <p:cBhvr>
                                        <p:cTn id="179" dur="1" fill="hold">
                                          <p:stCondLst>
                                            <p:cond delay="0"/>
                                          </p:stCondLst>
                                        </p:cTn>
                                        <p:tgtEl>
                                          <p:spTgt spid="2032"/>
                                        </p:tgtEl>
                                        <p:attrNameLst>
                                          <p:attrName>style.visibility</p:attrName>
                                        </p:attrNameLst>
                                      </p:cBhvr>
                                      <p:to>
                                        <p:strVal val="visible"/>
                                      </p:to>
                                    </p:set>
                                    <p:animEffect transition="in" filter="fade">
                                      <p:cBhvr>
                                        <p:cTn id="180" dur="500"/>
                                        <p:tgtEl>
                                          <p:spTgt spid="2032"/>
                                        </p:tgtEl>
                                      </p:cBhvr>
                                    </p:animEffect>
                                    <p:anim calcmode="lin" valueType="num">
                                      <p:cBhvr>
                                        <p:cTn id="181" dur="500" fill="hold"/>
                                        <p:tgtEl>
                                          <p:spTgt spid="2032"/>
                                        </p:tgtEl>
                                        <p:attrNameLst>
                                          <p:attrName>ppt_x</p:attrName>
                                        </p:attrNameLst>
                                      </p:cBhvr>
                                      <p:tavLst>
                                        <p:tav tm="0">
                                          <p:val>
                                            <p:strVal val="#ppt_x-.035"/>
                                          </p:val>
                                        </p:tav>
                                        <p:tav tm="100000">
                                          <p:val>
                                            <p:strVal val="#ppt_x"/>
                                          </p:val>
                                        </p:tav>
                                      </p:tavLst>
                                    </p:anim>
                                    <p:anim calcmode="lin" valueType="num">
                                      <p:cBhvr>
                                        <p:cTn id="182" dur="500" fill="hold"/>
                                        <p:tgtEl>
                                          <p:spTgt spid="2032"/>
                                        </p:tgtEl>
                                        <p:attrNameLst>
                                          <p:attrName>ppt_y</p:attrName>
                                        </p:attrNameLst>
                                      </p:cBhvr>
                                      <p:tavLst>
                                        <p:tav tm="0">
                                          <p:val>
                                            <p:strVal val="#ppt_y"/>
                                          </p:val>
                                        </p:tav>
                                        <p:tav tm="100000">
                                          <p:val>
                                            <p:strVal val="#ppt_y"/>
                                          </p:val>
                                        </p:tav>
                                      </p:tavLst>
                                    </p:anim>
                                  </p:childTnLst>
                                </p:cTn>
                              </p:par>
                              <p:par>
                                <p:cTn id="183" presetID="42" presetClass="entr" presetSubtype="0" fill="hold" grpId="0" nodeType="withEffect">
                                  <p:stCondLst>
                                    <p:cond delay="0"/>
                                  </p:stCondLst>
                                  <p:childTnLst>
                                    <p:set>
                                      <p:cBhvr>
                                        <p:cTn id="184" dur="1" fill="hold">
                                          <p:stCondLst>
                                            <p:cond delay="0"/>
                                          </p:stCondLst>
                                        </p:cTn>
                                        <p:tgtEl>
                                          <p:spTgt spid="2033"/>
                                        </p:tgtEl>
                                        <p:attrNameLst>
                                          <p:attrName>style.visibility</p:attrName>
                                        </p:attrNameLst>
                                      </p:cBhvr>
                                      <p:to>
                                        <p:strVal val="visible"/>
                                      </p:to>
                                    </p:set>
                                    <p:animEffect transition="in" filter="fade">
                                      <p:cBhvr>
                                        <p:cTn id="185" dur="500"/>
                                        <p:tgtEl>
                                          <p:spTgt spid="2033"/>
                                        </p:tgtEl>
                                      </p:cBhvr>
                                    </p:animEffect>
                                    <p:anim calcmode="lin" valueType="num">
                                      <p:cBhvr>
                                        <p:cTn id="186" dur="500" fill="hold"/>
                                        <p:tgtEl>
                                          <p:spTgt spid="2033"/>
                                        </p:tgtEl>
                                        <p:attrNameLst>
                                          <p:attrName>ppt_x</p:attrName>
                                        </p:attrNameLst>
                                      </p:cBhvr>
                                      <p:tavLst>
                                        <p:tav tm="0">
                                          <p:val>
                                            <p:strVal val="#ppt_x-.035"/>
                                          </p:val>
                                        </p:tav>
                                        <p:tav tm="100000">
                                          <p:val>
                                            <p:strVal val="#ppt_x"/>
                                          </p:val>
                                        </p:tav>
                                      </p:tavLst>
                                    </p:anim>
                                    <p:anim calcmode="lin" valueType="num">
                                      <p:cBhvr>
                                        <p:cTn id="187" dur="500" fill="hold"/>
                                        <p:tgtEl>
                                          <p:spTgt spid="2033"/>
                                        </p:tgtEl>
                                        <p:attrNameLst>
                                          <p:attrName>ppt_y</p:attrName>
                                        </p:attrNameLst>
                                      </p:cBhvr>
                                      <p:tavLst>
                                        <p:tav tm="0">
                                          <p:val>
                                            <p:strVal val="#ppt_y"/>
                                          </p:val>
                                        </p:tav>
                                        <p:tav tm="100000">
                                          <p:val>
                                            <p:strVal val="#ppt_y"/>
                                          </p:val>
                                        </p:tav>
                                      </p:tavLst>
                                    </p:anim>
                                  </p:childTnLst>
                                </p:cTn>
                              </p:par>
                              <p:par>
                                <p:cTn id="188" presetID="22" presetClass="entr" presetSubtype="8" fill="hold" grpId="0" nodeType="withEffect">
                                  <p:stCondLst>
                                    <p:cond delay="140"/>
                                  </p:stCondLst>
                                  <p:childTnLst>
                                    <p:set>
                                      <p:cBhvr>
                                        <p:cTn id="189" dur="1" fill="hold">
                                          <p:stCondLst>
                                            <p:cond delay="0"/>
                                          </p:stCondLst>
                                        </p:cTn>
                                        <p:tgtEl>
                                          <p:spTgt spid="2034"/>
                                        </p:tgtEl>
                                        <p:attrNameLst>
                                          <p:attrName>style.visibility</p:attrName>
                                        </p:attrNameLst>
                                      </p:cBhvr>
                                      <p:to>
                                        <p:strVal val="visible"/>
                                      </p:to>
                                    </p:set>
                                    <p:animEffect transition="in" filter="wipe(left)">
                                      <p:cBhvr>
                                        <p:cTn id="190" dur="400"/>
                                        <p:tgtEl>
                                          <p:spTgt spid="2034"/>
                                        </p:tgtEl>
                                      </p:cBhvr>
                                    </p:animEffect>
                                  </p:childTnLst>
                                </p:cTn>
                              </p:par>
                              <p:par>
                                <p:cTn id="191" presetID="42" presetClass="entr" presetSubtype="0" fill="hold" grpId="0" nodeType="withEffect">
                                  <p:stCondLst>
                                    <p:cond delay="420"/>
                                  </p:stCondLst>
                                  <p:childTnLst>
                                    <p:set>
                                      <p:cBhvr>
                                        <p:cTn id="192" dur="1" fill="hold">
                                          <p:stCondLst>
                                            <p:cond delay="0"/>
                                          </p:stCondLst>
                                        </p:cTn>
                                        <p:tgtEl>
                                          <p:spTgt spid="2035"/>
                                        </p:tgtEl>
                                        <p:attrNameLst>
                                          <p:attrName>style.visibility</p:attrName>
                                        </p:attrNameLst>
                                      </p:cBhvr>
                                      <p:to>
                                        <p:strVal val="visible"/>
                                      </p:to>
                                    </p:set>
                                    <p:animEffect transition="in" filter="fade">
                                      <p:cBhvr>
                                        <p:cTn id="193" dur="500"/>
                                        <p:tgtEl>
                                          <p:spTgt spid="2035"/>
                                        </p:tgtEl>
                                      </p:cBhvr>
                                    </p:animEffect>
                                    <p:anim calcmode="lin" valueType="num">
                                      <p:cBhvr>
                                        <p:cTn id="194" dur="500" fill="hold"/>
                                        <p:tgtEl>
                                          <p:spTgt spid="2035"/>
                                        </p:tgtEl>
                                        <p:attrNameLst>
                                          <p:attrName>ppt_x</p:attrName>
                                        </p:attrNameLst>
                                      </p:cBhvr>
                                      <p:tavLst>
                                        <p:tav tm="0">
                                          <p:val>
                                            <p:strVal val="#ppt_x+.035"/>
                                          </p:val>
                                        </p:tav>
                                        <p:tav tm="100000">
                                          <p:val>
                                            <p:strVal val="#ppt_x"/>
                                          </p:val>
                                        </p:tav>
                                      </p:tavLst>
                                    </p:anim>
                                    <p:anim calcmode="lin" valueType="num">
                                      <p:cBhvr>
                                        <p:cTn id="195" dur="500" fill="hold"/>
                                        <p:tgtEl>
                                          <p:spTgt spid="2035"/>
                                        </p:tgtEl>
                                        <p:attrNameLst>
                                          <p:attrName>ppt_y</p:attrName>
                                        </p:attrNameLst>
                                      </p:cBhvr>
                                      <p:tavLst>
                                        <p:tav tm="0">
                                          <p:val>
                                            <p:strVal val="#ppt_y"/>
                                          </p:val>
                                        </p:tav>
                                        <p:tav tm="100000">
                                          <p:val>
                                            <p:strVal val="#ppt_y"/>
                                          </p:val>
                                        </p:tav>
                                      </p:tavLst>
                                    </p:anim>
                                  </p:childTnLst>
                                </p:cTn>
                              </p:par>
                              <p:par>
                                <p:cTn id="196" presetID="42" presetClass="entr" presetSubtype="0" fill="hold" grpId="0" nodeType="withEffect">
                                  <p:stCondLst>
                                    <p:cond delay="420"/>
                                  </p:stCondLst>
                                  <p:childTnLst>
                                    <p:set>
                                      <p:cBhvr>
                                        <p:cTn id="197" dur="1" fill="hold">
                                          <p:stCondLst>
                                            <p:cond delay="0"/>
                                          </p:stCondLst>
                                        </p:cTn>
                                        <p:tgtEl>
                                          <p:spTgt spid="2036"/>
                                        </p:tgtEl>
                                        <p:attrNameLst>
                                          <p:attrName>style.visibility</p:attrName>
                                        </p:attrNameLst>
                                      </p:cBhvr>
                                      <p:to>
                                        <p:strVal val="visible"/>
                                      </p:to>
                                    </p:set>
                                    <p:animEffect transition="in" filter="fade">
                                      <p:cBhvr>
                                        <p:cTn id="198" dur="500"/>
                                        <p:tgtEl>
                                          <p:spTgt spid="2036"/>
                                        </p:tgtEl>
                                      </p:cBhvr>
                                    </p:animEffect>
                                    <p:anim calcmode="lin" valueType="num">
                                      <p:cBhvr>
                                        <p:cTn id="199" dur="500" fill="hold"/>
                                        <p:tgtEl>
                                          <p:spTgt spid="2036"/>
                                        </p:tgtEl>
                                        <p:attrNameLst>
                                          <p:attrName>ppt_x</p:attrName>
                                        </p:attrNameLst>
                                      </p:cBhvr>
                                      <p:tavLst>
                                        <p:tav tm="0">
                                          <p:val>
                                            <p:strVal val="#ppt_x+.035"/>
                                          </p:val>
                                        </p:tav>
                                        <p:tav tm="100000">
                                          <p:val>
                                            <p:strVal val="#ppt_x"/>
                                          </p:val>
                                        </p:tav>
                                      </p:tavLst>
                                    </p:anim>
                                    <p:anim calcmode="lin" valueType="num">
                                      <p:cBhvr>
                                        <p:cTn id="200" dur="500" fill="hold"/>
                                        <p:tgtEl>
                                          <p:spTgt spid="2036"/>
                                        </p:tgtEl>
                                        <p:attrNameLst>
                                          <p:attrName>ppt_y</p:attrName>
                                        </p:attrNameLst>
                                      </p:cBhvr>
                                      <p:tavLst>
                                        <p:tav tm="0">
                                          <p:val>
                                            <p:strVal val="#ppt_y"/>
                                          </p:val>
                                        </p:tav>
                                        <p:tav tm="100000">
                                          <p:val>
                                            <p:strVal val="#ppt_y"/>
                                          </p:val>
                                        </p:tav>
                                      </p:tavLst>
                                    </p:anim>
                                  </p:childTnLst>
                                </p:cTn>
                              </p:par>
                              <p:par>
                                <p:cTn id="201" presetID="42" presetClass="entr" presetSubtype="0" fill="hold" grpId="0" nodeType="withEffect">
                                  <p:stCondLst>
                                    <p:cond delay="420"/>
                                  </p:stCondLst>
                                  <p:childTnLst>
                                    <p:set>
                                      <p:cBhvr>
                                        <p:cTn id="202" dur="1" fill="hold">
                                          <p:stCondLst>
                                            <p:cond delay="0"/>
                                          </p:stCondLst>
                                        </p:cTn>
                                        <p:tgtEl>
                                          <p:spTgt spid="2037"/>
                                        </p:tgtEl>
                                        <p:attrNameLst>
                                          <p:attrName>style.visibility</p:attrName>
                                        </p:attrNameLst>
                                      </p:cBhvr>
                                      <p:to>
                                        <p:strVal val="visible"/>
                                      </p:to>
                                    </p:set>
                                    <p:animEffect transition="in" filter="fade">
                                      <p:cBhvr>
                                        <p:cTn id="203" dur="500"/>
                                        <p:tgtEl>
                                          <p:spTgt spid="2037"/>
                                        </p:tgtEl>
                                      </p:cBhvr>
                                    </p:animEffect>
                                    <p:anim calcmode="lin" valueType="num">
                                      <p:cBhvr>
                                        <p:cTn id="204" dur="500" fill="hold"/>
                                        <p:tgtEl>
                                          <p:spTgt spid="2037"/>
                                        </p:tgtEl>
                                        <p:attrNameLst>
                                          <p:attrName>ppt_x</p:attrName>
                                        </p:attrNameLst>
                                      </p:cBhvr>
                                      <p:tavLst>
                                        <p:tav tm="0">
                                          <p:val>
                                            <p:strVal val="#ppt_x+.035"/>
                                          </p:val>
                                        </p:tav>
                                        <p:tav tm="100000">
                                          <p:val>
                                            <p:strVal val="#ppt_x"/>
                                          </p:val>
                                        </p:tav>
                                      </p:tavLst>
                                    </p:anim>
                                    <p:anim calcmode="lin" valueType="num">
                                      <p:cBhvr>
                                        <p:cTn id="205" dur="500" fill="hold"/>
                                        <p:tgtEl>
                                          <p:spTgt spid="2037"/>
                                        </p:tgtEl>
                                        <p:attrNameLst>
                                          <p:attrName>ppt_y</p:attrName>
                                        </p:attrNameLst>
                                      </p:cBhvr>
                                      <p:tavLst>
                                        <p:tav tm="0">
                                          <p:val>
                                            <p:strVal val="#ppt_y"/>
                                          </p:val>
                                        </p:tav>
                                        <p:tav tm="100000">
                                          <p:val>
                                            <p:strVal val="#ppt_y"/>
                                          </p:val>
                                        </p:tav>
                                      </p:tavLst>
                                    </p:anim>
                                  </p:childTnLst>
                                </p:cTn>
                              </p:par>
                              <p:par>
                                <p:cTn id="206" presetID="42" presetClass="entr" presetSubtype="0" fill="hold" grpId="0" nodeType="withEffect">
                                  <p:stCondLst>
                                    <p:cond delay="420"/>
                                  </p:stCondLst>
                                  <p:childTnLst>
                                    <p:set>
                                      <p:cBhvr>
                                        <p:cTn id="207" dur="1" fill="hold">
                                          <p:stCondLst>
                                            <p:cond delay="0"/>
                                          </p:stCondLst>
                                        </p:cTn>
                                        <p:tgtEl>
                                          <p:spTgt spid="2038"/>
                                        </p:tgtEl>
                                        <p:attrNameLst>
                                          <p:attrName>style.visibility</p:attrName>
                                        </p:attrNameLst>
                                      </p:cBhvr>
                                      <p:to>
                                        <p:strVal val="visible"/>
                                      </p:to>
                                    </p:set>
                                    <p:animEffect transition="in" filter="fade">
                                      <p:cBhvr>
                                        <p:cTn id="208" dur="500"/>
                                        <p:tgtEl>
                                          <p:spTgt spid="2038"/>
                                        </p:tgtEl>
                                      </p:cBhvr>
                                    </p:animEffect>
                                    <p:anim calcmode="lin" valueType="num">
                                      <p:cBhvr>
                                        <p:cTn id="209" dur="500" fill="hold"/>
                                        <p:tgtEl>
                                          <p:spTgt spid="2038"/>
                                        </p:tgtEl>
                                        <p:attrNameLst>
                                          <p:attrName>ppt_x</p:attrName>
                                        </p:attrNameLst>
                                      </p:cBhvr>
                                      <p:tavLst>
                                        <p:tav tm="0">
                                          <p:val>
                                            <p:strVal val="#ppt_x+.035"/>
                                          </p:val>
                                        </p:tav>
                                        <p:tav tm="100000">
                                          <p:val>
                                            <p:strVal val="#ppt_x"/>
                                          </p:val>
                                        </p:tav>
                                      </p:tavLst>
                                    </p:anim>
                                    <p:anim calcmode="lin" valueType="num">
                                      <p:cBhvr>
                                        <p:cTn id="210" dur="500" fill="hold"/>
                                        <p:tgtEl>
                                          <p:spTgt spid="20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7" grpId="0" animBg="1"/>
      <p:bldP spid="2001" grpId="0" animBg="1"/>
      <p:bldP spid="2002" grpId="0" animBg="1"/>
      <p:bldP spid="2003" grpId="0" animBg="1"/>
      <p:bldP spid="2004" grpId="0" animBg="1"/>
      <p:bldP spid="2005" grpId="0" animBg="1"/>
      <p:bldP spid="2006" grpId="0" animBg="1"/>
      <p:bldP spid="2007" grpId="0" animBg="1"/>
      <p:bldP spid="2008" grpId="0" animBg="1"/>
      <p:bldP spid="2009" grpId="0" animBg="1"/>
      <p:bldP spid="2010" grpId="0" animBg="1"/>
      <p:bldP spid="2011" grpId="0" animBg="1"/>
      <p:bldP spid="2012" grpId="0" animBg="1"/>
      <p:bldP spid="2013" grpId="0" animBg="1"/>
      <p:bldP spid="2014" grpId="0" animBg="1"/>
      <p:bldP spid="2015" grpId="0" animBg="1"/>
      <p:bldP spid="2016" grpId="0" animBg="1"/>
      <p:bldP spid="2017" grpId="0" animBg="1"/>
      <p:bldP spid="2018" grpId="0" animBg="1"/>
      <p:bldP spid="2019" grpId="0" animBg="1"/>
      <p:bldP spid="2020" grpId="0" animBg="1"/>
      <p:bldP spid="2021" grpId="0" animBg="1"/>
      <p:bldP spid="2022" grpId="0" animBg="1"/>
      <p:bldP spid="2023" grpId="0" animBg="1"/>
      <p:bldP spid="2024" grpId="0" animBg="1"/>
      <p:bldP spid="2025" grpId="0" animBg="1"/>
      <p:bldP spid="2026" grpId="0" animBg="1"/>
      <p:bldP spid="2027" grpId="0" animBg="1"/>
      <p:bldP spid="2028" grpId="0" animBg="1"/>
      <p:bldP spid="2029" grpId="0" animBg="1"/>
      <p:bldP spid="2030" grpId="0" animBg="1"/>
      <p:bldP spid="2031" grpId="0" animBg="1"/>
      <p:bldP spid="2032" grpId="0" animBg="1"/>
      <p:bldP spid="2033" grpId="0" animBg="1"/>
      <p:bldP spid="2034" grpId="0" animBg="1"/>
      <p:bldP spid="2035" grpId="0" animBg="1"/>
      <p:bldP spid="2036" grpId="0" animBg="1"/>
      <p:bldP spid="2037" grpId="0" animBg="1"/>
      <p:bldP spid="203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B0E82-26D0-69BE-88CE-A38DA066F2D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93F5D6-0063-A260-8A7B-2B70A642B910}"/>
              </a:ext>
            </a:extLst>
          </p:cNvPr>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0" name="CoBar0">
            <a:extLst>
              <a:ext uri="{FF2B5EF4-FFF2-40B4-BE49-F238E27FC236}">
                <a16:creationId xmlns:a16="http://schemas.microsoft.com/office/drawing/2014/main" id="{1C96AD22-35BB-49D5-B7B0-77F3841B9948}"/>
              </a:ext>
            </a:extLst>
          </p:cNvPr>
          <p:cNvSpPr/>
          <p:nvPr/>
        </p:nvSpPr>
        <p:spPr>
          <a:xfrm>
            <a:off x="901700" y="3025991"/>
            <a:ext cx="3263900" cy="63500"/>
          </a:xfrm>
          <a:prstGeom prst="rect">
            <a:avLst/>
          </a:prstGeom>
          <a:solidFill>
            <a:srgbClr val="B9AFA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71" name="CoLbl0">
            <a:extLst>
              <a:ext uri="{FF2B5EF4-FFF2-40B4-BE49-F238E27FC236}">
                <a16:creationId xmlns:a16="http://schemas.microsoft.com/office/drawing/2014/main" id="{61D2F656-3F6C-498B-BBF4-174DE0029728}"/>
              </a:ext>
            </a:extLst>
          </p:cNvPr>
          <p:cNvSpPr txBox="1"/>
          <p:nvPr/>
        </p:nvSpPr>
        <p:spPr>
          <a:xfrm>
            <a:off x="901700" y="3203791"/>
            <a:ext cx="3263900" cy="307777"/>
          </a:xfrm>
          <a:prstGeom prst="rect">
            <a:avLst/>
          </a:prstGeom>
          <a:noFill/>
        </p:spPr>
        <p:txBody>
          <a:bodyPr vertOverflow="overflow" vert="horz" wrap="square" rtlCol="0" anchor="t">
            <a:spAutoFit/>
          </a:bodyPr>
          <a:lstStyle/>
          <a:p>
            <a:pPr algn="l">
              <a:spcBef>
                <a:spcPct val="0"/>
              </a:spcBef>
              <a:buNone/>
            </a:pPr>
            <a:r>
              <a:rPr lang="fr-FR" sz="1400" b="1" spc="200" dirty="0">
                <a:solidFill>
                  <a:srgbClr val="8A8580"/>
                </a:solidFill>
                <a:latin typeface="Montserrat"/>
              </a:rPr>
              <a:t>LE PROBLÈME</a:t>
            </a:r>
          </a:p>
        </p:txBody>
      </p:sp>
      <p:sp>
        <p:nvSpPr>
          <p:cNvPr id="72" name="CoVal0">
            <a:extLst>
              <a:ext uri="{FF2B5EF4-FFF2-40B4-BE49-F238E27FC236}">
                <a16:creationId xmlns:a16="http://schemas.microsoft.com/office/drawing/2014/main" id="{A2F9B15F-BD88-4228-A3AD-F0BB1A1A89E3}"/>
              </a:ext>
            </a:extLst>
          </p:cNvPr>
          <p:cNvSpPr txBox="1"/>
          <p:nvPr/>
        </p:nvSpPr>
        <p:spPr>
          <a:xfrm>
            <a:off x="901700" y="3508591"/>
            <a:ext cx="3263900" cy="451406"/>
          </a:xfrm>
          <a:prstGeom prst="rect">
            <a:avLst/>
          </a:prstGeom>
          <a:noFill/>
        </p:spPr>
        <p:txBody>
          <a:bodyPr vertOverflow="overflow" vert="horz" wrap="square" rtlCol="0" anchor="t">
            <a:spAutoFit/>
          </a:bodyPr>
          <a:lstStyle/>
          <a:p>
            <a:pPr algn="l">
              <a:lnSpc>
                <a:spcPts val="2800"/>
              </a:lnSpc>
              <a:spcBef>
                <a:spcPct val="0"/>
              </a:spcBef>
              <a:buNone/>
            </a:pPr>
            <a:r>
              <a:rPr lang="fr-FR" sz="2600" b="1" dirty="0">
                <a:solidFill>
                  <a:srgbClr val="16294A"/>
                </a:solidFill>
                <a:latin typeface="Montserrat"/>
              </a:rPr>
              <a:t>2 041 demandes</a:t>
            </a:r>
          </a:p>
        </p:txBody>
      </p:sp>
      <p:sp>
        <p:nvSpPr>
          <p:cNvPr id="74" name="CoArw0">
            <a:extLst>
              <a:ext uri="{FF2B5EF4-FFF2-40B4-BE49-F238E27FC236}">
                <a16:creationId xmlns:a16="http://schemas.microsoft.com/office/drawing/2014/main" id="{138BF321-85AA-4C8E-8C0B-1FDC2AD9EB54}"/>
              </a:ext>
            </a:extLst>
          </p:cNvPr>
          <p:cNvSpPr/>
          <p:nvPr/>
        </p:nvSpPr>
        <p:spPr>
          <a:xfrm>
            <a:off x="4279900" y="3686391"/>
            <a:ext cx="177800" cy="152400"/>
          </a:xfrm>
          <a:prstGeom prst="rightArrow">
            <a:avLst/>
          </a:prstGeom>
          <a:solidFill>
            <a:srgbClr val="B9AFA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75" name="CoBar1">
            <a:extLst>
              <a:ext uri="{FF2B5EF4-FFF2-40B4-BE49-F238E27FC236}">
                <a16:creationId xmlns:a16="http://schemas.microsoft.com/office/drawing/2014/main" id="{C35D0C1F-0ADE-44C0-9DA0-7730850FB6A8}"/>
              </a:ext>
            </a:extLst>
          </p:cNvPr>
          <p:cNvSpPr/>
          <p:nvPr/>
        </p:nvSpPr>
        <p:spPr>
          <a:xfrm>
            <a:off x="4470400" y="3025991"/>
            <a:ext cx="3263900" cy="63500"/>
          </a:xfrm>
          <a:prstGeom prst="rect">
            <a:avLst/>
          </a:prstGeom>
          <a:solidFill>
            <a:srgbClr val="1629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76" name="CoLbl1">
            <a:extLst>
              <a:ext uri="{FF2B5EF4-FFF2-40B4-BE49-F238E27FC236}">
                <a16:creationId xmlns:a16="http://schemas.microsoft.com/office/drawing/2014/main" id="{33F8AD0E-5860-448A-ABDE-5D539C06365F}"/>
              </a:ext>
            </a:extLst>
          </p:cNvPr>
          <p:cNvSpPr txBox="1"/>
          <p:nvPr/>
        </p:nvSpPr>
        <p:spPr>
          <a:xfrm>
            <a:off x="4470400" y="3203791"/>
            <a:ext cx="3263900" cy="307777"/>
          </a:xfrm>
          <a:prstGeom prst="rect">
            <a:avLst/>
          </a:prstGeom>
          <a:noFill/>
        </p:spPr>
        <p:txBody>
          <a:bodyPr vertOverflow="overflow" vert="horz" wrap="square" rtlCol="0" anchor="t">
            <a:spAutoFit/>
          </a:bodyPr>
          <a:lstStyle/>
          <a:p>
            <a:pPr algn="l">
              <a:spcBef>
                <a:spcPct val="0"/>
              </a:spcBef>
              <a:buNone/>
            </a:pPr>
            <a:r>
              <a:rPr lang="fr-FR" sz="1400" b="1" spc="200" dirty="0">
                <a:solidFill>
                  <a:srgbClr val="8A8580"/>
                </a:solidFill>
                <a:latin typeface="Montserrat"/>
              </a:rPr>
              <a:t>NOTRE RÉPONSE</a:t>
            </a:r>
          </a:p>
        </p:txBody>
      </p:sp>
      <p:sp>
        <p:nvSpPr>
          <p:cNvPr id="77" name="CoVal1">
            <a:extLst>
              <a:ext uri="{FF2B5EF4-FFF2-40B4-BE49-F238E27FC236}">
                <a16:creationId xmlns:a16="http://schemas.microsoft.com/office/drawing/2014/main" id="{85E10069-4398-4955-86F3-AF2D625AC5F8}"/>
              </a:ext>
            </a:extLst>
          </p:cNvPr>
          <p:cNvSpPr txBox="1"/>
          <p:nvPr/>
        </p:nvSpPr>
        <p:spPr>
          <a:xfrm>
            <a:off x="4470400" y="3508591"/>
            <a:ext cx="3515360" cy="451406"/>
          </a:xfrm>
          <a:prstGeom prst="rect">
            <a:avLst/>
          </a:prstGeom>
          <a:noFill/>
        </p:spPr>
        <p:txBody>
          <a:bodyPr vertOverflow="overflow" vert="horz" wrap="square" rtlCol="0" anchor="t">
            <a:spAutoFit/>
          </a:bodyPr>
          <a:lstStyle/>
          <a:p>
            <a:pPr algn="l">
              <a:lnSpc>
                <a:spcPts val="2800"/>
              </a:lnSpc>
              <a:spcBef>
                <a:spcPct val="0"/>
              </a:spcBef>
              <a:buNone/>
            </a:pPr>
            <a:r>
              <a:rPr lang="fr-FR" sz="2600" b="1" dirty="0">
                <a:solidFill>
                  <a:srgbClr val="16294A"/>
                </a:solidFill>
                <a:latin typeface="Montserrat"/>
              </a:rPr>
              <a:t>NGONI IA SERVICE</a:t>
            </a:r>
          </a:p>
        </p:txBody>
      </p:sp>
      <p:sp>
        <p:nvSpPr>
          <p:cNvPr id="79" name="CoArw1">
            <a:extLst>
              <a:ext uri="{FF2B5EF4-FFF2-40B4-BE49-F238E27FC236}">
                <a16:creationId xmlns:a16="http://schemas.microsoft.com/office/drawing/2014/main" id="{9A7C6495-5691-47DC-BC63-969DDEB5F9D7}"/>
              </a:ext>
            </a:extLst>
          </p:cNvPr>
          <p:cNvSpPr/>
          <p:nvPr/>
        </p:nvSpPr>
        <p:spPr>
          <a:xfrm>
            <a:off x="7848600" y="3686391"/>
            <a:ext cx="177800" cy="152400"/>
          </a:xfrm>
          <a:prstGeom prst="rightArrow">
            <a:avLst/>
          </a:prstGeom>
          <a:solidFill>
            <a:srgbClr val="B9AFA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80" name="CoBar2">
            <a:extLst>
              <a:ext uri="{FF2B5EF4-FFF2-40B4-BE49-F238E27FC236}">
                <a16:creationId xmlns:a16="http://schemas.microsoft.com/office/drawing/2014/main" id="{F40C53D2-9850-4A5D-AE18-8FAFEA347066}"/>
              </a:ext>
            </a:extLst>
          </p:cNvPr>
          <p:cNvSpPr/>
          <p:nvPr/>
        </p:nvSpPr>
        <p:spPr>
          <a:xfrm>
            <a:off x="8039100" y="3025991"/>
            <a:ext cx="3263900" cy="63500"/>
          </a:xfrm>
          <a:prstGeom prst="rect">
            <a:avLst/>
          </a:prstGeom>
          <a:solidFill>
            <a:srgbClr val="F96A0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81" name="CoLbl2">
            <a:extLst>
              <a:ext uri="{FF2B5EF4-FFF2-40B4-BE49-F238E27FC236}">
                <a16:creationId xmlns:a16="http://schemas.microsoft.com/office/drawing/2014/main" id="{B4D2E799-81E4-4D91-BD90-3596EC6B34EF}"/>
              </a:ext>
            </a:extLst>
          </p:cNvPr>
          <p:cNvSpPr txBox="1"/>
          <p:nvPr/>
        </p:nvSpPr>
        <p:spPr>
          <a:xfrm>
            <a:off x="8039100" y="3203791"/>
            <a:ext cx="3263900" cy="307777"/>
          </a:xfrm>
          <a:prstGeom prst="rect">
            <a:avLst/>
          </a:prstGeom>
          <a:noFill/>
        </p:spPr>
        <p:txBody>
          <a:bodyPr vertOverflow="overflow" vert="horz" wrap="square" rtlCol="0" anchor="t">
            <a:spAutoFit/>
          </a:bodyPr>
          <a:lstStyle/>
          <a:p>
            <a:pPr algn="l">
              <a:spcBef>
                <a:spcPct val="0"/>
              </a:spcBef>
              <a:buNone/>
            </a:pPr>
            <a:r>
              <a:rPr lang="fr-FR" sz="1400" b="1" spc="200" dirty="0">
                <a:solidFill>
                  <a:srgbClr val="F96A09"/>
                </a:solidFill>
                <a:latin typeface="Montserrat"/>
              </a:rPr>
              <a:t>LE RÉSULTAT</a:t>
            </a:r>
          </a:p>
        </p:txBody>
      </p:sp>
      <p:sp>
        <p:nvSpPr>
          <p:cNvPr id="82" name="CoVal2">
            <a:extLst>
              <a:ext uri="{FF2B5EF4-FFF2-40B4-BE49-F238E27FC236}">
                <a16:creationId xmlns:a16="http://schemas.microsoft.com/office/drawing/2014/main" id="{48DD9D48-BEB8-4A7C-AD4D-71B337F49771}"/>
              </a:ext>
            </a:extLst>
          </p:cNvPr>
          <p:cNvSpPr txBox="1"/>
          <p:nvPr/>
        </p:nvSpPr>
        <p:spPr>
          <a:xfrm>
            <a:off x="8039100" y="3508591"/>
            <a:ext cx="3263900" cy="451406"/>
          </a:xfrm>
          <a:prstGeom prst="rect">
            <a:avLst/>
          </a:prstGeom>
          <a:noFill/>
        </p:spPr>
        <p:txBody>
          <a:bodyPr vertOverflow="overflow" vert="horz" wrap="square" rtlCol="0" anchor="t">
            <a:spAutoFit/>
          </a:bodyPr>
          <a:lstStyle/>
          <a:p>
            <a:pPr algn="l">
              <a:lnSpc>
                <a:spcPts val="2800"/>
              </a:lnSpc>
              <a:spcBef>
                <a:spcPct val="0"/>
              </a:spcBef>
              <a:buNone/>
            </a:pPr>
            <a:r>
              <a:rPr lang="fr-FR" sz="2600" b="1" dirty="0">
                <a:solidFill>
                  <a:srgbClr val="F96A09"/>
                </a:solidFill>
                <a:latin typeface="Montserrat"/>
              </a:rPr>
              <a:t>91,81 %</a:t>
            </a:r>
          </a:p>
        </p:txBody>
      </p:sp>
      <p:grpSp>
        <p:nvGrpSpPr>
          <p:cNvPr id="16" name="Groupe 15">
            <a:extLst>
              <a:ext uri="{FF2B5EF4-FFF2-40B4-BE49-F238E27FC236}">
                <a16:creationId xmlns:a16="http://schemas.microsoft.com/office/drawing/2014/main" id="{0BEEC9C1-C930-3D70-929B-BD1E8CB93538}"/>
              </a:ext>
            </a:extLst>
          </p:cNvPr>
          <p:cNvGrpSpPr/>
          <p:nvPr/>
        </p:nvGrpSpPr>
        <p:grpSpPr>
          <a:xfrm>
            <a:off x="901700" y="5076371"/>
            <a:ext cx="7378700" cy="736600"/>
            <a:chOff x="901700" y="5283200"/>
            <a:chExt cx="7378700" cy="736600"/>
          </a:xfrm>
        </p:grpSpPr>
        <p:sp>
          <p:nvSpPr>
            <p:cNvPr id="84" name="CoBand">
              <a:extLst>
                <a:ext uri="{FF2B5EF4-FFF2-40B4-BE49-F238E27FC236}">
                  <a16:creationId xmlns:a16="http://schemas.microsoft.com/office/drawing/2014/main" id="{9E90B23D-4302-4093-8394-5AF8B00D58AB}"/>
                </a:ext>
              </a:extLst>
            </p:cNvPr>
            <p:cNvSpPr/>
            <p:nvPr/>
          </p:nvSpPr>
          <p:spPr>
            <a:xfrm>
              <a:off x="901700" y="5283200"/>
              <a:ext cx="7378700" cy="736600"/>
            </a:xfrm>
            <a:prstGeom prst="rect">
              <a:avLst/>
            </a:prstGeom>
            <a:solidFill>
              <a:srgbClr val="16294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85" name="CoBandTxt">
              <a:extLst>
                <a:ext uri="{FF2B5EF4-FFF2-40B4-BE49-F238E27FC236}">
                  <a16:creationId xmlns:a16="http://schemas.microsoft.com/office/drawing/2014/main" id="{6D3FE790-F12C-4FD9-A018-7EBFF48409A0}"/>
                </a:ext>
              </a:extLst>
            </p:cNvPr>
            <p:cNvSpPr txBox="1"/>
            <p:nvPr/>
          </p:nvSpPr>
          <p:spPr>
            <a:xfrm>
              <a:off x="1117600" y="5372064"/>
              <a:ext cx="6921500" cy="591829"/>
            </a:xfrm>
            <a:prstGeom prst="rect">
              <a:avLst/>
            </a:prstGeom>
            <a:noFill/>
          </p:spPr>
          <p:txBody>
            <a:bodyPr vertOverflow="overflow" vert="horz" wrap="square" rtlCol="0" anchor="t">
              <a:spAutoFit/>
            </a:bodyPr>
            <a:lstStyle/>
            <a:p>
              <a:pPr algn="l">
                <a:lnSpc>
                  <a:spcPts val="2000"/>
                </a:lnSpc>
                <a:spcBef>
                  <a:spcPct val="0"/>
                </a:spcBef>
                <a:buNone/>
              </a:pPr>
              <a:r>
                <a:rPr lang="fr-FR" sz="1600" b="1" dirty="0">
                  <a:solidFill>
                    <a:srgbClr val="FFFFFF"/>
                  </a:solidFill>
                  <a:latin typeface="Montserrat"/>
                </a:rPr>
                <a:t>Neuf demandes sur dix ne remontent plus jusqu’à un agent humain.</a:t>
              </a:r>
            </a:p>
          </p:txBody>
        </p:sp>
      </p:grpSp>
      <p:sp>
        <p:nvSpPr>
          <p:cNvPr id="14" name="ZoneTexte 13">
            <a:extLst>
              <a:ext uri="{FF2B5EF4-FFF2-40B4-BE49-F238E27FC236}">
                <a16:creationId xmlns:a16="http://schemas.microsoft.com/office/drawing/2014/main" id="{314CA4AA-6DB6-4778-2021-09149BAD9D31}"/>
              </a:ext>
            </a:extLst>
          </p:cNvPr>
          <p:cNvSpPr txBox="1"/>
          <p:nvPr/>
        </p:nvSpPr>
        <p:spPr>
          <a:xfrm>
            <a:off x="1117600" y="1610057"/>
            <a:ext cx="9304600" cy="830997"/>
          </a:xfrm>
          <a:prstGeom prst="rect">
            <a:avLst/>
          </a:prstGeom>
          <a:noFill/>
        </p:spPr>
        <p:txBody>
          <a:bodyPr wrap="square" rtlCol="0">
            <a:spAutoFit/>
          </a:bodyPr>
          <a:lstStyle/>
          <a:p>
            <a:r>
              <a:rPr lang="fr-FR" sz="4800" b="1" dirty="0">
                <a:solidFill>
                  <a:srgbClr val="1F1B18"/>
                </a:solidFill>
                <a:latin typeface="Georgia Bold"/>
                <a:cs typeface="Times New Roman" panose="02020603050405020304" pitchFamily="18" charset="0"/>
              </a:rPr>
              <a:t>CONCLUSION</a:t>
            </a:r>
          </a:p>
        </p:txBody>
      </p:sp>
      <p:sp>
        <p:nvSpPr>
          <p:cNvPr id="5" name="Rectangle 4">
            <a:extLst>
              <a:ext uri="{FF2B5EF4-FFF2-40B4-BE49-F238E27FC236}">
                <a16:creationId xmlns:a16="http://schemas.microsoft.com/office/drawing/2014/main" id="{88677E4E-D1DF-269A-0D7E-3C656B0B3CB0}"/>
              </a:ext>
            </a:extLst>
          </p:cNvPr>
          <p:cNvSpPr>
            <a:spLocks/>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FE5BDEE1-4AFC-44AA-BFBB-6E44032F6138}" type="slidenum">
              <a:rPr lang="fr-FR" sz="1600" b="1" dirty="0">
                <a:solidFill>
                  <a:srgbClr val="FFFFFF"/>
                </a:solidFill>
                <a:latin typeface="Montserrat"/>
              </a:rPr>
              <a:t>21</a:t>
            </a:fld>
            <a:endParaRPr lang="fr-FR" sz="1600" b="1" dirty="0">
              <a:solidFill>
                <a:srgbClr val="FFFFFF"/>
              </a:solidFill>
              <a:latin typeface="Montserrat"/>
            </a:endParaRPr>
          </a:p>
        </p:txBody>
      </p:sp>
    </p:spTree>
    <p:extLst>
      <p:ext uri="{BB962C8B-B14F-4D97-AF65-F5344CB8AC3E}">
        <p14:creationId xmlns:p14="http://schemas.microsoft.com/office/powerpoint/2010/main" val="3776170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50"/>
                                        <p:tgtEl>
                                          <p:spTgt spid="14"/>
                                        </p:tgtEl>
                                      </p:cBhvr>
                                    </p:animEffect>
                                    <p:anim calcmode="lin" valueType="num">
                                      <p:cBhvr>
                                        <p:cTn id="8" dur="450" fill="hold"/>
                                        <p:tgtEl>
                                          <p:spTgt spid="14"/>
                                        </p:tgtEl>
                                        <p:attrNameLst>
                                          <p:attrName>ppt_x</p:attrName>
                                        </p:attrNameLst>
                                      </p:cBhvr>
                                      <p:tavLst>
                                        <p:tav tm="0">
                                          <p:val>
                                            <p:strVal val="#ppt_x"/>
                                          </p:val>
                                        </p:tav>
                                        <p:tav tm="100000">
                                          <p:val>
                                            <p:strVal val="#ppt_x"/>
                                          </p:val>
                                        </p:tav>
                                      </p:tavLst>
                                    </p:anim>
                                    <p:anim calcmode="lin" valueType="num">
                                      <p:cBhvr>
                                        <p:cTn id="9" dur="450" fill="hold"/>
                                        <p:tgtEl>
                                          <p:spTgt spid="14"/>
                                        </p:tgtEl>
                                        <p:attrNameLst>
                                          <p:attrName>ppt_y</p:attrName>
                                        </p:attrNameLst>
                                      </p:cBhvr>
                                      <p:tavLst>
                                        <p:tav tm="0">
                                          <p:val>
                                            <p:strVal val="#ppt_y+.03"/>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0"/>
                                        </p:tgtEl>
                                        <p:attrNameLst>
                                          <p:attrName>style.visibility</p:attrName>
                                        </p:attrNameLst>
                                      </p:cBhvr>
                                      <p:to>
                                        <p:strVal val="visible"/>
                                      </p:to>
                                    </p:set>
                                    <p:animEffect transition="in" filter="fade">
                                      <p:cBhvr>
                                        <p:cTn id="14" dur="450"/>
                                        <p:tgtEl>
                                          <p:spTgt spid="70"/>
                                        </p:tgtEl>
                                      </p:cBhvr>
                                    </p:animEffect>
                                    <p:anim calcmode="lin" valueType="num">
                                      <p:cBhvr>
                                        <p:cTn id="15" dur="450" fill="hold"/>
                                        <p:tgtEl>
                                          <p:spTgt spid="70"/>
                                        </p:tgtEl>
                                        <p:attrNameLst>
                                          <p:attrName>ppt_x</p:attrName>
                                        </p:attrNameLst>
                                      </p:cBhvr>
                                      <p:tavLst>
                                        <p:tav tm="0">
                                          <p:val>
                                            <p:strVal val="#ppt_x"/>
                                          </p:val>
                                        </p:tav>
                                        <p:tav tm="100000">
                                          <p:val>
                                            <p:strVal val="#ppt_x"/>
                                          </p:val>
                                        </p:tav>
                                      </p:tavLst>
                                    </p:anim>
                                    <p:anim calcmode="lin" valueType="num">
                                      <p:cBhvr>
                                        <p:cTn id="16" dur="450" fill="hold"/>
                                        <p:tgtEl>
                                          <p:spTgt spid="70"/>
                                        </p:tgtEl>
                                        <p:attrNameLst>
                                          <p:attrName>ppt_y</p:attrName>
                                        </p:attrNameLst>
                                      </p:cBhvr>
                                      <p:tavLst>
                                        <p:tav tm="0">
                                          <p:val>
                                            <p:strVal val="#ppt_y+.03"/>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fade">
                                      <p:cBhvr>
                                        <p:cTn id="19" dur="450"/>
                                        <p:tgtEl>
                                          <p:spTgt spid="71"/>
                                        </p:tgtEl>
                                      </p:cBhvr>
                                    </p:animEffect>
                                    <p:anim calcmode="lin" valueType="num">
                                      <p:cBhvr>
                                        <p:cTn id="20" dur="450" fill="hold"/>
                                        <p:tgtEl>
                                          <p:spTgt spid="71"/>
                                        </p:tgtEl>
                                        <p:attrNameLst>
                                          <p:attrName>ppt_x</p:attrName>
                                        </p:attrNameLst>
                                      </p:cBhvr>
                                      <p:tavLst>
                                        <p:tav tm="0">
                                          <p:val>
                                            <p:strVal val="#ppt_x"/>
                                          </p:val>
                                        </p:tav>
                                        <p:tav tm="100000">
                                          <p:val>
                                            <p:strVal val="#ppt_x"/>
                                          </p:val>
                                        </p:tav>
                                      </p:tavLst>
                                    </p:anim>
                                    <p:anim calcmode="lin" valueType="num">
                                      <p:cBhvr>
                                        <p:cTn id="21" dur="450" fill="hold"/>
                                        <p:tgtEl>
                                          <p:spTgt spid="71"/>
                                        </p:tgtEl>
                                        <p:attrNameLst>
                                          <p:attrName>ppt_y</p:attrName>
                                        </p:attrNameLst>
                                      </p:cBhvr>
                                      <p:tavLst>
                                        <p:tav tm="0">
                                          <p:val>
                                            <p:strVal val="#ppt_y+.03"/>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2"/>
                                        </p:tgtEl>
                                        <p:attrNameLst>
                                          <p:attrName>style.visibility</p:attrName>
                                        </p:attrNameLst>
                                      </p:cBhvr>
                                      <p:to>
                                        <p:strVal val="visible"/>
                                      </p:to>
                                    </p:set>
                                    <p:animEffect transition="in" filter="fade">
                                      <p:cBhvr>
                                        <p:cTn id="24" dur="450"/>
                                        <p:tgtEl>
                                          <p:spTgt spid="72"/>
                                        </p:tgtEl>
                                      </p:cBhvr>
                                    </p:animEffect>
                                    <p:anim calcmode="lin" valueType="num">
                                      <p:cBhvr>
                                        <p:cTn id="25" dur="450" fill="hold"/>
                                        <p:tgtEl>
                                          <p:spTgt spid="72"/>
                                        </p:tgtEl>
                                        <p:attrNameLst>
                                          <p:attrName>ppt_x</p:attrName>
                                        </p:attrNameLst>
                                      </p:cBhvr>
                                      <p:tavLst>
                                        <p:tav tm="0">
                                          <p:val>
                                            <p:strVal val="#ppt_x"/>
                                          </p:val>
                                        </p:tav>
                                        <p:tav tm="100000">
                                          <p:val>
                                            <p:strVal val="#ppt_x"/>
                                          </p:val>
                                        </p:tav>
                                      </p:tavLst>
                                    </p:anim>
                                    <p:anim calcmode="lin" valueType="num">
                                      <p:cBhvr>
                                        <p:cTn id="26" dur="450" fill="hold"/>
                                        <p:tgtEl>
                                          <p:spTgt spid="72"/>
                                        </p:tgtEl>
                                        <p:attrNameLst>
                                          <p:attrName>ppt_y</p:attrName>
                                        </p:attrNameLst>
                                      </p:cBhvr>
                                      <p:tavLst>
                                        <p:tav tm="0">
                                          <p:val>
                                            <p:strVal val="#ppt_y+.03"/>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4"/>
                                        </p:tgtEl>
                                        <p:attrNameLst>
                                          <p:attrName>style.visibility</p:attrName>
                                        </p:attrNameLst>
                                      </p:cBhvr>
                                      <p:to>
                                        <p:strVal val="visible"/>
                                      </p:to>
                                    </p:set>
                                    <p:animEffect transition="in" filter="wipe(left)">
                                      <p:cBhvr>
                                        <p:cTn id="31" dur="400"/>
                                        <p:tgtEl>
                                          <p:spTgt spid="74"/>
                                        </p:tgtEl>
                                      </p:cBhvr>
                                    </p:animEffect>
                                  </p:childTnLst>
                                </p:cTn>
                              </p:par>
                              <p:par>
                                <p:cTn id="32" presetID="42" presetClass="entr" presetSubtype="0" fill="hold" grpId="0" nodeType="withEffect">
                                  <p:stCondLst>
                                    <p:cond delay="140"/>
                                  </p:stCondLst>
                                  <p:childTnLst>
                                    <p:set>
                                      <p:cBhvr>
                                        <p:cTn id="33" dur="1" fill="hold">
                                          <p:stCondLst>
                                            <p:cond delay="0"/>
                                          </p:stCondLst>
                                        </p:cTn>
                                        <p:tgtEl>
                                          <p:spTgt spid="75"/>
                                        </p:tgtEl>
                                        <p:attrNameLst>
                                          <p:attrName>style.visibility</p:attrName>
                                        </p:attrNameLst>
                                      </p:cBhvr>
                                      <p:to>
                                        <p:strVal val="visible"/>
                                      </p:to>
                                    </p:set>
                                    <p:animEffect transition="in" filter="fade">
                                      <p:cBhvr>
                                        <p:cTn id="34" dur="450"/>
                                        <p:tgtEl>
                                          <p:spTgt spid="75"/>
                                        </p:tgtEl>
                                      </p:cBhvr>
                                    </p:animEffect>
                                    <p:anim calcmode="lin" valueType="num">
                                      <p:cBhvr>
                                        <p:cTn id="35" dur="450" fill="hold"/>
                                        <p:tgtEl>
                                          <p:spTgt spid="75"/>
                                        </p:tgtEl>
                                        <p:attrNameLst>
                                          <p:attrName>ppt_x</p:attrName>
                                        </p:attrNameLst>
                                      </p:cBhvr>
                                      <p:tavLst>
                                        <p:tav tm="0">
                                          <p:val>
                                            <p:strVal val="#ppt_x"/>
                                          </p:val>
                                        </p:tav>
                                        <p:tav tm="100000">
                                          <p:val>
                                            <p:strVal val="#ppt_x"/>
                                          </p:val>
                                        </p:tav>
                                      </p:tavLst>
                                    </p:anim>
                                    <p:anim calcmode="lin" valueType="num">
                                      <p:cBhvr>
                                        <p:cTn id="36" dur="450" fill="hold"/>
                                        <p:tgtEl>
                                          <p:spTgt spid="75"/>
                                        </p:tgtEl>
                                        <p:attrNameLst>
                                          <p:attrName>ppt_y</p:attrName>
                                        </p:attrNameLst>
                                      </p:cBhvr>
                                      <p:tavLst>
                                        <p:tav tm="0">
                                          <p:val>
                                            <p:strVal val="#ppt_y+.03"/>
                                          </p:val>
                                        </p:tav>
                                        <p:tav tm="100000">
                                          <p:val>
                                            <p:strVal val="#ppt_y"/>
                                          </p:val>
                                        </p:tav>
                                      </p:tavLst>
                                    </p:anim>
                                  </p:childTnLst>
                                </p:cTn>
                              </p:par>
                              <p:par>
                                <p:cTn id="37" presetID="42" presetClass="entr" presetSubtype="0" fill="hold" grpId="0" nodeType="withEffect">
                                  <p:stCondLst>
                                    <p:cond delay="140"/>
                                  </p:stCondLst>
                                  <p:childTnLst>
                                    <p:set>
                                      <p:cBhvr>
                                        <p:cTn id="38" dur="1" fill="hold">
                                          <p:stCondLst>
                                            <p:cond delay="0"/>
                                          </p:stCondLst>
                                        </p:cTn>
                                        <p:tgtEl>
                                          <p:spTgt spid="76"/>
                                        </p:tgtEl>
                                        <p:attrNameLst>
                                          <p:attrName>style.visibility</p:attrName>
                                        </p:attrNameLst>
                                      </p:cBhvr>
                                      <p:to>
                                        <p:strVal val="visible"/>
                                      </p:to>
                                    </p:set>
                                    <p:animEffect transition="in" filter="fade">
                                      <p:cBhvr>
                                        <p:cTn id="39" dur="450"/>
                                        <p:tgtEl>
                                          <p:spTgt spid="76"/>
                                        </p:tgtEl>
                                      </p:cBhvr>
                                    </p:animEffect>
                                    <p:anim calcmode="lin" valueType="num">
                                      <p:cBhvr>
                                        <p:cTn id="40" dur="450" fill="hold"/>
                                        <p:tgtEl>
                                          <p:spTgt spid="76"/>
                                        </p:tgtEl>
                                        <p:attrNameLst>
                                          <p:attrName>ppt_x</p:attrName>
                                        </p:attrNameLst>
                                      </p:cBhvr>
                                      <p:tavLst>
                                        <p:tav tm="0">
                                          <p:val>
                                            <p:strVal val="#ppt_x"/>
                                          </p:val>
                                        </p:tav>
                                        <p:tav tm="100000">
                                          <p:val>
                                            <p:strVal val="#ppt_x"/>
                                          </p:val>
                                        </p:tav>
                                      </p:tavLst>
                                    </p:anim>
                                    <p:anim calcmode="lin" valueType="num">
                                      <p:cBhvr>
                                        <p:cTn id="41" dur="450" fill="hold"/>
                                        <p:tgtEl>
                                          <p:spTgt spid="76"/>
                                        </p:tgtEl>
                                        <p:attrNameLst>
                                          <p:attrName>ppt_y</p:attrName>
                                        </p:attrNameLst>
                                      </p:cBhvr>
                                      <p:tavLst>
                                        <p:tav tm="0">
                                          <p:val>
                                            <p:strVal val="#ppt_y+.03"/>
                                          </p:val>
                                        </p:tav>
                                        <p:tav tm="100000">
                                          <p:val>
                                            <p:strVal val="#ppt_y"/>
                                          </p:val>
                                        </p:tav>
                                      </p:tavLst>
                                    </p:anim>
                                  </p:childTnLst>
                                </p:cTn>
                              </p:par>
                              <p:par>
                                <p:cTn id="42" presetID="42" presetClass="entr" presetSubtype="0" fill="hold" grpId="0" nodeType="withEffect">
                                  <p:stCondLst>
                                    <p:cond delay="140"/>
                                  </p:stCondLst>
                                  <p:childTnLst>
                                    <p:set>
                                      <p:cBhvr>
                                        <p:cTn id="43" dur="1" fill="hold">
                                          <p:stCondLst>
                                            <p:cond delay="0"/>
                                          </p:stCondLst>
                                        </p:cTn>
                                        <p:tgtEl>
                                          <p:spTgt spid="77"/>
                                        </p:tgtEl>
                                        <p:attrNameLst>
                                          <p:attrName>style.visibility</p:attrName>
                                        </p:attrNameLst>
                                      </p:cBhvr>
                                      <p:to>
                                        <p:strVal val="visible"/>
                                      </p:to>
                                    </p:set>
                                    <p:animEffect transition="in" filter="fade">
                                      <p:cBhvr>
                                        <p:cTn id="44" dur="450"/>
                                        <p:tgtEl>
                                          <p:spTgt spid="77"/>
                                        </p:tgtEl>
                                      </p:cBhvr>
                                    </p:animEffect>
                                    <p:anim calcmode="lin" valueType="num">
                                      <p:cBhvr>
                                        <p:cTn id="45" dur="450" fill="hold"/>
                                        <p:tgtEl>
                                          <p:spTgt spid="77"/>
                                        </p:tgtEl>
                                        <p:attrNameLst>
                                          <p:attrName>ppt_x</p:attrName>
                                        </p:attrNameLst>
                                      </p:cBhvr>
                                      <p:tavLst>
                                        <p:tav tm="0">
                                          <p:val>
                                            <p:strVal val="#ppt_x"/>
                                          </p:val>
                                        </p:tav>
                                        <p:tav tm="100000">
                                          <p:val>
                                            <p:strVal val="#ppt_x"/>
                                          </p:val>
                                        </p:tav>
                                      </p:tavLst>
                                    </p:anim>
                                    <p:anim calcmode="lin" valueType="num">
                                      <p:cBhvr>
                                        <p:cTn id="46" dur="450" fill="hold"/>
                                        <p:tgtEl>
                                          <p:spTgt spid="77"/>
                                        </p:tgtEl>
                                        <p:attrNameLst>
                                          <p:attrName>ppt_y</p:attrName>
                                        </p:attrNameLst>
                                      </p:cBhvr>
                                      <p:tavLst>
                                        <p:tav tm="0">
                                          <p:val>
                                            <p:strVal val="#ppt_y+.03"/>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79"/>
                                        </p:tgtEl>
                                        <p:attrNameLst>
                                          <p:attrName>style.visibility</p:attrName>
                                        </p:attrNameLst>
                                      </p:cBhvr>
                                      <p:to>
                                        <p:strVal val="visible"/>
                                      </p:to>
                                    </p:set>
                                    <p:animEffect transition="in" filter="wipe(left)">
                                      <p:cBhvr>
                                        <p:cTn id="51" dur="400"/>
                                        <p:tgtEl>
                                          <p:spTgt spid="79"/>
                                        </p:tgtEl>
                                      </p:cBhvr>
                                    </p:animEffect>
                                  </p:childTnLst>
                                </p:cTn>
                              </p:par>
                              <p:par>
                                <p:cTn id="52" presetID="53" presetClass="entr" presetSubtype="16" fill="hold" grpId="0" nodeType="withEffect">
                                  <p:stCondLst>
                                    <p:cond delay="140"/>
                                  </p:stCondLst>
                                  <p:childTnLst>
                                    <p:set>
                                      <p:cBhvr>
                                        <p:cTn id="53" dur="1" fill="hold">
                                          <p:stCondLst>
                                            <p:cond delay="0"/>
                                          </p:stCondLst>
                                        </p:cTn>
                                        <p:tgtEl>
                                          <p:spTgt spid="80"/>
                                        </p:tgtEl>
                                        <p:attrNameLst>
                                          <p:attrName>style.visibility</p:attrName>
                                        </p:attrNameLst>
                                      </p:cBhvr>
                                      <p:to>
                                        <p:strVal val="visible"/>
                                      </p:to>
                                    </p:set>
                                    <p:anim calcmode="lin" valueType="num">
                                      <p:cBhvr>
                                        <p:cTn id="54" dur="500" fill="hold"/>
                                        <p:tgtEl>
                                          <p:spTgt spid="80"/>
                                        </p:tgtEl>
                                        <p:attrNameLst>
                                          <p:attrName>ppt_w</p:attrName>
                                        </p:attrNameLst>
                                      </p:cBhvr>
                                      <p:tavLst>
                                        <p:tav tm="0">
                                          <p:val>
                                            <p:strVal val="#ppt_w*0.85"/>
                                          </p:val>
                                        </p:tav>
                                        <p:tav tm="100000">
                                          <p:val>
                                            <p:strVal val="#ppt_w"/>
                                          </p:val>
                                        </p:tav>
                                      </p:tavLst>
                                    </p:anim>
                                    <p:anim calcmode="lin" valueType="num">
                                      <p:cBhvr>
                                        <p:cTn id="55" dur="500" fill="hold"/>
                                        <p:tgtEl>
                                          <p:spTgt spid="80"/>
                                        </p:tgtEl>
                                        <p:attrNameLst>
                                          <p:attrName>ppt_h</p:attrName>
                                        </p:attrNameLst>
                                      </p:cBhvr>
                                      <p:tavLst>
                                        <p:tav tm="0">
                                          <p:val>
                                            <p:strVal val="#ppt_h*0.85"/>
                                          </p:val>
                                        </p:tav>
                                        <p:tav tm="100000">
                                          <p:val>
                                            <p:strVal val="#ppt_h"/>
                                          </p:val>
                                        </p:tav>
                                      </p:tavLst>
                                    </p:anim>
                                    <p:animEffect transition="in" filter="fade">
                                      <p:cBhvr>
                                        <p:cTn id="56" dur="500"/>
                                        <p:tgtEl>
                                          <p:spTgt spid="80"/>
                                        </p:tgtEl>
                                      </p:cBhvr>
                                    </p:animEffect>
                                  </p:childTnLst>
                                </p:cTn>
                              </p:par>
                              <p:par>
                                <p:cTn id="57" presetID="53" presetClass="entr" presetSubtype="16" fill="hold" grpId="0" nodeType="withEffect">
                                  <p:stCondLst>
                                    <p:cond delay="140"/>
                                  </p:stCondLst>
                                  <p:childTnLst>
                                    <p:set>
                                      <p:cBhvr>
                                        <p:cTn id="58" dur="1" fill="hold">
                                          <p:stCondLst>
                                            <p:cond delay="0"/>
                                          </p:stCondLst>
                                        </p:cTn>
                                        <p:tgtEl>
                                          <p:spTgt spid="81"/>
                                        </p:tgtEl>
                                        <p:attrNameLst>
                                          <p:attrName>style.visibility</p:attrName>
                                        </p:attrNameLst>
                                      </p:cBhvr>
                                      <p:to>
                                        <p:strVal val="visible"/>
                                      </p:to>
                                    </p:set>
                                    <p:anim calcmode="lin" valueType="num">
                                      <p:cBhvr>
                                        <p:cTn id="59" dur="500" fill="hold"/>
                                        <p:tgtEl>
                                          <p:spTgt spid="81"/>
                                        </p:tgtEl>
                                        <p:attrNameLst>
                                          <p:attrName>ppt_w</p:attrName>
                                        </p:attrNameLst>
                                      </p:cBhvr>
                                      <p:tavLst>
                                        <p:tav tm="0">
                                          <p:val>
                                            <p:strVal val="#ppt_w*0.85"/>
                                          </p:val>
                                        </p:tav>
                                        <p:tav tm="100000">
                                          <p:val>
                                            <p:strVal val="#ppt_w"/>
                                          </p:val>
                                        </p:tav>
                                      </p:tavLst>
                                    </p:anim>
                                    <p:anim calcmode="lin" valueType="num">
                                      <p:cBhvr>
                                        <p:cTn id="60" dur="500" fill="hold"/>
                                        <p:tgtEl>
                                          <p:spTgt spid="81"/>
                                        </p:tgtEl>
                                        <p:attrNameLst>
                                          <p:attrName>ppt_h</p:attrName>
                                        </p:attrNameLst>
                                      </p:cBhvr>
                                      <p:tavLst>
                                        <p:tav tm="0">
                                          <p:val>
                                            <p:strVal val="#ppt_h*0.85"/>
                                          </p:val>
                                        </p:tav>
                                        <p:tav tm="100000">
                                          <p:val>
                                            <p:strVal val="#ppt_h"/>
                                          </p:val>
                                        </p:tav>
                                      </p:tavLst>
                                    </p:anim>
                                    <p:animEffect transition="in" filter="fade">
                                      <p:cBhvr>
                                        <p:cTn id="61" dur="500"/>
                                        <p:tgtEl>
                                          <p:spTgt spid="81"/>
                                        </p:tgtEl>
                                      </p:cBhvr>
                                    </p:animEffect>
                                  </p:childTnLst>
                                </p:cTn>
                              </p:par>
                              <p:par>
                                <p:cTn id="62" presetID="53" presetClass="entr" presetSubtype="16" fill="hold" grpId="0" nodeType="withEffect">
                                  <p:stCondLst>
                                    <p:cond delay="140"/>
                                  </p:stCondLst>
                                  <p:childTnLst>
                                    <p:set>
                                      <p:cBhvr>
                                        <p:cTn id="63" dur="1" fill="hold">
                                          <p:stCondLst>
                                            <p:cond delay="0"/>
                                          </p:stCondLst>
                                        </p:cTn>
                                        <p:tgtEl>
                                          <p:spTgt spid="82"/>
                                        </p:tgtEl>
                                        <p:attrNameLst>
                                          <p:attrName>style.visibility</p:attrName>
                                        </p:attrNameLst>
                                      </p:cBhvr>
                                      <p:to>
                                        <p:strVal val="visible"/>
                                      </p:to>
                                    </p:set>
                                    <p:anim calcmode="lin" valueType="num">
                                      <p:cBhvr>
                                        <p:cTn id="64" dur="500" fill="hold"/>
                                        <p:tgtEl>
                                          <p:spTgt spid="82"/>
                                        </p:tgtEl>
                                        <p:attrNameLst>
                                          <p:attrName>ppt_w</p:attrName>
                                        </p:attrNameLst>
                                      </p:cBhvr>
                                      <p:tavLst>
                                        <p:tav tm="0">
                                          <p:val>
                                            <p:strVal val="#ppt_w*0.85"/>
                                          </p:val>
                                        </p:tav>
                                        <p:tav tm="100000">
                                          <p:val>
                                            <p:strVal val="#ppt_w"/>
                                          </p:val>
                                        </p:tav>
                                      </p:tavLst>
                                    </p:anim>
                                    <p:anim calcmode="lin" valueType="num">
                                      <p:cBhvr>
                                        <p:cTn id="65" dur="500" fill="hold"/>
                                        <p:tgtEl>
                                          <p:spTgt spid="82"/>
                                        </p:tgtEl>
                                        <p:attrNameLst>
                                          <p:attrName>ppt_h</p:attrName>
                                        </p:attrNameLst>
                                      </p:cBhvr>
                                      <p:tavLst>
                                        <p:tav tm="0">
                                          <p:val>
                                            <p:strVal val="#ppt_h*0.85"/>
                                          </p:val>
                                        </p:tav>
                                        <p:tav tm="100000">
                                          <p:val>
                                            <p:strVal val="#ppt_h"/>
                                          </p:val>
                                        </p:tav>
                                      </p:tavLst>
                                    </p:anim>
                                    <p:animEffect transition="in" filter="fade">
                                      <p:cBhvr>
                                        <p:cTn id="66" dur="500"/>
                                        <p:tgtEl>
                                          <p:spTgt spid="82"/>
                                        </p:tgtEl>
                                      </p:cBhvr>
                                    </p:animEffect>
                                  </p:childTnLst>
                                </p:cTn>
                              </p:par>
                              <p:par>
                                <p:cTn id="67" presetID="42" presetClass="entr" presetSubtype="0" fill="hold" nodeType="withEffect">
                                  <p:stCondLst>
                                    <p:cond delay="70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450"/>
                                        <p:tgtEl>
                                          <p:spTgt spid="16"/>
                                        </p:tgtEl>
                                      </p:cBhvr>
                                    </p:animEffect>
                                    <p:anim calcmode="lin" valueType="num">
                                      <p:cBhvr>
                                        <p:cTn id="70" dur="450" fill="hold"/>
                                        <p:tgtEl>
                                          <p:spTgt spid="16"/>
                                        </p:tgtEl>
                                        <p:attrNameLst>
                                          <p:attrName>ppt_x</p:attrName>
                                        </p:attrNameLst>
                                      </p:cBhvr>
                                      <p:tavLst>
                                        <p:tav tm="0">
                                          <p:val>
                                            <p:strVal val="#ppt_x"/>
                                          </p:val>
                                        </p:tav>
                                        <p:tav tm="100000">
                                          <p:val>
                                            <p:strVal val="#ppt_x"/>
                                          </p:val>
                                        </p:tav>
                                      </p:tavLst>
                                    </p:anim>
                                    <p:anim calcmode="lin" valueType="num">
                                      <p:cBhvr>
                                        <p:cTn id="71" dur="450" fill="hold"/>
                                        <p:tgtEl>
                                          <p:spTgt spid="1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1" grpId="0" animBg="1"/>
      <p:bldP spid="72" grpId="0" animBg="1"/>
      <p:bldP spid="74" grpId="0" animBg="1"/>
      <p:bldP spid="75" grpId="0" animBg="1"/>
      <p:bldP spid="76" grpId="0" animBg="1"/>
      <p:bldP spid="77" grpId="0" animBg="1"/>
      <p:bldP spid="79" grpId="0" animBg="1"/>
      <p:bldP spid="80" grpId="0" animBg="1"/>
      <p:bldP spid="81" grpId="0" animBg="1"/>
      <p:bldP spid="82" grpId="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B0E82-26D0-69BE-88CE-A38DA066F2D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93F5D6-0063-A260-8A7B-2B70A642B910}"/>
              </a:ext>
            </a:extLst>
          </p:cNvPr>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833FF98C-C4D0-67D4-42D2-70C5C2CBA8AB}"/>
              </a:ext>
            </a:extLst>
          </p:cNvPr>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ThBar">
            <a:extLst>
              <a:ext uri="{FF2B5EF4-FFF2-40B4-BE49-F238E27FC236}">
                <a16:creationId xmlns:a16="http://schemas.microsoft.com/office/drawing/2014/main" id="{28FAA38B-6554-48BB-B559-5ECFC346A48C}"/>
              </a:ext>
            </a:extLst>
          </p:cNvPr>
          <p:cNvSpPr/>
          <p:nvPr/>
        </p:nvSpPr>
        <p:spPr>
          <a:xfrm>
            <a:off x="1524000" y="2997200"/>
            <a:ext cx="889000" cy="76200"/>
          </a:xfrm>
          <a:prstGeom prst="rect">
            <a:avLst/>
          </a:prstGeom>
          <a:solidFill>
            <a:srgbClr val="F96A0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fr-FR"/>
          </a:p>
        </p:txBody>
      </p:sp>
      <p:sp>
        <p:nvSpPr>
          <p:cNvPr id="30" name="ThTitle">
            <a:extLst>
              <a:ext uri="{FF2B5EF4-FFF2-40B4-BE49-F238E27FC236}">
                <a16:creationId xmlns:a16="http://schemas.microsoft.com/office/drawing/2014/main" id="{53D83208-08CC-47E8-8136-91E6BF68A27D}"/>
              </a:ext>
            </a:extLst>
          </p:cNvPr>
          <p:cNvSpPr txBox="1"/>
          <p:nvPr/>
        </p:nvSpPr>
        <p:spPr>
          <a:xfrm>
            <a:off x="1524000" y="3276600"/>
            <a:ext cx="9652000" cy="707886"/>
          </a:xfrm>
          <a:prstGeom prst="rect">
            <a:avLst/>
          </a:prstGeom>
          <a:noFill/>
        </p:spPr>
        <p:txBody>
          <a:bodyPr vertOverflow="overflow" vert="horz" wrap="square" rtlCol="0" anchor="t">
            <a:spAutoFit/>
          </a:bodyPr>
          <a:lstStyle/>
          <a:p>
            <a:pPr algn="l">
              <a:lnSpc>
                <a:spcPts val="4800"/>
              </a:lnSpc>
              <a:spcBef>
                <a:spcPct val="0"/>
              </a:spcBef>
              <a:buNone/>
            </a:pPr>
            <a:r>
              <a:rPr lang="fr-FR" sz="4400" b="1" spc="40" dirty="0">
                <a:solidFill>
                  <a:srgbClr val="16294A"/>
                </a:solidFill>
                <a:latin typeface="Montserrat"/>
              </a:rPr>
              <a:t>MERCI DE VOTRE ATTENTION</a:t>
            </a:r>
          </a:p>
        </p:txBody>
      </p:sp>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9DC864DD-78E1-4179-8B29-F031643747D9}" type="slidenum">
              <a:rPr lang="fr-FR" sz="1600" b="1" dirty="0">
                <a:solidFill>
                  <a:srgbClr val="FFFFFF"/>
                </a:solidFill>
                <a:latin typeface="Montserrat"/>
              </a:rPr>
              <a:t>22</a:t>
            </a:fld>
            <a:endParaRPr lang="fr-FR" sz="1600" b="1" dirty="0">
              <a:solidFill>
                <a:srgbClr val="FFFFFF"/>
              </a:solidFill>
              <a:latin typeface="Montserrat"/>
            </a:endParaRPr>
          </a:p>
        </p:txBody>
      </p:sp>
    </p:spTree>
    <p:extLst>
      <p:ext uri="{BB962C8B-B14F-4D97-AF65-F5344CB8AC3E}">
        <p14:creationId xmlns:p14="http://schemas.microsoft.com/office/powerpoint/2010/main" val="1038026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400"/>
                                        <p:tgtEl>
                                          <p:spTgt spid="29"/>
                                        </p:tgtEl>
                                      </p:cBhvr>
                                    </p:animEffect>
                                  </p:childTnLst>
                                </p:cTn>
                              </p:par>
                              <p:par>
                                <p:cTn id="8" presetID="42" presetClass="entr" presetSubtype="0" fill="hold" grpId="0" nodeType="withEffect">
                                  <p:stCondLst>
                                    <p:cond delay="14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450"/>
                                        <p:tgtEl>
                                          <p:spTgt spid="30"/>
                                        </p:tgtEl>
                                      </p:cBhvr>
                                    </p:animEffect>
                                    <p:anim calcmode="lin" valueType="num">
                                      <p:cBhvr>
                                        <p:cTn id="11" dur="450" fill="hold"/>
                                        <p:tgtEl>
                                          <p:spTgt spid="30"/>
                                        </p:tgtEl>
                                        <p:attrNameLst>
                                          <p:attrName>ppt_x</p:attrName>
                                        </p:attrNameLst>
                                      </p:cBhvr>
                                      <p:tavLst>
                                        <p:tav tm="0">
                                          <p:val>
                                            <p:strVal val="#ppt_x"/>
                                          </p:val>
                                        </p:tav>
                                        <p:tav tm="100000">
                                          <p:val>
                                            <p:strVal val="#ppt_x"/>
                                          </p:val>
                                        </p:tav>
                                      </p:tavLst>
                                    </p:anim>
                                    <p:anim calcmode="lin" valueType="num">
                                      <p:cBhvr>
                                        <p:cTn id="12" dur="450" fill="hold"/>
                                        <p:tgtEl>
                                          <p:spTgt spid="3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379CD-2BEF-67D8-6E5F-6339FC56C2C1}"/>
            </a:ext>
          </a:extLst>
        </p:cNvPr>
        <p:cNvGrpSpPr/>
        <p:nvPr/>
      </p:nvGrpSpPr>
      <p:grpSpPr>
        <a:xfrm>
          <a:off x="0" y="0"/>
          <a:ext cx="0" cy="0"/>
          <a:chOff x="0" y="0"/>
          <a:chExt cx="0" cy="0"/>
        </a:xfrm>
      </p:grpSpPr>
      <p:sp>
        <p:nvSpPr>
          <p:cNvPr id="7" name="ZoneTexte 6">
            <a:extLst>
              <a:ext uri="{FF2B5EF4-FFF2-40B4-BE49-F238E27FC236}">
                <a16:creationId xmlns:a16="http://schemas.microsoft.com/office/drawing/2014/main" id="{AC1CF0A5-AFBF-D941-6E2B-3DDA8E5B5C5A}"/>
              </a:ext>
            </a:extLst>
          </p:cNvPr>
          <p:cNvSpPr txBox="1">
            <a:spLocks noGrp="1" noRot="1" noMove="1" noResize="1" noEditPoints="1" noAdjustHandles="1" noChangeArrowheads="1" noChangeShapeType="1"/>
          </p:cNvSpPr>
          <p:nvPr/>
        </p:nvSpPr>
        <p:spPr>
          <a:xfrm>
            <a:off x="402215" y="396686"/>
            <a:ext cx="3740126" cy="584775"/>
          </a:xfrm>
          <a:prstGeom prst="rect">
            <a:avLst/>
          </a:prstGeom>
          <a:solidFill>
            <a:schemeClr val="bg1"/>
          </a:solidFill>
        </p:spPr>
        <p:txBody>
          <a:bodyPr wrap="none" rtlCol="0">
            <a:spAutoFit/>
          </a:bodyPr>
          <a:lstStyle/>
          <a:p>
            <a:pPr algn="ctr"/>
            <a:r>
              <a:rPr lang="fr-FR" sz="1600" dirty="0">
                <a:latin typeface="Times New Roman" panose="02020603050405020304" pitchFamily="18" charset="0"/>
                <a:cs typeface="Times New Roman" panose="02020603050405020304" pitchFamily="18" charset="0"/>
              </a:rPr>
              <a:t>Ministère de la Transition Numérique et de</a:t>
            </a:r>
          </a:p>
          <a:p>
            <a:pPr algn="ctr"/>
            <a:r>
              <a:rPr lang="fr-FR" sz="1600" dirty="0">
                <a:latin typeface="Times New Roman" panose="02020603050405020304" pitchFamily="18" charset="0"/>
                <a:cs typeface="Times New Roman" panose="02020603050405020304" pitchFamily="18" charset="0"/>
              </a:rPr>
              <a:t> l’Innovation Technologique</a:t>
            </a:r>
          </a:p>
        </p:txBody>
      </p:sp>
      <p:sp>
        <p:nvSpPr>
          <p:cNvPr id="8" name="ZoneTexte 7">
            <a:extLst>
              <a:ext uri="{FF2B5EF4-FFF2-40B4-BE49-F238E27FC236}">
                <a16:creationId xmlns:a16="http://schemas.microsoft.com/office/drawing/2014/main" id="{8CDAED55-1F8C-BFE1-8F87-608DC783D403}"/>
              </a:ext>
            </a:extLst>
          </p:cNvPr>
          <p:cNvSpPr txBox="1">
            <a:spLocks noGrp="1" noRot="1" noMove="1" noResize="1" noEditPoints="1" noAdjustHandles="1" noChangeArrowheads="1" noChangeShapeType="1"/>
          </p:cNvSpPr>
          <p:nvPr/>
        </p:nvSpPr>
        <p:spPr>
          <a:xfrm>
            <a:off x="8301690" y="531235"/>
            <a:ext cx="2856135" cy="338554"/>
          </a:xfrm>
          <a:prstGeom prst="rect">
            <a:avLst/>
          </a:prstGeom>
          <a:solidFill>
            <a:schemeClr val="bg1"/>
          </a:solidFill>
        </p:spPr>
        <p:txBody>
          <a:bodyPr wrap="square" rtlCol="0">
            <a:spAutoFit/>
          </a:bodyPr>
          <a:lstStyle/>
          <a:p>
            <a:pPr algn="just"/>
            <a:r>
              <a:rPr lang="fr-FR" sz="1600" dirty="0">
                <a:latin typeface="Times New Roman" panose="02020603050405020304" pitchFamily="18" charset="0"/>
                <a:cs typeface="Times New Roman" panose="02020603050405020304" pitchFamily="18" charset="0"/>
              </a:rPr>
              <a:t>Année académique : 2025-2026</a:t>
            </a:r>
          </a:p>
        </p:txBody>
      </p:sp>
      <p:sp>
        <p:nvSpPr>
          <p:cNvPr id="9" name="ZoneTexte 8">
            <a:extLst>
              <a:ext uri="{FF2B5EF4-FFF2-40B4-BE49-F238E27FC236}">
                <a16:creationId xmlns:a16="http://schemas.microsoft.com/office/drawing/2014/main" id="{2099661D-FF44-0AB7-0A56-FB0ECF661177}"/>
              </a:ext>
            </a:extLst>
          </p:cNvPr>
          <p:cNvSpPr txBox="1">
            <a:spLocks noGrp="1" noRot="1" noMove="1" noResize="1" noEditPoints="1" noAdjustHandles="1" noChangeArrowheads="1" noChangeShapeType="1"/>
          </p:cNvSpPr>
          <p:nvPr/>
        </p:nvSpPr>
        <p:spPr>
          <a:xfrm>
            <a:off x="1231253" y="1955384"/>
            <a:ext cx="9729484" cy="584775"/>
          </a:xfrm>
          <a:prstGeom prst="rect">
            <a:avLst/>
          </a:prstGeom>
          <a:solidFill>
            <a:schemeClr val="bg1"/>
          </a:solidFill>
        </p:spPr>
        <p:txBody>
          <a:bodyPr wrap="square" rtlCol="0">
            <a:spAutoFit/>
          </a:bodyPr>
          <a:lstStyle/>
          <a:p>
            <a:pPr algn="ctr"/>
            <a:r>
              <a:rPr lang="fr-FR" sz="1600" dirty="0">
                <a:ln w="0"/>
                <a:latin typeface="Times New Roman" panose="02020603050405020304" pitchFamily="18" charset="0"/>
                <a:cs typeface="Times New Roman" panose="02020603050405020304" pitchFamily="18" charset="0"/>
              </a:rPr>
              <a:t>SOUTENANCE DU PROJET DE FIN D’</a:t>
            </a:r>
            <a:r>
              <a:rPr lang="fr-FR" sz="1600" dirty="0">
                <a:latin typeface="Times New Roman" panose="02020603050405020304" pitchFamily="18" charset="0"/>
                <a:cs typeface="Times New Roman" panose="02020603050405020304" pitchFamily="18" charset="0"/>
              </a:rPr>
              <a:t>É</a:t>
            </a:r>
            <a:r>
              <a:rPr lang="fr-FR" sz="1600" dirty="0">
                <a:ln w="0"/>
                <a:latin typeface="Times New Roman" panose="02020603050405020304" pitchFamily="18" charset="0"/>
                <a:cs typeface="Times New Roman" panose="02020603050405020304" pitchFamily="18" charset="0"/>
              </a:rPr>
              <a:t>TUDES POUR L’OBTENTION DE LA LICENCE EN</a:t>
            </a:r>
          </a:p>
          <a:p>
            <a:pPr algn="ctr"/>
            <a:r>
              <a:rPr lang="fr-FR" sz="1600" dirty="0">
                <a:ln w="0"/>
                <a:latin typeface="Times New Roman" panose="02020603050405020304" pitchFamily="18" charset="0"/>
                <a:cs typeface="Times New Roman" panose="02020603050405020304" pitchFamily="18" charset="0"/>
              </a:rPr>
              <a:t>SYSTÈMES RÉSEAUX INFORMATIQUES ET TÉLÉCOMMUNICATIONS (SRIT)</a:t>
            </a:r>
            <a:endParaRPr lang="fr-FR" sz="2400" dirty="0">
              <a:ln w="0"/>
              <a:latin typeface="Times New Roman" panose="02020603050405020304" pitchFamily="18" charset="0"/>
              <a:cs typeface="Times New Roman" panose="02020603050405020304" pitchFamily="18" charset="0"/>
            </a:endParaRPr>
          </a:p>
        </p:txBody>
      </p:sp>
      <p:sp>
        <p:nvSpPr>
          <p:cNvPr id="10" name="ZoneTexte 9">
            <a:extLst>
              <a:ext uri="{FF2B5EF4-FFF2-40B4-BE49-F238E27FC236}">
                <a16:creationId xmlns:a16="http://schemas.microsoft.com/office/drawing/2014/main" id="{1D32CBB0-8D7F-1E47-04BE-7AF75E448D87}"/>
              </a:ext>
            </a:extLst>
          </p:cNvPr>
          <p:cNvSpPr txBox="1">
            <a:spLocks noGrp="1" noRot="1" noMove="1" noResize="1" noEditPoints="1" noAdjustHandles="1" noChangeArrowheads="1" noChangeShapeType="1"/>
          </p:cNvSpPr>
          <p:nvPr/>
        </p:nvSpPr>
        <p:spPr>
          <a:xfrm>
            <a:off x="4849124" y="3980527"/>
            <a:ext cx="2493761" cy="584775"/>
          </a:xfrm>
          <a:prstGeom prst="rect">
            <a:avLst/>
          </a:prstGeom>
          <a:solidFill>
            <a:schemeClr val="bg1"/>
          </a:solidFill>
        </p:spPr>
        <p:txBody>
          <a:bodyPr wrap="none" rtlCol="0">
            <a:spAutoFit/>
          </a:bodyPr>
          <a:lstStyle/>
          <a:p>
            <a:pPr algn="ctr"/>
            <a:r>
              <a:rPr lang="fr-FR" sz="1600" i="1" dirty="0">
                <a:latin typeface="Times New Roman" panose="02020603050405020304" pitchFamily="18" charset="0"/>
                <a:cs typeface="Times New Roman" panose="02020603050405020304" pitchFamily="18" charset="0"/>
              </a:rPr>
              <a:t>Présenté par :</a:t>
            </a:r>
          </a:p>
          <a:p>
            <a:pPr algn="ctr"/>
            <a:r>
              <a:rPr lang="fr-FR" sz="1600" b="1" dirty="0">
                <a:latin typeface="Times New Roman" panose="02020603050405020304" pitchFamily="18" charset="0"/>
                <a:cs typeface="Times New Roman" panose="02020603050405020304" pitchFamily="18" charset="0"/>
              </a:rPr>
              <a:t>Ladji Lama KAMAGATE</a:t>
            </a:r>
          </a:p>
        </p:txBody>
      </p:sp>
      <p:sp>
        <p:nvSpPr>
          <p:cNvPr id="11" name="ZoneTexte 10">
            <a:extLst>
              <a:ext uri="{FF2B5EF4-FFF2-40B4-BE49-F238E27FC236}">
                <a16:creationId xmlns:a16="http://schemas.microsoft.com/office/drawing/2014/main" id="{EEE137FB-F9BD-4AE4-319D-F73D7F6236BC}"/>
              </a:ext>
            </a:extLst>
          </p:cNvPr>
          <p:cNvSpPr txBox="1">
            <a:spLocks noGrp="1" noRot="1" noMove="1" noResize="1" noEditPoints="1" noAdjustHandles="1" noChangeArrowheads="1" noChangeShapeType="1"/>
          </p:cNvSpPr>
          <p:nvPr/>
        </p:nvSpPr>
        <p:spPr>
          <a:xfrm>
            <a:off x="1034165" y="2622159"/>
            <a:ext cx="10123660" cy="1323632"/>
          </a:xfrm>
          <a:prstGeom prst="rect">
            <a:avLst/>
          </a:prstGeom>
          <a:solidFill>
            <a:srgbClr val="FEF4EC"/>
          </a:solidFill>
          <a:ln w="19050">
            <a:noFill/>
          </a:ln>
        </p:spPr>
        <p:txBody>
          <a:bodyPr wrap="square" rtlCol="0">
            <a:spAutoFit/>
          </a:bodyPr>
          <a:lstStyle/>
          <a:p>
            <a:pPr algn="ctr"/>
            <a:r>
              <a:rPr lang="fr-FR" sz="2667" b="1" dirty="0">
                <a:solidFill>
                  <a:srgbClr val="1F1B18"/>
                </a:solidFill>
                <a:latin typeface="Times New Roman" panose="02020603050405020304" pitchFamily="18" charset="0"/>
                <a:cs typeface="Times New Roman" panose="02020603050405020304" pitchFamily="18" charset="0"/>
              </a:rPr>
              <a:t>CONCEPTION ET DÉVELOPPEMENT D’UN AGENT CONVERSATIONNEL INTELLIGENT BASÉ SUR LE </a:t>
            </a:r>
            <a:r>
              <a:rPr lang="fr-FR" sz="2667" b="1" dirty="0" err="1">
                <a:solidFill>
                  <a:srgbClr val="1F1B18"/>
                </a:solidFill>
                <a:latin typeface="Times New Roman" panose="02020603050405020304" pitchFamily="18" charset="0"/>
                <a:cs typeface="Times New Roman" panose="02020603050405020304" pitchFamily="18" charset="0"/>
              </a:rPr>
              <a:t>NLP</a:t>
            </a:r>
            <a:r>
              <a:rPr lang="fr-FR" sz="2667" b="1" dirty="0">
                <a:solidFill>
                  <a:srgbClr val="1F1B18"/>
                </a:solidFill>
                <a:latin typeface="Times New Roman" panose="02020603050405020304" pitchFamily="18" charset="0"/>
                <a:cs typeface="Times New Roman" panose="02020603050405020304" pitchFamily="18" charset="0"/>
              </a:rPr>
              <a:t> POUR L’AUTOMATISATION DU SUPPORT CLIENT : CAS DE NGONI</a:t>
            </a:r>
          </a:p>
        </p:txBody>
      </p:sp>
      <p:sp>
        <p:nvSpPr>
          <p:cNvPr id="12" name="ZoneTexte 11">
            <a:extLst>
              <a:ext uri="{FF2B5EF4-FFF2-40B4-BE49-F238E27FC236}">
                <a16:creationId xmlns:a16="http://schemas.microsoft.com/office/drawing/2014/main" id="{96F377CD-DB1C-1035-1384-63125EA706C3}"/>
              </a:ext>
            </a:extLst>
          </p:cNvPr>
          <p:cNvSpPr txBox="1">
            <a:spLocks noGrp="1" noRot="1" noMove="1" noResize="1" noEditPoints="1" noAdjustHandles="1" noChangeArrowheads="1" noChangeShapeType="1"/>
          </p:cNvSpPr>
          <p:nvPr/>
        </p:nvSpPr>
        <p:spPr>
          <a:xfrm>
            <a:off x="8045504" y="5294748"/>
            <a:ext cx="3393879" cy="846386"/>
          </a:xfrm>
          <a:prstGeom prst="rect">
            <a:avLst/>
          </a:prstGeom>
          <a:noFill/>
        </p:spPr>
        <p:txBody>
          <a:bodyPr wrap="none" rtlCol="0">
            <a:spAutoFit/>
          </a:bodyPr>
          <a:lstStyle/>
          <a:p>
            <a:pPr algn="r"/>
            <a:r>
              <a:rPr lang="fr-FR" b="1" dirty="0">
                <a:solidFill>
                  <a:schemeClr val="accent1">
                    <a:lumMod val="90000"/>
                    <a:lumOff val="10000"/>
                  </a:schemeClr>
                </a:solidFill>
                <a:latin typeface="Times New Roman" panose="02020603050405020304" pitchFamily="18" charset="0"/>
                <a:cs typeface="Times New Roman" panose="02020603050405020304" pitchFamily="18" charset="0"/>
              </a:rPr>
              <a:t> MAÎTRE DE STAGE  </a:t>
            </a:r>
          </a:p>
          <a:p>
            <a:pPr algn="r"/>
            <a:r>
              <a:rPr lang="fr-FR" sz="1500" b="1" dirty="0">
                <a:solidFill>
                  <a:srgbClr val="1F1B18"/>
                </a:solidFill>
                <a:latin typeface="Times New Roman" panose="02020603050405020304" pitchFamily="18" charset="0"/>
                <a:cs typeface="Times New Roman" panose="02020603050405020304" pitchFamily="18" charset="0"/>
              </a:rPr>
              <a:t>M. DADI </a:t>
            </a:r>
            <a:r>
              <a:rPr lang="fr-FR" sz="1500" b="1" dirty="0" err="1">
                <a:solidFill>
                  <a:srgbClr val="1F1B18"/>
                </a:solidFill>
                <a:latin typeface="Times New Roman" panose="02020603050405020304" pitchFamily="18" charset="0"/>
                <a:cs typeface="Times New Roman" panose="02020603050405020304" pitchFamily="18" charset="0"/>
              </a:rPr>
              <a:t>DABELY</a:t>
            </a:r>
            <a:r>
              <a:rPr lang="fr-FR" sz="1500" b="1" dirty="0">
                <a:solidFill>
                  <a:srgbClr val="1F1B18"/>
                </a:solidFill>
                <a:latin typeface="Times New Roman" panose="02020603050405020304" pitchFamily="18" charset="0"/>
                <a:cs typeface="Times New Roman" panose="02020603050405020304" pitchFamily="18" charset="0"/>
              </a:rPr>
              <a:t>  </a:t>
            </a:r>
          </a:p>
          <a:p>
            <a:pPr algn="r"/>
            <a:r>
              <a:rPr lang="fr-FR" sz="1600" dirty="0">
                <a:latin typeface="Times New Roman" panose="02020603050405020304" pitchFamily="18" charset="0"/>
                <a:cs typeface="Times New Roman" panose="02020603050405020304" pitchFamily="18" charset="0"/>
              </a:rPr>
              <a:t>Responsable technique web et mobile  </a:t>
            </a:r>
            <a:endParaRPr lang="fr-FR" sz="1600" b="1" dirty="0">
              <a:solidFill>
                <a:srgbClr val="0070C0"/>
              </a:solidFill>
              <a:latin typeface="Times New Roman" panose="02020603050405020304" pitchFamily="18" charset="0"/>
              <a:cs typeface="Times New Roman" panose="02020603050405020304" pitchFamily="18" charset="0"/>
            </a:endParaRPr>
          </a:p>
        </p:txBody>
      </p:sp>
      <p:sp>
        <p:nvSpPr>
          <p:cNvPr id="13" name="ZoneTexte 12">
            <a:extLst>
              <a:ext uri="{FF2B5EF4-FFF2-40B4-BE49-F238E27FC236}">
                <a16:creationId xmlns:a16="http://schemas.microsoft.com/office/drawing/2014/main" id="{1850B282-F05A-8B2D-D78A-0A28D9987FF8}"/>
              </a:ext>
            </a:extLst>
          </p:cNvPr>
          <p:cNvSpPr txBox="1">
            <a:spLocks noGrp="1" noRot="1" noMove="1" noResize="1" noEditPoints="1" noAdjustHandles="1" noChangeArrowheads="1" noChangeShapeType="1"/>
          </p:cNvSpPr>
          <p:nvPr/>
        </p:nvSpPr>
        <p:spPr>
          <a:xfrm>
            <a:off x="752617" y="5401287"/>
            <a:ext cx="3444276" cy="846386"/>
          </a:xfrm>
          <a:prstGeom prst="rect">
            <a:avLst/>
          </a:prstGeom>
          <a:noFill/>
        </p:spPr>
        <p:txBody>
          <a:bodyPr wrap="none" rtlCol="0">
            <a:spAutoFit/>
          </a:bodyPr>
          <a:lstStyle/>
          <a:p>
            <a:r>
              <a:rPr lang="fr-FR" b="1" dirty="0">
                <a:solidFill>
                  <a:schemeClr val="accent1">
                    <a:lumMod val="90000"/>
                    <a:lumOff val="10000"/>
                  </a:schemeClr>
                </a:solidFill>
                <a:latin typeface="Times New Roman" panose="02020603050405020304" pitchFamily="18" charset="0"/>
                <a:cs typeface="Times New Roman" panose="02020603050405020304" pitchFamily="18" charset="0"/>
              </a:rPr>
              <a:t>  ENCADRANT ACADÉMIQUE</a:t>
            </a:r>
          </a:p>
          <a:p>
            <a:r>
              <a:rPr lang="fr-FR" sz="1600" b="1" dirty="0">
                <a:latin typeface="Times New Roman" panose="02020603050405020304" pitchFamily="18" charset="0"/>
                <a:cs typeface="Times New Roman" panose="02020603050405020304" pitchFamily="18" charset="0"/>
              </a:rPr>
              <a:t>  </a:t>
            </a:r>
            <a:r>
              <a:rPr lang="fr-FR" sz="1500" b="1" dirty="0">
                <a:latin typeface="Times New Roman" panose="02020603050405020304" pitchFamily="18" charset="0"/>
                <a:cs typeface="Times New Roman" panose="02020603050405020304" pitchFamily="18" charset="0"/>
              </a:rPr>
              <a:t>Dr </a:t>
            </a:r>
            <a:r>
              <a:rPr lang="fr-FR" sz="1500" b="1" dirty="0">
                <a:solidFill>
                  <a:srgbClr val="1F1B18"/>
                </a:solidFill>
                <a:latin typeface="Times New Roman" panose="02020603050405020304" pitchFamily="18" charset="0"/>
                <a:cs typeface="Times New Roman" panose="02020603050405020304" pitchFamily="18" charset="0"/>
              </a:rPr>
              <a:t>KONÉ MAMADOU IBRAHIMA</a:t>
            </a:r>
          </a:p>
          <a:p>
            <a:r>
              <a:rPr lang="fr-FR" sz="1500" i="1" dirty="0">
                <a:latin typeface="Times New Roman" panose="02020603050405020304" pitchFamily="18" charset="0"/>
                <a:cs typeface="Times New Roman" panose="02020603050405020304" pitchFamily="18" charset="0"/>
              </a:rPr>
              <a:t>  </a:t>
            </a:r>
            <a:r>
              <a:rPr lang="fr-FR" sz="1500" dirty="0">
                <a:latin typeface="Times New Roman" panose="02020603050405020304" pitchFamily="18" charset="0"/>
                <a:cs typeface="Times New Roman" panose="02020603050405020304" pitchFamily="18" charset="0"/>
              </a:rPr>
              <a:t>Enseignant-chercheur</a:t>
            </a:r>
            <a:r>
              <a:rPr lang="fr-FR" sz="1500" i="1" dirty="0">
                <a:latin typeface="Times New Roman" panose="02020603050405020304" pitchFamily="18" charset="0"/>
                <a:cs typeface="Times New Roman" panose="02020603050405020304" pitchFamily="18" charset="0"/>
              </a:rPr>
              <a:t> </a:t>
            </a:r>
          </a:p>
        </p:txBody>
      </p:sp>
      <p:pic>
        <p:nvPicPr>
          <p:cNvPr id="19" name="Image 18" descr="Une image contenant texte, Police, logo, Graphique&#10;&#10;Le contenu généré par l’IA peut être incorrect.">
            <a:extLst>
              <a:ext uri="{FF2B5EF4-FFF2-40B4-BE49-F238E27FC236}">
                <a16:creationId xmlns:a16="http://schemas.microsoft.com/office/drawing/2014/main" id="{8FF38E0F-F8BC-05F2-28B6-D707E7969EE9}"/>
              </a:ext>
            </a:extLst>
          </p:cNvPr>
          <p:cNvPicPr>
            <a:picLocks noGrp="1" noRot="1" noChangeAspect="1" noMove="1" noResize="1" noEditPoints="1" noAdjustHandles="1" noChangeArrowheads="1" noChangeShapeType="1" noCrop="1"/>
          </p:cNvPicPr>
          <p:nvPr/>
        </p:nvPicPr>
        <p:blipFill>
          <a:blip r:embed="rId3"/>
          <a:srcRect t="19978" b="12472"/>
          <a:stretch>
            <a:fillRect/>
          </a:stretch>
        </p:blipFill>
        <p:spPr>
          <a:xfrm>
            <a:off x="725613" y="1067631"/>
            <a:ext cx="2881308" cy="780007"/>
          </a:xfrm>
          <a:prstGeom prst="rect">
            <a:avLst/>
          </a:prstGeom>
        </p:spPr>
      </p:pic>
      <p:sp>
        <p:nvSpPr>
          <p:cNvPr id="22" name="ZoneTexte 21">
            <a:extLst>
              <a:ext uri="{FF2B5EF4-FFF2-40B4-BE49-F238E27FC236}">
                <a16:creationId xmlns:a16="http://schemas.microsoft.com/office/drawing/2014/main" id="{6206F6BA-7F4D-B970-D54E-1AD377CF6762}"/>
              </a:ext>
            </a:extLst>
          </p:cNvPr>
          <p:cNvSpPr txBox="1">
            <a:spLocks noGrp="1" noRot="1" noMove="1" noResize="1" noEditPoints="1" noAdjustHandles="1" noChangeArrowheads="1" noChangeShapeType="1"/>
          </p:cNvSpPr>
          <p:nvPr/>
        </p:nvSpPr>
        <p:spPr>
          <a:xfrm>
            <a:off x="4544219" y="4675505"/>
            <a:ext cx="3106428" cy="584775"/>
          </a:xfrm>
          <a:prstGeom prst="rect">
            <a:avLst/>
          </a:prstGeom>
          <a:solidFill>
            <a:schemeClr val="bg1"/>
          </a:solidFill>
        </p:spPr>
        <p:txBody>
          <a:bodyPr wrap="none" rtlCol="0">
            <a:spAutoFit/>
          </a:bodyPr>
          <a:lstStyle/>
          <a:p>
            <a:pPr algn="ctr"/>
            <a:r>
              <a:rPr lang="fr-FR" sz="1600" i="1" dirty="0">
                <a:latin typeface="Times New Roman" panose="02020603050405020304" pitchFamily="18" charset="0"/>
                <a:cs typeface="Times New Roman" panose="02020603050405020304" pitchFamily="18" charset="0"/>
              </a:rPr>
              <a:t>Période de stage : </a:t>
            </a:r>
          </a:p>
          <a:p>
            <a:pPr algn="ctr"/>
            <a:r>
              <a:rPr lang="fr-FR" sz="1600" b="1" dirty="0">
                <a:latin typeface="Times New Roman" panose="02020603050405020304" pitchFamily="18" charset="0"/>
                <a:cs typeface="Times New Roman" panose="02020603050405020304" pitchFamily="18" charset="0"/>
              </a:rPr>
              <a:t>Du 08 juin au 08 septembre 2026 </a:t>
            </a:r>
          </a:p>
        </p:txBody>
      </p:sp>
      <p:cxnSp>
        <p:nvCxnSpPr>
          <p:cNvPr id="4" name="Straight Connector 3">
            <a:extLst>
              <a:ext uri="{FF2B5EF4-FFF2-40B4-BE49-F238E27FC236}">
                <a16:creationId xmlns:a16="http://schemas.microsoft.com/office/drawing/2014/main" id="{6F42B911-7DA4-764D-5800-231D72998251}"/>
              </a:ext>
            </a:extLst>
          </p:cNvPr>
          <p:cNvCxnSpPr>
            <a:cxnSpLocks noGrp="1" noRot="1" noMove="1" noResize="1" noEditPoints="1" noAdjustHandles="1" noChangeArrowheads="1" noChangeShapeType="1"/>
          </p:cNvCxnSpPr>
          <p:nvPr/>
        </p:nvCxnSpPr>
        <p:spPr>
          <a:xfrm>
            <a:off x="1333500" y="1010303"/>
            <a:ext cx="1727200" cy="0"/>
          </a:xfrm>
          <a:prstGeom prst="line">
            <a:avLst/>
          </a:prstGeom>
          <a:ln>
            <a:solidFill>
              <a:srgbClr val="F26418"/>
            </a:solidFill>
          </a:ln>
        </p:spPr>
        <p:style>
          <a:lnRef idx="3">
            <a:schemeClr val="accent2"/>
          </a:lnRef>
          <a:fillRef idx="0">
            <a:schemeClr val="accent2"/>
          </a:fillRef>
          <a:effectRef idx="2">
            <a:schemeClr val="accent2"/>
          </a:effectRef>
          <a:fontRef idx="minor">
            <a:schemeClr val="tx1"/>
          </a:fontRef>
        </p:style>
      </p:cxnSp>
      <p:pic>
        <p:nvPicPr>
          <p:cNvPr id="3" name="Image 2">
            <a:extLst>
              <a:ext uri="{FF2B5EF4-FFF2-40B4-BE49-F238E27FC236}">
                <a16:creationId xmlns:a16="http://schemas.microsoft.com/office/drawing/2014/main" id="{720B9042-E9D1-8349-B249-2C695195D335}"/>
              </a:ext>
            </a:extLst>
          </p:cNvPr>
          <p:cNvPicPr>
            <a:picLocks noGrp="1" noRot="1" noChangeAspect="1" noMove="1" noResize="1" noEditPoints="1" noAdjustHandles="1" noChangeArrowheads="1" noChangeShapeType="1" noCrop="1"/>
          </p:cNvPicPr>
          <p:nvPr/>
        </p:nvPicPr>
        <p:blipFill>
          <a:blip r:embed="rId4"/>
          <a:stretch>
            <a:fillRect/>
          </a:stretch>
        </p:blipFill>
        <p:spPr>
          <a:xfrm>
            <a:off x="7844991" y="887094"/>
            <a:ext cx="3528734" cy="1033679"/>
          </a:xfrm>
          <a:prstGeom prst="rect">
            <a:avLst/>
          </a:prstGeom>
        </p:spPr>
      </p:pic>
      <p:sp>
        <p:nvSpPr>
          <p:cNvPr id="6" name="Rectangle 5">
            <a:extLst>
              <a:ext uri="{FF2B5EF4-FFF2-40B4-BE49-F238E27FC236}">
                <a16:creationId xmlns:a16="http://schemas.microsoft.com/office/drawing/2014/main" id="{916D66C7-EAE7-5517-963A-AB1FD0B26F90}"/>
              </a:ext>
            </a:extLst>
          </p:cNvPr>
          <p:cNvSpPr>
            <a:spLocks noGrp="1" noRot="1" noMove="1" noResize="1" noEditPoints="1" noAdjustHandles="1" noChangeArrowheads="1" noChangeShapeType="1"/>
          </p:cNvSpPr>
          <p:nvPr/>
        </p:nvSpPr>
        <p:spPr>
          <a:xfrm>
            <a:off x="297712" y="255181"/>
            <a:ext cx="11663916" cy="6223324"/>
          </a:xfrm>
          <a:prstGeom prst="rect">
            <a:avLst/>
          </a:prstGeom>
          <a:noFill/>
          <a:ln>
            <a:solidFill>
              <a:srgbClr val="6B65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0" name="Rectangle 19">
            <a:extLst>
              <a:ext uri="{FF2B5EF4-FFF2-40B4-BE49-F238E27FC236}">
                <a16:creationId xmlns:a16="http://schemas.microsoft.com/office/drawing/2014/main" id="{9607DD78-11C4-5B9D-9E99-17A8215482E4}"/>
              </a:ext>
            </a:extLst>
          </p:cNvPr>
          <p:cNvSpPr>
            <a:spLocks noGrp="1" noRot="1" noMove="1" noResize="1" noEditPoints="1" noAdjustHandles="1" noChangeArrowheads="1" noChangeShapeType="1"/>
          </p:cNvSpPr>
          <p:nvPr/>
        </p:nvSpPr>
        <p:spPr>
          <a:xfrm>
            <a:off x="1034165" y="2622159"/>
            <a:ext cx="85023" cy="1323632"/>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22">
            <a:extLst>
              <a:ext uri="{FF2B5EF4-FFF2-40B4-BE49-F238E27FC236}">
                <a16:creationId xmlns:a16="http://schemas.microsoft.com/office/drawing/2014/main" id="{E0C710CF-D281-F776-1647-56B1B199667E}"/>
              </a:ext>
            </a:extLst>
          </p:cNvPr>
          <p:cNvSpPr>
            <a:spLocks noGrp="1" noRot="1" noMove="1" noResize="1" noEditPoints="1" noAdjustHandles="1" noChangeArrowheads="1" noChangeShapeType="1"/>
          </p:cNvSpPr>
          <p:nvPr/>
        </p:nvSpPr>
        <p:spPr>
          <a:xfrm>
            <a:off x="739914" y="5438775"/>
            <a:ext cx="72886" cy="703263"/>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26">
            <a:extLst>
              <a:ext uri="{FF2B5EF4-FFF2-40B4-BE49-F238E27FC236}">
                <a16:creationId xmlns:a16="http://schemas.microsoft.com/office/drawing/2014/main" id="{1AAC2A44-A7AF-BCAC-31A5-6AE97F626E23}"/>
              </a:ext>
            </a:extLst>
          </p:cNvPr>
          <p:cNvSpPr>
            <a:spLocks noGrp="1" noRot="1" noMove="1" noResize="1" noEditPoints="1" noAdjustHandles="1" noChangeArrowheads="1" noChangeShapeType="1"/>
          </p:cNvSpPr>
          <p:nvPr/>
        </p:nvSpPr>
        <p:spPr>
          <a:xfrm>
            <a:off x="11382809" y="5381692"/>
            <a:ext cx="72886" cy="703263"/>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232290738"/>
      </p:ext>
    </p:extLst>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B0E82-26D0-69BE-88CE-A38DA066F2D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E93F5D6-0063-A260-8A7B-2B70A642B910}"/>
              </a:ext>
            </a:extLst>
          </p:cNvPr>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833FF98C-C4D0-67D4-42D2-70C5C2CBA8AB}"/>
              </a:ext>
            </a:extLst>
          </p:cNvPr>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01" name="AnnexEyebrow"/>
          <p:cNvSpPr txBox="1"/>
          <p:nvPr/>
        </p:nvSpPr>
        <p:spPr>
          <a:xfrm>
            <a:off x="905256" y="685800"/>
            <a:ext cx="5486400"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050" b="1" spc="200" dirty="0">
                <a:solidFill>
                  <a:srgbClr val="F96A09"/>
                </a:solidFill>
                <a:latin typeface="Montserrat"/>
                <a:cs typeface="Montserrat"/>
              </a:rPr>
              <a:t>ANNEXE</a:t>
            </a:r>
          </a:p>
        </p:txBody>
      </p:sp>
      <p:sp>
        <p:nvSpPr>
          <p:cNvPr id="4002" name="AnnexTitle"/>
          <p:cNvSpPr txBox="1"/>
          <p:nvPr/>
        </p:nvSpPr>
        <p:spPr>
          <a:xfrm>
            <a:off x="905256" y="960120"/>
            <a:ext cx="8229600" cy="438912"/>
          </a:xfrm>
          <a:prstGeom prst="rect">
            <a:avLst/>
          </a:prstGeom>
          <a:noFill/>
          <a:ln>
            <a:noFill/>
          </a:ln>
        </p:spPr>
        <p:txBody>
          <a:bodyPr wrap="square" lIns="0" tIns="0" rIns="0" bIns="0" rtlCol="0" anchor="t">
            <a:noAutofit/>
          </a:bodyPr>
          <a:lstStyle/>
          <a:p>
            <a:pPr algn="l">
              <a:spcBef>
                <a:spcPts val="0"/>
              </a:spcBef>
              <a:spcAft>
                <a:spcPts val="0"/>
              </a:spcAft>
              <a:buNone/>
            </a:pPr>
            <a:r>
              <a:rPr lang="fr-FR" sz="2200" b="1" spc="100" dirty="0">
                <a:solidFill>
                  <a:srgbClr val="1F1B18"/>
                </a:solidFill>
                <a:latin typeface="Montserrat"/>
                <a:cs typeface="Montserrat"/>
              </a:rPr>
              <a:t>ESTIMATION BUDGÉTAIRE</a:t>
            </a:r>
          </a:p>
        </p:txBody>
      </p:sp>
      <p:graphicFrame>
        <p:nvGraphicFramePr>
          <p:cNvPr id="4003" name="BudgetTable"/>
          <p:cNvGraphicFramePr>
            <a:graphicFrameLocks noGrp="1"/>
          </p:cNvGraphicFramePr>
          <p:nvPr/>
        </p:nvGraphicFramePr>
        <p:xfrm>
          <a:off x="905256" y="1691640"/>
          <a:ext cx="7223760" cy="3730752"/>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57200">
                <a:tc>
                  <a:txBody>
                    <a:bodyPr/>
                    <a:lstStyle/>
                    <a:p>
                      <a:pPr algn="l">
                        <a:spcBef>
                          <a:spcPts val="0"/>
                        </a:spcBef>
                        <a:spcAft>
                          <a:spcPts val="0"/>
                        </a:spcAft>
                        <a:buNone/>
                      </a:pPr>
                      <a:r>
                        <a:rPr lang="fr-FR" sz="1100" b="1" dirty="0">
                          <a:solidFill>
                            <a:srgbClr val="FFFFFF"/>
                          </a:solidFill>
                          <a:latin typeface="Montserrat"/>
                          <a:cs typeface="Montserrat"/>
                        </a:rPr>
                        <a:t>Désignation</a:t>
                      </a:r>
                    </a:p>
                  </a:txBody>
                  <a:tcPr marL="146304" marR="146304" marT="36576" marB="36576" anchor="ctr">
                    <a:lnL w="0">
                      <a:noFill/>
                    </a:lnL>
                    <a:lnR w="0">
                      <a:noFill/>
                    </a:lnR>
                    <a:lnT w="0">
                      <a:noFill/>
                    </a:lnT>
                    <a:lnB w="0">
                      <a:noFill/>
                    </a:lnB>
                    <a:solidFill>
                      <a:srgbClr val="16294A"/>
                    </a:solidFill>
                  </a:tcPr>
                </a:tc>
                <a:tc>
                  <a:txBody>
                    <a:bodyPr/>
                    <a:lstStyle/>
                    <a:p>
                      <a:pPr algn="r">
                        <a:spcBef>
                          <a:spcPts val="0"/>
                        </a:spcBef>
                        <a:spcAft>
                          <a:spcPts val="0"/>
                        </a:spcAft>
                        <a:buNone/>
                      </a:pPr>
                      <a:r>
                        <a:rPr lang="fr-FR" sz="1100" b="1" dirty="0">
                          <a:solidFill>
                            <a:srgbClr val="FFFFFF"/>
                          </a:solidFill>
                          <a:latin typeface="Montserrat"/>
                          <a:cs typeface="Montserrat"/>
                        </a:rPr>
                        <a:t>Prix unitaire (FCFA)</a:t>
                      </a:r>
                    </a:p>
                  </a:txBody>
                  <a:tcPr marL="146304" marR="146304" marT="36576" marB="36576" anchor="ctr">
                    <a:lnL w="0">
                      <a:noFill/>
                    </a:lnL>
                    <a:lnR w="0">
                      <a:noFill/>
                    </a:lnR>
                    <a:lnT w="0">
                      <a:noFill/>
                    </a:lnT>
                    <a:lnB w="0">
                      <a:noFill/>
                    </a:lnB>
                    <a:solidFill>
                      <a:srgbClr val="16294A"/>
                    </a:solidFill>
                  </a:tcPr>
                </a:tc>
                <a:tc>
                  <a:txBody>
                    <a:bodyPr/>
                    <a:lstStyle/>
                    <a:p>
                      <a:pPr algn="ctr">
                        <a:spcBef>
                          <a:spcPts val="0"/>
                        </a:spcBef>
                        <a:spcAft>
                          <a:spcPts val="0"/>
                        </a:spcAft>
                        <a:buNone/>
                      </a:pPr>
                      <a:r>
                        <a:rPr lang="fr-FR" sz="1100" b="1" dirty="0">
                          <a:solidFill>
                            <a:srgbClr val="FFFFFF"/>
                          </a:solidFill>
                          <a:latin typeface="Montserrat"/>
                          <a:cs typeface="Montserrat"/>
                        </a:rPr>
                        <a:t>Quantité / durée</a:t>
                      </a:r>
                    </a:p>
                  </a:txBody>
                  <a:tcPr marL="146304" marR="146304" marT="36576" marB="36576" anchor="ctr">
                    <a:lnL w="0">
                      <a:noFill/>
                    </a:lnL>
                    <a:lnR w="0">
                      <a:noFill/>
                    </a:lnR>
                    <a:lnT w="0">
                      <a:noFill/>
                    </a:lnT>
                    <a:lnB w="0">
                      <a:noFill/>
                    </a:lnB>
                    <a:solidFill>
                      <a:srgbClr val="16294A"/>
                    </a:solidFill>
                  </a:tcPr>
                </a:tc>
                <a:tc>
                  <a:txBody>
                    <a:bodyPr/>
                    <a:lstStyle/>
                    <a:p>
                      <a:pPr algn="r">
                        <a:spcBef>
                          <a:spcPts val="0"/>
                        </a:spcBef>
                        <a:spcAft>
                          <a:spcPts val="0"/>
                        </a:spcAft>
                        <a:buNone/>
                      </a:pPr>
                      <a:r>
                        <a:rPr lang="fr-FR" sz="1100" b="1" dirty="0">
                          <a:solidFill>
                            <a:srgbClr val="FFFFFF"/>
                          </a:solidFill>
                          <a:latin typeface="Montserrat"/>
                          <a:cs typeface="Montserrat"/>
                        </a:rPr>
                        <a:t>Total (FCFA)</a:t>
                      </a:r>
                    </a:p>
                  </a:txBody>
                  <a:tcPr marL="146304" marR="146304" marT="36576" marB="36576" anchor="ctr">
                    <a:lnL w="0">
                      <a:noFill/>
                    </a:lnL>
                    <a:lnR w="0">
                      <a:noFill/>
                    </a:lnR>
                    <a:lnT w="0">
                      <a:noFill/>
                    </a:lnT>
                    <a:lnB w="0">
                      <a:noFill/>
                    </a:lnB>
                    <a:solidFill>
                      <a:srgbClr val="16294A"/>
                    </a:solidFill>
                  </a:tcPr>
                </a:tc>
                <a:extLst>
                  <a:ext uri="{0D108BD9-81ED-4DB2-BD59-A6C34878D82A}">
                    <a16:rowId xmlns:a16="http://schemas.microsoft.com/office/drawing/2014/main" val="10000"/>
                  </a:ext>
                </a:extLst>
              </a:tr>
              <a:tr h="457200">
                <a:tc>
                  <a:txBody>
                    <a:bodyPr/>
                    <a:lstStyle/>
                    <a:p>
                      <a:pPr algn="l">
                        <a:spcBef>
                          <a:spcPts val="0"/>
                        </a:spcBef>
                        <a:spcAft>
                          <a:spcPts val="0"/>
                        </a:spcAft>
                        <a:buNone/>
                      </a:pPr>
                      <a:r>
                        <a:rPr lang="fr-FR" sz="1200" dirty="0">
                          <a:solidFill>
                            <a:srgbClr val="1F1B18"/>
                          </a:solidFill>
                          <a:latin typeface="Montserrat"/>
                          <a:cs typeface="Montserrat"/>
                        </a:rPr>
                        <a:t>Ordinateur</a:t>
                      </a:r>
                    </a:p>
                  </a:txBody>
                  <a:tcPr marL="146304" marR="146304" marT="36576" marB="36576" anchor="ctr">
                    <a:lnL w="0">
                      <a:noFill/>
                    </a:lnL>
                    <a:lnR w="0">
                      <a:noFill/>
                    </a:lnR>
                    <a:lnT w="0">
                      <a:noFill/>
                    </a:lnT>
                    <a:lnB w="0">
                      <a:noFill/>
                    </a:lnB>
                    <a:solidFill>
                      <a:srgbClr val="FFFFFF"/>
                    </a:solidFill>
                  </a:tcPr>
                </a:tc>
                <a:tc>
                  <a:txBody>
                    <a:bodyPr/>
                    <a:lstStyle/>
                    <a:p>
                      <a:pPr algn="r">
                        <a:spcBef>
                          <a:spcPts val="0"/>
                        </a:spcBef>
                        <a:spcAft>
                          <a:spcPts val="0"/>
                        </a:spcAft>
                        <a:buNone/>
                      </a:pPr>
                      <a:r>
                        <a:rPr lang="fr-FR" sz="1200" dirty="0">
                          <a:solidFill>
                            <a:srgbClr val="5A5550"/>
                          </a:solidFill>
                          <a:latin typeface="Montserrat"/>
                          <a:cs typeface="Montserrat"/>
                        </a:rPr>
                        <a:t>500 000</a:t>
                      </a:r>
                    </a:p>
                  </a:txBody>
                  <a:tcPr marL="146304" marR="146304" marT="36576" marB="36576" anchor="ctr">
                    <a:lnL w="0">
                      <a:noFill/>
                    </a:lnL>
                    <a:lnR w="0">
                      <a:noFill/>
                    </a:lnR>
                    <a:lnT w="0">
                      <a:noFill/>
                    </a:lnT>
                    <a:lnB w="0">
                      <a:noFill/>
                    </a:lnB>
                    <a:solidFill>
                      <a:srgbClr val="FFFFFF"/>
                    </a:solidFill>
                  </a:tcPr>
                </a:tc>
                <a:tc>
                  <a:txBody>
                    <a:bodyPr/>
                    <a:lstStyle/>
                    <a:p>
                      <a:pPr algn="ctr">
                        <a:spcBef>
                          <a:spcPts val="0"/>
                        </a:spcBef>
                        <a:spcAft>
                          <a:spcPts val="0"/>
                        </a:spcAft>
                        <a:buNone/>
                      </a:pPr>
                      <a:r>
                        <a:rPr lang="fr-FR" sz="1200" dirty="0">
                          <a:solidFill>
                            <a:srgbClr val="5A5550"/>
                          </a:solidFill>
                          <a:latin typeface="Montserrat"/>
                          <a:cs typeface="Montserrat"/>
                        </a:rPr>
                        <a:t>1 unité</a:t>
                      </a:r>
                    </a:p>
                  </a:txBody>
                  <a:tcPr marL="146304" marR="146304" marT="36576" marB="36576" anchor="ctr">
                    <a:lnL w="0">
                      <a:noFill/>
                    </a:lnL>
                    <a:lnR w="0">
                      <a:noFill/>
                    </a:lnR>
                    <a:lnT w="0">
                      <a:noFill/>
                    </a:lnT>
                    <a:lnB w="0">
                      <a:noFill/>
                    </a:lnB>
                    <a:solidFill>
                      <a:srgbClr val="FFFFFF"/>
                    </a:solidFill>
                  </a:tcPr>
                </a:tc>
                <a:tc>
                  <a:txBody>
                    <a:bodyPr/>
                    <a:lstStyle/>
                    <a:p>
                      <a:pPr algn="r">
                        <a:spcBef>
                          <a:spcPts val="0"/>
                        </a:spcBef>
                        <a:spcAft>
                          <a:spcPts val="0"/>
                        </a:spcAft>
                        <a:buNone/>
                      </a:pPr>
                      <a:r>
                        <a:rPr lang="fr-FR" sz="1200" b="1" dirty="0">
                          <a:solidFill>
                            <a:srgbClr val="1F1B18"/>
                          </a:solidFill>
                          <a:latin typeface="Montserrat"/>
                          <a:cs typeface="Montserrat"/>
                        </a:rPr>
                        <a:t>500 000</a:t>
                      </a:r>
                    </a:p>
                  </a:txBody>
                  <a:tcPr marL="146304" marR="146304"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1"/>
                  </a:ext>
                </a:extLst>
              </a:tr>
              <a:tr h="457200">
                <a:tc>
                  <a:txBody>
                    <a:bodyPr/>
                    <a:lstStyle/>
                    <a:p>
                      <a:pPr algn="l">
                        <a:spcBef>
                          <a:spcPts val="0"/>
                        </a:spcBef>
                        <a:spcAft>
                          <a:spcPts val="0"/>
                        </a:spcAft>
                        <a:buNone/>
                      </a:pPr>
                      <a:r>
                        <a:rPr lang="fr-FR" sz="1200" dirty="0">
                          <a:solidFill>
                            <a:srgbClr val="1F1B18"/>
                          </a:solidFill>
                          <a:latin typeface="Montserrat"/>
                          <a:cs typeface="Montserrat"/>
                        </a:rPr>
                        <a:t>Connexion internet</a:t>
                      </a:r>
                    </a:p>
                  </a:txBody>
                  <a:tcPr marL="146304" marR="146304" marT="36576" marB="36576" anchor="ctr">
                    <a:lnL w="0">
                      <a:noFill/>
                    </a:lnL>
                    <a:lnR w="0">
                      <a:noFill/>
                    </a:lnR>
                    <a:lnT w="0">
                      <a:noFill/>
                    </a:lnT>
                    <a:lnB w="0">
                      <a:noFill/>
                    </a:lnB>
                    <a:solidFill>
                      <a:srgbClr val="EDF0F5"/>
                    </a:solidFill>
                  </a:tcPr>
                </a:tc>
                <a:tc>
                  <a:txBody>
                    <a:bodyPr/>
                    <a:lstStyle/>
                    <a:p>
                      <a:pPr algn="r">
                        <a:spcBef>
                          <a:spcPts val="0"/>
                        </a:spcBef>
                        <a:spcAft>
                          <a:spcPts val="0"/>
                        </a:spcAft>
                        <a:buNone/>
                      </a:pPr>
                      <a:r>
                        <a:rPr lang="fr-FR" sz="1200" dirty="0">
                          <a:solidFill>
                            <a:srgbClr val="5A5550"/>
                          </a:solidFill>
                          <a:latin typeface="Montserrat"/>
                          <a:cs typeface="Montserrat"/>
                        </a:rPr>
                        <a:t>25 000 / mois</a:t>
                      </a:r>
                    </a:p>
                  </a:txBody>
                  <a:tcPr marL="146304" marR="146304" marT="36576" marB="36576" anchor="ctr">
                    <a:lnL w="0">
                      <a:noFill/>
                    </a:lnL>
                    <a:lnR w="0">
                      <a:noFill/>
                    </a:lnR>
                    <a:lnT w="0">
                      <a:noFill/>
                    </a:lnT>
                    <a:lnB w="0">
                      <a:noFill/>
                    </a:lnB>
                    <a:solidFill>
                      <a:srgbClr val="EDF0F5"/>
                    </a:solidFill>
                  </a:tcPr>
                </a:tc>
                <a:tc>
                  <a:txBody>
                    <a:bodyPr/>
                    <a:lstStyle/>
                    <a:p>
                      <a:pPr algn="ctr">
                        <a:spcBef>
                          <a:spcPts val="0"/>
                        </a:spcBef>
                        <a:spcAft>
                          <a:spcPts val="0"/>
                        </a:spcAft>
                        <a:buNone/>
                      </a:pPr>
                      <a:r>
                        <a:rPr lang="fr-FR" sz="1200" dirty="0">
                          <a:solidFill>
                            <a:srgbClr val="5A5550"/>
                          </a:solidFill>
                          <a:latin typeface="Montserrat"/>
                          <a:cs typeface="Montserrat"/>
                        </a:rPr>
                        <a:t>3 mois</a:t>
                      </a:r>
                    </a:p>
                  </a:txBody>
                  <a:tcPr marL="146304" marR="146304" marT="36576" marB="36576" anchor="ctr">
                    <a:lnL w="0">
                      <a:noFill/>
                    </a:lnL>
                    <a:lnR w="0">
                      <a:noFill/>
                    </a:lnR>
                    <a:lnT w="0">
                      <a:noFill/>
                    </a:lnT>
                    <a:lnB w="0">
                      <a:noFill/>
                    </a:lnB>
                    <a:solidFill>
                      <a:srgbClr val="EDF0F5"/>
                    </a:solidFill>
                  </a:tcPr>
                </a:tc>
                <a:tc>
                  <a:txBody>
                    <a:bodyPr/>
                    <a:lstStyle/>
                    <a:p>
                      <a:pPr algn="r">
                        <a:spcBef>
                          <a:spcPts val="0"/>
                        </a:spcBef>
                        <a:spcAft>
                          <a:spcPts val="0"/>
                        </a:spcAft>
                        <a:buNone/>
                      </a:pPr>
                      <a:r>
                        <a:rPr lang="fr-FR" sz="1200" b="1" dirty="0">
                          <a:solidFill>
                            <a:srgbClr val="1F1B18"/>
                          </a:solidFill>
                          <a:latin typeface="Montserrat"/>
                          <a:cs typeface="Montserrat"/>
                        </a:rPr>
                        <a:t>75 000</a:t>
                      </a:r>
                    </a:p>
                  </a:txBody>
                  <a:tcPr marL="146304" marR="146304" marT="36576" marB="36576" anchor="ctr">
                    <a:lnL w="0">
                      <a:noFill/>
                    </a:lnL>
                    <a:lnR w="0">
                      <a:noFill/>
                    </a:lnR>
                    <a:lnT w="0">
                      <a:noFill/>
                    </a:lnT>
                    <a:lnB w="0">
                      <a:noFill/>
                    </a:lnB>
                    <a:solidFill>
                      <a:srgbClr val="EDF0F5"/>
                    </a:solidFill>
                  </a:tcPr>
                </a:tc>
                <a:extLst>
                  <a:ext uri="{0D108BD9-81ED-4DB2-BD59-A6C34878D82A}">
                    <a16:rowId xmlns:a16="http://schemas.microsoft.com/office/drawing/2014/main" val="10002"/>
                  </a:ext>
                </a:extLst>
              </a:tr>
              <a:tr h="457200">
                <a:tc>
                  <a:txBody>
                    <a:bodyPr/>
                    <a:lstStyle/>
                    <a:p>
                      <a:pPr algn="l">
                        <a:spcBef>
                          <a:spcPts val="0"/>
                        </a:spcBef>
                        <a:spcAft>
                          <a:spcPts val="0"/>
                        </a:spcAft>
                        <a:buNone/>
                      </a:pPr>
                      <a:r>
                        <a:rPr lang="fr-FR" sz="1200" dirty="0">
                          <a:solidFill>
                            <a:srgbClr val="1F1B18"/>
                          </a:solidFill>
                          <a:latin typeface="Montserrat"/>
                          <a:cs typeface="Montserrat"/>
                        </a:rPr>
                        <a:t>VPS / serveur cloud</a:t>
                      </a:r>
                    </a:p>
                  </a:txBody>
                  <a:tcPr marL="146304" marR="146304" marT="36576" marB="36576" anchor="ctr">
                    <a:lnL w="0">
                      <a:noFill/>
                    </a:lnL>
                    <a:lnR w="0">
                      <a:noFill/>
                    </a:lnR>
                    <a:lnT w="0">
                      <a:noFill/>
                    </a:lnT>
                    <a:lnB w="0">
                      <a:noFill/>
                    </a:lnB>
                    <a:solidFill>
                      <a:srgbClr val="FFFFFF"/>
                    </a:solidFill>
                  </a:tcPr>
                </a:tc>
                <a:tc>
                  <a:txBody>
                    <a:bodyPr/>
                    <a:lstStyle/>
                    <a:p>
                      <a:pPr algn="r">
                        <a:spcBef>
                          <a:spcPts val="0"/>
                        </a:spcBef>
                        <a:spcAft>
                          <a:spcPts val="0"/>
                        </a:spcAft>
                        <a:buNone/>
                      </a:pPr>
                      <a:r>
                        <a:rPr lang="fr-FR" sz="1200" dirty="0">
                          <a:solidFill>
                            <a:srgbClr val="5A5550"/>
                          </a:solidFill>
                          <a:latin typeface="Montserrat"/>
                          <a:cs typeface="Montserrat"/>
                        </a:rPr>
                        <a:t>30 000 / mois</a:t>
                      </a:r>
                    </a:p>
                  </a:txBody>
                  <a:tcPr marL="146304" marR="146304" marT="36576" marB="36576" anchor="ctr">
                    <a:lnL w="0">
                      <a:noFill/>
                    </a:lnL>
                    <a:lnR w="0">
                      <a:noFill/>
                    </a:lnR>
                    <a:lnT w="0">
                      <a:noFill/>
                    </a:lnT>
                    <a:lnB w="0">
                      <a:noFill/>
                    </a:lnB>
                    <a:solidFill>
                      <a:srgbClr val="FFFFFF"/>
                    </a:solidFill>
                  </a:tcPr>
                </a:tc>
                <a:tc>
                  <a:txBody>
                    <a:bodyPr/>
                    <a:lstStyle/>
                    <a:p>
                      <a:pPr algn="ctr">
                        <a:spcBef>
                          <a:spcPts val="0"/>
                        </a:spcBef>
                        <a:spcAft>
                          <a:spcPts val="0"/>
                        </a:spcAft>
                        <a:buNone/>
                      </a:pPr>
                      <a:r>
                        <a:rPr lang="fr-FR" sz="1200" dirty="0">
                          <a:solidFill>
                            <a:srgbClr val="5A5550"/>
                          </a:solidFill>
                          <a:latin typeface="Montserrat"/>
                          <a:cs typeface="Montserrat"/>
                        </a:rPr>
                        <a:t>12 mois</a:t>
                      </a:r>
                    </a:p>
                  </a:txBody>
                  <a:tcPr marL="146304" marR="146304" marT="36576" marB="36576" anchor="ctr">
                    <a:lnL w="0">
                      <a:noFill/>
                    </a:lnL>
                    <a:lnR w="0">
                      <a:noFill/>
                    </a:lnR>
                    <a:lnT w="0">
                      <a:noFill/>
                    </a:lnT>
                    <a:lnB w="0">
                      <a:noFill/>
                    </a:lnB>
                    <a:solidFill>
                      <a:srgbClr val="FFFFFF"/>
                    </a:solidFill>
                  </a:tcPr>
                </a:tc>
                <a:tc>
                  <a:txBody>
                    <a:bodyPr/>
                    <a:lstStyle/>
                    <a:p>
                      <a:pPr algn="r">
                        <a:spcBef>
                          <a:spcPts val="0"/>
                        </a:spcBef>
                        <a:spcAft>
                          <a:spcPts val="0"/>
                        </a:spcAft>
                        <a:buNone/>
                      </a:pPr>
                      <a:r>
                        <a:rPr lang="fr-FR" sz="1200" b="1" dirty="0">
                          <a:solidFill>
                            <a:srgbClr val="1F1B18"/>
                          </a:solidFill>
                          <a:latin typeface="Montserrat"/>
                          <a:cs typeface="Montserrat"/>
                        </a:rPr>
                        <a:t>360 000</a:t>
                      </a:r>
                    </a:p>
                  </a:txBody>
                  <a:tcPr marL="146304" marR="146304"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3"/>
                  </a:ext>
                </a:extLst>
              </a:tr>
              <a:tr h="457200">
                <a:tc>
                  <a:txBody>
                    <a:bodyPr/>
                    <a:lstStyle/>
                    <a:p>
                      <a:pPr algn="l">
                        <a:spcBef>
                          <a:spcPts val="0"/>
                        </a:spcBef>
                        <a:spcAft>
                          <a:spcPts val="0"/>
                        </a:spcAft>
                        <a:buNone/>
                      </a:pPr>
                      <a:r>
                        <a:rPr lang="fr-FR" sz="1200" dirty="0">
                          <a:solidFill>
                            <a:srgbClr val="1F1B18"/>
                          </a:solidFill>
                          <a:latin typeface="Montserrat"/>
                          <a:cs typeface="Montserrat"/>
                        </a:rPr>
                        <a:t>Main-d’œuvre</a:t>
                      </a:r>
                    </a:p>
                  </a:txBody>
                  <a:tcPr marL="146304" marR="146304" marT="36576" marB="36576" anchor="ctr">
                    <a:lnL w="0">
                      <a:noFill/>
                    </a:lnL>
                    <a:lnR w="0">
                      <a:noFill/>
                    </a:lnR>
                    <a:lnT w="0">
                      <a:noFill/>
                    </a:lnT>
                    <a:lnB w="0">
                      <a:noFill/>
                    </a:lnB>
                    <a:solidFill>
                      <a:srgbClr val="EDF0F5"/>
                    </a:solidFill>
                  </a:tcPr>
                </a:tc>
                <a:tc>
                  <a:txBody>
                    <a:bodyPr/>
                    <a:lstStyle/>
                    <a:p>
                      <a:pPr algn="r">
                        <a:spcBef>
                          <a:spcPts val="0"/>
                        </a:spcBef>
                        <a:spcAft>
                          <a:spcPts val="0"/>
                        </a:spcAft>
                        <a:buNone/>
                      </a:pPr>
                      <a:r>
                        <a:rPr lang="fr-FR" sz="1200" dirty="0">
                          <a:solidFill>
                            <a:srgbClr val="5A5550"/>
                          </a:solidFill>
                          <a:latin typeface="Montserrat"/>
                          <a:cs typeface="Montserrat"/>
                        </a:rPr>
                        <a:t>150 000 / mois</a:t>
                      </a:r>
                    </a:p>
                  </a:txBody>
                  <a:tcPr marL="146304" marR="146304" marT="36576" marB="36576" anchor="ctr">
                    <a:lnL w="0">
                      <a:noFill/>
                    </a:lnL>
                    <a:lnR w="0">
                      <a:noFill/>
                    </a:lnR>
                    <a:lnT w="0">
                      <a:noFill/>
                    </a:lnT>
                    <a:lnB w="0">
                      <a:noFill/>
                    </a:lnB>
                    <a:solidFill>
                      <a:srgbClr val="EDF0F5"/>
                    </a:solidFill>
                  </a:tcPr>
                </a:tc>
                <a:tc>
                  <a:txBody>
                    <a:bodyPr/>
                    <a:lstStyle/>
                    <a:p>
                      <a:pPr algn="ctr">
                        <a:spcBef>
                          <a:spcPts val="0"/>
                        </a:spcBef>
                        <a:spcAft>
                          <a:spcPts val="0"/>
                        </a:spcAft>
                        <a:buNone/>
                      </a:pPr>
                      <a:r>
                        <a:rPr lang="fr-FR" sz="1200" dirty="0">
                          <a:solidFill>
                            <a:srgbClr val="5A5550"/>
                          </a:solidFill>
                          <a:latin typeface="Montserrat"/>
                          <a:cs typeface="Montserrat"/>
                        </a:rPr>
                        <a:t>3 mois</a:t>
                      </a:r>
                    </a:p>
                  </a:txBody>
                  <a:tcPr marL="146304" marR="146304" marT="36576" marB="36576" anchor="ctr">
                    <a:lnL w="0">
                      <a:noFill/>
                    </a:lnL>
                    <a:lnR w="0">
                      <a:noFill/>
                    </a:lnR>
                    <a:lnT w="0">
                      <a:noFill/>
                    </a:lnT>
                    <a:lnB w="0">
                      <a:noFill/>
                    </a:lnB>
                    <a:solidFill>
                      <a:srgbClr val="EDF0F5"/>
                    </a:solidFill>
                  </a:tcPr>
                </a:tc>
                <a:tc>
                  <a:txBody>
                    <a:bodyPr/>
                    <a:lstStyle/>
                    <a:p>
                      <a:pPr algn="r">
                        <a:spcBef>
                          <a:spcPts val="0"/>
                        </a:spcBef>
                        <a:spcAft>
                          <a:spcPts val="0"/>
                        </a:spcAft>
                        <a:buNone/>
                      </a:pPr>
                      <a:r>
                        <a:rPr lang="fr-FR" sz="1200" b="1" dirty="0">
                          <a:solidFill>
                            <a:srgbClr val="1F1B18"/>
                          </a:solidFill>
                          <a:latin typeface="Montserrat"/>
                          <a:cs typeface="Montserrat"/>
                        </a:rPr>
                        <a:t>450 000</a:t>
                      </a:r>
                    </a:p>
                  </a:txBody>
                  <a:tcPr marL="146304" marR="146304" marT="36576" marB="36576" anchor="ctr">
                    <a:lnL w="0">
                      <a:noFill/>
                    </a:lnL>
                    <a:lnR w="0">
                      <a:noFill/>
                    </a:lnR>
                    <a:lnT w="0">
                      <a:noFill/>
                    </a:lnT>
                    <a:lnB w="0">
                      <a:noFill/>
                    </a:lnB>
                    <a:solidFill>
                      <a:srgbClr val="EDF0F5"/>
                    </a:solidFill>
                  </a:tcPr>
                </a:tc>
                <a:extLst>
                  <a:ext uri="{0D108BD9-81ED-4DB2-BD59-A6C34878D82A}">
                    <a16:rowId xmlns:a16="http://schemas.microsoft.com/office/drawing/2014/main" val="10004"/>
                  </a:ext>
                </a:extLst>
              </a:tr>
              <a:tr h="457200">
                <a:tc>
                  <a:txBody>
                    <a:bodyPr/>
                    <a:lstStyle/>
                    <a:p>
                      <a:pPr algn="l">
                        <a:spcBef>
                          <a:spcPts val="0"/>
                        </a:spcBef>
                        <a:spcAft>
                          <a:spcPts val="0"/>
                        </a:spcAft>
                        <a:buNone/>
                      </a:pPr>
                      <a:r>
                        <a:rPr lang="fr-FR" sz="1200" dirty="0">
                          <a:solidFill>
                            <a:srgbClr val="1F1B18"/>
                          </a:solidFill>
                          <a:latin typeface="Montserrat"/>
                          <a:cs typeface="Montserrat"/>
                        </a:rPr>
                        <a:t>Stockage et sauvegarde</a:t>
                      </a:r>
                    </a:p>
                  </a:txBody>
                  <a:tcPr marL="146304" marR="146304" marT="36576" marB="36576" anchor="ctr">
                    <a:lnL w="0">
                      <a:noFill/>
                    </a:lnL>
                    <a:lnR w="0">
                      <a:noFill/>
                    </a:lnR>
                    <a:lnT w="0">
                      <a:noFill/>
                    </a:lnT>
                    <a:lnB w="0">
                      <a:noFill/>
                    </a:lnB>
                    <a:solidFill>
                      <a:srgbClr val="FFFFFF"/>
                    </a:solidFill>
                  </a:tcPr>
                </a:tc>
                <a:tc>
                  <a:txBody>
                    <a:bodyPr/>
                    <a:lstStyle/>
                    <a:p>
                      <a:pPr algn="r">
                        <a:spcBef>
                          <a:spcPts val="0"/>
                        </a:spcBef>
                        <a:spcAft>
                          <a:spcPts val="0"/>
                        </a:spcAft>
                        <a:buNone/>
                      </a:pPr>
                      <a:r>
                        <a:rPr lang="fr-FR" sz="1200" dirty="0">
                          <a:solidFill>
                            <a:srgbClr val="5A5550"/>
                          </a:solidFill>
                          <a:latin typeface="Montserrat"/>
                          <a:cs typeface="Montserrat"/>
                        </a:rPr>
                        <a:t>50 000 / mois</a:t>
                      </a:r>
                    </a:p>
                  </a:txBody>
                  <a:tcPr marL="146304" marR="146304" marT="36576" marB="36576" anchor="ctr">
                    <a:lnL w="0">
                      <a:noFill/>
                    </a:lnL>
                    <a:lnR w="0">
                      <a:noFill/>
                    </a:lnR>
                    <a:lnT w="0">
                      <a:noFill/>
                    </a:lnT>
                    <a:lnB w="0">
                      <a:noFill/>
                    </a:lnB>
                    <a:solidFill>
                      <a:srgbClr val="FFFFFF"/>
                    </a:solidFill>
                  </a:tcPr>
                </a:tc>
                <a:tc>
                  <a:txBody>
                    <a:bodyPr/>
                    <a:lstStyle/>
                    <a:p>
                      <a:pPr algn="ctr">
                        <a:spcBef>
                          <a:spcPts val="0"/>
                        </a:spcBef>
                        <a:spcAft>
                          <a:spcPts val="0"/>
                        </a:spcAft>
                        <a:buNone/>
                      </a:pPr>
                      <a:r>
                        <a:rPr lang="fr-FR" sz="1200" dirty="0">
                          <a:solidFill>
                            <a:srgbClr val="5A5550"/>
                          </a:solidFill>
                          <a:latin typeface="Montserrat"/>
                          <a:cs typeface="Montserrat"/>
                        </a:rPr>
                        <a:t>12 mois</a:t>
                      </a:r>
                    </a:p>
                  </a:txBody>
                  <a:tcPr marL="146304" marR="146304" marT="36576" marB="36576" anchor="ctr">
                    <a:lnL w="0">
                      <a:noFill/>
                    </a:lnL>
                    <a:lnR w="0">
                      <a:noFill/>
                    </a:lnR>
                    <a:lnT w="0">
                      <a:noFill/>
                    </a:lnT>
                    <a:lnB w="0">
                      <a:noFill/>
                    </a:lnB>
                    <a:solidFill>
                      <a:srgbClr val="FFFFFF"/>
                    </a:solidFill>
                  </a:tcPr>
                </a:tc>
                <a:tc>
                  <a:txBody>
                    <a:bodyPr/>
                    <a:lstStyle/>
                    <a:p>
                      <a:pPr algn="r">
                        <a:spcBef>
                          <a:spcPts val="0"/>
                        </a:spcBef>
                        <a:spcAft>
                          <a:spcPts val="0"/>
                        </a:spcAft>
                        <a:buNone/>
                      </a:pPr>
                      <a:r>
                        <a:rPr lang="fr-FR" sz="1200" b="1" dirty="0">
                          <a:solidFill>
                            <a:srgbClr val="1F1B18"/>
                          </a:solidFill>
                          <a:latin typeface="Montserrat"/>
                          <a:cs typeface="Montserrat"/>
                        </a:rPr>
                        <a:t>600 000</a:t>
                      </a:r>
                    </a:p>
                  </a:txBody>
                  <a:tcPr marL="146304" marR="146304" marT="36576" marB="36576" anchor="ctr">
                    <a:lnL w="0">
                      <a:noFill/>
                    </a:lnL>
                    <a:lnR w="0">
                      <a:noFill/>
                    </a:lnR>
                    <a:lnT w="0">
                      <a:noFill/>
                    </a:lnT>
                    <a:lnB w="0">
                      <a:noFill/>
                    </a:lnB>
                    <a:solidFill>
                      <a:srgbClr val="FFFFFF"/>
                    </a:solidFill>
                  </a:tcPr>
                </a:tc>
                <a:extLst>
                  <a:ext uri="{0D108BD9-81ED-4DB2-BD59-A6C34878D82A}">
                    <a16:rowId xmlns:a16="http://schemas.microsoft.com/office/drawing/2014/main" val="10005"/>
                  </a:ext>
                </a:extLst>
              </a:tr>
              <a:tr h="457200">
                <a:tc>
                  <a:txBody>
                    <a:bodyPr/>
                    <a:lstStyle/>
                    <a:p>
                      <a:pPr algn="l">
                        <a:spcBef>
                          <a:spcPts val="0"/>
                        </a:spcBef>
                        <a:spcAft>
                          <a:spcPts val="0"/>
                        </a:spcAft>
                        <a:buNone/>
                      </a:pPr>
                      <a:r>
                        <a:rPr lang="fr-FR" sz="1200" dirty="0">
                          <a:solidFill>
                            <a:srgbClr val="1F1B18"/>
                          </a:solidFill>
                          <a:latin typeface="Montserrat"/>
                          <a:cs typeface="Montserrat"/>
                        </a:rPr>
                        <a:t>Maintenance du système</a:t>
                      </a:r>
                    </a:p>
                  </a:txBody>
                  <a:tcPr marL="146304" marR="146304" marT="36576" marB="36576" anchor="ctr">
                    <a:lnL w="0">
                      <a:noFill/>
                    </a:lnL>
                    <a:lnR w="0">
                      <a:noFill/>
                    </a:lnR>
                    <a:lnT w="0">
                      <a:noFill/>
                    </a:lnT>
                    <a:lnB w="0">
                      <a:noFill/>
                    </a:lnB>
                    <a:solidFill>
                      <a:srgbClr val="EDF0F5"/>
                    </a:solidFill>
                  </a:tcPr>
                </a:tc>
                <a:tc>
                  <a:txBody>
                    <a:bodyPr/>
                    <a:lstStyle/>
                    <a:p>
                      <a:pPr algn="r">
                        <a:spcBef>
                          <a:spcPts val="0"/>
                        </a:spcBef>
                        <a:spcAft>
                          <a:spcPts val="0"/>
                        </a:spcAft>
                        <a:buNone/>
                      </a:pPr>
                      <a:r>
                        <a:rPr lang="fr-FR" sz="1200" dirty="0">
                          <a:solidFill>
                            <a:srgbClr val="5A5550"/>
                          </a:solidFill>
                          <a:latin typeface="Montserrat"/>
                          <a:cs typeface="Montserrat"/>
                        </a:rPr>
                        <a:t>150 000 / mois</a:t>
                      </a:r>
                    </a:p>
                  </a:txBody>
                  <a:tcPr marL="146304" marR="146304" marT="36576" marB="36576" anchor="ctr">
                    <a:lnL w="0">
                      <a:noFill/>
                    </a:lnL>
                    <a:lnR w="0">
                      <a:noFill/>
                    </a:lnR>
                    <a:lnT w="0">
                      <a:noFill/>
                    </a:lnT>
                    <a:lnB w="0">
                      <a:noFill/>
                    </a:lnB>
                    <a:solidFill>
                      <a:srgbClr val="EDF0F5"/>
                    </a:solidFill>
                  </a:tcPr>
                </a:tc>
                <a:tc>
                  <a:txBody>
                    <a:bodyPr/>
                    <a:lstStyle/>
                    <a:p>
                      <a:pPr algn="ctr">
                        <a:spcBef>
                          <a:spcPts val="0"/>
                        </a:spcBef>
                        <a:spcAft>
                          <a:spcPts val="0"/>
                        </a:spcAft>
                        <a:buNone/>
                      </a:pPr>
                      <a:r>
                        <a:rPr lang="fr-FR" sz="1200" dirty="0">
                          <a:solidFill>
                            <a:srgbClr val="5A5550"/>
                          </a:solidFill>
                          <a:latin typeface="Montserrat"/>
                          <a:cs typeface="Montserrat"/>
                        </a:rPr>
                        <a:t>12 mois</a:t>
                      </a:r>
                    </a:p>
                  </a:txBody>
                  <a:tcPr marL="146304" marR="146304" marT="36576" marB="36576" anchor="ctr">
                    <a:lnL w="0">
                      <a:noFill/>
                    </a:lnL>
                    <a:lnR w="0">
                      <a:noFill/>
                    </a:lnR>
                    <a:lnT w="0">
                      <a:noFill/>
                    </a:lnT>
                    <a:lnB w="0">
                      <a:noFill/>
                    </a:lnB>
                    <a:solidFill>
                      <a:srgbClr val="EDF0F5"/>
                    </a:solidFill>
                  </a:tcPr>
                </a:tc>
                <a:tc>
                  <a:txBody>
                    <a:bodyPr/>
                    <a:lstStyle/>
                    <a:p>
                      <a:pPr algn="r">
                        <a:spcBef>
                          <a:spcPts val="0"/>
                        </a:spcBef>
                        <a:spcAft>
                          <a:spcPts val="0"/>
                        </a:spcAft>
                        <a:buNone/>
                      </a:pPr>
                      <a:r>
                        <a:rPr lang="fr-FR" sz="1200" b="1" dirty="0">
                          <a:solidFill>
                            <a:srgbClr val="1F1B18"/>
                          </a:solidFill>
                          <a:latin typeface="Montserrat"/>
                          <a:cs typeface="Montserrat"/>
                        </a:rPr>
                        <a:t>1 800 000</a:t>
                      </a:r>
                    </a:p>
                  </a:txBody>
                  <a:tcPr marL="146304" marR="146304" marT="36576" marB="36576" anchor="ctr">
                    <a:lnL w="0">
                      <a:noFill/>
                    </a:lnL>
                    <a:lnR w="0">
                      <a:noFill/>
                    </a:lnR>
                    <a:lnT w="0">
                      <a:noFill/>
                    </a:lnT>
                    <a:lnB w="0">
                      <a:noFill/>
                    </a:lnB>
                    <a:solidFill>
                      <a:srgbClr val="EDF0F5"/>
                    </a:solidFill>
                  </a:tcPr>
                </a:tc>
                <a:extLst>
                  <a:ext uri="{0D108BD9-81ED-4DB2-BD59-A6C34878D82A}">
                    <a16:rowId xmlns:a16="http://schemas.microsoft.com/office/drawing/2014/main" val="10006"/>
                  </a:ext>
                </a:extLst>
              </a:tr>
              <a:tr h="530352">
                <a:tc>
                  <a:txBody>
                    <a:bodyPr/>
                    <a:lstStyle/>
                    <a:p>
                      <a:pPr algn="l">
                        <a:spcBef>
                          <a:spcPts val="0"/>
                        </a:spcBef>
                        <a:spcAft>
                          <a:spcPts val="0"/>
                        </a:spcAft>
                        <a:buNone/>
                      </a:pPr>
                      <a:r>
                        <a:rPr lang="fr-FR" sz="1300" b="1" dirty="0">
                          <a:solidFill>
                            <a:srgbClr val="1F1B18"/>
                          </a:solidFill>
                          <a:latin typeface="Montserrat"/>
                          <a:cs typeface="Montserrat"/>
                        </a:rPr>
                        <a:t>TOTAL</a:t>
                      </a:r>
                    </a:p>
                  </a:txBody>
                  <a:tcPr marL="146304" marR="146304" marT="36576" marB="36576" anchor="ctr">
                    <a:lnL w="0">
                      <a:noFill/>
                    </a:lnL>
                    <a:lnR w="0">
                      <a:noFill/>
                    </a:lnR>
                    <a:lnT w="19050">
                      <a:noFill/>
                    </a:lnT>
                    <a:lnB w="0">
                      <a:noFill/>
                    </a:lnB>
                    <a:solidFill>
                      <a:srgbClr val="FDF3EC"/>
                    </a:solidFill>
                  </a:tcPr>
                </a:tc>
                <a:tc>
                  <a:txBody>
                    <a:bodyPr/>
                    <a:lstStyle/>
                    <a:p>
                      <a:pPr algn="r">
                        <a:spcBef>
                          <a:spcPts val="0"/>
                        </a:spcBef>
                        <a:spcAft>
                          <a:spcPts val="0"/>
                        </a:spcAft>
                        <a:buNone/>
                      </a:pPr>
                      <a:endParaRPr/>
                    </a:p>
                  </a:txBody>
                  <a:tcPr marL="146304" marR="146304" marT="36576" marB="36576" anchor="ctr">
                    <a:lnL w="0">
                      <a:noFill/>
                    </a:lnL>
                    <a:lnR w="0">
                      <a:noFill/>
                    </a:lnR>
                    <a:lnT w="19050">
                      <a:noFill/>
                    </a:lnT>
                    <a:lnB w="0">
                      <a:noFill/>
                    </a:lnB>
                    <a:solidFill>
                      <a:srgbClr val="FDF3EC"/>
                    </a:solidFill>
                  </a:tcPr>
                </a:tc>
                <a:tc>
                  <a:txBody>
                    <a:bodyPr/>
                    <a:lstStyle/>
                    <a:p>
                      <a:pPr algn="ctr">
                        <a:spcBef>
                          <a:spcPts val="0"/>
                        </a:spcBef>
                        <a:spcAft>
                          <a:spcPts val="0"/>
                        </a:spcAft>
                        <a:buNone/>
                      </a:pPr>
                      <a:endParaRPr/>
                    </a:p>
                  </a:txBody>
                  <a:tcPr marL="146304" marR="146304" marT="36576" marB="36576" anchor="ctr">
                    <a:lnL w="0">
                      <a:noFill/>
                    </a:lnL>
                    <a:lnR w="0">
                      <a:noFill/>
                    </a:lnR>
                    <a:lnT w="19050">
                      <a:noFill/>
                    </a:lnT>
                    <a:lnB w="0">
                      <a:noFill/>
                    </a:lnB>
                    <a:solidFill>
                      <a:srgbClr val="FDF3EC"/>
                    </a:solidFill>
                  </a:tcPr>
                </a:tc>
                <a:tc>
                  <a:txBody>
                    <a:bodyPr/>
                    <a:lstStyle/>
                    <a:p>
                      <a:pPr algn="r">
                        <a:spcBef>
                          <a:spcPts val="0"/>
                        </a:spcBef>
                        <a:spcAft>
                          <a:spcPts val="0"/>
                        </a:spcAft>
                        <a:buNone/>
                      </a:pPr>
                      <a:r>
                        <a:rPr lang="fr-FR" sz="1400" b="1" dirty="0">
                          <a:solidFill>
                            <a:srgbClr val="F96A09"/>
                          </a:solidFill>
                          <a:latin typeface="Montserrat"/>
                          <a:cs typeface="Montserrat"/>
                        </a:rPr>
                        <a:t>3 785 000</a:t>
                      </a:r>
                    </a:p>
                  </a:txBody>
                  <a:tcPr marL="146304" marR="146304" marT="36576" marB="36576" anchor="ctr">
                    <a:lnL w="0">
                      <a:noFill/>
                    </a:lnL>
                    <a:lnR w="0">
                      <a:noFill/>
                    </a:lnR>
                    <a:lnT w="19050">
                      <a:noFill/>
                    </a:lnT>
                    <a:lnB w="0">
                      <a:noFill/>
                    </a:lnB>
                    <a:solidFill>
                      <a:srgbClr val="FDF3EC"/>
                    </a:solidFill>
                  </a:tcPr>
                </a:tc>
                <a:extLst>
                  <a:ext uri="{0D108BD9-81ED-4DB2-BD59-A6C34878D82A}">
                    <a16:rowId xmlns:a16="http://schemas.microsoft.com/office/drawing/2014/main" val="10007"/>
                  </a:ext>
                </a:extLst>
              </a:tr>
            </a:tbl>
          </a:graphicData>
        </a:graphic>
      </p:graphicFrame>
      <p:sp>
        <p:nvSpPr>
          <p:cNvPr id="4004" name="BudgetCard"/>
          <p:cNvSpPr/>
          <p:nvPr/>
        </p:nvSpPr>
        <p:spPr>
          <a:xfrm>
            <a:off x="8458200" y="1691640"/>
            <a:ext cx="2852928" cy="3730752"/>
          </a:xfrm>
          <a:prstGeom prst="roundRect">
            <a:avLst>
              <a:gd name="adj" fmla="val 6000"/>
            </a:avLst>
          </a:prstGeom>
          <a:solidFill>
            <a:srgbClr val="16294A"/>
          </a:solidFill>
          <a:ln>
            <a:noFill/>
          </a:ln>
          <a:effectLst>
            <a:outerShdw blurRad="101600" dist="25400" dir="5400000" algn="t" rotWithShape="0">
              <a:srgbClr val="16294A">
                <a:alpha val="16000"/>
              </a:srgbClr>
            </a:outerShdw>
          </a:effectLst>
        </p:spPr>
        <p:txBody>
          <a:bodyPr/>
          <a:lstStyle/>
          <a:p>
            <a:endParaRPr lang="fr-FR"/>
          </a:p>
        </p:txBody>
      </p:sp>
      <p:sp>
        <p:nvSpPr>
          <p:cNvPr id="4005" name="BudgetKicker"/>
          <p:cNvSpPr txBox="1"/>
          <p:nvPr/>
        </p:nvSpPr>
        <p:spPr>
          <a:xfrm>
            <a:off x="8686800" y="1920240"/>
            <a:ext cx="2468880" cy="256032"/>
          </a:xfrm>
          <a:prstGeom prst="rect">
            <a:avLst/>
          </a:prstGeom>
          <a:noFill/>
          <a:ln>
            <a:noFill/>
          </a:ln>
        </p:spPr>
        <p:txBody>
          <a:bodyPr wrap="square" lIns="0" tIns="0" rIns="0" bIns="0" rtlCol="0" anchor="t">
            <a:noAutofit/>
          </a:bodyPr>
          <a:lstStyle/>
          <a:p>
            <a:pPr algn="l">
              <a:spcBef>
                <a:spcPts val="0"/>
              </a:spcBef>
              <a:spcAft>
                <a:spcPts val="0"/>
              </a:spcAft>
              <a:buNone/>
            </a:pPr>
            <a:r>
              <a:rPr lang="fr-FR" sz="1000" b="1" spc="150" dirty="0">
                <a:solidFill>
                  <a:srgbClr val="F96A09"/>
                </a:solidFill>
                <a:latin typeface="Montserrat"/>
                <a:cs typeface="Montserrat"/>
              </a:rPr>
              <a:t>COÛT GLOBAL ESTIMÉ</a:t>
            </a:r>
          </a:p>
        </p:txBody>
      </p:sp>
      <p:sp>
        <p:nvSpPr>
          <p:cNvPr id="4006" name="BudgetValue"/>
          <p:cNvSpPr txBox="1"/>
          <p:nvPr/>
        </p:nvSpPr>
        <p:spPr>
          <a:xfrm>
            <a:off x="8686800" y="2240280"/>
            <a:ext cx="2514600" cy="566928"/>
          </a:xfrm>
          <a:prstGeom prst="rect">
            <a:avLst/>
          </a:prstGeom>
          <a:noFill/>
          <a:ln>
            <a:noFill/>
          </a:ln>
        </p:spPr>
        <p:txBody>
          <a:bodyPr wrap="square" lIns="0" tIns="0" rIns="0" bIns="0" rtlCol="0" anchor="t">
            <a:noAutofit/>
          </a:bodyPr>
          <a:lstStyle/>
          <a:p>
            <a:pPr algn="l">
              <a:spcBef>
                <a:spcPts val="0"/>
              </a:spcBef>
              <a:spcAft>
                <a:spcPts val="0"/>
              </a:spcAft>
              <a:buNone/>
            </a:pPr>
            <a:r>
              <a:rPr lang="fr-FR" sz="3000" b="1" dirty="0">
                <a:solidFill>
                  <a:srgbClr val="FFFFFF"/>
                </a:solidFill>
                <a:latin typeface="Montserrat"/>
                <a:cs typeface="Montserrat"/>
              </a:rPr>
              <a:t>3 785 000</a:t>
            </a:r>
          </a:p>
        </p:txBody>
      </p:sp>
      <p:sp>
        <p:nvSpPr>
          <p:cNvPr id="4007" name="BudgetUnit"/>
          <p:cNvSpPr txBox="1"/>
          <p:nvPr/>
        </p:nvSpPr>
        <p:spPr>
          <a:xfrm>
            <a:off x="8686800" y="2807208"/>
            <a:ext cx="2468880"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200" b="1" spc="100" dirty="0">
                <a:solidFill>
                  <a:srgbClr val="C9D2E0"/>
                </a:solidFill>
                <a:latin typeface="Montserrat"/>
                <a:cs typeface="Montserrat"/>
              </a:rPr>
              <a:t>FCFA</a:t>
            </a:r>
          </a:p>
        </p:txBody>
      </p:sp>
      <p:sp>
        <p:nvSpPr>
          <p:cNvPr id="4008" name="BudgetDiv"/>
          <p:cNvSpPr/>
          <p:nvPr/>
        </p:nvSpPr>
        <p:spPr>
          <a:xfrm>
            <a:off x="8686800" y="3291840"/>
            <a:ext cx="2395728" cy="0"/>
          </a:xfrm>
          <a:prstGeom prst="line">
            <a:avLst/>
          </a:prstGeom>
          <a:noFill/>
          <a:ln w="12700">
            <a:solidFill>
              <a:srgbClr val="2E4468"/>
            </a:solidFill>
          </a:ln>
        </p:spPr>
        <p:txBody>
          <a:bodyPr/>
          <a:lstStyle/>
          <a:p>
            <a:endParaRPr lang="fr-FR"/>
          </a:p>
        </p:txBody>
      </p:sp>
      <p:sp>
        <p:nvSpPr>
          <p:cNvPr id="4009" name="SplitLbl1"/>
          <p:cNvSpPr txBox="1"/>
          <p:nvPr/>
        </p:nvSpPr>
        <p:spPr>
          <a:xfrm>
            <a:off x="8686800" y="3474720"/>
            <a:ext cx="2468880" cy="237744"/>
          </a:xfrm>
          <a:prstGeom prst="rect">
            <a:avLst/>
          </a:prstGeom>
          <a:noFill/>
          <a:ln>
            <a:noFill/>
          </a:ln>
        </p:spPr>
        <p:txBody>
          <a:bodyPr wrap="square" lIns="0" tIns="0" rIns="0" bIns="0" rtlCol="0" anchor="t">
            <a:noAutofit/>
          </a:bodyPr>
          <a:lstStyle/>
          <a:p>
            <a:pPr algn="l">
              <a:spcBef>
                <a:spcPts val="0"/>
              </a:spcBef>
              <a:spcAft>
                <a:spcPts val="0"/>
              </a:spcAft>
              <a:buNone/>
            </a:pPr>
            <a:r>
              <a:rPr lang="fr-FR" sz="1000" dirty="0">
                <a:solidFill>
                  <a:srgbClr val="C9D2E0"/>
                </a:solidFill>
                <a:latin typeface="Montserrat"/>
                <a:cs typeface="Montserrat"/>
              </a:rPr>
              <a:t>Réalisation du projet</a:t>
            </a:r>
          </a:p>
        </p:txBody>
      </p:sp>
      <p:sp>
        <p:nvSpPr>
          <p:cNvPr id="4010" name="SplitVal1"/>
          <p:cNvSpPr txBox="1"/>
          <p:nvPr/>
        </p:nvSpPr>
        <p:spPr>
          <a:xfrm>
            <a:off x="8686800" y="3712464"/>
            <a:ext cx="2468880" cy="329184"/>
          </a:xfrm>
          <a:prstGeom prst="rect">
            <a:avLst/>
          </a:prstGeom>
          <a:noFill/>
          <a:ln>
            <a:noFill/>
          </a:ln>
        </p:spPr>
        <p:txBody>
          <a:bodyPr wrap="square" lIns="0" tIns="0" rIns="0" bIns="0" rtlCol="0" anchor="t">
            <a:noAutofit/>
          </a:bodyPr>
          <a:lstStyle/>
          <a:p>
            <a:pPr algn="l">
              <a:spcBef>
                <a:spcPts val="0"/>
              </a:spcBef>
              <a:spcAft>
                <a:spcPts val="0"/>
              </a:spcAft>
              <a:buNone/>
            </a:pPr>
            <a:r>
              <a:rPr lang="fr-FR" sz="1500" b="1" dirty="0">
                <a:solidFill>
                  <a:srgbClr val="FFFFFF"/>
                </a:solidFill>
                <a:latin typeface="Montserrat"/>
                <a:cs typeface="Montserrat"/>
              </a:rPr>
              <a:t>1 025 000 FCFA</a:t>
            </a:r>
          </a:p>
        </p:txBody>
      </p:sp>
      <p:sp>
        <p:nvSpPr>
          <p:cNvPr id="4011" name="SplitNote1"/>
          <p:cNvSpPr txBox="1"/>
          <p:nvPr/>
        </p:nvSpPr>
        <p:spPr>
          <a:xfrm>
            <a:off x="8686800" y="4041648"/>
            <a:ext cx="2468880" cy="237744"/>
          </a:xfrm>
          <a:prstGeom prst="rect">
            <a:avLst/>
          </a:prstGeom>
          <a:noFill/>
          <a:ln>
            <a:noFill/>
          </a:ln>
        </p:spPr>
        <p:txBody>
          <a:bodyPr wrap="square" lIns="0" tIns="0" rIns="0" bIns="0" rtlCol="0" anchor="t">
            <a:noAutofit/>
          </a:bodyPr>
          <a:lstStyle/>
          <a:p>
            <a:pPr algn="l">
              <a:spcBef>
                <a:spcPts val="0"/>
              </a:spcBef>
              <a:spcAft>
                <a:spcPts val="0"/>
              </a:spcAft>
              <a:buNone/>
            </a:pPr>
            <a:r>
              <a:rPr lang="fr-FR" sz="900" dirty="0">
                <a:solidFill>
                  <a:srgbClr val="C9D2E0"/>
                </a:solidFill>
                <a:latin typeface="Montserrat"/>
                <a:cs typeface="Montserrat"/>
              </a:rPr>
              <a:t>Ordinateur, internet, main-d’œuvre</a:t>
            </a:r>
          </a:p>
        </p:txBody>
      </p:sp>
      <p:sp>
        <p:nvSpPr>
          <p:cNvPr id="4012" name="SplitLbl2"/>
          <p:cNvSpPr txBox="1"/>
          <p:nvPr/>
        </p:nvSpPr>
        <p:spPr>
          <a:xfrm>
            <a:off x="8686800" y="4434840"/>
            <a:ext cx="2468880" cy="237744"/>
          </a:xfrm>
          <a:prstGeom prst="rect">
            <a:avLst/>
          </a:prstGeom>
          <a:noFill/>
          <a:ln>
            <a:noFill/>
          </a:ln>
        </p:spPr>
        <p:txBody>
          <a:bodyPr wrap="square" lIns="0" tIns="0" rIns="0" bIns="0" rtlCol="0" anchor="t">
            <a:noAutofit/>
          </a:bodyPr>
          <a:lstStyle/>
          <a:p>
            <a:pPr algn="l">
              <a:spcBef>
                <a:spcPts val="0"/>
              </a:spcBef>
              <a:spcAft>
                <a:spcPts val="0"/>
              </a:spcAft>
              <a:buNone/>
            </a:pPr>
            <a:r>
              <a:rPr lang="fr-FR" sz="1000" dirty="0">
                <a:solidFill>
                  <a:srgbClr val="C9D2E0"/>
                </a:solidFill>
                <a:latin typeface="Montserrat"/>
                <a:cs typeface="Montserrat"/>
              </a:rPr>
              <a:t>Exploitation sur 12 mois</a:t>
            </a:r>
          </a:p>
        </p:txBody>
      </p:sp>
      <p:sp>
        <p:nvSpPr>
          <p:cNvPr id="4013" name="SplitVal2"/>
          <p:cNvSpPr txBox="1"/>
          <p:nvPr/>
        </p:nvSpPr>
        <p:spPr>
          <a:xfrm>
            <a:off x="8686800" y="4672584"/>
            <a:ext cx="2468880" cy="329184"/>
          </a:xfrm>
          <a:prstGeom prst="rect">
            <a:avLst/>
          </a:prstGeom>
          <a:noFill/>
          <a:ln>
            <a:noFill/>
          </a:ln>
        </p:spPr>
        <p:txBody>
          <a:bodyPr wrap="square" lIns="0" tIns="0" rIns="0" bIns="0" rtlCol="0" anchor="t">
            <a:noAutofit/>
          </a:bodyPr>
          <a:lstStyle/>
          <a:p>
            <a:pPr algn="l">
              <a:spcBef>
                <a:spcPts val="0"/>
              </a:spcBef>
              <a:spcAft>
                <a:spcPts val="0"/>
              </a:spcAft>
              <a:buNone/>
            </a:pPr>
            <a:r>
              <a:rPr lang="fr-FR" sz="1500" b="1" dirty="0">
                <a:solidFill>
                  <a:srgbClr val="FFFFFF"/>
                </a:solidFill>
                <a:latin typeface="Montserrat"/>
                <a:cs typeface="Montserrat"/>
              </a:rPr>
              <a:t>2 760 000 FCFA</a:t>
            </a:r>
          </a:p>
        </p:txBody>
      </p:sp>
      <p:sp>
        <p:nvSpPr>
          <p:cNvPr id="4014" name="SplitNote2"/>
          <p:cNvSpPr txBox="1"/>
          <p:nvPr/>
        </p:nvSpPr>
        <p:spPr>
          <a:xfrm>
            <a:off x="8686800" y="5001768"/>
            <a:ext cx="2468880" cy="237744"/>
          </a:xfrm>
          <a:prstGeom prst="rect">
            <a:avLst/>
          </a:prstGeom>
          <a:noFill/>
          <a:ln>
            <a:noFill/>
          </a:ln>
        </p:spPr>
        <p:txBody>
          <a:bodyPr wrap="square" lIns="0" tIns="0" rIns="0" bIns="0" rtlCol="0" anchor="t">
            <a:noAutofit/>
          </a:bodyPr>
          <a:lstStyle/>
          <a:p>
            <a:pPr algn="l">
              <a:spcBef>
                <a:spcPts val="0"/>
              </a:spcBef>
              <a:spcAft>
                <a:spcPts val="0"/>
              </a:spcAft>
              <a:buNone/>
            </a:pPr>
            <a:r>
              <a:rPr lang="fr-FR" sz="900" dirty="0">
                <a:solidFill>
                  <a:srgbClr val="C9D2E0"/>
                </a:solidFill>
                <a:latin typeface="Montserrat"/>
                <a:cs typeface="Montserrat"/>
              </a:rPr>
              <a:t>Serveur, stockage, maintenance</a:t>
            </a:r>
          </a:p>
        </p:txBody>
      </p:sp>
      <p:sp>
        <p:nvSpPr>
          <p:cNvPr id="4015" name="BudgetSource"/>
          <p:cNvSpPr txBox="1"/>
          <p:nvPr/>
        </p:nvSpPr>
        <p:spPr>
          <a:xfrm>
            <a:off x="905256" y="5605272"/>
            <a:ext cx="8229600" cy="256032"/>
          </a:xfrm>
          <a:prstGeom prst="rect">
            <a:avLst/>
          </a:prstGeom>
          <a:noFill/>
          <a:ln>
            <a:noFill/>
          </a:ln>
        </p:spPr>
        <p:txBody>
          <a:bodyPr wrap="square" lIns="0" tIns="0" rIns="0" bIns="0" rtlCol="0" anchor="t">
            <a:noAutofit/>
          </a:bodyPr>
          <a:lstStyle/>
          <a:p>
            <a:pPr algn="l">
              <a:spcBef>
                <a:spcPts val="0"/>
              </a:spcBef>
              <a:spcAft>
                <a:spcPts val="0"/>
              </a:spcAft>
              <a:buNone/>
            </a:pPr>
            <a:r>
              <a:rPr lang="fr-FR" sz="900" i="1" dirty="0">
                <a:solidFill>
                  <a:srgbClr val="6B6560"/>
                </a:solidFill>
                <a:latin typeface="Montserrat"/>
                <a:cs typeface="Montserrat"/>
              </a:rPr>
              <a:t>Source : mémoire, Tableau 10 – Estimation financière du projet</a:t>
            </a:r>
          </a:p>
        </p:txBody>
      </p:sp>
      <p:sp>
        <p:nvSpPr>
          <p:cNvPr id="9000" name="SlideNumbe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6C69349F-DE1C-4A15-869C-6CE5D6658B5A}" type="slidenum">
              <a:rPr lang="fr-FR" sz="1600" b="1" dirty="0">
                <a:solidFill>
                  <a:srgbClr val="FFFFFF"/>
                </a:solidFill>
                <a:latin typeface="Montserrat"/>
              </a:rPr>
              <a:t>24</a:t>
            </a:fld>
            <a:endParaRPr lang="fr-FR" sz="1600" b="1" dirty="0">
              <a:solidFill>
                <a:srgbClr val="FFFFFF"/>
              </a:solidFill>
              <a:latin typeface="Montserrat"/>
            </a:endParaRPr>
          </a:p>
        </p:txBody>
      </p:sp>
    </p:spTree>
    <p:extLst>
      <p:ext uri="{BB962C8B-B14F-4D97-AF65-F5344CB8AC3E}">
        <p14:creationId xmlns:p14="http://schemas.microsoft.com/office/powerpoint/2010/main" val="1038026108"/>
      </p:ext>
    </p:extLst>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001"/>
                                        </p:tgtEl>
                                        <p:attrNameLst>
                                          <p:attrName>style.visibility</p:attrName>
                                        </p:attrNameLst>
                                      </p:cBhvr>
                                      <p:to>
                                        <p:strVal val="visible"/>
                                      </p:to>
                                    </p:set>
                                    <p:animEffect transition="in" filter="fade">
                                      <p:cBhvr>
                                        <p:cTn id="7" dur="450"/>
                                        <p:tgtEl>
                                          <p:spTgt spid="4001"/>
                                        </p:tgtEl>
                                      </p:cBhvr>
                                    </p:animEffect>
                                    <p:anim calcmode="lin" valueType="num">
                                      <p:cBhvr>
                                        <p:cTn id="8" dur="450" fill="hold"/>
                                        <p:tgtEl>
                                          <p:spTgt spid="4001"/>
                                        </p:tgtEl>
                                        <p:attrNameLst>
                                          <p:attrName>ppt_x</p:attrName>
                                        </p:attrNameLst>
                                      </p:cBhvr>
                                      <p:tavLst>
                                        <p:tav tm="0">
                                          <p:val>
                                            <p:strVal val="#ppt_x"/>
                                          </p:val>
                                        </p:tav>
                                        <p:tav tm="100000">
                                          <p:val>
                                            <p:strVal val="#ppt_x"/>
                                          </p:val>
                                        </p:tav>
                                      </p:tavLst>
                                    </p:anim>
                                    <p:anim calcmode="lin" valueType="num">
                                      <p:cBhvr>
                                        <p:cTn id="9" dur="450" fill="hold"/>
                                        <p:tgtEl>
                                          <p:spTgt spid="4001"/>
                                        </p:tgtEl>
                                        <p:attrNameLst>
                                          <p:attrName>ppt_y</p:attrName>
                                        </p:attrNameLst>
                                      </p:cBhvr>
                                      <p:tavLst>
                                        <p:tav tm="0">
                                          <p:val>
                                            <p:strVal val="#ppt_y+.03"/>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002"/>
                                        </p:tgtEl>
                                        <p:attrNameLst>
                                          <p:attrName>style.visibility</p:attrName>
                                        </p:attrNameLst>
                                      </p:cBhvr>
                                      <p:to>
                                        <p:strVal val="visible"/>
                                      </p:to>
                                    </p:set>
                                    <p:animEffect transition="in" filter="fade">
                                      <p:cBhvr>
                                        <p:cTn id="12" dur="450"/>
                                        <p:tgtEl>
                                          <p:spTgt spid="4002"/>
                                        </p:tgtEl>
                                      </p:cBhvr>
                                    </p:animEffect>
                                    <p:anim calcmode="lin" valueType="num">
                                      <p:cBhvr>
                                        <p:cTn id="13" dur="450" fill="hold"/>
                                        <p:tgtEl>
                                          <p:spTgt spid="4002"/>
                                        </p:tgtEl>
                                        <p:attrNameLst>
                                          <p:attrName>ppt_x</p:attrName>
                                        </p:attrNameLst>
                                      </p:cBhvr>
                                      <p:tavLst>
                                        <p:tav tm="0">
                                          <p:val>
                                            <p:strVal val="#ppt_x"/>
                                          </p:val>
                                        </p:tav>
                                        <p:tav tm="100000">
                                          <p:val>
                                            <p:strVal val="#ppt_x"/>
                                          </p:val>
                                        </p:tav>
                                      </p:tavLst>
                                    </p:anim>
                                    <p:anim calcmode="lin" valueType="num">
                                      <p:cBhvr>
                                        <p:cTn id="14" dur="450" fill="hold"/>
                                        <p:tgtEl>
                                          <p:spTgt spid="4002"/>
                                        </p:tgtEl>
                                        <p:attrNameLst>
                                          <p:attrName>ppt_y</p:attrName>
                                        </p:attrNameLst>
                                      </p:cBhvr>
                                      <p:tavLst>
                                        <p:tav tm="0">
                                          <p:val>
                                            <p:strVal val="#ppt_y+.03"/>
                                          </p:val>
                                        </p:tav>
                                        <p:tav tm="100000">
                                          <p:val>
                                            <p:strVal val="#ppt_y"/>
                                          </p:val>
                                        </p:tav>
                                      </p:tavLst>
                                    </p:anim>
                                  </p:childTnLst>
                                </p:cTn>
                              </p:par>
                              <p:par>
                                <p:cTn id="15" presetID="10" presetClass="entr" presetSubtype="0" fill="hold" nodeType="withEffect">
                                  <p:stCondLst>
                                    <p:cond delay="140"/>
                                  </p:stCondLst>
                                  <p:childTnLst>
                                    <p:set>
                                      <p:cBhvr>
                                        <p:cTn id="16" dur="1" fill="hold">
                                          <p:stCondLst>
                                            <p:cond delay="0"/>
                                          </p:stCondLst>
                                        </p:cTn>
                                        <p:tgtEl>
                                          <p:spTgt spid="4003"/>
                                        </p:tgtEl>
                                        <p:attrNameLst>
                                          <p:attrName>style.visibility</p:attrName>
                                        </p:attrNameLst>
                                      </p:cBhvr>
                                      <p:to>
                                        <p:strVal val="visible"/>
                                      </p:to>
                                    </p:set>
                                    <p:animEffect transition="in" filter="fade">
                                      <p:cBhvr>
                                        <p:cTn id="17" dur="450"/>
                                        <p:tgtEl>
                                          <p:spTgt spid="4003"/>
                                        </p:tgtEl>
                                      </p:cBhvr>
                                    </p:animEffect>
                                  </p:childTnLst>
                                </p:cTn>
                              </p:par>
                              <p:par>
                                <p:cTn id="18" presetID="53" presetClass="entr" presetSubtype="16" fill="hold" grpId="0" nodeType="withEffect">
                                  <p:stCondLst>
                                    <p:cond delay="280"/>
                                  </p:stCondLst>
                                  <p:childTnLst>
                                    <p:set>
                                      <p:cBhvr>
                                        <p:cTn id="19" dur="1" fill="hold">
                                          <p:stCondLst>
                                            <p:cond delay="0"/>
                                          </p:stCondLst>
                                        </p:cTn>
                                        <p:tgtEl>
                                          <p:spTgt spid="4004"/>
                                        </p:tgtEl>
                                        <p:attrNameLst>
                                          <p:attrName>style.visibility</p:attrName>
                                        </p:attrNameLst>
                                      </p:cBhvr>
                                      <p:to>
                                        <p:strVal val="visible"/>
                                      </p:to>
                                    </p:set>
                                    <p:anim calcmode="lin" valueType="num">
                                      <p:cBhvr>
                                        <p:cTn id="20" dur="500" fill="hold"/>
                                        <p:tgtEl>
                                          <p:spTgt spid="4004"/>
                                        </p:tgtEl>
                                        <p:attrNameLst>
                                          <p:attrName>ppt_w</p:attrName>
                                        </p:attrNameLst>
                                      </p:cBhvr>
                                      <p:tavLst>
                                        <p:tav tm="0">
                                          <p:val>
                                            <p:strVal val="#ppt_w*0.85"/>
                                          </p:val>
                                        </p:tav>
                                        <p:tav tm="100000">
                                          <p:val>
                                            <p:strVal val="#ppt_w"/>
                                          </p:val>
                                        </p:tav>
                                      </p:tavLst>
                                    </p:anim>
                                    <p:anim calcmode="lin" valueType="num">
                                      <p:cBhvr>
                                        <p:cTn id="21" dur="500" fill="hold"/>
                                        <p:tgtEl>
                                          <p:spTgt spid="4004"/>
                                        </p:tgtEl>
                                        <p:attrNameLst>
                                          <p:attrName>ppt_h</p:attrName>
                                        </p:attrNameLst>
                                      </p:cBhvr>
                                      <p:tavLst>
                                        <p:tav tm="0">
                                          <p:val>
                                            <p:strVal val="#ppt_h*0.85"/>
                                          </p:val>
                                        </p:tav>
                                        <p:tav tm="100000">
                                          <p:val>
                                            <p:strVal val="#ppt_h"/>
                                          </p:val>
                                        </p:tav>
                                      </p:tavLst>
                                    </p:anim>
                                    <p:animEffect transition="in" filter="fade">
                                      <p:cBhvr>
                                        <p:cTn id="22" dur="500"/>
                                        <p:tgtEl>
                                          <p:spTgt spid="4004"/>
                                        </p:tgtEl>
                                      </p:cBhvr>
                                    </p:animEffect>
                                  </p:childTnLst>
                                </p:cTn>
                              </p:par>
                              <p:par>
                                <p:cTn id="23" presetID="53" presetClass="entr" presetSubtype="16" fill="hold" grpId="0" nodeType="withEffect">
                                  <p:stCondLst>
                                    <p:cond delay="280"/>
                                  </p:stCondLst>
                                  <p:childTnLst>
                                    <p:set>
                                      <p:cBhvr>
                                        <p:cTn id="24" dur="1" fill="hold">
                                          <p:stCondLst>
                                            <p:cond delay="0"/>
                                          </p:stCondLst>
                                        </p:cTn>
                                        <p:tgtEl>
                                          <p:spTgt spid="4005"/>
                                        </p:tgtEl>
                                        <p:attrNameLst>
                                          <p:attrName>style.visibility</p:attrName>
                                        </p:attrNameLst>
                                      </p:cBhvr>
                                      <p:to>
                                        <p:strVal val="visible"/>
                                      </p:to>
                                    </p:set>
                                    <p:anim calcmode="lin" valueType="num">
                                      <p:cBhvr>
                                        <p:cTn id="25" dur="500" fill="hold"/>
                                        <p:tgtEl>
                                          <p:spTgt spid="4005"/>
                                        </p:tgtEl>
                                        <p:attrNameLst>
                                          <p:attrName>ppt_w</p:attrName>
                                        </p:attrNameLst>
                                      </p:cBhvr>
                                      <p:tavLst>
                                        <p:tav tm="0">
                                          <p:val>
                                            <p:strVal val="#ppt_w*0.85"/>
                                          </p:val>
                                        </p:tav>
                                        <p:tav tm="100000">
                                          <p:val>
                                            <p:strVal val="#ppt_w"/>
                                          </p:val>
                                        </p:tav>
                                      </p:tavLst>
                                    </p:anim>
                                    <p:anim calcmode="lin" valueType="num">
                                      <p:cBhvr>
                                        <p:cTn id="26" dur="500" fill="hold"/>
                                        <p:tgtEl>
                                          <p:spTgt spid="4005"/>
                                        </p:tgtEl>
                                        <p:attrNameLst>
                                          <p:attrName>ppt_h</p:attrName>
                                        </p:attrNameLst>
                                      </p:cBhvr>
                                      <p:tavLst>
                                        <p:tav tm="0">
                                          <p:val>
                                            <p:strVal val="#ppt_h*0.85"/>
                                          </p:val>
                                        </p:tav>
                                        <p:tav tm="100000">
                                          <p:val>
                                            <p:strVal val="#ppt_h"/>
                                          </p:val>
                                        </p:tav>
                                      </p:tavLst>
                                    </p:anim>
                                    <p:animEffect transition="in" filter="fade">
                                      <p:cBhvr>
                                        <p:cTn id="27" dur="500"/>
                                        <p:tgtEl>
                                          <p:spTgt spid="4005"/>
                                        </p:tgtEl>
                                      </p:cBhvr>
                                    </p:animEffect>
                                  </p:childTnLst>
                                </p:cTn>
                              </p:par>
                              <p:par>
                                <p:cTn id="28" presetID="53" presetClass="entr" presetSubtype="16" fill="hold" grpId="0" nodeType="withEffect">
                                  <p:stCondLst>
                                    <p:cond delay="280"/>
                                  </p:stCondLst>
                                  <p:childTnLst>
                                    <p:set>
                                      <p:cBhvr>
                                        <p:cTn id="29" dur="1" fill="hold">
                                          <p:stCondLst>
                                            <p:cond delay="0"/>
                                          </p:stCondLst>
                                        </p:cTn>
                                        <p:tgtEl>
                                          <p:spTgt spid="4006"/>
                                        </p:tgtEl>
                                        <p:attrNameLst>
                                          <p:attrName>style.visibility</p:attrName>
                                        </p:attrNameLst>
                                      </p:cBhvr>
                                      <p:to>
                                        <p:strVal val="visible"/>
                                      </p:to>
                                    </p:set>
                                    <p:anim calcmode="lin" valueType="num">
                                      <p:cBhvr>
                                        <p:cTn id="30" dur="500" fill="hold"/>
                                        <p:tgtEl>
                                          <p:spTgt spid="4006"/>
                                        </p:tgtEl>
                                        <p:attrNameLst>
                                          <p:attrName>ppt_w</p:attrName>
                                        </p:attrNameLst>
                                      </p:cBhvr>
                                      <p:tavLst>
                                        <p:tav tm="0">
                                          <p:val>
                                            <p:strVal val="#ppt_w*0.85"/>
                                          </p:val>
                                        </p:tav>
                                        <p:tav tm="100000">
                                          <p:val>
                                            <p:strVal val="#ppt_w"/>
                                          </p:val>
                                        </p:tav>
                                      </p:tavLst>
                                    </p:anim>
                                    <p:anim calcmode="lin" valueType="num">
                                      <p:cBhvr>
                                        <p:cTn id="31" dur="500" fill="hold"/>
                                        <p:tgtEl>
                                          <p:spTgt spid="4006"/>
                                        </p:tgtEl>
                                        <p:attrNameLst>
                                          <p:attrName>ppt_h</p:attrName>
                                        </p:attrNameLst>
                                      </p:cBhvr>
                                      <p:tavLst>
                                        <p:tav tm="0">
                                          <p:val>
                                            <p:strVal val="#ppt_h*0.85"/>
                                          </p:val>
                                        </p:tav>
                                        <p:tav tm="100000">
                                          <p:val>
                                            <p:strVal val="#ppt_h"/>
                                          </p:val>
                                        </p:tav>
                                      </p:tavLst>
                                    </p:anim>
                                    <p:animEffect transition="in" filter="fade">
                                      <p:cBhvr>
                                        <p:cTn id="32" dur="500"/>
                                        <p:tgtEl>
                                          <p:spTgt spid="4006"/>
                                        </p:tgtEl>
                                      </p:cBhvr>
                                    </p:animEffect>
                                  </p:childTnLst>
                                </p:cTn>
                              </p:par>
                              <p:par>
                                <p:cTn id="33" presetID="53" presetClass="entr" presetSubtype="16" fill="hold" grpId="0" nodeType="withEffect">
                                  <p:stCondLst>
                                    <p:cond delay="280"/>
                                  </p:stCondLst>
                                  <p:childTnLst>
                                    <p:set>
                                      <p:cBhvr>
                                        <p:cTn id="34" dur="1" fill="hold">
                                          <p:stCondLst>
                                            <p:cond delay="0"/>
                                          </p:stCondLst>
                                        </p:cTn>
                                        <p:tgtEl>
                                          <p:spTgt spid="4007"/>
                                        </p:tgtEl>
                                        <p:attrNameLst>
                                          <p:attrName>style.visibility</p:attrName>
                                        </p:attrNameLst>
                                      </p:cBhvr>
                                      <p:to>
                                        <p:strVal val="visible"/>
                                      </p:to>
                                    </p:set>
                                    <p:anim calcmode="lin" valueType="num">
                                      <p:cBhvr>
                                        <p:cTn id="35" dur="500" fill="hold"/>
                                        <p:tgtEl>
                                          <p:spTgt spid="4007"/>
                                        </p:tgtEl>
                                        <p:attrNameLst>
                                          <p:attrName>ppt_w</p:attrName>
                                        </p:attrNameLst>
                                      </p:cBhvr>
                                      <p:tavLst>
                                        <p:tav tm="0">
                                          <p:val>
                                            <p:strVal val="#ppt_w*0.85"/>
                                          </p:val>
                                        </p:tav>
                                        <p:tav tm="100000">
                                          <p:val>
                                            <p:strVal val="#ppt_w"/>
                                          </p:val>
                                        </p:tav>
                                      </p:tavLst>
                                    </p:anim>
                                    <p:anim calcmode="lin" valueType="num">
                                      <p:cBhvr>
                                        <p:cTn id="36" dur="500" fill="hold"/>
                                        <p:tgtEl>
                                          <p:spTgt spid="4007"/>
                                        </p:tgtEl>
                                        <p:attrNameLst>
                                          <p:attrName>ppt_h</p:attrName>
                                        </p:attrNameLst>
                                      </p:cBhvr>
                                      <p:tavLst>
                                        <p:tav tm="0">
                                          <p:val>
                                            <p:strVal val="#ppt_h*0.85"/>
                                          </p:val>
                                        </p:tav>
                                        <p:tav tm="100000">
                                          <p:val>
                                            <p:strVal val="#ppt_h"/>
                                          </p:val>
                                        </p:tav>
                                      </p:tavLst>
                                    </p:anim>
                                    <p:animEffect transition="in" filter="fade">
                                      <p:cBhvr>
                                        <p:cTn id="37" dur="500"/>
                                        <p:tgtEl>
                                          <p:spTgt spid="4007"/>
                                        </p:tgtEl>
                                      </p:cBhvr>
                                    </p:animEffect>
                                  </p:childTnLst>
                                </p:cTn>
                              </p:par>
                              <p:par>
                                <p:cTn id="38" presetID="53" presetClass="entr" presetSubtype="16" fill="hold" grpId="0" nodeType="withEffect">
                                  <p:stCondLst>
                                    <p:cond delay="280"/>
                                  </p:stCondLst>
                                  <p:childTnLst>
                                    <p:set>
                                      <p:cBhvr>
                                        <p:cTn id="39" dur="1" fill="hold">
                                          <p:stCondLst>
                                            <p:cond delay="0"/>
                                          </p:stCondLst>
                                        </p:cTn>
                                        <p:tgtEl>
                                          <p:spTgt spid="4008"/>
                                        </p:tgtEl>
                                        <p:attrNameLst>
                                          <p:attrName>style.visibility</p:attrName>
                                        </p:attrNameLst>
                                      </p:cBhvr>
                                      <p:to>
                                        <p:strVal val="visible"/>
                                      </p:to>
                                    </p:set>
                                    <p:anim calcmode="lin" valueType="num">
                                      <p:cBhvr>
                                        <p:cTn id="40" dur="500" fill="hold"/>
                                        <p:tgtEl>
                                          <p:spTgt spid="4008"/>
                                        </p:tgtEl>
                                        <p:attrNameLst>
                                          <p:attrName>ppt_w</p:attrName>
                                        </p:attrNameLst>
                                      </p:cBhvr>
                                      <p:tavLst>
                                        <p:tav tm="0">
                                          <p:val>
                                            <p:strVal val="#ppt_w*0.85"/>
                                          </p:val>
                                        </p:tav>
                                        <p:tav tm="100000">
                                          <p:val>
                                            <p:strVal val="#ppt_w"/>
                                          </p:val>
                                        </p:tav>
                                      </p:tavLst>
                                    </p:anim>
                                    <p:anim calcmode="lin" valueType="num">
                                      <p:cBhvr>
                                        <p:cTn id="41" dur="500" fill="hold"/>
                                        <p:tgtEl>
                                          <p:spTgt spid="4008"/>
                                        </p:tgtEl>
                                        <p:attrNameLst>
                                          <p:attrName>ppt_h</p:attrName>
                                        </p:attrNameLst>
                                      </p:cBhvr>
                                      <p:tavLst>
                                        <p:tav tm="0">
                                          <p:val>
                                            <p:strVal val="#ppt_h*0.85"/>
                                          </p:val>
                                        </p:tav>
                                        <p:tav tm="100000">
                                          <p:val>
                                            <p:strVal val="#ppt_h"/>
                                          </p:val>
                                        </p:tav>
                                      </p:tavLst>
                                    </p:anim>
                                    <p:animEffect transition="in" filter="fade">
                                      <p:cBhvr>
                                        <p:cTn id="42" dur="500"/>
                                        <p:tgtEl>
                                          <p:spTgt spid="4008"/>
                                        </p:tgtEl>
                                      </p:cBhvr>
                                    </p:animEffect>
                                  </p:childTnLst>
                                </p:cTn>
                              </p:par>
                              <p:par>
                                <p:cTn id="43" presetID="53" presetClass="entr" presetSubtype="16" fill="hold" grpId="0" nodeType="withEffect">
                                  <p:stCondLst>
                                    <p:cond delay="280"/>
                                  </p:stCondLst>
                                  <p:childTnLst>
                                    <p:set>
                                      <p:cBhvr>
                                        <p:cTn id="44" dur="1" fill="hold">
                                          <p:stCondLst>
                                            <p:cond delay="0"/>
                                          </p:stCondLst>
                                        </p:cTn>
                                        <p:tgtEl>
                                          <p:spTgt spid="4009"/>
                                        </p:tgtEl>
                                        <p:attrNameLst>
                                          <p:attrName>style.visibility</p:attrName>
                                        </p:attrNameLst>
                                      </p:cBhvr>
                                      <p:to>
                                        <p:strVal val="visible"/>
                                      </p:to>
                                    </p:set>
                                    <p:anim calcmode="lin" valueType="num">
                                      <p:cBhvr>
                                        <p:cTn id="45" dur="500" fill="hold"/>
                                        <p:tgtEl>
                                          <p:spTgt spid="4009"/>
                                        </p:tgtEl>
                                        <p:attrNameLst>
                                          <p:attrName>ppt_w</p:attrName>
                                        </p:attrNameLst>
                                      </p:cBhvr>
                                      <p:tavLst>
                                        <p:tav tm="0">
                                          <p:val>
                                            <p:strVal val="#ppt_w*0.85"/>
                                          </p:val>
                                        </p:tav>
                                        <p:tav tm="100000">
                                          <p:val>
                                            <p:strVal val="#ppt_w"/>
                                          </p:val>
                                        </p:tav>
                                      </p:tavLst>
                                    </p:anim>
                                    <p:anim calcmode="lin" valueType="num">
                                      <p:cBhvr>
                                        <p:cTn id="46" dur="500" fill="hold"/>
                                        <p:tgtEl>
                                          <p:spTgt spid="4009"/>
                                        </p:tgtEl>
                                        <p:attrNameLst>
                                          <p:attrName>ppt_h</p:attrName>
                                        </p:attrNameLst>
                                      </p:cBhvr>
                                      <p:tavLst>
                                        <p:tav tm="0">
                                          <p:val>
                                            <p:strVal val="#ppt_h*0.85"/>
                                          </p:val>
                                        </p:tav>
                                        <p:tav tm="100000">
                                          <p:val>
                                            <p:strVal val="#ppt_h"/>
                                          </p:val>
                                        </p:tav>
                                      </p:tavLst>
                                    </p:anim>
                                    <p:animEffect transition="in" filter="fade">
                                      <p:cBhvr>
                                        <p:cTn id="47" dur="500"/>
                                        <p:tgtEl>
                                          <p:spTgt spid="4009"/>
                                        </p:tgtEl>
                                      </p:cBhvr>
                                    </p:animEffect>
                                  </p:childTnLst>
                                </p:cTn>
                              </p:par>
                              <p:par>
                                <p:cTn id="48" presetID="53" presetClass="entr" presetSubtype="16" fill="hold" grpId="0" nodeType="withEffect">
                                  <p:stCondLst>
                                    <p:cond delay="280"/>
                                  </p:stCondLst>
                                  <p:childTnLst>
                                    <p:set>
                                      <p:cBhvr>
                                        <p:cTn id="49" dur="1" fill="hold">
                                          <p:stCondLst>
                                            <p:cond delay="0"/>
                                          </p:stCondLst>
                                        </p:cTn>
                                        <p:tgtEl>
                                          <p:spTgt spid="4010"/>
                                        </p:tgtEl>
                                        <p:attrNameLst>
                                          <p:attrName>style.visibility</p:attrName>
                                        </p:attrNameLst>
                                      </p:cBhvr>
                                      <p:to>
                                        <p:strVal val="visible"/>
                                      </p:to>
                                    </p:set>
                                    <p:anim calcmode="lin" valueType="num">
                                      <p:cBhvr>
                                        <p:cTn id="50" dur="500" fill="hold"/>
                                        <p:tgtEl>
                                          <p:spTgt spid="4010"/>
                                        </p:tgtEl>
                                        <p:attrNameLst>
                                          <p:attrName>ppt_w</p:attrName>
                                        </p:attrNameLst>
                                      </p:cBhvr>
                                      <p:tavLst>
                                        <p:tav tm="0">
                                          <p:val>
                                            <p:strVal val="#ppt_w*0.85"/>
                                          </p:val>
                                        </p:tav>
                                        <p:tav tm="100000">
                                          <p:val>
                                            <p:strVal val="#ppt_w"/>
                                          </p:val>
                                        </p:tav>
                                      </p:tavLst>
                                    </p:anim>
                                    <p:anim calcmode="lin" valueType="num">
                                      <p:cBhvr>
                                        <p:cTn id="51" dur="500" fill="hold"/>
                                        <p:tgtEl>
                                          <p:spTgt spid="4010"/>
                                        </p:tgtEl>
                                        <p:attrNameLst>
                                          <p:attrName>ppt_h</p:attrName>
                                        </p:attrNameLst>
                                      </p:cBhvr>
                                      <p:tavLst>
                                        <p:tav tm="0">
                                          <p:val>
                                            <p:strVal val="#ppt_h*0.85"/>
                                          </p:val>
                                        </p:tav>
                                        <p:tav tm="100000">
                                          <p:val>
                                            <p:strVal val="#ppt_h"/>
                                          </p:val>
                                        </p:tav>
                                      </p:tavLst>
                                    </p:anim>
                                    <p:animEffect transition="in" filter="fade">
                                      <p:cBhvr>
                                        <p:cTn id="52" dur="500"/>
                                        <p:tgtEl>
                                          <p:spTgt spid="4010"/>
                                        </p:tgtEl>
                                      </p:cBhvr>
                                    </p:animEffect>
                                  </p:childTnLst>
                                </p:cTn>
                              </p:par>
                              <p:par>
                                <p:cTn id="53" presetID="53" presetClass="entr" presetSubtype="16" fill="hold" grpId="0" nodeType="withEffect">
                                  <p:stCondLst>
                                    <p:cond delay="280"/>
                                  </p:stCondLst>
                                  <p:childTnLst>
                                    <p:set>
                                      <p:cBhvr>
                                        <p:cTn id="54" dur="1" fill="hold">
                                          <p:stCondLst>
                                            <p:cond delay="0"/>
                                          </p:stCondLst>
                                        </p:cTn>
                                        <p:tgtEl>
                                          <p:spTgt spid="4011"/>
                                        </p:tgtEl>
                                        <p:attrNameLst>
                                          <p:attrName>style.visibility</p:attrName>
                                        </p:attrNameLst>
                                      </p:cBhvr>
                                      <p:to>
                                        <p:strVal val="visible"/>
                                      </p:to>
                                    </p:set>
                                    <p:anim calcmode="lin" valueType="num">
                                      <p:cBhvr>
                                        <p:cTn id="55" dur="500" fill="hold"/>
                                        <p:tgtEl>
                                          <p:spTgt spid="4011"/>
                                        </p:tgtEl>
                                        <p:attrNameLst>
                                          <p:attrName>ppt_w</p:attrName>
                                        </p:attrNameLst>
                                      </p:cBhvr>
                                      <p:tavLst>
                                        <p:tav tm="0">
                                          <p:val>
                                            <p:strVal val="#ppt_w*0.85"/>
                                          </p:val>
                                        </p:tav>
                                        <p:tav tm="100000">
                                          <p:val>
                                            <p:strVal val="#ppt_w"/>
                                          </p:val>
                                        </p:tav>
                                      </p:tavLst>
                                    </p:anim>
                                    <p:anim calcmode="lin" valueType="num">
                                      <p:cBhvr>
                                        <p:cTn id="56" dur="500" fill="hold"/>
                                        <p:tgtEl>
                                          <p:spTgt spid="4011"/>
                                        </p:tgtEl>
                                        <p:attrNameLst>
                                          <p:attrName>ppt_h</p:attrName>
                                        </p:attrNameLst>
                                      </p:cBhvr>
                                      <p:tavLst>
                                        <p:tav tm="0">
                                          <p:val>
                                            <p:strVal val="#ppt_h*0.85"/>
                                          </p:val>
                                        </p:tav>
                                        <p:tav tm="100000">
                                          <p:val>
                                            <p:strVal val="#ppt_h"/>
                                          </p:val>
                                        </p:tav>
                                      </p:tavLst>
                                    </p:anim>
                                    <p:animEffect transition="in" filter="fade">
                                      <p:cBhvr>
                                        <p:cTn id="57" dur="500"/>
                                        <p:tgtEl>
                                          <p:spTgt spid="4011"/>
                                        </p:tgtEl>
                                      </p:cBhvr>
                                    </p:animEffect>
                                  </p:childTnLst>
                                </p:cTn>
                              </p:par>
                              <p:par>
                                <p:cTn id="58" presetID="53" presetClass="entr" presetSubtype="16" fill="hold" grpId="0" nodeType="withEffect">
                                  <p:stCondLst>
                                    <p:cond delay="280"/>
                                  </p:stCondLst>
                                  <p:childTnLst>
                                    <p:set>
                                      <p:cBhvr>
                                        <p:cTn id="59" dur="1" fill="hold">
                                          <p:stCondLst>
                                            <p:cond delay="0"/>
                                          </p:stCondLst>
                                        </p:cTn>
                                        <p:tgtEl>
                                          <p:spTgt spid="4012"/>
                                        </p:tgtEl>
                                        <p:attrNameLst>
                                          <p:attrName>style.visibility</p:attrName>
                                        </p:attrNameLst>
                                      </p:cBhvr>
                                      <p:to>
                                        <p:strVal val="visible"/>
                                      </p:to>
                                    </p:set>
                                    <p:anim calcmode="lin" valueType="num">
                                      <p:cBhvr>
                                        <p:cTn id="60" dur="500" fill="hold"/>
                                        <p:tgtEl>
                                          <p:spTgt spid="4012"/>
                                        </p:tgtEl>
                                        <p:attrNameLst>
                                          <p:attrName>ppt_w</p:attrName>
                                        </p:attrNameLst>
                                      </p:cBhvr>
                                      <p:tavLst>
                                        <p:tav tm="0">
                                          <p:val>
                                            <p:strVal val="#ppt_w*0.85"/>
                                          </p:val>
                                        </p:tav>
                                        <p:tav tm="100000">
                                          <p:val>
                                            <p:strVal val="#ppt_w"/>
                                          </p:val>
                                        </p:tav>
                                      </p:tavLst>
                                    </p:anim>
                                    <p:anim calcmode="lin" valueType="num">
                                      <p:cBhvr>
                                        <p:cTn id="61" dur="500" fill="hold"/>
                                        <p:tgtEl>
                                          <p:spTgt spid="4012"/>
                                        </p:tgtEl>
                                        <p:attrNameLst>
                                          <p:attrName>ppt_h</p:attrName>
                                        </p:attrNameLst>
                                      </p:cBhvr>
                                      <p:tavLst>
                                        <p:tav tm="0">
                                          <p:val>
                                            <p:strVal val="#ppt_h*0.85"/>
                                          </p:val>
                                        </p:tav>
                                        <p:tav tm="100000">
                                          <p:val>
                                            <p:strVal val="#ppt_h"/>
                                          </p:val>
                                        </p:tav>
                                      </p:tavLst>
                                    </p:anim>
                                    <p:animEffect transition="in" filter="fade">
                                      <p:cBhvr>
                                        <p:cTn id="62" dur="500"/>
                                        <p:tgtEl>
                                          <p:spTgt spid="4012"/>
                                        </p:tgtEl>
                                      </p:cBhvr>
                                    </p:animEffect>
                                  </p:childTnLst>
                                </p:cTn>
                              </p:par>
                              <p:par>
                                <p:cTn id="63" presetID="53" presetClass="entr" presetSubtype="16" fill="hold" grpId="0" nodeType="withEffect">
                                  <p:stCondLst>
                                    <p:cond delay="280"/>
                                  </p:stCondLst>
                                  <p:childTnLst>
                                    <p:set>
                                      <p:cBhvr>
                                        <p:cTn id="64" dur="1" fill="hold">
                                          <p:stCondLst>
                                            <p:cond delay="0"/>
                                          </p:stCondLst>
                                        </p:cTn>
                                        <p:tgtEl>
                                          <p:spTgt spid="4013"/>
                                        </p:tgtEl>
                                        <p:attrNameLst>
                                          <p:attrName>style.visibility</p:attrName>
                                        </p:attrNameLst>
                                      </p:cBhvr>
                                      <p:to>
                                        <p:strVal val="visible"/>
                                      </p:to>
                                    </p:set>
                                    <p:anim calcmode="lin" valueType="num">
                                      <p:cBhvr>
                                        <p:cTn id="65" dur="500" fill="hold"/>
                                        <p:tgtEl>
                                          <p:spTgt spid="4013"/>
                                        </p:tgtEl>
                                        <p:attrNameLst>
                                          <p:attrName>ppt_w</p:attrName>
                                        </p:attrNameLst>
                                      </p:cBhvr>
                                      <p:tavLst>
                                        <p:tav tm="0">
                                          <p:val>
                                            <p:strVal val="#ppt_w*0.85"/>
                                          </p:val>
                                        </p:tav>
                                        <p:tav tm="100000">
                                          <p:val>
                                            <p:strVal val="#ppt_w"/>
                                          </p:val>
                                        </p:tav>
                                      </p:tavLst>
                                    </p:anim>
                                    <p:anim calcmode="lin" valueType="num">
                                      <p:cBhvr>
                                        <p:cTn id="66" dur="500" fill="hold"/>
                                        <p:tgtEl>
                                          <p:spTgt spid="4013"/>
                                        </p:tgtEl>
                                        <p:attrNameLst>
                                          <p:attrName>ppt_h</p:attrName>
                                        </p:attrNameLst>
                                      </p:cBhvr>
                                      <p:tavLst>
                                        <p:tav tm="0">
                                          <p:val>
                                            <p:strVal val="#ppt_h*0.85"/>
                                          </p:val>
                                        </p:tav>
                                        <p:tav tm="100000">
                                          <p:val>
                                            <p:strVal val="#ppt_h"/>
                                          </p:val>
                                        </p:tav>
                                      </p:tavLst>
                                    </p:anim>
                                    <p:animEffect transition="in" filter="fade">
                                      <p:cBhvr>
                                        <p:cTn id="67" dur="500"/>
                                        <p:tgtEl>
                                          <p:spTgt spid="4013"/>
                                        </p:tgtEl>
                                      </p:cBhvr>
                                    </p:animEffect>
                                  </p:childTnLst>
                                </p:cTn>
                              </p:par>
                              <p:par>
                                <p:cTn id="68" presetID="53" presetClass="entr" presetSubtype="16" fill="hold" grpId="0" nodeType="withEffect">
                                  <p:stCondLst>
                                    <p:cond delay="280"/>
                                  </p:stCondLst>
                                  <p:childTnLst>
                                    <p:set>
                                      <p:cBhvr>
                                        <p:cTn id="69" dur="1" fill="hold">
                                          <p:stCondLst>
                                            <p:cond delay="0"/>
                                          </p:stCondLst>
                                        </p:cTn>
                                        <p:tgtEl>
                                          <p:spTgt spid="4014"/>
                                        </p:tgtEl>
                                        <p:attrNameLst>
                                          <p:attrName>style.visibility</p:attrName>
                                        </p:attrNameLst>
                                      </p:cBhvr>
                                      <p:to>
                                        <p:strVal val="visible"/>
                                      </p:to>
                                    </p:set>
                                    <p:anim calcmode="lin" valueType="num">
                                      <p:cBhvr>
                                        <p:cTn id="70" dur="500" fill="hold"/>
                                        <p:tgtEl>
                                          <p:spTgt spid="4014"/>
                                        </p:tgtEl>
                                        <p:attrNameLst>
                                          <p:attrName>ppt_w</p:attrName>
                                        </p:attrNameLst>
                                      </p:cBhvr>
                                      <p:tavLst>
                                        <p:tav tm="0">
                                          <p:val>
                                            <p:strVal val="#ppt_w*0.85"/>
                                          </p:val>
                                        </p:tav>
                                        <p:tav tm="100000">
                                          <p:val>
                                            <p:strVal val="#ppt_w"/>
                                          </p:val>
                                        </p:tav>
                                      </p:tavLst>
                                    </p:anim>
                                    <p:anim calcmode="lin" valueType="num">
                                      <p:cBhvr>
                                        <p:cTn id="71" dur="500" fill="hold"/>
                                        <p:tgtEl>
                                          <p:spTgt spid="4014"/>
                                        </p:tgtEl>
                                        <p:attrNameLst>
                                          <p:attrName>ppt_h</p:attrName>
                                        </p:attrNameLst>
                                      </p:cBhvr>
                                      <p:tavLst>
                                        <p:tav tm="0">
                                          <p:val>
                                            <p:strVal val="#ppt_h*0.85"/>
                                          </p:val>
                                        </p:tav>
                                        <p:tav tm="100000">
                                          <p:val>
                                            <p:strVal val="#ppt_h"/>
                                          </p:val>
                                        </p:tav>
                                      </p:tavLst>
                                    </p:anim>
                                    <p:animEffect transition="in" filter="fade">
                                      <p:cBhvr>
                                        <p:cTn id="72" dur="500"/>
                                        <p:tgtEl>
                                          <p:spTgt spid="4014"/>
                                        </p:tgtEl>
                                      </p:cBhvr>
                                    </p:animEffect>
                                  </p:childTnLst>
                                </p:cTn>
                              </p:par>
                              <p:par>
                                <p:cTn id="73" presetID="10" presetClass="entr" presetSubtype="0" fill="hold" grpId="0" nodeType="withEffect">
                                  <p:stCondLst>
                                    <p:cond delay="420"/>
                                  </p:stCondLst>
                                  <p:childTnLst>
                                    <p:set>
                                      <p:cBhvr>
                                        <p:cTn id="74" dur="1" fill="hold">
                                          <p:stCondLst>
                                            <p:cond delay="0"/>
                                          </p:stCondLst>
                                        </p:cTn>
                                        <p:tgtEl>
                                          <p:spTgt spid="4015"/>
                                        </p:tgtEl>
                                        <p:attrNameLst>
                                          <p:attrName>style.visibility</p:attrName>
                                        </p:attrNameLst>
                                      </p:cBhvr>
                                      <p:to>
                                        <p:strVal val="visible"/>
                                      </p:to>
                                    </p:set>
                                    <p:animEffect transition="in" filter="fade">
                                      <p:cBhvr>
                                        <p:cTn id="75" dur="450"/>
                                        <p:tgtEl>
                                          <p:spTgt spid="40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1" grpId="0" animBg="1"/>
      <p:bldP spid="4002" grpId="0" animBg="1"/>
      <p:bldP spid="4004" grpId="0" animBg="1"/>
      <p:bldP spid="4005" grpId="0" animBg="1"/>
      <p:bldP spid="4006" grpId="0" animBg="1"/>
      <p:bldP spid="4007" grpId="0" animBg="1"/>
      <p:bldP spid="4008" grpId="0" animBg="1"/>
      <p:bldP spid="4009" grpId="0" animBg="1"/>
      <p:bldP spid="4010" grpId="0" animBg="1"/>
      <p:bldP spid="4011" grpId="0" animBg="1"/>
      <p:bldP spid="4012" grpId="0" animBg="1"/>
      <p:bldP spid="4013" grpId="0" animBg="1"/>
      <p:bldP spid="4014" grpId="0" animBg="1"/>
      <p:bldP spid="40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21AA0-0319-3DCB-92BA-88B5721E9DF5}"/>
            </a:ext>
          </a:extLst>
        </p:cNvPr>
        <p:cNvGrpSpPr/>
        <p:nvPr/>
      </p:nvGrpSpPr>
      <p:grpSpPr>
        <a:xfrm>
          <a:off x="0" y="0"/>
          <a:ext cx="0" cy="0"/>
          <a:chOff x="0" y="0"/>
          <a:chExt cx="0" cy="0"/>
        </a:xfrm>
      </p:grpSpPr>
      <p:pic>
        <p:nvPicPr>
          <p:cNvPr id="7" name="Image 6">
            <a:extLst>
              <a:ext uri="{FF2B5EF4-FFF2-40B4-BE49-F238E27FC236}">
                <a16:creationId xmlns:a16="http://schemas.microsoft.com/office/drawing/2014/main" id="{86965DF1-3A95-31C4-69F4-F02CFC9EB3C2}"/>
              </a:ext>
            </a:extLst>
          </p:cNvPr>
          <p:cNvPicPr>
            <a:picLocks noChangeAspect="1"/>
          </p:cNvPicPr>
          <p:nvPr/>
        </p:nvPicPr>
        <p:blipFill>
          <a:blip r:embed="rId2"/>
          <a:stretch>
            <a:fillRect/>
          </a:stretch>
        </p:blipFill>
        <p:spPr>
          <a:xfrm>
            <a:off x="0" y="302008"/>
            <a:ext cx="10861814" cy="6471664"/>
          </a:xfrm>
          <a:prstGeom prst="rect">
            <a:avLst/>
          </a:prstGeom>
        </p:spPr>
      </p:pic>
      <p:sp>
        <p:nvSpPr>
          <p:cNvPr id="2" name="Rectangle 1">
            <a:extLst>
              <a:ext uri="{FF2B5EF4-FFF2-40B4-BE49-F238E27FC236}">
                <a16:creationId xmlns:a16="http://schemas.microsoft.com/office/drawing/2014/main" id="{65F5C027-4EEC-8AD3-08E8-5882B0AC7FFB}"/>
              </a:ext>
            </a:extLst>
          </p:cNvPr>
          <p:cNvSpPr/>
          <p:nvPr/>
        </p:nvSpPr>
        <p:spPr>
          <a:xfrm>
            <a:off x="169334" y="0"/>
            <a:ext cx="218082" cy="6858000"/>
          </a:xfrm>
          <a:prstGeom prst="rect">
            <a:avLst/>
          </a:prstGeom>
          <a:ln>
            <a:solidFill>
              <a:srgbClr val="1F1B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1C80DC26-FF41-34F6-0643-B0A475E31085}"/>
              </a:ext>
            </a:extLst>
          </p:cNvPr>
          <p:cNvSpPr/>
          <p:nvPr/>
        </p:nvSpPr>
        <p:spPr>
          <a:xfrm>
            <a:off x="327230" y="-5189"/>
            <a:ext cx="72886" cy="1202797"/>
          </a:xfrm>
          <a:prstGeom prst="rect">
            <a:avLst/>
          </a:prstGeom>
          <a:solidFill>
            <a:srgbClr val="F264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01" name="AnnexEyebrow">
            <a:extLst>
              <a:ext uri="{FF2B5EF4-FFF2-40B4-BE49-F238E27FC236}">
                <a16:creationId xmlns:a16="http://schemas.microsoft.com/office/drawing/2014/main" id="{12BF91D4-AF8E-3CE0-3AC1-50BF09B291D0}"/>
              </a:ext>
            </a:extLst>
          </p:cNvPr>
          <p:cNvSpPr txBox="1"/>
          <p:nvPr/>
        </p:nvSpPr>
        <p:spPr>
          <a:xfrm>
            <a:off x="905256" y="685800"/>
            <a:ext cx="5486400" cy="274320"/>
          </a:xfrm>
          <a:prstGeom prst="rect">
            <a:avLst/>
          </a:prstGeom>
          <a:noFill/>
          <a:ln>
            <a:noFill/>
          </a:ln>
        </p:spPr>
        <p:txBody>
          <a:bodyPr wrap="square" lIns="0" tIns="0" rIns="0" bIns="0" rtlCol="0" anchor="t">
            <a:noAutofit/>
          </a:bodyPr>
          <a:lstStyle/>
          <a:p>
            <a:pPr algn="l">
              <a:spcBef>
                <a:spcPts val="0"/>
              </a:spcBef>
              <a:spcAft>
                <a:spcPts val="0"/>
              </a:spcAft>
              <a:buNone/>
            </a:pPr>
            <a:r>
              <a:rPr lang="fr-FR" sz="1050" b="1" spc="200" dirty="0">
                <a:solidFill>
                  <a:srgbClr val="F96A09"/>
                </a:solidFill>
                <a:latin typeface="Montserrat"/>
                <a:cs typeface="Montserrat"/>
              </a:rPr>
              <a:t>ANNEXE</a:t>
            </a:r>
          </a:p>
        </p:txBody>
      </p:sp>
      <p:sp>
        <p:nvSpPr>
          <p:cNvPr id="9000" name="SlideNumber">
            <a:extLst>
              <a:ext uri="{FF2B5EF4-FFF2-40B4-BE49-F238E27FC236}">
                <a16:creationId xmlns:a16="http://schemas.microsoft.com/office/drawing/2014/main" id="{C6C16637-0145-6EFF-80C2-159B9BB41637}"/>
              </a:ext>
            </a:extLst>
          </p:cNvPr>
          <p:cNvSpPr/>
          <p:nvPr/>
        </p:nvSpPr>
        <p:spPr>
          <a:xfrm>
            <a:off x="11430000" y="6217920"/>
            <a:ext cx="530352" cy="530352"/>
          </a:xfrm>
          <a:prstGeom prst="ellipse">
            <a:avLst/>
          </a:prstGeom>
          <a:solidFill>
            <a:srgbClr val="16294A"/>
          </a:solidFill>
          <a:ln w="28575">
            <a:solidFill>
              <a:srgbClr val="FFFFFF"/>
            </a:solidFill>
          </a:ln>
          <a:effectLst>
            <a:outerShdw blurRad="76200" dist="19050" dir="5400000" algn="t" rotWithShape="0">
              <a:srgbClr val="16294A">
                <a:alpha val="25000"/>
              </a:srgbClr>
            </a:outerShdw>
          </a:effectLst>
        </p:spPr>
        <p:txBody>
          <a:bodyPr wrap="none" lIns="0" tIns="0" rIns="0" bIns="0" anchor="ctr">
            <a:noAutofit/>
          </a:bodyPr>
          <a:lstStyle/>
          <a:p>
            <a:pPr algn="ctr"/>
            <a:fld id="{6C69349F-DE1C-4A15-869C-6CE5D6658B5A}" type="slidenum">
              <a:rPr lang="fr-FR" sz="1600" b="1" dirty="0">
                <a:solidFill>
                  <a:srgbClr val="FFFFFF"/>
                </a:solidFill>
                <a:latin typeface="Montserrat"/>
              </a:rPr>
              <a:t>25</a:t>
            </a:fld>
            <a:endParaRPr lang="fr-FR" sz="1600" b="1" dirty="0">
              <a:solidFill>
                <a:srgbClr val="FFFFFF"/>
              </a:solidFill>
              <a:latin typeface="Montserrat"/>
            </a:endParaRPr>
          </a:p>
        </p:txBody>
      </p:sp>
    </p:spTree>
    <p:extLst>
      <p:ext uri="{BB962C8B-B14F-4D97-AF65-F5344CB8AC3E}">
        <p14:creationId xmlns:p14="http://schemas.microsoft.com/office/powerpoint/2010/main" val="1976503492"/>
      </p:ext>
    </p:extLst>
  </p:cSld>
  <p:clrMapOvr>
    <a:masterClrMapping/>
  </p:clrMapOvr>
  <mc:AlternateContent xmlns:mc="http://schemas.openxmlformats.org/markup-compatibility/2006" xmlns:p14="http://schemas.microsoft.com/office/powerpoint/2010/main">
    <mc:Choice Requires="p14">
      <p:transition>
        <p:fade/>
      </p:transition>
    </mc:Choice>
    <mc:Fallback xmlns="">
      <p:transition spd="fast">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001"/>
                                        </p:tgtEl>
                                        <p:attrNameLst>
                                          <p:attrName>style.visibility</p:attrName>
                                        </p:attrNameLst>
                                      </p:cBhvr>
                                      <p:to>
                                        <p:strVal val="visible"/>
                                      </p:to>
                                    </p:set>
                                    <p:animEffect transition="in" filter="fade">
                                      <p:cBhvr>
                                        <p:cTn id="7" dur="450"/>
                                        <p:tgtEl>
                                          <p:spTgt spid="4001"/>
                                        </p:tgtEl>
                                      </p:cBhvr>
                                    </p:animEffect>
                                    <p:anim calcmode="lin" valueType="num">
                                      <p:cBhvr>
                                        <p:cTn id="8" dur="450" fill="hold"/>
                                        <p:tgtEl>
                                          <p:spTgt spid="4001"/>
                                        </p:tgtEl>
                                        <p:attrNameLst>
                                          <p:attrName>ppt_x</p:attrName>
                                        </p:attrNameLst>
                                      </p:cBhvr>
                                      <p:tavLst>
                                        <p:tav tm="0">
                                          <p:val>
                                            <p:strVal val="#ppt_x"/>
                                          </p:val>
                                        </p:tav>
                                        <p:tav tm="100000">
                                          <p:val>
                                            <p:strVal val="#ppt_x"/>
                                          </p:val>
                                        </p:tav>
                                      </p:tavLst>
                                    </p:anim>
                                    <p:anim calcmode="lin" valueType="num">
                                      <p:cBhvr>
                                        <p:cTn id="9" dur="450" fill="hold"/>
                                        <p:tgtEl>
                                          <p:spTgt spid="4001"/>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1" grpId="0" animBg="1"/>
    </p:bldLst>
  </p:timing>
</p:sld>
</file>

<file path=ppt/theme/theme1.xml><?xml version="1.0" encoding="utf-8"?>
<a:theme xmlns:a="http://schemas.openxmlformats.org/drawingml/2006/main" name="Office Theme">
  <a:themeElements>
    <a:clrScheme name="Ppt Template">
      <a:dk1>
        <a:sysClr val="windowText" lastClr="000000"/>
      </a:dk1>
      <a:lt1>
        <a:sysClr val="window" lastClr="FFFFFF"/>
      </a:lt1>
      <a:dk2>
        <a:srgbClr val="7F7F7F"/>
      </a:dk2>
      <a:lt2>
        <a:srgbClr val="F2F2F2"/>
      </a:lt2>
      <a:accent1>
        <a:srgbClr val="0A1931"/>
      </a:accent1>
      <a:accent2>
        <a:srgbClr val="185ADB"/>
      </a:accent2>
      <a:accent3>
        <a:srgbClr val="FFC947"/>
      </a:accent3>
      <a:accent4>
        <a:srgbClr val="EFEFEF"/>
      </a:accent4>
      <a:accent5>
        <a:srgbClr val="5B9BD5"/>
      </a:accent5>
      <a:accent6>
        <a:srgbClr val="70AD47"/>
      </a:accent6>
      <a:hlink>
        <a:srgbClr val="0563C1"/>
      </a:hlink>
      <a:folHlink>
        <a:srgbClr val="954F72"/>
      </a:folHlink>
    </a:clrScheme>
    <a:fontScheme name="Quicksand">
      <a:majorFont>
        <a:latin typeface="quicksand"/>
        <a:ea typeface=""/>
        <a:cs typeface=""/>
      </a:majorFont>
      <a:minorFont>
        <a:latin typeface="quicks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 dockstate="right" visibility="0" width="525" row="0">
    <wetp:webextensionref xmlns:r="http://schemas.openxmlformats.org/officeDocument/2006/relationships" r:id="rId2"/>
  </wetp:taskpane>
  <wetp:taskpane dockstate="right" visibility="0" width="525" row="1">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91A047F3-2C13-4FEB-97C2-019DAADCE9C2}">
  <we:reference id="wa200010001" version="1.0.0.1" store="fr-FR" storeType="OMEX"/>
  <we:alternateReferences>
    <we:reference id="wa200010001" version="1.0.0.1" store="wa200010001" storeType="OMEX"/>
  </we:alternateReferences>
  <we:properties>
    <we:property name="claude.fileId" value="&quot;3c954ed5-05b9-4b82-81a0-c702c22a7960&quot;"/>
  </we:properties>
  <we:bindings/>
  <we:snapshot xmlns:r="http://schemas.openxmlformats.org/officeDocument/2006/relationships"/>
</we:webextension>
</file>

<file path=ppt/webextensions/webextension2.xml><?xml version="1.0" encoding="utf-8"?>
<we:webextension xmlns:we="http://schemas.microsoft.com/office/webextensions/webextension/2010/11" id="{143001FF-1001-41F0-A087-FD07FE5716E3}">
  <we:reference id="wa200010215" version="2.0.0.0" store="fr-FR" storeType="OMEX"/>
  <we:alternateReferences>
    <we:reference id="wa200010215" version="2.0.0.0" store="wa200010215" storeType="OMEX"/>
  </we:alternateReferences>
  <we:properties>
    <we:property name="bps.codex_control.document_id" value="&quot;9e1fd6e2-7078-4143-8441-786537e533c4&quot;"/>
  </we:properties>
  <we:bindings/>
  <we:snapshot xmlns:r="http://schemas.openxmlformats.org/officeDocument/2006/relationships"/>
</we:webextension>
</file>

<file path=ppt/webextensions/webextension3.xml><?xml version="1.0" encoding="utf-8"?>
<we:webextension xmlns:we="http://schemas.microsoft.com/office/webextensions/webextension/2010/11" id="{A4BA8F6C-0B94-40B8-A157-DC2987A8FAA6}">
  <we:reference id="wa200005107" version="1.1.0.0" store="fr-FR" storeType="OMEX"/>
  <we:alternateReferences>
    <we:reference id="wa200005107" version="1.1.0.0" store="wa200005107"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13513</TotalTime>
  <Words>2315</Words>
  <Application>Microsoft Office PowerPoint</Application>
  <PresentationFormat>Grand écran</PresentationFormat>
  <Paragraphs>537</Paragraphs>
  <Slides>25</Slides>
  <Notes>17</Notes>
  <HiddenSlides>0</HiddenSlides>
  <MMClips>1</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25</vt:i4>
      </vt:variant>
    </vt:vector>
  </HeadingPairs>
  <TitlesOfParts>
    <vt:vector size="33" baseType="lpstr">
      <vt:lpstr>Aptos</vt:lpstr>
      <vt:lpstr>Arial</vt:lpstr>
      <vt:lpstr>Calibri</vt:lpstr>
      <vt:lpstr>Georgia Bold</vt:lpstr>
      <vt:lpstr>Montserrat</vt:lpstr>
      <vt:lpstr>quicksand</vt:lpstr>
      <vt:lpstr>Times New Roman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Raiyan Siyam</dc:creator>
  <cp:lastModifiedBy>LADJI LAMA KAMAGATE</cp:lastModifiedBy>
  <cp:revision>67</cp:revision>
  <dcterms:created xsi:type="dcterms:W3CDTF">2021-07-11T18:19:19Z</dcterms:created>
  <dcterms:modified xsi:type="dcterms:W3CDTF">2026-10-23T23:12:39Z</dcterms:modified>
</cp:coreProperties>
</file>